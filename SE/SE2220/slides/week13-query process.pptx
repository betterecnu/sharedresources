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1"/>
  </p:sldMasterIdLst>
  <p:notesMasterIdLst>
    <p:notesMasterId r:id="rId46"/>
  </p:notesMasterIdLst>
  <p:sldIdLst>
    <p:sldId id="256" r:id="rId2"/>
    <p:sldId id="280" r:id="rId3"/>
    <p:sldId id="458" r:id="rId4"/>
    <p:sldId id="530" r:id="rId5"/>
    <p:sldId id="531" r:id="rId6"/>
    <p:sldId id="532" r:id="rId7"/>
    <p:sldId id="485" r:id="rId8"/>
    <p:sldId id="528" r:id="rId9"/>
    <p:sldId id="459" r:id="rId10"/>
    <p:sldId id="460" r:id="rId11"/>
    <p:sldId id="461" r:id="rId12"/>
    <p:sldId id="464" r:id="rId13"/>
    <p:sldId id="465" r:id="rId14"/>
    <p:sldId id="462" r:id="rId15"/>
    <p:sldId id="463" r:id="rId16"/>
    <p:sldId id="466" r:id="rId17"/>
    <p:sldId id="467" r:id="rId18"/>
    <p:sldId id="468" r:id="rId19"/>
    <p:sldId id="469" r:id="rId20"/>
    <p:sldId id="470" r:id="rId21"/>
    <p:sldId id="471" r:id="rId22"/>
    <p:sldId id="472" r:id="rId23"/>
    <p:sldId id="473" r:id="rId24"/>
    <p:sldId id="474" r:id="rId25"/>
    <p:sldId id="615" r:id="rId26"/>
    <p:sldId id="616" r:id="rId27"/>
    <p:sldId id="533" r:id="rId28"/>
    <p:sldId id="605" r:id="rId29"/>
    <p:sldId id="606" r:id="rId30"/>
    <p:sldId id="609" r:id="rId31"/>
    <p:sldId id="607" r:id="rId32"/>
    <p:sldId id="610" r:id="rId33"/>
    <p:sldId id="608" r:id="rId34"/>
    <p:sldId id="614" r:id="rId35"/>
    <p:sldId id="281" r:id="rId36"/>
    <p:sldId id="603" r:id="rId37"/>
    <p:sldId id="602" r:id="rId38"/>
    <p:sldId id="595" r:id="rId39"/>
    <p:sldId id="596" r:id="rId40"/>
    <p:sldId id="597" r:id="rId41"/>
    <p:sldId id="598" r:id="rId42"/>
    <p:sldId id="599" r:id="rId43"/>
    <p:sldId id="600" r:id="rId44"/>
    <p:sldId id="601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6" autoAdjust="0"/>
    <p:restoredTop sz="90755" autoAdjust="0"/>
  </p:normalViewPr>
  <p:slideViewPr>
    <p:cSldViewPr snapToGrid="0">
      <p:cViewPr varScale="1">
        <p:scale>
          <a:sx n="134" d="100"/>
          <a:sy n="134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C7C27-0E44-4290-A7B1-6D6F9A15BBB6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581F6-8C05-464A-A316-5949FBD12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A94A7-C021-412A-AB31-0121B9ED9D50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92BB-2122-48B7-8D25-64FBBE522CB0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9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62840-A873-48AE-B925-239793EE797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497A-FC67-424E-AB7D-12B5F3AA1BA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35969-FB5A-44B4-BF51-37CCFD925127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7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088C-29B1-4956-9FB8-2130545EFA74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8019-DC47-4612-B609-602062B2BD6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D148-93D9-4A9B-A30A-9CEA9A1B725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D95B-0BD8-4382-84CD-F9AE6617049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5B4-49C9-4A74-B90E-6FC0FD19BAB5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CFAB9-A3DD-4032-93AB-50BAC331CC25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EDAC9E-B9A6-47F5-AE50-4F7C28E2D72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89" y="1047719"/>
            <a:ext cx="10152736" cy="134460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Query Processing I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B5AC91-97D4-4848-9A24-2C940C7DC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644"/>
            <a:ext cx="9144000" cy="1055818"/>
          </a:xfrm>
        </p:spPr>
        <p:txBody>
          <a:bodyPr>
            <a:normAutofit/>
          </a:bodyPr>
          <a:lstStyle/>
          <a:p>
            <a:r>
              <a:rPr lang="en-US" altLang="zh-CN" dirty="0"/>
              <a:t>SEI. ECNU</a:t>
            </a:r>
          </a:p>
        </p:txBody>
      </p:sp>
    </p:spTree>
    <p:extLst>
      <p:ext uri="{BB962C8B-B14F-4D97-AF65-F5344CB8AC3E}">
        <p14:creationId xmlns:p14="http://schemas.microsoft.com/office/powerpoint/2010/main" val="141434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363D4-0B34-40CE-B8AD-2C768AADA61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FC8717C3-40FF-48A4-94D0-FD7E0D297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870" y="1897243"/>
            <a:ext cx="7729330" cy="4641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449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Architecture Overview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DDD0A-0C1B-4D7F-90D5-0971FC15559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077E32-9D4D-485F-87CA-507F0B0F89C7}"/>
              </a:ext>
            </a:extLst>
          </p:cNvPr>
          <p:cNvSpPr/>
          <p:nvPr/>
        </p:nvSpPr>
        <p:spPr>
          <a:xfrm>
            <a:off x="2843324" y="2078038"/>
            <a:ext cx="2860158" cy="46251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Networking Layer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37B884F-B35C-42E6-B605-EB0B4AFD3107}"/>
              </a:ext>
            </a:extLst>
          </p:cNvPr>
          <p:cNvSpPr/>
          <p:nvPr/>
        </p:nvSpPr>
        <p:spPr>
          <a:xfrm>
            <a:off x="2843324" y="2966484"/>
            <a:ext cx="2860158" cy="46251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Planner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70AD8D-BF48-4908-AFDB-37CB75949F86}"/>
              </a:ext>
            </a:extLst>
          </p:cNvPr>
          <p:cNvSpPr/>
          <p:nvPr/>
        </p:nvSpPr>
        <p:spPr>
          <a:xfrm>
            <a:off x="2843324" y="3854930"/>
            <a:ext cx="2860158" cy="46251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Compiler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6E0700-C150-45EA-9E1F-2C6A4C155A1B}"/>
              </a:ext>
            </a:extLst>
          </p:cNvPr>
          <p:cNvSpPr/>
          <p:nvPr/>
        </p:nvSpPr>
        <p:spPr>
          <a:xfrm>
            <a:off x="2843324" y="4743376"/>
            <a:ext cx="2860158" cy="46251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Execution Engine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3E69E53-4324-4D98-B652-2133B412F437}"/>
              </a:ext>
            </a:extLst>
          </p:cNvPr>
          <p:cNvSpPr/>
          <p:nvPr/>
        </p:nvSpPr>
        <p:spPr>
          <a:xfrm>
            <a:off x="2843324" y="5631823"/>
            <a:ext cx="2860158" cy="46251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Storage Manager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A13B4F-01DC-4251-9EFA-AC4B9C31820D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4273403" y="2540554"/>
            <a:ext cx="0" cy="42593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AEFF2E2-3655-48DF-BA79-207AF596CBD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273403" y="3429000"/>
            <a:ext cx="0" cy="42593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BCE058-E746-4C53-9E24-38AA51639C8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4273403" y="4317446"/>
            <a:ext cx="0" cy="42593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DFEDDD7-3D7F-409C-A6C8-E65F05CF649C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273403" y="5205892"/>
            <a:ext cx="0" cy="42593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4B4E6E35-CE64-4E29-9D37-62EE9FFB5B3D}"/>
              </a:ext>
            </a:extLst>
          </p:cNvPr>
          <p:cNvSpPr/>
          <p:nvPr/>
        </p:nvSpPr>
        <p:spPr>
          <a:xfrm>
            <a:off x="6162262" y="2555312"/>
            <a:ext cx="46316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SQL Parser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Binder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Rewriter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Optimizer / Cost Models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EA7FC38C-56EF-46E0-B0F9-5950B170DC12}"/>
              </a:ext>
            </a:extLst>
          </p:cNvPr>
          <p:cNvSpPr/>
          <p:nvPr/>
        </p:nvSpPr>
        <p:spPr>
          <a:xfrm>
            <a:off x="5840896" y="2635920"/>
            <a:ext cx="377686" cy="1162224"/>
          </a:xfrm>
          <a:prstGeom prst="leftBrace">
            <a:avLst>
              <a:gd name="adj1" fmla="val 8333"/>
              <a:gd name="adj2" fmla="val 4766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85A773-3C44-42D7-970E-6347EF974412}"/>
              </a:ext>
            </a:extLst>
          </p:cNvPr>
          <p:cNvSpPr/>
          <p:nvPr/>
        </p:nvSpPr>
        <p:spPr>
          <a:xfrm>
            <a:off x="6162262" y="4312914"/>
            <a:ext cx="35913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Access Methods / Indexes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Scheduling / Placement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Concurrency Control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Operator Execution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5AD474-7D2E-4239-800D-38034EB4F5DF}"/>
              </a:ext>
            </a:extLst>
          </p:cNvPr>
          <p:cNvSpPr/>
          <p:nvPr/>
        </p:nvSpPr>
        <p:spPr>
          <a:xfrm>
            <a:off x="8851235" y="553587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Storage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Logging / Checkpoints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左大括号 28">
            <a:extLst>
              <a:ext uri="{FF2B5EF4-FFF2-40B4-BE49-F238E27FC236}">
                <a16:creationId xmlns:a16="http://schemas.microsoft.com/office/drawing/2014/main" id="{F6949074-E7C8-47D3-B259-D2E0BE43302B}"/>
              </a:ext>
            </a:extLst>
          </p:cNvPr>
          <p:cNvSpPr/>
          <p:nvPr/>
        </p:nvSpPr>
        <p:spPr>
          <a:xfrm>
            <a:off x="5851992" y="4419891"/>
            <a:ext cx="377686" cy="1115987"/>
          </a:xfrm>
          <a:prstGeom prst="leftBrace">
            <a:avLst>
              <a:gd name="adj1" fmla="val 8333"/>
              <a:gd name="adj2" fmla="val 4766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EFDB2451-9630-4395-B328-E208EA219F90}"/>
              </a:ext>
            </a:extLst>
          </p:cNvPr>
          <p:cNvSpPr/>
          <p:nvPr/>
        </p:nvSpPr>
        <p:spPr>
          <a:xfrm>
            <a:off x="8546320" y="5631823"/>
            <a:ext cx="377686" cy="541285"/>
          </a:xfrm>
          <a:prstGeom prst="leftBrace">
            <a:avLst>
              <a:gd name="adj1" fmla="val 8333"/>
              <a:gd name="adj2" fmla="val 4766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5F01F78-6B2C-44C2-ABC0-DA8F80BDEE60}"/>
              </a:ext>
            </a:extLst>
          </p:cNvPr>
          <p:cNvCxnSpPr>
            <a:cxnSpLocks/>
            <a:stCxn id="31" idx="1"/>
            <a:endCxn id="13" idx="3"/>
          </p:cNvCxnSpPr>
          <p:nvPr/>
        </p:nvCxnSpPr>
        <p:spPr>
          <a:xfrm flipH="1" flipV="1">
            <a:off x="5703482" y="5863081"/>
            <a:ext cx="2842838" cy="267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00AC4BD3-D91A-459D-904E-FA002B4A9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4" y="3580835"/>
            <a:ext cx="971654" cy="971654"/>
          </a:xfrm>
          <a:prstGeom prst="rect">
            <a:avLst/>
          </a:prstGeom>
        </p:spPr>
      </p:pic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04FC4298-D5F4-4713-8E09-DBE58270272F}"/>
              </a:ext>
            </a:extLst>
          </p:cNvPr>
          <p:cNvCxnSpPr>
            <a:cxnSpLocks/>
            <a:stCxn id="36" idx="0"/>
            <a:endCxn id="9" idx="0"/>
          </p:cNvCxnSpPr>
          <p:nvPr/>
        </p:nvCxnSpPr>
        <p:spPr>
          <a:xfrm rot="5400000" flipH="1" flipV="1">
            <a:off x="2172179" y="1479611"/>
            <a:ext cx="1502797" cy="2699652"/>
          </a:xfrm>
          <a:prstGeom prst="curvedConnector3">
            <a:avLst>
              <a:gd name="adj1" fmla="val 11521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6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Query Execution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A query plan is comprised of </a:t>
            </a:r>
            <a:r>
              <a:rPr lang="en-US" altLang="zh-CN" b="1" dirty="0">
                <a:solidFill>
                  <a:srgbClr val="FF0000"/>
                </a:solidFill>
              </a:rPr>
              <a:t>operators</a:t>
            </a:r>
            <a:r>
              <a:rPr lang="en-US" altLang="zh-CN" dirty="0"/>
              <a:t>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An </a:t>
            </a:r>
            <a:r>
              <a:rPr lang="en-US" altLang="zh-CN" b="1" dirty="0">
                <a:solidFill>
                  <a:srgbClr val="FF0000"/>
                </a:solidFill>
              </a:rPr>
              <a:t>operator instance </a:t>
            </a:r>
            <a:r>
              <a:rPr lang="en-US" altLang="zh-CN" dirty="0"/>
              <a:t>is an invocation of an operator on some segment of data.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task</a:t>
            </a:r>
            <a:r>
              <a:rPr lang="en-US" altLang="zh-CN" dirty="0"/>
              <a:t> is the execution of a sequence of one or more operator instances.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A DBMS’s </a:t>
            </a:r>
            <a:r>
              <a:rPr lang="en-US" altLang="zh-CN" b="1" dirty="0">
                <a:solidFill>
                  <a:srgbClr val="FF0000"/>
                </a:solidFill>
              </a:rPr>
              <a:t>process model </a:t>
            </a:r>
            <a:r>
              <a:rPr lang="en-US" altLang="zh-CN" dirty="0"/>
              <a:t>defines how the system is architected to support concurrent requests from a multi-user application.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worker</a:t>
            </a:r>
            <a:r>
              <a:rPr lang="en-US" altLang="zh-CN" dirty="0"/>
              <a:t> is the DBMS component that is responsible for executing tasks on behalf of the client and returning the results.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DA121F-1198-4E33-8055-7ADC0401442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84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Models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b="1" dirty="0"/>
              <a:t>Approach #1: Process per DBMS Worker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b="1" dirty="0"/>
              <a:t>Approach #2: Process Pool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B050"/>
                </a:solidFill>
              </a:rPr>
              <a:t>Approach #3: Thread per DBMS Worker</a:t>
            </a: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en-US" altLang="zh-CN" b="1" dirty="0"/>
              <a:t>Less overhead per context switch.</a:t>
            </a: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en-US" altLang="zh-CN" b="1" dirty="0"/>
              <a:t>Don’t have to manage shared memory.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44A8F3-9A4C-493F-B089-0F57A0FBE25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9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For each query plan, the DBMS has to decide </a:t>
            </a:r>
            <a:r>
              <a:rPr lang="en-US" altLang="zh-CN" b="1" dirty="0">
                <a:solidFill>
                  <a:srgbClr val="00B050"/>
                </a:solidFill>
              </a:rPr>
              <a:t>where</a:t>
            </a:r>
            <a:r>
              <a:rPr lang="en-US" altLang="zh-CN" dirty="0"/>
              <a:t>, </a:t>
            </a:r>
            <a:r>
              <a:rPr lang="en-US" altLang="zh-CN" b="1" dirty="0">
                <a:solidFill>
                  <a:srgbClr val="00B050"/>
                </a:solidFill>
              </a:rPr>
              <a:t>when</a:t>
            </a:r>
            <a:r>
              <a:rPr lang="en-US" altLang="zh-CN" dirty="0"/>
              <a:t>, and </a:t>
            </a:r>
            <a:r>
              <a:rPr lang="en-US" altLang="zh-CN" b="1" dirty="0">
                <a:solidFill>
                  <a:srgbClr val="00B050"/>
                </a:solidFill>
              </a:rPr>
              <a:t>how</a:t>
            </a:r>
            <a:r>
              <a:rPr lang="en-US" altLang="zh-CN" dirty="0"/>
              <a:t> to execute it.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How many tasks should it use?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How many CPU cores should it use?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What CPU core should the tasks execute on?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Where should a task store its output?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The DBMS </a:t>
            </a:r>
            <a:r>
              <a:rPr lang="en-US" altLang="zh-CN" b="1" dirty="0">
                <a:solidFill>
                  <a:srgbClr val="FF0000"/>
                </a:solidFill>
              </a:rPr>
              <a:t>always</a:t>
            </a:r>
            <a:r>
              <a:rPr lang="en-US" altLang="zh-CN" dirty="0"/>
              <a:t> knows more than the OS.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305B60-51B4-4F26-906C-7C32C90974C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39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Improve the DBMS's query execution performance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Especially for data sets that fit entirely in memory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/>
              <a:t>Approach #1: Reduce Instruction Count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Use fewer instructions to do the same amount of work.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/>
              <a:t>Approach #2: Reduce Cycles per Instruction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Execute more CPU instructions in fewer cycles.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/>
              <a:t>Approach #3: Parallelize Execution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Use multiple threads to compute each query in parallel.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447ABD-C6A2-433A-88B5-7F83643E295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7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DDF7F2B-8943-470C-994B-58DD1AB4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Processing Models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0460AFE-FB31-4327-A473-5E998AFE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BF72D-6A08-4238-B2F8-9B32232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338960-6277-4A96-9596-0603841F10C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88591-AAA9-46A6-A530-CC5D5353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4B3ED-5C5E-4AA4-9CB4-44AEEA48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61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Processing Models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 DBMS's processing model defines how the system executes a query plan.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Different trade-offs for workloads (OLTP vs. OLAP).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Approach #1: </a:t>
            </a:r>
            <a:r>
              <a:rPr lang="en-US" altLang="zh-CN" b="1" dirty="0"/>
              <a:t>Iterator Model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Approach #2: </a:t>
            </a:r>
            <a:r>
              <a:rPr lang="en-US" altLang="zh-CN" b="1" dirty="0"/>
              <a:t>Materialization Model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Approach #3: </a:t>
            </a:r>
            <a:r>
              <a:rPr lang="en-US" altLang="zh-CN" b="1" dirty="0"/>
              <a:t>Vectorized / Batch Model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940600-D2FE-42B1-BAB3-DD73D0CA2EF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9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Iterator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Each query plan operator implements a </a:t>
            </a:r>
            <a:r>
              <a:rPr lang="en-US" altLang="zh-CN" b="1" dirty="0">
                <a:solidFill>
                  <a:srgbClr val="00B050"/>
                </a:solidFill>
              </a:rPr>
              <a:t>next</a:t>
            </a:r>
            <a:r>
              <a:rPr lang="en-US" altLang="zh-CN" dirty="0"/>
              <a:t> function.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On each invocation, the operator returns either a single tuple or a null marker if there are no more tuples.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operator implements a loop that calls next on its children to retrieve their tuples and then process them.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Also called </a:t>
            </a:r>
            <a:r>
              <a:rPr lang="en-US" altLang="zh-CN" b="1" dirty="0">
                <a:solidFill>
                  <a:srgbClr val="FF0000"/>
                </a:solidFill>
              </a:rPr>
              <a:t>Volcano</a:t>
            </a:r>
            <a:r>
              <a:rPr lang="en-US" altLang="zh-CN" dirty="0"/>
              <a:t> or </a:t>
            </a:r>
            <a:r>
              <a:rPr lang="en-US" altLang="zh-CN" b="1" dirty="0">
                <a:solidFill>
                  <a:srgbClr val="FF0000"/>
                </a:solidFill>
              </a:rPr>
              <a:t>Pipeline</a:t>
            </a:r>
            <a:r>
              <a:rPr lang="en-US" altLang="zh-CN" dirty="0"/>
              <a:t> Model.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36F152-E5E6-45B6-BBA5-6BC8352EF41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49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Iterator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9E5553-1470-40E0-BD62-ABFDB93D3A5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9FB5825-2855-44B5-A0DD-BFAD6AD3CB27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12CD482-8C8A-4B26-B2EE-2AB868E7C7BB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133AD9-E2FC-40DF-909E-D9E35B7274B1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2D78F7E-9457-4207-BB70-BB9D4508196A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A38FA5A-DC2A-4615-99A5-5E9CAB1B602E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DA28A63-472F-4E20-B6B8-99EAAC828644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0DBEBE-6EF9-4ACC-B9D0-B5619A9A379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5F75580-DE16-4D74-A4AD-B16093B4D7D0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70572D9-B329-43A5-9E3D-68A6293F8F10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C77BFE6-1EEE-41D2-83C6-FB0677ED7EF7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C2D196A2-4424-470E-B538-032245EF6F70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355847-696F-48FF-BD3A-F9CCE5AC3B38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A4DB2B7-7080-42B7-89D8-E71488105746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50DD31B-3831-48A1-907D-7048696C4B34}"/>
              </a:ext>
            </a:extLst>
          </p:cNvPr>
          <p:cNvGrpSpPr/>
          <p:nvPr/>
        </p:nvGrpSpPr>
        <p:grpSpPr>
          <a:xfrm>
            <a:off x="838200" y="1862631"/>
            <a:ext cx="4661005" cy="707886"/>
            <a:chOff x="974483" y="1861930"/>
            <a:chExt cx="4661005" cy="707886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6423D2C-77E9-4319-A380-5BB2A137956A}"/>
                </a:ext>
              </a:extLst>
            </p:cNvPr>
            <p:cNvSpPr/>
            <p:nvPr/>
          </p:nvSpPr>
          <p:spPr>
            <a:xfrm>
              <a:off x="1948070" y="1861930"/>
              <a:ext cx="3687418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child.Next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emit(projection(t))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1633871-456D-45E6-A193-75683561ADC9}"/>
                </a:ext>
              </a:extLst>
            </p:cNvPr>
            <p:cNvSpPr/>
            <p:nvPr/>
          </p:nvSpPr>
          <p:spPr>
            <a:xfrm>
              <a:off x="974483" y="1861930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B0DFEA6-C5CD-4C3B-AB77-AF540672FC2E}"/>
              </a:ext>
            </a:extLst>
          </p:cNvPr>
          <p:cNvGrpSpPr/>
          <p:nvPr/>
        </p:nvGrpSpPr>
        <p:grpSpPr>
          <a:xfrm>
            <a:off x="811531" y="2763639"/>
            <a:ext cx="5678104" cy="1352829"/>
            <a:chOff x="974483" y="2935356"/>
            <a:chExt cx="5678104" cy="1352829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DB7E638-4988-4A11-828A-60453B36637E}"/>
                </a:ext>
              </a:extLst>
            </p:cNvPr>
            <p:cNvSpPr/>
            <p:nvPr/>
          </p:nvSpPr>
          <p:spPr>
            <a:xfrm>
              <a:off x="1948070" y="2964746"/>
              <a:ext cx="4704517" cy="1323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t1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left.Next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buildHashTable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(t1)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t2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right.Next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if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probe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(t2):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(t1⨝t2)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7C2374F-C745-4935-9AF7-186637CFB473}"/>
                </a:ext>
              </a:extLst>
            </p:cNvPr>
            <p:cNvSpPr/>
            <p:nvPr/>
          </p:nvSpPr>
          <p:spPr>
            <a:xfrm>
              <a:off x="974483" y="2935356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1C3ACFA-25AD-4BF0-A597-FD5440DCFBED}"/>
              </a:ext>
            </a:extLst>
          </p:cNvPr>
          <p:cNvGrpSpPr/>
          <p:nvPr/>
        </p:nvGrpSpPr>
        <p:grpSpPr>
          <a:xfrm>
            <a:off x="1523252" y="4314135"/>
            <a:ext cx="5541620" cy="707886"/>
            <a:chOff x="2018832" y="4476475"/>
            <a:chExt cx="5541620" cy="707886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DEA4A55-9E41-4BF2-91AA-70E799852E0A}"/>
                </a:ext>
              </a:extLst>
            </p:cNvPr>
            <p:cNvSpPr/>
            <p:nvPr/>
          </p:nvSpPr>
          <p:spPr>
            <a:xfrm>
              <a:off x="3009992" y="4476475"/>
              <a:ext cx="4550460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child.Next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if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evalPred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(t):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AFCB462-64CF-4163-B981-DC37D4A2E375}"/>
                </a:ext>
              </a:extLst>
            </p:cNvPr>
            <p:cNvSpPr/>
            <p:nvPr/>
          </p:nvSpPr>
          <p:spPr>
            <a:xfrm>
              <a:off x="2018832" y="4476475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50CA380-A7AA-4C23-AC5B-D34E5D186953}"/>
              </a:ext>
            </a:extLst>
          </p:cNvPr>
          <p:cNvGrpSpPr/>
          <p:nvPr/>
        </p:nvGrpSpPr>
        <p:grpSpPr>
          <a:xfrm>
            <a:off x="257533" y="5640174"/>
            <a:ext cx="3572703" cy="707886"/>
            <a:chOff x="-80755" y="5562243"/>
            <a:chExt cx="3572703" cy="70788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4C1C2B-7A02-431A-9ADF-8FF25FFD4361}"/>
                </a:ext>
              </a:extLst>
            </p:cNvPr>
            <p:cNvSpPr/>
            <p:nvPr/>
          </p:nvSpPr>
          <p:spPr>
            <a:xfrm>
              <a:off x="902055" y="5562243"/>
              <a:ext cx="2589893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R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CB3FD68-D573-43C2-AFD8-BA16B367C8B5}"/>
                </a:ext>
              </a:extLst>
            </p:cNvPr>
            <p:cNvSpPr/>
            <p:nvPr/>
          </p:nvSpPr>
          <p:spPr>
            <a:xfrm>
              <a:off x="-80755" y="5562243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EC9CECB-39B4-4798-99E6-1EBBFF45F2DD}"/>
              </a:ext>
            </a:extLst>
          </p:cNvPr>
          <p:cNvGrpSpPr/>
          <p:nvPr/>
        </p:nvGrpSpPr>
        <p:grpSpPr>
          <a:xfrm>
            <a:off x="4014129" y="5182346"/>
            <a:ext cx="3562764" cy="707886"/>
            <a:chOff x="3524290" y="5687645"/>
            <a:chExt cx="3562764" cy="70788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9683586-E0EB-41B4-91A4-C9702A155469}"/>
                </a:ext>
              </a:extLst>
            </p:cNvPr>
            <p:cNvSpPr/>
            <p:nvPr/>
          </p:nvSpPr>
          <p:spPr>
            <a:xfrm>
              <a:off x="4497161" y="5687645"/>
              <a:ext cx="2589893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S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F56E397-3703-4D54-A8CC-D3FB3CF036CD}"/>
                </a:ext>
              </a:extLst>
            </p:cNvPr>
            <p:cNvSpPr/>
            <p:nvPr/>
          </p:nvSpPr>
          <p:spPr>
            <a:xfrm>
              <a:off x="3524290" y="5687645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E3931E9-3808-4766-96AF-EDE9E4AB1FCF}"/>
              </a:ext>
            </a:extLst>
          </p:cNvPr>
          <p:cNvCxnSpPr>
            <a:cxnSpLocks/>
            <a:stCxn id="14" idx="3"/>
            <a:endCxn id="43" idx="3"/>
          </p:cNvCxnSpPr>
          <p:nvPr/>
        </p:nvCxnSpPr>
        <p:spPr>
          <a:xfrm flipH="1" flipV="1">
            <a:off x="3830236" y="5994117"/>
            <a:ext cx="4199835" cy="8371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EC99C24-BDE9-48BC-8665-86E73A07192A}"/>
              </a:ext>
            </a:extLst>
          </p:cNvPr>
          <p:cNvCxnSpPr>
            <a:cxnSpLocks/>
            <a:stCxn id="13" idx="2"/>
            <a:endCxn id="44" idx="3"/>
          </p:cNvCxnSpPr>
          <p:nvPr/>
        </p:nvCxnSpPr>
        <p:spPr>
          <a:xfrm flipH="1" flipV="1">
            <a:off x="7576893" y="5536289"/>
            <a:ext cx="2600777" cy="33539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9FD7534-6CA9-4763-B54C-4B7720B07FDD}"/>
              </a:ext>
            </a:extLst>
          </p:cNvPr>
          <p:cNvCxnSpPr>
            <a:cxnSpLocks/>
            <a:stCxn id="12" idx="2"/>
            <a:endCxn id="42" idx="3"/>
          </p:cNvCxnSpPr>
          <p:nvPr/>
        </p:nvCxnSpPr>
        <p:spPr>
          <a:xfrm flipH="1" flipV="1">
            <a:off x="7064872" y="4668078"/>
            <a:ext cx="2549584" cy="368496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75C6C20-2423-4056-AE5E-F1E117712844}"/>
              </a:ext>
            </a:extLst>
          </p:cNvPr>
          <p:cNvCxnSpPr>
            <a:cxnSpLocks/>
            <a:stCxn id="11" idx="1"/>
            <a:endCxn id="41" idx="3"/>
          </p:cNvCxnSpPr>
          <p:nvPr/>
        </p:nvCxnSpPr>
        <p:spPr>
          <a:xfrm flipH="1" flipV="1">
            <a:off x="6489635" y="3454749"/>
            <a:ext cx="2522753" cy="69906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8565219-E35A-40C1-B8BF-DB048BC4B44F}"/>
              </a:ext>
            </a:extLst>
          </p:cNvPr>
          <p:cNvCxnSpPr>
            <a:cxnSpLocks/>
            <a:stCxn id="10" idx="2"/>
            <a:endCxn id="40" idx="3"/>
          </p:cNvCxnSpPr>
          <p:nvPr/>
        </p:nvCxnSpPr>
        <p:spPr>
          <a:xfrm flipH="1" flipV="1">
            <a:off x="5499205" y="2216574"/>
            <a:ext cx="3427791" cy="128531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7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Iterator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A05DF-E1F3-428A-B25C-147C961F6D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9FB5825-2855-44B5-A0DD-BFAD6AD3CB27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12CD482-8C8A-4B26-B2EE-2AB868E7C7BB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133AD9-E2FC-40DF-909E-D9E35B7274B1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2D78F7E-9457-4207-BB70-BB9D4508196A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A38FA5A-DC2A-4615-99A5-5E9CAB1B602E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DA28A63-472F-4E20-B6B8-99EAAC828644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0DBEBE-6EF9-4ACC-B9D0-B5619A9A379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5F75580-DE16-4D74-A4AD-B16093B4D7D0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70572D9-B329-43A5-9E3D-68A6293F8F10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C77BFE6-1EEE-41D2-83C6-FB0677ED7EF7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C2D196A2-4424-470E-B538-032245EF6F70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355847-696F-48FF-BD3A-F9CCE5AC3B38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A4DB2B7-7080-42B7-89D8-E71488105746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50DD31B-3831-48A1-907D-7048696C4B34}"/>
              </a:ext>
            </a:extLst>
          </p:cNvPr>
          <p:cNvGrpSpPr/>
          <p:nvPr/>
        </p:nvGrpSpPr>
        <p:grpSpPr>
          <a:xfrm>
            <a:off x="838200" y="1862631"/>
            <a:ext cx="4661005" cy="707886"/>
            <a:chOff x="974483" y="1861930"/>
            <a:chExt cx="4661005" cy="707886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6423D2C-77E9-4319-A380-5BB2A137956A}"/>
                </a:ext>
              </a:extLst>
            </p:cNvPr>
            <p:cNvSpPr/>
            <p:nvPr/>
          </p:nvSpPr>
          <p:spPr>
            <a:xfrm>
              <a:off x="1948070" y="1861930"/>
              <a:ext cx="3687418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child.Next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emit(projection(t))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1633871-456D-45E6-A193-75683561ADC9}"/>
                </a:ext>
              </a:extLst>
            </p:cNvPr>
            <p:cNvSpPr/>
            <p:nvPr/>
          </p:nvSpPr>
          <p:spPr>
            <a:xfrm>
              <a:off x="974483" y="1861930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B0DFEA6-C5CD-4C3B-AB77-AF540672FC2E}"/>
              </a:ext>
            </a:extLst>
          </p:cNvPr>
          <p:cNvGrpSpPr/>
          <p:nvPr/>
        </p:nvGrpSpPr>
        <p:grpSpPr>
          <a:xfrm>
            <a:off x="811531" y="2763639"/>
            <a:ext cx="5678104" cy="1352829"/>
            <a:chOff x="974483" y="2935356"/>
            <a:chExt cx="5678104" cy="1352829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DB7E638-4988-4A11-828A-60453B36637E}"/>
                </a:ext>
              </a:extLst>
            </p:cNvPr>
            <p:cNvSpPr/>
            <p:nvPr/>
          </p:nvSpPr>
          <p:spPr>
            <a:xfrm>
              <a:off x="1948070" y="2964746"/>
              <a:ext cx="4704517" cy="1323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t1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left.Next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buildHashTable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(t1)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t2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right.Next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if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probe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(t2):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(t1⨝t2)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7C2374F-C745-4935-9AF7-186637CFB473}"/>
                </a:ext>
              </a:extLst>
            </p:cNvPr>
            <p:cNvSpPr/>
            <p:nvPr/>
          </p:nvSpPr>
          <p:spPr>
            <a:xfrm>
              <a:off x="974483" y="2935356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1C3ACFA-25AD-4BF0-A597-FD5440DCFBED}"/>
              </a:ext>
            </a:extLst>
          </p:cNvPr>
          <p:cNvGrpSpPr/>
          <p:nvPr/>
        </p:nvGrpSpPr>
        <p:grpSpPr>
          <a:xfrm>
            <a:off x="1523252" y="4314135"/>
            <a:ext cx="5541620" cy="707886"/>
            <a:chOff x="2018832" y="4476475"/>
            <a:chExt cx="5541620" cy="707886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DEA4A55-9E41-4BF2-91AA-70E799852E0A}"/>
                </a:ext>
              </a:extLst>
            </p:cNvPr>
            <p:cNvSpPr/>
            <p:nvPr/>
          </p:nvSpPr>
          <p:spPr>
            <a:xfrm>
              <a:off x="3009992" y="4476475"/>
              <a:ext cx="4550460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child.Next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if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evalPred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(t):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AFCB462-64CF-4163-B981-DC37D4A2E375}"/>
                </a:ext>
              </a:extLst>
            </p:cNvPr>
            <p:cNvSpPr/>
            <p:nvPr/>
          </p:nvSpPr>
          <p:spPr>
            <a:xfrm>
              <a:off x="2018832" y="4476475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50CA380-A7AA-4C23-AC5B-D34E5D186953}"/>
              </a:ext>
            </a:extLst>
          </p:cNvPr>
          <p:cNvGrpSpPr/>
          <p:nvPr/>
        </p:nvGrpSpPr>
        <p:grpSpPr>
          <a:xfrm>
            <a:off x="257533" y="5640174"/>
            <a:ext cx="3572703" cy="707886"/>
            <a:chOff x="-80755" y="5562243"/>
            <a:chExt cx="3572703" cy="70788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4C1C2B-7A02-431A-9ADF-8FF25FFD4361}"/>
                </a:ext>
              </a:extLst>
            </p:cNvPr>
            <p:cNvSpPr/>
            <p:nvPr/>
          </p:nvSpPr>
          <p:spPr>
            <a:xfrm>
              <a:off x="902055" y="5562243"/>
              <a:ext cx="2589893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R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CB3FD68-D573-43C2-AFD8-BA16B367C8B5}"/>
                </a:ext>
              </a:extLst>
            </p:cNvPr>
            <p:cNvSpPr/>
            <p:nvPr/>
          </p:nvSpPr>
          <p:spPr>
            <a:xfrm>
              <a:off x="-80755" y="5562243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EC9CECB-39B4-4798-99E6-1EBBFF45F2DD}"/>
              </a:ext>
            </a:extLst>
          </p:cNvPr>
          <p:cNvGrpSpPr/>
          <p:nvPr/>
        </p:nvGrpSpPr>
        <p:grpSpPr>
          <a:xfrm>
            <a:off x="4014129" y="5182346"/>
            <a:ext cx="3562764" cy="707886"/>
            <a:chOff x="3524290" y="5687645"/>
            <a:chExt cx="3562764" cy="70788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9683586-E0EB-41B4-91A4-C9702A155469}"/>
                </a:ext>
              </a:extLst>
            </p:cNvPr>
            <p:cNvSpPr/>
            <p:nvPr/>
          </p:nvSpPr>
          <p:spPr>
            <a:xfrm>
              <a:off x="4497161" y="5687645"/>
              <a:ext cx="2589893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S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F56E397-3703-4D54-A8CC-D3FB3CF036CD}"/>
                </a:ext>
              </a:extLst>
            </p:cNvPr>
            <p:cNvSpPr/>
            <p:nvPr/>
          </p:nvSpPr>
          <p:spPr>
            <a:xfrm>
              <a:off x="3524290" y="5687645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A392A51-E62E-476F-B99C-0F03343F43E7}"/>
              </a:ext>
            </a:extLst>
          </p:cNvPr>
          <p:cNvCxnSpPr>
            <a:endCxn id="41" idx="0"/>
          </p:cNvCxnSpPr>
          <p:nvPr/>
        </p:nvCxnSpPr>
        <p:spPr>
          <a:xfrm flipH="1">
            <a:off x="4137377" y="2140226"/>
            <a:ext cx="295475" cy="652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476597E-3038-4F54-98B1-A0DCED2723EE}"/>
              </a:ext>
            </a:extLst>
          </p:cNvPr>
          <p:cNvCxnSpPr>
            <a:cxnSpLocks/>
            <a:endCxn id="43" idx="0"/>
          </p:cNvCxnSpPr>
          <p:nvPr/>
        </p:nvCxnSpPr>
        <p:spPr>
          <a:xfrm rot="5400000">
            <a:off x="2177590" y="3428327"/>
            <a:ext cx="2569548" cy="1854147"/>
          </a:xfrm>
          <a:prstGeom prst="curvedConnector3">
            <a:avLst>
              <a:gd name="adj1" fmla="val 2034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4">
            <a:extLst>
              <a:ext uri="{FF2B5EF4-FFF2-40B4-BE49-F238E27FC236}">
                <a16:creationId xmlns:a16="http://schemas.microsoft.com/office/drawing/2014/main" id="{9BE99AB6-8288-4D88-BD50-0FEE8BEE37A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24703" y="3768720"/>
            <a:ext cx="3092606" cy="1696416"/>
          </a:xfrm>
          <a:prstGeom prst="curvedConnector3">
            <a:avLst>
              <a:gd name="adj1" fmla="val 2064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对话气泡: 椭圆形 22">
            <a:extLst>
              <a:ext uri="{FF2B5EF4-FFF2-40B4-BE49-F238E27FC236}">
                <a16:creationId xmlns:a16="http://schemas.microsoft.com/office/drawing/2014/main" id="{F6628FEA-A0BF-4352-A4F0-14F5145CB9B2}"/>
              </a:ext>
            </a:extLst>
          </p:cNvPr>
          <p:cNvSpPr/>
          <p:nvPr/>
        </p:nvSpPr>
        <p:spPr>
          <a:xfrm>
            <a:off x="4242546" y="5991510"/>
            <a:ext cx="2059123" cy="449315"/>
          </a:xfrm>
          <a:prstGeom prst="wedgeEllipseCallout">
            <a:avLst>
              <a:gd name="adj1" fmla="val -66524"/>
              <a:gd name="adj2" fmla="val -15070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Single Tuple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5A0618-57D5-4B7F-ADB7-A1245FAB0F34}"/>
              </a:ext>
            </a:extLst>
          </p:cNvPr>
          <p:cNvSpPr/>
          <p:nvPr/>
        </p:nvSpPr>
        <p:spPr>
          <a:xfrm>
            <a:off x="2392375" y="3131316"/>
            <a:ext cx="2875722" cy="332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44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Iterator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59074-E9D8-460E-A8AD-A9D28F14FB9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9FB5825-2855-44B5-A0DD-BFAD6AD3CB27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12CD482-8C8A-4B26-B2EE-2AB868E7C7BB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133AD9-E2FC-40DF-909E-D9E35B7274B1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2D78F7E-9457-4207-BB70-BB9D4508196A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A38FA5A-DC2A-4615-99A5-5E9CAB1B602E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DA28A63-472F-4E20-B6B8-99EAAC828644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0DBEBE-6EF9-4ACC-B9D0-B5619A9A379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5F75580-DE16-4D74-A4AD-B16093B4D7D0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70572D9-B329-43A5-9E3D-68A6293F8F10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C77BFE6-1EEE-41D2-83C6-FB0677ED7EF7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C2D196A2-4424-470E-B538-032245EF6F70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355847-696F-48FF-BD3A-F9CCE5AC3B38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A4DB2B7-7080-42B7-89D8-E71488105746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50DD31B-3831-48A1-907D-7048696C4B34}"/>
              </a:ext>
            </a:extLst>
          </p:cNvPr>
          <p:cNvGrpSpPr/>
          <p:nvPr/>
        </p:nvGrpSpPr>
        <p:grpSpPr>
          <a:xfrm>
            <a:off x="838200" y="1862631"/>
            <a:ext cx="4661005" cy="707886"/>
            <a:chOff x="974483" y="1861930"/>
            <a:chExt cx="4661005" cy="707886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6423D2C-77E9-4319-A380-5BB2A137956A}"/>
                </a:ext>
              </a:extLst>
            </p:cNvPr>
            <p:cNvSpPr/>
            <p:nvPr/>
          </p:nvSpPr>
          <p:spPr>
            <a:xfrm>
              <a:off x="1948070" y="1861930"/>
              <a:ext cx="3687418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child.Next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emit(projection(t))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1633871-456D-45E6-A193-75683561ADC9}"/>
                </a:ext>
              </a:extLst>
            </p:cNvPr>
            <p:cNvSpPr/>
            <p:nvPr/>
          </p:nvSpPr>
          <p:spPr>
            <a:xfrm>
              <a:off x="974483" y="1861930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B0DFEA6-C5CD-4C3B-AB77-AF540672FC2E}"/>
              </a:ext>
            </a:extLst>
          </p:cNvPr>
          <p:cNvGrpSpPr/>
          <p:nvPr/>
        </p:nvGrpSpPr>
        <p:grpSpPr>
          <a:xfrm>
            <a:off x="811531" y="2763639"/>
            <a:ext cx="5678104" cy="1352829"/>
            <a:chOff x="974483" y="2935356"/>
            <a:chExt cx="5678104" cy="1352829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DB7E638-4988-4A11-828A-60453B36637E}"/>
                </a:ext>
              </a:extLst>
            </p:cNvPr>
            <p:cNvSpPr/>
            <p:nvPr/>
          </p:nvSpPr>
          <p:spPr>
            <a:xfrm>
              <a:off x="1948070" y="2964746"/>
              <a:ext cx="4704517" cy="1323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t1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left.Next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buildHashTable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(t1)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t2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right.Next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if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probe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(t2):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(t1⨝t2)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7C2374F-C745-4935-9AF7-186637CFB473}"/>
                </a:ext>
              </a:extLst>
            </p:cNvPr>
            <p:cNvSpPr/>
            <p:nvPr/>
          </p:nvSpPr>
          <p:spPr>
            <a:xfrm>
              <a:off x="974483" y="2935356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1C3ACFA-25AD-4BF0-A597-FD5440DCFBED}"/>
              </a:ext>
            </a:extLst>
          </p:cNvPr>
          <p:cNvGrpSpPr/>
          <p:nvPr/>
        </p:nvGrpSpPr>
        <p:grpSpPr>
          <a:xfrm>
            <a:off x="1523252" y="4314135"/>
            <a:ext cx="5541620" cy="707886"/>
            <a:chOff x="2018832" y="4476475"/>
            <a:chExt cx="5541620" cy="707886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DEA4A55-9E41-4BF2-91AA-70E799852E0A}"/>
                </a:ext>
              </a:extLst>
            </p:cNvPr>
            <p:cNvSpPr/>
            <p:nvPr/>
          </p:nvSpPr>
          <p:spPr>
            <a:xfrm>
              <a:off x="3009992" y="4476475"/>
              <a:ext cx="4550460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child.Next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()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if 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evalPred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(t):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AFCB462-64CF-4163-B981-DC37D4A2E375}"/>
                </a:ext>
              </a:extLst>
            </p:cNvPr>
            <p:cNvSpPr/>
            <p:nvPr/>
          </p:nvSpPr>
          <p:spPr>
            <a:xfrm>
              <a:off x="2018832" y="4476475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50CA380-A7AA-4C23-AC5B-D34E5D186953}"/>
              </a:ext>
            </a:extLst>
          </p:cNvPr>
          <p:cNvGrpSpPr/>
          <p:nvPr/>
        </p:nvGrpSpPr>
        <p:grpSpPr>
          <a:xfrm>
            <a:off x="257533" y="5640174"/>
            <a:ext cx="3572703" cy="707886"/>
            <a:chOff x="-80755" y="5562243"/>
            <a:chExt cx="3572703" cy="70788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4C1C2B-7A02-431A-9ADF-8FF25FFD4361}"/>
                </a:ext>
              </a:extLst>
            </p:cNvPr>
            <p:cNvSpPr/>
            <p:nvPr/>
          </p:nvSpPr>
          <p:spPr>
            <a:xfrm>
              <a:off x="902055" y="5562243"/>
              <a:ext cx="2589893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R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CB3FD68-D573-43C2-AFD8-BA16B367C8B5}"/>
                </a:ext>
              </a:extLst>
            </p:cNvPr>
            <p:cNvSpPr/>
            <p:nvPr/>
          </p:nvSpPr>
          <p:spPr>
            <a:xfrm>
              <a:off x="-80755" y="5562243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EC9CECB-39B4-4798-99E6-1EBBFF45F2DD}"/>
              </a:ext>
            </a:extLst>
          </p:cNvPr>
          <p:cNvGrpSpPr/>
          <p:nvPr/>
        </p:nvGrpSpPr>
        <p:grpSpPr>
          <a:xfrm>
            <a:off x="4014129" y="5182346"/>
            <a:ext cx="3562764" cy="707886"/>
            <a:chOff x="3524290" y="5687645"/>
            <a:chExt cx="3562764" cy="70788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9683586-E0EB-41B4-91A4-C9702A155469}"/>
                </a:ext>
              </a:extLst>
            </p:cNvPr>
            <p:cNvSpPr/>
            <p:nvPr/>
          </p:nvSpPr>
          <p:spPr>
            <a:xfrm>
              <a:off x="4497161" y="5687645"/>
              <a:ext cx="2589893" cy="707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for t in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S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  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emit</a:t>
              </a:r>
              <a:r>
                <a:rPr kumimoji="0" lang="de-DE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(t)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F56E397-3703-4D54-A8CC-D3FB3CF036CD}"/>
                </a:ext>
              </a:extLst>
            </p:cNvPr>
            <p:cNvSpPr/>
            <p:nvPr/>
          </p:nvSpPr>
          <p:spPr>
            <a:xfrm>
              <a:off x="3524290" y="5687645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Next()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A392A51-E62E-476F-B99C-0F03343F43E7}"/>
              </a:ext>
            </a:extLst>
          </p:cNvPr>
          <p:cNvCxnSpPr>
            <a:endCxn id="41" idx="0"/>
          </p:cNvCxnSpPr>
          <p:nvPr/>
        </p:nvCxnSpPr>
        <p:spPr>
          <a:xfrm flipH="1">
            <a:off x="4137377" y="2140226"/>
            <a:ext cx="295475" cy="652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407635F-D041-4D07-9B99-CD24F68D653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4658552" y="3695983"/>
            <a:ext cx="131090" cy="6181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DA2F51-2B80-4690-B95F-165C749DFF71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5201953" y="4582586"/>
            <a:ext cx="1079994" cy="5997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弧形 67">
            <a:extLst>
              <a:ext uri="{FF2B5EF4-FFF2-40B4-BE49-F238E27FC236}">
                <a16:creationId xmlns:a16="http://schemas.microsoft.com/office/drawing/2014/main" id="{261C129C-9C69-433E-B5F6-628182BFD6CA}"/>
              </a:ext>
            </a:extLst>
          </p:cNvPr>
          <p:cNvSpPr/>
          <p:nvPr/>
        </p:nvSpPr>
        <p:spPr>
          <a:xfrm>
            <a:off x="5041824" y="4519197"/>
            <a:ext cx="1986870" cy="1326297"/>
          </a:xfrm>
          <a:prstGeom prst="arc">
            <a:avLst>
              <a:gd name="adj1" fmla="val 15728696"/>
              <a:gd name="adj2" fmla="val 2250345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9" name="弧形 68">
            <a:extLst>
              <a:ext uri="{FF2B5EF4-FFF2-40B4-BE49-F238E27FC236}">
                <a16:creationId xmlns:a16="http://schemas.microsoft.com/office/drawing/2014/main" id="{581B90A3-FB5B-4F85-9DFD-CEFE4E4462DC}"/>
              </a:ext>
            </a:extLst>
          </p:cNvPr>
          <p:cNvSpPr/>
          <p:nvPr/>
        </p:nvSpPr>
        <p:spPr>
          <a:xfrm>
            <a:off x="4884903" y="3489417"/>
            <a:ext cx="1986870" cy="1640346"/>
          </a:xfrm>
          <a:prstGeom prst="arc">
            <a:avLst>
              <a:gd name="adj1" fmla="val 13924853"/>
              <a:gd name="adj2" fmla="val 2250345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弧形 69">
            <a:extLst>
              <a:ext uri="{FF2B5EF4-FFF2-40B4-BE49-F238E27FC236}">
                <a16:creationId xmlns:a16="http://schemas.microsoft.com/office/drawing/2014/main" id="{AD68A95B-4827-4F9F-9DB4-3338906F3D4B}"/>
              </a:ext>
            </a:extLst>
          </p:cNvPr>
          <p:cNvSpPr/>
          <p:nvPr/>
        </p:nvSpPr>
        <p:spPr>
          <a:xfrm>
            <a:off x="4386499" y="2103146"/>
            <a:ext cx="2198397" cy="2108275"/>
          </a:xfrm>
          <a:prstGeom prst="arc">
            <a:avLst>
              <a:gd name="adj1" fmla="val 15150958"/>
              <a:gd name="adj2" fmla="val 2250345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19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Iterator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This is used in almost every DBMS. Allows for tuple pipelining.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Some operators must block until their children emit all their tuples.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Joins, Subqueries, Order By, Sorting, …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Output control works easily with this approach.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464B1A-D0FB-4F99-82C7-24F12770C76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04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Materialization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Each operator processes its input all at once and then emits its output all at once.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operator "materializes" it output as a single result.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can push down hints into to avoid scanning too many tuples.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Can send either a materialized row or a single column.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output can be either whole tuples (NSM, </a:t>
            </a:r>
            <a:r>
              <a:rPr lang="en-US" altLang="zh-CN" sz="1800" b="1" dirty="0">
                <a:effectLst/>
                <a:highlight>
                  <a:srgbClr val="FFFFFF"/>
                </a:highlight>
                <a:latin typeface="URWPalladioL"/>
              </a:rPr>
              <a:t>n-</a:t>
            </a:r>
            <a:r>
              <a:rPr lang="en-US" altLang="zh-CN" sz="1800" b="1" dirty="0" err="1">
                <a:effectLst/>
                <a:highlight>
                  <a:srgbClr val="FFFFFF"/>
                </a:highlight>
                <a:latin typeface="URWPalladioL"/>
              </a:rPr>
              <a:t>ary</a:t>
            </a:r>
            <a:r>
              <a:rPr lang="en-US" altLang="zh-CN" sz="1800" b="1" dirty="0">
                <a:effectLst/>
                <a:highlight>
                  <a:srgbClr val="FFFFFF"/>
                </a:highlight>
                <a:latin typeface="URWPalladioL"/>
              </a:rPr>
              <a:t> storage model </a:t>
            </a:r>
            <a:endParaRPr lang="en-US" altLang="zh-CN" dirty="0">
              <a:effectLst/>
              <a:highlight>
                <a:srgbClr val="FFFFFF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zh-CN" dirty="0"/>
              <a:t>Row storage) or subsets of columns (DSM, Decomposition Storage Model 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zh-CN" dirty="0"/>
              <a:t>)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8DE86C-2096-4D6D-B8E8-90C2E7264CB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06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Materialization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1F0E-AC61-4639-9632-7696F7AE5CC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464C67-10F3-4DCF-8000-C49E73C645EA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A91D0A4-5E0B-4A60-8FB9-DF37DBB94D95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A6F887-FFA7-4442-B65C-75A8FA20D944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A0B545-6D9A-4229-9A6D-B7F7DEEBBEC0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1AF7DC-2060-4C95-B3D6-7B83E0B53B20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655D86-1EE3-4D2F-8FE5-31B8DE2FA21C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5EA904-114E-46DF-8266-3056F618FB1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777D93-D5C9-44C0-B801-ABAAFB7D4CD8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5BE9D39-21D8-4FDC-8D6E-646EFFE4157C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2B054A-825C-4475-82EC-275B76B099AF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53745C-87D3-4693-87CF-ECA81C77B9BD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8A32F-15F2-4CAF-915C-91D456099D17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956D2-A1D8-4C53-93DF-AE92C81E4338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9C389A-FB32-483D-AB62-6AA2360CCD0B}"/>
              </a:ext>
            </a:extLst>
          </p:cNvPr>
          <p:cNvSpPr/>
          <p:nvPr/>
        </p:nvSpPr>
        <p:spPr>
          <a:xfrm>
            <a:off x="2710484" y="1707320"/>
            <a:ext cx="38265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projection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05AC1-CC1C-4382-9FFC-FF79F3FF9A95}"/>
              </a:ext>
            </a:extLst>
          </p:cNvPr>
          <p:cNvSpPr/>
          <p:nvPr/>
        </p:nvSpPr>
        <p:spPr>
          <a:xfrm>
            <a:off x="1581151" y="2838668"/>
            <a:ext cx="3826565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t1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left.Output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buildHashTable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t2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right.Output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probe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(t2):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(t1⨝t2)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A93C7-ED0D-493A-A03F-FCB97C53CA8B}"/>
              </a:ext>
            </a:extLst>
          </p:cNvPr>
          <p:cNvSpPr/>
          <p:nvPr/>
        </p:nvSpPr>
        <p:spPr>
          <a:xfrm>
            <a:off x="3171914" y="4312544"/>
            <a:ext cx="4380007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evalPred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7E601C-F9F9-4E47-B3E6-0B1B7FD59442}"/>
              </a:ext>
            </a:extLst>
          </p:cNvPr>
          <p:cNvSpPr/>
          <p:nvPr/>
        </p:nvSpPr>
        <p:spPr>
          <a:xfrm>
            <a:off x="957468" y="5371643"/>
            <a:ext cx="192818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82084-0540-4307-8CC8-81FC70ABFD56}"/>
              </a:ext>
            </a:extLst>
          </p:cNvPr>
          <p:cNvSpPr/>
          <p:nvPr/>
        </p:nvSpPr>
        <p:spPr>
          <a:xfrm>
            <a:off x="5059436" y="5385611"/>
            <a:ext cx="192818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1ECBD-1643-4DC6-8498-027068D6079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494434" y="2140226"/>
            <a:ext cx="938420" cy="698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54">
            <a:extLst>
              <a:ext uri="{FF2B5EF4-FFF2-40B4-BE49-F238E27FC236}">
                <a16:creationId xmlns:a16="http://schemas.microsoft.com/office/drawing/2014/main" id="{EDA4D040-CF74-40D9-B25D-F1AA004954E1}"/>
              </a:ext>
            </a:extLst>
          </p:cNvPr>
          <p:cNvCxnSpPr>
            <a:cxnSpLocks/>
            <a:endCxn id="25" idx="0"/>
          </p:cNvCxnSpPr>
          <p:nvPr/>
        </p:nvCxnSpPr>
        <p:spPr>
          <a:xfrm rot="5400000">
            <a:off x="1558418" y="3665056"/>
            <a:ext cx="2069732" cy="134344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54">
            <a:extLst>
              <a:ext uri="{FF2B5EF4-FFF2-40B4-BE49-F238E27FC236}">
                <a16:creationId xmlns:a16="http://schemas.microsoft.com/office/drawing/2014/main" id="{8FA168AA-FED7-4100-AC36-040D7C9726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0901" y="3847055"/>
            <a:ext cx="2871030" cy="1761319"/>
          </a:xfrm>
          <a:prstGeom prst="curvedConnector3">
            <a:avLst>
              <a:gd name="adj1" fmla="val -239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对话气泡: 椭圆形 30">
            <a:extLst>
              <a:ext uri="{FF2B5EF4-FFF2-40B4-BE49-F238E27FC236}">
                <a16:creationId xmlns:a16="http://schemas.microsoft.com/office/drawing/2014/main" id="{884442B0-78F4-4D7C-9573-EEE04B7F7087}"/>
              </a:ext>
            </a:extLst>
          </p:cNvPr>
          <p:cNvSpPr/>
          <p:nvPr/>
        </p:nvSpPr>
        <p:spPr>
          <a:xfrm>
            <a:off x="3629707" y="5674731"/>
            <a:ext cx="2059123" cy="449315"/>
          </a:xfrm>
          <a:prstGeom prst="wedgeEllipseCallout">
            <a:avLst>
              <a:gd name="adj1" fmla="val -48182"/>
              <a:gd name="adj2" fmla="val -15807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All Tuples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65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Materialization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2BB0BB-FB2E-4FB0-B8FF-44C8F697401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464C67-10F3-4DCF-8000-C49E73C645EA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A91D0A4-5E0B-4A60-8FB9-DF37DBB94D95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A6F887-FFA7-4442-B65C-75A8FA20D944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A0B545-6D9A-4229-9A6D-B7F7DEEBBEC0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1AF7DC-2060-4C95-B3D6-7B83E0B53B20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655D86-1EE3-4D2F-8FE5-31B8DE2FA21C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5EA904-114E-46DF-8266-3056F618FB1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777D93-D5C9-44C0-B801-ABAAFB7D4CD8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5BE9D39-21D8-4FDC-8D6E-646EFFE4157C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2B054A-825C-4475-82EC-275B76B099AF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53745C-87D3-4693-87CF-ECA81C77B9BD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8A32F-15F2-4CAF-915C-91D456099D17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956D2-A1D8-4C53-93DF-AE92C81E4338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9C389A-FB32-483D-AB62-6AA2360CCD0B}"/>
              </a:ext>
            </a:extLst>
          </p:cNvPr>
          <p:cNvSpPr/>
          <p:nvPr/>
        </p:nvSpPr>
        <p:spPr>
          <a:xfrm>
            <a:off x="2710484" y="1707320"/>
            <a:ext cx="38265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projection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05AC1-CC1C-4382-9FFC-FF79F3FF9A95}"/>
              </a:ext>
            </a:extLst>
          </p:cNvPr>
          <p:cNvSpPr/>
          <p:nvPr/>
        </p:nvSpPr>
        <p:spPr>
          <a:xfrm>
            <a:off x="1581151" y="2838668"/>
            <a:ext cx="3826565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t1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left.Output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buildHashTable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t2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right.Output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probe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(t2):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(t1⨝t2)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A93C7-ED0D-493A-A03F-FCB97C53CA8B}"/>
              </a:ext>
            </a:extLst>
          </p:cNvPr>
          <p:cNvSpPr/>
          <p:nvPr/>
        </p:nvSpPr>
        <p:spPr>
          <a:xfrm>
            <a:off x="3171914" y="4312544"/>
            <a:ext cx="4380007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evalPred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7E601C-F9F9-4E47-B3E6-0B1B7FD59442}"/>
              </a:ext>
            </a:extLst>
          </p:cNvPr>
          <p:cNvSpPr/>
          <p:nvPr/>
        </p:nvSpPr>
        <p:spPr>
          <a:xfrm>
            <a:off x="957468" y="5371643"/>
            <a:ext cx="192818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82084-0540-4307-8CC8-81FC70ABFD56}"/>
              </a:ext>
            </a:extLst>
          </p:cNvPr>
          <p:cNvSpPr/>
          <p:nvPr/>
        </p:nvSpPr>
        <p:spPr>
          <a:xfrm>
            <a:off x="5059436" y="5385611"/>
            <a:ext cx="192818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1ECBD-1643-4DC6-8498-027068D6079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494434" y="2140226"/>
            <a:ext cx="938420" cy="698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939B570-FE74-4533-A298-4B4051E87345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349322" y="3674298"/>
            <a:ext cx="2012596" cy="6382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A7DD1CD-2772-4984-B05B-6072E0F7AE4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823791" y="4745026"/>
            <a:ext cx="1199739" cy="6405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>
            <a:extLst>
              <a:ext uri="{FF2B5EF4-FFF2-40B4-BE49-F238E27FC236}">
                <a16:creationId xmlns:a16="http://schemas.microsoft.com/office/drawing/2014/main" id="{BA53E500-0767-4643-8D7C-5D66C5870591}"/>
              </a:ext>
            </a:extLst>
          </p:cNvPr>
          <p:cNvSpPr/>
          <p:nvPr/>
        </p:nvSpPr>
        <p:spPr>
          <a:xfrm>
            <a:off x="5098353" y="4675612"/>
            <a:ext cx="1647071" cy="1650138"/>
          </a:xfrm>
          <a:prstGeom prst="arc">
            <a:avLst>
              <a:gd name="adj1" fmla="val 15728696"/>
              <a:gd name="adj2" fmla="val 3580873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弧形 34">
            <a:extLst>
              <a:ext uri="{FF2B5EF4-FFF2-40B4-BE49-F238E27FC236}">
                <a16:creationId xmlns:a16="http://schemas.microsoft.com/office/drawing/2014/main" id="{3EE028C7-F72F-46C8-B5C1-21BC8CA714C5}"/>
              </a:ext>
            </a:extLst>
          </p:cNvPr>
          <p:cNvSpPr/>
          <p:nvPr/>
        </p:nvSpPr>
        <p:spPr>
          <a:xfrm>
            <a:off x="3578466" y="3632166"/>
            <a:ext cx="1647071" cy="1479516"/>
          </a:xfrm>
          <a:prstGeom prst="arc">
            <a:avLst>
              <a:gd name="adj1" fmla="val 15728696"/>
              <a:gd name="adj2" fmla="val 5437489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0C85CE89-2FB1-4A4D-9768-F1FB9614BBC8}"/>
              </a:ext>
            </a:extLst>
          </p:cNvPr>
          <p:cNvSpPr/>
          <p:nvPr/>
        </p:nvSpPr>
        <p:spPr>
          <a:xfrm>
            <a:off x="-554318" y="1298713"/>
            <a:ext cx="5730945" cy="2768172"/>
          </a:xfrm>
          <a:prstGeom prst="arc">
            <a:avLst>
              <a:gd name="adj1" fmla="val 20905257"/>
              <a:gd name="adj2" fmla="val 4300661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9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Materialization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93825-67C1-4E85-9C41-D460848D441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464C67-10F3-4DCF-8000-C49E73C645EA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A91D0A4-5E0B-4A60-8FB9-DF37DBB94D95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A6F887-FFA7-4442-B65C-75A8FA20D944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A0B545-6D9A-4229-9A6D-B7F7DEEBBEC0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1AF7DC-2060-4C95-B3D6-7B83E0B53B20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655D86-1EE3-4D2F-8FE5-31B8DE2FA21C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5EA904-114E-46DF-8266-3056F618FB1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777D93-D5C9-44C0-B801-ABAAFB7D4CD8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5BE9D39-21D8-4FDC-8D6E-646EFFE4157C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2B054A-825C-4475-82EC-275B76B099AF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53745C-87D3-4693-87CF-ECA81C77B9BD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8A32F-15F2-4CAF-915C-91D456099D17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956D2-A1D8-4C53-93DF-AE92C81E4338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9C389A-FB32-483D-AB62-6AA2360CCD0B}"/>
              </a:ext>
            </a:extLst>
          </p:cNvPr>
          <p:cNvSpPr/>
          <p:nvPr/>
        </p:nvSpPr>
        <p:spPr>
          <a:xfrm>
            <a:off x="2710484" y="1707320"/>
            <a:ext cx="38265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projection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05AC1-CC1C-4382-9FFC-FF79F3FF9A95}"/>
              </a:ext>
            </a:extLst>
          </p:cNvPr>
          <p:cNvSpPr/>
          <p:nvPr/>
        </p:nvSpPr>
        <p:spPr>
          <a:xfrm>
            <a:off x="1581151" y="2838668"/>
            <a:ext cx="3826565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t1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left.Output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buildHashTable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t2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right.Output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probe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(t2):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(t1⨝t2)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7E601C-F9F9-4E47-B3E6-0B1B7FD59442}"/>
              </a:ext>
            </a:extLst>
          </p:cNvPr>
          <p:cNvSpPr/>
          <p:nvPr/>
        </p:nvSpPr>
        <p:spPr>
          <a:xfrm>
            <a:off x="957468" y="5371643"/>
            <a:ext cx="192818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82084-0540-4307-8CC8-81FC70ABFD56}"/>
              </a:ext>
            </a:extLst>
          </p:cNvPr>
          <p:cNvSpPr/>
          <p:nvPr/>
        </p:nvSpPr>
        <p:spPr>
          <a:xfrm>
            <a:off x="4026380" y="5362611"/>
            <a:ext cx="3472347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if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evalPred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return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1ECBD-1643-4DC6-8498-027068D6079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494434" y="2140226"/>
            <a:ext cx="938420" cy="698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939B570-FE74-4533-A298-4B4051E87345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3349322" y="3674298"/>
            <a:ext cx="2413232" cy="16883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弧形 34">
            <a:extLst>
              <a:ext uri="{FF2B5EF4-FFF2-40B4-BE49-F238E27FC236}">
                <a16:creationId xmlns:a16="http://schemas.microsoft.com/office/drawing/2014/main" id="{3EE028C7-F72F-46C8-B5C1-21BC8CA714C5}"/>
              </a:ext>
            </a:extLst>
          </p:cNvPr>
          <p:cNvSpPr/>
          <p:nvPr/>
        </p:nvSpPr>
        <p:spPr>
          <a:xfrm>
            <a:off x="3349322" y="3545309"/>
            <a:ext cx="3647208" cy="2654263"/>
          </a:xfrm>
          <a:prstGeom prst="arc">
            <a:avLst>
              <a:gd name="adj1" fmla="val 14470411"/>
              <a:gd name="adj2" fmla="val 5437489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0C85CE89-2FB1-4A4D-9768-F1FB9614BBC8}"/>
              </a:ext>
            </a:extLst>
          </p:cNvPr>
          <p:cNvSpPr/>
          <p:nvPr/>
        </p:nvSpPr>
        <p:spPr>
          <a:xfrm>
            <a:off x="-554318" y="1298713"/>
            <a:ext cx="5730945" cy="2768172"/>
          </a:xfrm>
          <a:prstGeom prst="arc">
            <a:avLst>
              <a:gd name="adj1" fmla="val 20905257"/>
              <a:gd name="adj2" fmla="val 4300661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92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Materialization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Better for </a:t>
            </a:r>
            <a:r>
              <a:rPr lang="en-US" altLang="zh-CN" b="1" dirty="0">
                <a:solidFill>
                  <a:srgbClr val="00B050"/>
                </a:solidFill>
              </a:rPr>
              <a:t>OLTP</a:t>
            </a:r>
            <a:r>
              <a:rPr lang="en-US" altLang="zh-CN" dirty="0"/>
              <a:t> workloads because queries only access a small number of tuples at a time.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Lower execution / coordination overhead.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Fewer function calls.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Not good for </a:t>
            </a:r>
            <a:r>
              <a:rPr lang="en-US" altLang="zh-CN" b="1" dirty="0">
                <a:solidFill>
                  <a:srgbClr val="FF0000"/>
                </a:solidFill>
              </a:rPr>
              <a:t>OLAP</a:t>
            </a:r>
            <a:r>
              <a:rPr lang="en-US" altLang="zh-CN" dirty="0"/>
              <a:t> queries with large intermediate results.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2C756B-6127-4924-B666-61E602AAD47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47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Vectorization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Like the Iterator Model where each operator implements a </a:t>
            </a:r>
            <a:r>
              <a:rPr lang="en-US" altLang="zh-CN" b="1" dirty="0">
                <a:solidFill>
                  <a:srgbClr val="FF0000"/>
                </a:solidFill>
              </a:rPr>
              <a:t>next</a:t>
            </a:r>
            <a:r>
              <a:rPr lang="en-US" altLang="zh-CN" dirty="0"/>
              <a:t> function.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But each operator emits a </a:t>
            </a:r>
            <a:r>
              <a:rPr lang="en-US" altLang="zh-CN" b="1" dirty="0">
                <a:solidFill>
                  <a:srgbClr val="00B050"/>
                </a:solidFill>
              </a:rPr>
              <a:t>batch</a:t>
            </a:r>
            <a:r>
              <a:rPr lang="en-US" altLang="zh-CN" dirty="0"/>
              <a:t> of tuples instead of a single tuple.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operator's internal loop processes multiple tuples at a time.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size of the batch can vary based on hardware or query properties.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8C6D63-60CF-42CC-B0C6-BC0C542ED2A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67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Vectorization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5B383-03B8-4049-A3A7-11447A54A87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464C67-10F3-4DCF-8000-C49E73C645EA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A91D0A4-5E0B-4A60-8FB9-DF37DBB94D95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A6F887-FFA7-4442-B65C-75A8FA20D944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A0B545-6D9A-4229-9A6D-B7F7DEEBBEC0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1AF7DC-2060-4C95-B3D6-7B83E0B53B20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655D86-1EE3-4D2F-8FE5-31B8DE2FA21C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5EA904-114E-46DF-8266-3056F618FB1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777D93-D5C9-44C0-B801-ABAAFB7D4CD8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5BE9D39-21D8-4FDC-8D6E-646EFFE4157C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2B054A-825C-4475-82EC-275B76B099AF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53745C-87D3-4693-87CF-ECA81C77B9BD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8A32F-15F2-4CAF-915C-91D456099D17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956D2-A1D8-4C53-93DF-AE92C81E4338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9C389A-FB32-483D-AB62-6AA2360CCD0B}"/>
              </a:ext>
            </a:extLst>
          </p:cNvPr>
          <p:cNvSpPr/>
          <p:nvPr/>
        </p:nvSpPr>
        <p:spPr>
          <a:xfrm>
            <a:off x="2710484" y="1707320"/>
            <a:ext cx="38265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projection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05AC1-CC1C-4382-9FFC-FF79F3FF9A95}"/>
              </a:ext>
            </a:extLst>
          </p:cNvPr>
          <p:cNvSpPr/>
          <p:nvPr/>
        </p:nvSpPr>
        <p:spPr>
          <a:xfrm>
            <a:off x="1581151" y="2838668"/>
            <a:ext cx="3826565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t1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left.next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buildHashTable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t2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right.next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probe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(t2):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(t1⨝t2)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A93C7-ED0D-493A-A03F-FCB97C53CA8B}"/>
              </a:ext>
            </a:extLst>
          </p:cNvPr>
          <p:cNvSpPr/>
          <p:nvPr/>
        </p:nvSpPr>
        <p:spPr>
          <a:xfrm>
            <a:off x="3171914" y="4312544"/>
            <a:ext cx="4380007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evalPred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7E601C-F9F9-4E47-B3E6-0B1B7FD59442}"/>
              </a:ext>
            </a:extLst>
          </p:cNvPr>
          <p:cNvSpPr/>
          <p:nvPr/>
        </p:nvSpPr>
        <p:spPr>
          <a:xfrm>
            <a:off x="957467" y="5371643"/>
            <a:ext cx="2743199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82084-0540-4307-8CC8-81FC70ABFD56}"/>
              </a:ext>
            </a:extLst>
          </p:cNvPr>
          <p:cNvSpPr/>
          <p:nvPr/>
        </p:nvSpPr>
        <p:spPr>
          <a:xfrm>
            <a:off x="4813599" y="5371643"/>
            <a:ext cx="2885244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1ECBD-1643-4DC6-8498-027068D6079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494434" y="2140226"/>
            <a:ext cx="938420" cy="698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54">
            <a:extLst>
              <a:ext uri="{FF2B5EF4-FFF2-40B4-BE49-F238E27FC236}">
                <a16:creationId xmlns:a16="http://schemas.microsoft.com/office/drawing/2014/main" id="{EDA4D040-CF74-40D9-B25D-F1AA004954E1}"/>
              </a:ext>
            </a:extLst>
          </p:cNvPr>
          <p:cNvCxnSpPr>
            <a:cxnSpLocks/>
            <a:endCxn id="25" idx="0"/>
          </p:cNvCxnSpPr>
          <p:nvPr/>
        </p:nvCxnSpPr>
        <p:spPr>
          <a:xfrm rot="5400000">
            <a:off x="1762171" y="3868807"/>
            <a:ext cx="2069732" cy="93594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54">
            <a:extLst>
              <a:ext uri="{FF2B5EF4-FFF2-40B4-BE49-F238E27FC236}">
                <a16:creationId xmlns:a16="http://schemas.microsoft.com/office/drawing/2014/main" id="{8FA168AA-FED7-4100-AC36-040D7C9726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12878" y="4609031"/>
            <a:ext cx="2871028" cy="23736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对话气泡: 椭圆形 30">
            <a:extLst>
              <a:ext uri="{FF2B5EF4-FFF2-40B4-BE49-F238E27FC236}">
                <a16:creationId xmlns:a16="http://schemas.microsoft.com/office/drawing/2014/main" id="{884442B0-78F4-4D7C-9573-EEE04B7F7087}"/>
              </a:ext>
            </a:extLst>
          </p:cNvPr>
          <p:cNvSpPr/>
          <p:nvPr/>
        </p:nvSpPr>
        <p:spPr>
          <a:xfrm>
            <a:off x="3629707" y="5674731"/>
            <a:ext cx="2148241" cy="449315"/>
          </a:xfrm>
          <a:prstGeom prst="wedgeEllipseCallout">
            <a:avLst>
              <a:gd name="adj1" fmla="val -48182"/>
              <a:gd name="adj2" fmla="val -15807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Tuples Batch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32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Vectorization Model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88836-4580-4DAD-9301-13ADFB1F896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464C67-10F3-4DCF-8000-C49E73C645EA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A91D0A4-5E0B-4A60-8FB9-DF37DBB94D95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A6F887-FFA7-4442-B65C-75A8FA20D944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A0B545-6D9A-4229-9A6D-B7F7DEEBBEC0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1AF7DC-2060-4C95-B3D6-7B83E0B53B20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655D86-1EE3-4D2F-8FE5-31B8DE2FA21C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5EA904-114E-46DF-8266-3056F618FB11}"/>
              </a:ext>
            </a:extLst>
          </p:cNvPr>
          <p:cNvCxnSpPr>
            <a:cxnSpLocks/>
            <a:stCxn id="14" idx="0"/>
            <a:endCxn id="11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777D93-D5C9-44C0-B801-ABAAFB7D4CD8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5BE9D39-21D8-4FDC-8D6E-646EFFE4157C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2B054A-825C-4475-82EC-275B76B099AF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53745C-87D3-4693-87CF-ECA81C77B9BD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8A32F-15F2-4CAF-915C-91D456099D17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956D2-A1D8-4C53-93DF-AE92C81E4338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9C389A-FB32-483D-AB62-6AA2360CCD0B}"/>
              </a:ext>
            </a:extLst>
          </p:cNvPr>
          <p:cNvSpPr/>
          <p:nvPr/>
        </p:nvSpPr>
        <p:spPr>
          <a:xfrm>
            <a:off x="2710484" y="1707320"/>
            <a:ext cx="38265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projection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05AC1-CC1C-4382-9FFC-FF79F3FF9A95}"/>
              </a:ext>
            </a:extLst>
          </p:cNvPr>
          <p:cNvSpPr/>
          <p:nvPr/>
        </p:nvSpPr>
        <p:spPr>
          <a:xfrm>
            <a:off x="1581151" y="2838668"/>
            <a:ext cx="3826565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t1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left.next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buildHashTable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t2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right.next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probe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(t2):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(t1⨝t2)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A93C7-ED0D-493A-A03F-FCB97C53CA8B}"/>
              </a:ext>
            </a:extLst>
          </p:cNvPr>
          <p:cNvSpPr/>
          <p:nvPr/>
        </p:nvSpPr>
        <p:spPr>
          <a:xfrm>
            <a:off x="3171914" y="4312544"/>
            <a:ext cx="4380007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child.Next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evalPred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7E601C-F9F9-4E47-B3E6-0B1B7FD59442}"/>
              </a:ext>
            </a:extLst>
          </p:cNvPr>
          <p:cNvSpPr/>
          <p:nvPr/>
        </p:nvSpPr>
        <p:spPr>
          <a:xfrm>
            <a:off x="957467" y="5371643"/>
            <a:ext cx="2743199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82084-0540-4307-8CC8-81FC70ABFD56}"/>
              </a:ext>
            </a:extLst>
          </p:cNvPr>
          <p:cNvSpPr/>
          <p:nvPr/>
        </p:nvSpPr>
        <p:spPr>
          <a:xfrm>
            <a:off x="4813599" y="5371643"/>
            <a:ext cx="2885244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[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t in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out.add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if |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|&gt;n: emit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out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1ECBD-1643-4DC6-8498-027068D6079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494434" y="2140226"/>
            <a:ext cx="938420" cy="698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54">
            <a:extLst>
              <a:ext uri="{FF2B5EF4-FFF2-40B4-BE49-F238E27FC236}">
                <a16:creationId xmlns:a16="http://schemas.microsoft.com/office/drawing/2014/main" id="{EDA4D040-CF74-40D9-B25D-F1AA004954E1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581401" y="3661532"/>
            <a:ext cx="1780517" cy="65101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54">
            <a:extLst>
              <a:ext uri="{FF2B5EF4-FFF2-40B4-BE49-F238E27FC236}">
                <a16:creationId xmlns:a16="http://schemas.microsoft.com/office/drawing/2014/main" id="{8FA168AA-FED7-4100-AC36-040D7C9726BD}"/>
              </a:ext>
            </a:extLst>
          </p:cNvPr>
          <p:cNvCxnSpPr>
            <a:cxnSpLocks/>
          </p:cNvCxnSpPr>
          <p:nvPr/>
        </p:nvCxnSpPr>
        <p:spPr>
          <a:xfrm rot="10800000">
            <a:off x="5627144" y="4698269"/>
            <a:ext cx="1605397" cy="1464960"/>
          </a:xfrm>
          <a:prstGeom prst="curvedConnector3">
            <a:avLst>
              <a:gd name="adj1" fmla="val -48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54">
            <a:extLst>
              <a:ext uri="{FF2B5EF4-FFF2-40B4-BE49-F238E27FC236}">
                <a16:creationId xmlns:a16="http://schemas.microsoft.com/office/drawing/2014/main" id="{61EE47DC-5136-4280-9CAB-9BEDDD62071F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5035276" y="4745026"/>
            <a:ext cx="1220945" cy="62661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54">
            <a:extLst>
              <a:ext uri="{FF2B5EF4-FFF2-40B4-BE49-F238E27FC236}">
                <a16:creationId xmlns:a16="http://schemas.microsoft.com/office/drawing/2014/main" id="{61496EEC-9849-4A35-8B9D-F5CCE4E780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31878" y="3592633"/>
            <a:ext cx="1558514" cy="1518133"/>
          </a:xfrm>
          <a:prstGeom prst="curvedConnector3">
            <a:avLst>
              <a:gd name="adj1" fmla="val 10824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54">
            <a:extLst>
              <a:ext uri="{FF2B5EF4-FFF2-40B4-BE49-F238E27FC236}">
                <a16:creationId xmlns:a16="http://schemas.microsoft.com/office/drawing/2014/main" id="{4409405B-5E81-46D5-87BD-B444514FEA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71139" y="2707541"/>
            <a:ext cx="1907310" cy="772681"/>
          </a:xfrm>
          <a:prstGeom prst="curvedConnector3">
            <a:avLst>
              <a:gd name="adj1" fmla="val -141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81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Vectorization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Ideal for OLAP queries because it greatly </a:t>
            </a:r>
            <a:r>
              <a:rPr lang="en-US" altLang="zh-CN" b="1" dirty="0">
                <a:solidFill>
                  <a:srgbClr val="FF0000"/>
                </a:solidFill>
              </a:rPr>
              <a:t>reduces</a:t>
            </a:r>
            <a:r>
              <a:rPr lang="en-US" altLang="zh-CN" dirty="0"/>
              <a:t> the number of invocations per operator.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Allows for operators to use vectorized (</a:t>
            </a:r>
            <a:r>
              <a:rPr lang="en-US" altLang="zh-CN" b="1" dirty="0">
                <a:solidFill>
                  <a:srgbClr val="00B050"/>
                </a:solidFill>
              </a:rPr>
              <a:t>SIMD</a:t>
            </a:r>
            <a:r>
              <a:rPr lang="en-US" altLang="zh-CN" dirty="0"/>
              <a:t>) instructions to process batches of tuples.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7F3727-EADD-41B5-B7A5-49CE9714415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17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7B14-5802-4EC4-ABA2-2F1287A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Plan Processing Direction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9FC99-FF5A-4EDE-892B-F6629CE9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Approach #1: Top-to-Bottom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Start with the root and "pull" data up from its children.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Tuples are always passed with function calls.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Approach #2: Bottom-to-Top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Start with leaf nodes and "push" data to their parents.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Allows for tighter control of caches/registers in pipelines.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3BC87-21F4-4D47-A9D5-D453934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215BD-928E-46D4-B5D3-34413E3CCD9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23070-F755-4D90-918D-DB085B7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F7524-79F5-447B-9216-7336F0F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480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Measures of Query Cost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Disk cost can be estimated as: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Number of seeks  * average-seek-cost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Number of blocks read  * average-block-read-cost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Number of blocks written * average-block-write-cost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We just use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– time to transfer one block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– time for one seek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Cost for b block transfers plus S seeks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b="1" dirty="0">
                <a:solidFill>
                  <a:srgbClr val="00B050"/>
                </a:solidFill>
                <a:ea typeface="MS PGothic" panose="020B0600070205080204" pitchFamily="34" charset="-128"/>
              </a:rPr>
              <a:t>        </a:t>
            </a:r>
            <a:r>
              <a:rPr lang="en-US" altLang="en-US" sz="2000" b="1" i="1" dirty="0">
                <a:solidFill>
                  <a:srgbClr val="00B050"/>
                </a:solidFill>
                <a:ea typeface="MS PGothic" panose="020B0600070205080204" pitchFamily="34" charset="-128"/>
              </a:rPr>
              <a:t>b * </a:t>
            </a:r>
            <a:r>
              <a:rPr lang="en-US" altLang="en-US" sz="2000" b="1" i="1" dirty="0" err="1">
                <a:solidFill>
                  <a:srgbClr val="00B05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b="1" i="1" baseline="-25000" dirty="0" err="1">
                <a:solidFill>
                  <a:srgbClr val="00B05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b="1" i="1" dirty="0">
                <a:solidFill>
                  <a:srgbClr val="00B050"/>
                </a:solidFill>
                <a:ea typeface="MS PGothic" panose="020B0600070205080204" pitchFamily="34" charset="-128"/>
              </a:rPr>
              <a:t> + S * </a:t>
            </a:r>
            <a:r>
              <a:rPr lang="en-US" altLang="en-US" sz="2000" b="1" i="1" dirty="0" err="1">
                <a:solidFill>
                  <a:srgbClr val="00B05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b="1" i="1" baseline="-25000" dirty="0" err="1">
                <a:solidFill>
                  <a:srgbClr val="00B05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b="1" dirty="0">
                <a:solidFill>
                  <a:srgbClr val="00B050"/>
                </a:solidFill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depend on where data is stored; with 4 KB blocks: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4 </a:t>
            </a:r>
            <a:r>
              <a:rPr lang="en-US" altLang="en-US" sz="2000" dirty="0" err="1">
                <a:ea typeface="MS PGothic" panose="020B0600070205080204" pitchFamily="34" charset="-128"/>
              </a:rPr>
              <a:t>ms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=0.1 </a:t>
            </a:r>
            <a:r>
              <a:rPr lang="en-US" altLang="en-US" sz="2000" dirty="0" err="1">
                <a:ea typeface="MS PGothic" panose="020B0600070205080204" pitchFamily="34" charset="-128"/>
              </a:rPr>
              <a:t>ms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ea typeface="MS PGothic" panose="020B0600070205080204" pitchFamily="34" charset="-128"/>
              </a:rPr>
              <a:t>SSD: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0.02 - 0.09 </a:t>
            </a:r>
            <a:r>
              <a:rPr lang="en-US" altLang="en-US" sz="2000" dirty="0" err="1">
                <a:ea typeface="MS PGothic" panose="020B0600070205080204" pitchFamily="34" charset="-128"/>
              </a:rPr>
              <a:t>ms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 0.002 – 0.01 </a:t>
            </a:r>
            <a:r>
              <a:rPr lang="en-US" altLang="en-US" sz="2000" dirty="0" err="1">
                <a:ea typeface="MS PGothic" panose="020B0600070205080204" pitchFamily="34" charset="-128"/>
              </a:rPr>
              <a:t>ms</a:t>
            </a:r>
            <a:r>
              <a:rPr lang="en-US" altLang="en-US" sz="2000" dirty="0">
                <a:ea typeface="MS PGothic" panose="020B0600070205080204" pitchFamily="34" charset="-128"/>
              </a:rPr>
              <a:t> for 4KB 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54F79-BC02-42FC-A10A-E2FB07B6FA0B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008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Measures of Query Cost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ea typeface="MS PGothic" panose="020B0600070205080204" pitchFamily="34" charset="-128"/>
              </a:rPr>
              <a:t>Required data may be </a:t>
            </a:r>
            <a:r>
              <a:rPr lang="en-US" altLang="en-US" b="1" dirty="0">
                <a:solidFill>
                  <a:srgbClr val="00B050"/>
                </a:solidFill>
                <a:ea typeface="MS PGothic" panose="020B0600070205080204" pitchFamily="34" charset="-128"/>
              </a:rPr>
              <a:t>buffer</a:t>
            </a:r>
            <a:r>
              <a:rPr lang="en-US" altLang="en-US" dirty="0">
                <a:ea typeface="MS PGothic" panose="020B0600070205080204" pitchFamily="34" charset="-128"/>
              </a:rPr>
              <a:t> resident already, avoiding disk I/O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800" dirty="0">
                <a:ea typeface="MS PGothic" panose="020B0600070205080204" pitchFamily="34" charset="-128"/>
              </a:rPr>
              <a:t>But hard to take into account for cost estimation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ea typeface="MS PGothic" panose="020B0600070205080204" pitchFamily="34" charset="-128"/>
              </a:rPr>
              <a:t>Several algorithms can reduce disk IO by using extra buffer space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800" dirty="0">
                <a:ea typeface="MS PGothic" panose="020B0600070205080204" pitchFamily="34" charset="-128"/>
              </a:rPr>
              <a:t>Amount of real </a:t>
            </a:r>
            <a:r>
              <a:rPr lang="en-US" altLang="en-US" sz="2800" b="1" dirty="0">
                <a:solidFill>
                  <a:srgbClr val="00B050"/>
                </a:solidFill>
                <a:ea typeface="MS PGothic" panose="020B0600070205080204" pitchFamily="34" charset="-128"/>
              </a:rPr>
              <a:t>memory available </a:t>
            </a:r>
            <a:r>
              <a:rPr lang="en-US" altLang="en-US" sz="2800" dirty="0">
                <a:ea typeface="MS PGothic" panose="020B0600070205080204" pitchFamily="34" charset="-128"/>
              </a:rPr>
              <a:t>to buffer depends on other concurrent queries and OS processes, known only during execution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Worst case </a:t>
            </a:r>
            <a:r>
              <a:rPr lang="en-US" altLang="en-US" dirty="0">
                <a:ea typeface="MS PGothic" panose="020B0600070205080204" pitchFamily="34" charset="-128"/>
              </a:rPr>
              <a:t>estimates assume that no data is initially in buffer  and only the minimum amount of memory needed for the operation is available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800" dirty="0">
                <a:ea typeface="MS PGothic" panose="020B0600070205080204" pitchFamily="34" charset="-128"/>
              </a:rPr>
              <a:t>But more </a:t>
            </a:r>
            <a:r>
              <a:rPr lang="en-US" altLang="en-US" sz="2800" b="1" dirty="0">
                <a:solidFill>
                  <a:srgbClr val="00B050"/>
                </a:solidFill>
                <a:ea typeface="MS PGothic" panose="020B0600070205080204" pitchFamily="34" charset="-128"/>
              </a:rPr>
              <a:t>optimistic</a:t>
            </a:r>
            <a:r>
              <a:rPr lang="en-US" altLang="en-US" sz="2800" dirty="0">
                <a:ea typeface="MS PGothic" panose="020B0600070205080204" pitchFamily="34" charset="-128"/>
              </a:rPr>
              <a:t> estimates are used in practice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DD3E-3D65-4FDA-9F1A-043AEABAD900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75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DDF7F2B-8943-470C-994B-58DD1AB4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Selection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0460AFE-FB31-4327-A473-5E998AFE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BF72D-6A08-4238-B2F8-9B32232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9F348-AC78-4A3F-B1AB-9E8F909092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88591-AAA9-46A6-A530-CC5D5353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4B3ED-5C5E-4AA4-9CB4-44AEEA48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49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 Method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231835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An access method is a way that the DBMS can access the data stored in a table.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Not defined in relational algebra.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Three basic approaches: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Sequential Scan (File Scan)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Index Scan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Multi-Index / "Bitmap" Scan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C1C-8A79-48F5-AFE5-841FB64AB87D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D2D0BD-A6B7-40EC-8E7D-7576E3708736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DB536E5-6F82-4132-B2AC-D2A6C169EFB4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91257CC-74C2-45E6-9BCF-CA99E97EA7C9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D85D6A3-C268-4084-81F7-6F54BDE8F9E9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2BC03C8-A617-4AB4-80D0-D6DC6763E2FB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7B23138-AC91-49F4-88AA-291C043405C5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A51EC9B-D235-411F-AA82-AC93A9CA6201}"/>
              </a:ext>
            </a:extLst>
          </p:cNvPr>
          <p:cNvCxnSpPr>
            <a:cxnSpLocks/>
            <a:stCxn id="12" idx="0"/>
            <a:endCxn id="9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9A3BDE2-DF5A-4484-ACAB-64CF302AF9EA}"/>
              </a:ext>
            </a:extLst>
          </p:cNvPr>
          <p:cNvCxnSpPr>
            <a:cxnSpLocks/>
            <a:stCxn id="11" idx="0"/>
            <a:endCxn id="10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4E0883A-16FB-485D-906C-6EB89CAD30BA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44E0926-83B5-40CD-B7B8-62ED8712062C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D7630B1-9F65-4A39-9B10-3EF88BDAE37B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EF32D1-C66F-4CE1-9B9A-70D2DB7641A6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1037DC-4EB8-4343-AFE8-DEACECA89921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01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Sequential 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54102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For each page in the table: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Retrieve it from the buffer pool.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Iterate over each tuple and check whether to include it.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The DBMS maintains an internal cursor that tracks the last page / slot it examined.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AF5D-69F8-4E02-911B-113B1CE0A5C5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89C1C4-C459-427B-992A-C0C1EFC82245}"/>
              </a:ext>
            </a:extLst>
          </p:cNvPr>
          <p:cNvSpPr/>
          <p:nvPr/>
        </p:nvSpPr>
        <p:spPr>
          <a:xfrm>
            <a:off x="6202016" y="2591796"/>
            <a:ext cx="5151783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for </a:t>
            </a:r>
            <a:r>
              <a:rPr lang="en-US" altLang="zh-CN" sz="2400" dirty="0">
                <a:latin typeface="Inconsolata"/>
              </a:rPr>
              <a:t>page </a:t>
            </a:r>
            <a:r>
              <a:rPr lang="en-US" altLang="zh-CN" sz="2400" b="1" dirty="0">
                <a:latin typeface="Inconsolata"/>
              </a:rPr>
              <a:t>in </a:t>
            </a:r>
            <a:r>
              <a:rPr lang="en-US" altLang="zh-CN" sz="2400" dirty="0" err="1">
                <a:latin typeface="Inconsolata"/>
              </a:rPr>
              <a:t>table.pages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	for </a:t>
            </a:r>
            <a:r>
              <a:rPr lang="en-US" altLang="zh-CN" sz="2400" dirty="0">
                <a:latin typeface="Inconsolata"/>
              </a:rPr>
              <a:t>t  </a:t>
            </a:r>
            <a:r>
              <a:rPr lang="en-US" altLang="zh-CN" sz="2400" b="1" dirty="0">
                <a:latin typeface="Inconsolata"/>
              </a:rPr>
              <a:t>in </a:t>
            </a:r>
            <a:r>
              <a:rPr lang="en-US" altLang="zh-CN" sz="2400" dirty="0" err="1">
                <a:latin typeface="Inconsolata"/>
              </a:rPr>
              <a:t>page.tuples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		if </a:t>
            </a:r>
            <a:r>
              <a:rPr lang="en-US" altLang="zh-CN" sz="2400" b="1" dirty="0" err="1">
                <a:solidFill>
                  <a:srgbClr val="FF0000"/>
                </a:solidFill>
                <a:latin typeface="Inconsolata"/>
              </a:rPr>
              <a:t>evalPred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(t)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			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// Do Something!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086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Sequential Scan Optimizations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This is almost always the </a:t>
            </a:r>
            <a:r>
              <a:rPr lang="en-US" altLang="zh-CN" b="1" dirty="0">
                <a:solidFill>
                  <a:srgbClr val="FF0000"/>
                </a:solidFill>
              </a:rPr>
              <a:t>worst</a:t>
            </a:r>
            <a:r>
              <a:rPr lang="en-US" altLang="zh-CN" dirty="0"/>
              <a:t> thing that the DBMS can do to execute a query.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Sequential Scan Optimizations: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Prefetching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Buffer Pool Bypass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Parallelization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Heap Clustering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B050"/>
                </a:solidFill>
              </a:rPr>
              <a:t>Zone Maps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Late Materialization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4EF-68E6-494B-9721-AE9519E45F5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37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Zone Maps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0683-866F-44B6-98EC-38D337FC8605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F91F14-A053-4261-9BF1-8FBC83D97AB7}"/>
              </a:ext>
            </a:extLst>
          </p:cNvPr>
          <p:cNvSpPr/>
          <p:nvPr/>
        </p:nvSpPr>
        <p:spPr>
          <a:xfrm>
            <a:off x="723900" y="1826370"/>
            <a:ext cx="10744200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Pre-computed aggregates for the attribute values in a page. 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DBMS checks the zone map first to decide whether it wants to access the page.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F584BD-9C96-4D39-95A4-A5EFA16EB4E1}"/>
              </a:ext>
            </a:extLst>
          </p:cNvPr>
          <p:cNvSpPr/>
          <p:nvPr/>
        </p:nvSpPr>
        <p:spPr>
          <a:xfrm>
            <a:off x="5247860" y="3569692"/>
            <a:ext cx="15836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Original Data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E41575-1E64-4D0B-A410-D0240E4F7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10" y="4008368"/>
            <a:ext cx="1282976" cy="20442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131737-BB8E-41EA-A227-0F5C7EC85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230" y="4464050"/>
            <a:ext cx="3089161" cy="7165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A19226-B23A-4A5B-9C03-4D6C216D4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515" y="4128806"/>
            <a:ext cx="1737685" cy="18033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9D6961C-42FA-4A78-A7EA-005C33D5D693}"/>
              </a:ext>
            </a:extLst>
          </p:cNvPr>
          <p:cNvSpPr/>
          <p:nvPr/>
        </p:nvSpPr>
        <p:spPr>
          <a:xfrm>
            <a:off x="8284271" y="3569692"/>
            <a:ext cx="15836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Zone Map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9037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 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119191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Suppose that we a single table with 100 tuples and two indexes: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Index #1: </a:t>
            </a:r>
            <a:r>
              <a:rPr lang="en-US" altLang="zh-CN" b="1" dirty="0">
                <a:solidFill>
                  <a:srgbClr val="FF0000"/>
                </a:solidFill>
              </a:rPr>
              <a:t>age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Index #2: </a:t>
            </a:r>
            <a:r>
              <a:rPr lang="en-US" altLang="zh-CN" b="1" dirty="0">
                <a:solidFill>
                  <a:srgbClr val="FF0000"/>
                </a:solidFill>
              </a:rPr>
              <a:t>dept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32F1-3736-44C7-B6F0-EDEAD37C53D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484FBE-6515-4191-B2A7-B737F8E17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773" y="1963393"/>
            <a:ext cx="3686175" cy="15716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5BF8CB-4C62-4DE8-B903-BB8ACF851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52" y="4574071"/>
            <a:ext cx="3349209" cy="16014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33A0AE9-53E4-4433-9850-FED56E743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896" y="4574071"/>
            <a:ext cx="3362738" cy="159894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A9573EE-E369-4EF5-ACF2-727557A90E1A}"/>
              </a:ext>
            </a:extLst>
          </p:cNvPr>
          <p:cNvSpPr/>
          <p:nvPr/>
        </p:nvSpPr>
        <p:spPr>
          <a:xfrm>
            <a:off x="2933700" y="4020741"/>
            <a:ext cx="20689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Crimson Text"/>
              </a:rPr>
              <a:t>Scenario #1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2C3A2E-B16B-4D80-925E-276AB73AD7CC}"/>
              </a:ext>
            </a:extLst>
          </p:cNvPr>
          <p:cNvSpPr/>
          <p:nvPr/>
        </p:nvSpPr>
        <p:spPr>
          <a:xfrm>
            <a:off x="8018393" y="4050355"/>
            <a:ext cx="20689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Crimson Text"/>
              </a:rPr>
              <a:t>Scenario #2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32458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Multi-Index 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there are multiple indexes that the DBMS can use for a query: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Compute sets of record ids using each matching index.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Combine these sets based on the query's predicates (union vs. intersect).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Retrieve the records and apply any remaining predicates.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 err="1"/>
              <a:t>PostgresSQL</a:t>
            </a:r>
            <a:r>
              <a:rPr lang="en-US" altLang="zh-CN" dirty="0"/>
              <a:t> calls this </a:t>
            </a:r>
            <a:r>
              <a:rPr lang="en-US" altLang="zh-CN" b="1" dirty="0">
                <a:solidFill>
                  <a:srgbClr val="FF0000"/>
                </a:solidFill>
              </a:rPr>
              <a:t>Bitmap Scan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3B02A-9EB1-48B2-893F-68E17318B105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471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Multi-Index 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432774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With an index on </a:t>
            </a:r>
            <a:r>
              <a:rPr lang="en-US" altLang="zh-CN" b="1" dirty="0">
                <a:solidFill>
                  <a:srgbClr val="FF0000"/>
                </a:solidFill>
              </a:rPr>
              <a:t>age</a:t>
            </a:r>
            <a:r>
              <a:rPr lang="en-US" altLang="zh-CN" dirty="0"/>
              <a:t> and an index on </a:t>
            </a:r>
            <a:r>
              <a:rPr lang="en-US" altLang="zh-CN" b="1" dirty="0">
                <a:solidFill>
                  <a:srgbClr val="FF0000"/>
                </a:solidFill>
              </a:rPr>
              <a:t>dept</a:t>
            </a:r>
            <a:r>
              <a:rPr lang="en-US" altLang="zh-CN" dirty="0"/>
              <a:t>,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We can retrieve the record ids satisfying </a:t>
            </a:r>
            <a:r>
              <a:rPr lang="en-US" altLang="zh-CN" b="1" dirty="0">
                <a:solidFill>
                  <a:srgbClr val="FF0000"/>
                </a:solidFill>
              </a:rPr>
              <a:t>age&lt;30 </a:t>
            </a:r>
            <a:r>
              <a:rPr lang="en-US" altLang="zh-CN" dirty="0"/>
              <a:t>using the first,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Then retrieve the record ids satisfying </a:t>
            </a:r>
            <a:r>
              <a:rPr lang="en-US" altLang="zh-CN" b="1" dirty="0">
                <a:solidFill>
                  <a:srgbClr val="FF0000"/>
                </a:solidFill>
              </a:rPr>
              <a:t>dept='CS' </a:t>
            </a:r>
            <a:r>
              <a:rPr lang="en-US" altLang="zh-CN" dirty="0"/>
              <a:t>using the second,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Take their intersection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Retrieve records and check </a:t>
            </a:r>
            <a:r>
              <a:rPr lang="en-US" altLang="zh-CN" b="1" dirty="0">
                <a:solidFill>
                  <a:srgbClr val="FF0000"/>
                </a:solidFill>
              </a:rPr>
              <a:t>country='US'.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A9B4-4E6F-4910-905A-D9113367B2CB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89BD1B9-D47C-4B40-BDE5-57A7C5EA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009" y="4704176"/>
            <a:ext cx="3497791" cy="148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38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95CD-986A-46C6-A180-E4D5DA71F09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A814FD2B-34EB-4E1B-8B20-D1205D447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54" y="72887"/>
            <a:ext cx="9410280" cy="619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7363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A1: linear search (File Scan)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A2: clustering index, equality on key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A3: clustering index, equality on </a:t>
            </a:r>
            <a:r>
              <a:rPr lang="en-US" altLang="zh-CN" dirty="0" err="1"/>
              <a:t>nonkey</a:t>
            </a:r>
            <a:endParaRPr lang="en-US" altLang="zh-CN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A4: secondary index, equality on key/non-key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A5: clustering index, comparison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A6: non-clustering index, comparison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A7: conjunctive selection using one index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A8: conjunctive selection using composite index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A9: conjunctive selection by intersection of identifiers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A10: disjunctive selection by union of identifiers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C1FF-73A3-4AA9-82E6-45AC3929EC3A}" type="datetime1">
              <a:rPr lang="zh-CN" altLang="en-US" smtClean="0"/>
              <a:t>2024/5/23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540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Selection</a:t>
            </a:r>
            <a:endParaRPr lang="zh-CN" altLang="en-US" dirty="0"/>
          </a:p>
        </p:txBody>
      </p:sp>
      <p:graphicFrame>
        <p:nvGraphicFramePr>
          <p:cNvPr id="53" name="内容占位符 52">
            <a:extLst>
              <a:ext uri="{FF2B5EF4-FFF2-40B4-BE49-F238E27FC236}">
                <a16:creationId xmlns:a16="http://schemas.microsoft.com/office/drawing/2014/main" id="{5189F83F-847C-4E86-A961-5FACF1C95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902592"/>
              </p:ext>
            </p:extLst>
          </p:nvPr>
        </p:nvGraphicFramePr>
        <p:xfrm>
          <a:off x="838200" y="1713527"/>
          <a:ext cx="10515600" cy="46574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50819073"/>
                    </a:ext>
                  </a:extLst>
                </a:gridCol>
                <a:gridCol w="2078935">
                  <a:extLst>
                    <a:ext uri="{9D8B030D-6E8A-4147-A177-3AD203B41FA5}">
                      <a16:colId xmlns:a16="http://schemas.microsoft.com/office/drawing/2014/main" val="4055003028"/>
                    </a:ext>
                  </a:extLst>
                </a:gridCol>
                <a:gridCol w="3178865">
                  <a:extLst>
                    <a:ext uri="{9D8B030D-6E8A-4147-A177-3AD203B41FA5}">
                      <a16:colId xmlns:a16="http://schemas.microsoft.com/office/drawing/2014/main" val="29106480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21477642"/>
                    </a:ext>
                  </a:extLst>
                </a:gridCol>
              </a:tblGrid>
              <a:tr h="39015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 index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clustering index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secondary index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774547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equality on key</a:t>
                      </a:r>
                    </a:p>
                    <a:p>
                      <a:pPr algn="ctr"/>
                      <a:r>
                        <a:rPr kumimoji="0" lang="en-US" altLang="en-US" sz="1800" b="1" i="1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kumimoji="0" lang="en-US" altLang="en-US" sz="1800" b="1" i="1" baseline="-2500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key=V </a:t>
                      </a:r>
                      <a:r>
                        <a:rPr kumimoji="0" lang="en-US" altLang="en-US" sz="1800" b="1" i="1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(r)</a:t>
                      </a:r>
                      <a:r>
                        <a:rPr kumimoji="0" lang="en-US" altLang="en-US" sz="1800" b="1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 </a:t>
                      </a:r>
                      <a:endParaRPr lang="zh-CN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b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r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*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S</a:t>
                      </a:r>
                      <a:endParaRPr lang="en-US" altLang="en-US" sz="2000" b="1" i="0" baseline="-25000" dirty="0">
                        <a:solidFill>
                          <a:srgbClr val="FF0000"/>
                        </a:solidFill>
                        <a:ea typeface="MS PGothic" panose="020B0600070205080204" pitchFamily="34" charset="-128"/>
                      </a:endParaRPr>
                    </a:p>
                    <a:p>
                      <a:pPr algn="ctr"/>
                      <a:endParaRPr lang="en-US" altLang="en-US" sz="2000" b="1" i="0" baseline="-25000" dirty="0">
                        <a:solidFill>
                          <a:schemeClr val="tx1"/>
                        </a:solidFill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i="0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</a:rPr>
                        <a:t> 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b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r</a:t>
                      </a:r>
                      <a:r>
                        <a:rPr lang="en-US" altLang="en-US" sz="2000" b="1" i="0" baseline="-2500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 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/2)*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S</a:t>
                      </a:r>
                      <a:endParaRPr lang="en-US" altLang="en-US" sz="2000" b="1" i="0" baseline="-25000" dirty="0">
                        <a:solidFill>
                          <a:srgbClr val="0070C0"/>
                        </a:solidFill>
                        <a:ea typeface="MS PGothic" panose="020B0600070205080204" pitchFamily="34" charset="-128"/>
                      </a:endParaRPr>
                    </a:p>
                    <a:p>
                      <a:pPr algn="ctr"/>
                      <a:endParaRPr lang="zh-CN" altLang="en-US" sz="1800" i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(h</a:t>
                      </a:r>
                      <a:r>
                        <a:rPr lang="en-US" altLang="en-US" sz="2000" b="1" i="0" baseline="-2500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i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+1) * 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)</a:t>
                      </a:r>
                      <a:endParaRPr lang="en-US" altLang="en-US" sz="2000" b="1" i="0" dirty="0">
                        <a:solidFill>
                          <a:srgbClr val="0070C0"/>
                        </a:solidFill>
                        <a:ea typeface="MS PGothic" panose="020B0600070205080204" pitchFamily="34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813295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equality on 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nonkey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kumimoji="0" lang="en-US" altLang="en-US" sz="1800" b="1" i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non-key=V </a:t>
                      </a:r>
                      <a:r>
                        <a:rPr kumimoji="0" lang="en-US" altLang="en-US" sz="1800" b="1" i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(r)</a:t>
                      </a:r>
                      <a:r>
                        <a:rPr kumimoji="0" lang="en-US" altLang="en-US" sz="1800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 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h</a:t>
                      </a:r>
                      <a:r>
                        <a:rPr lang="en-US" altLang="en-US" sz="2000" b="1" i="0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i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*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+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S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*b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h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i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+n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)*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altLang="en-US" sz="2000" b="1" i="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</a:rPr>
                        <a:t> </a:t>
                      </a:r>
                      <a:endParaRPr lang="zh-CN" altLang="en-US" sz="2000" i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771512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Comparison</a:t>
                      </a:r>
                    </a:p>
                    <a:p>
                      <a:pPr algn="ctr"/>
                      <a:r>
                        <a:rPr kumimoji="0" lang="en-US" altLang="en-US" sz="1800" b="1" i="1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kumimoji="0" lang="en-US" altLang="en-US" sz="1800" b="1" i="1" baseline="-2500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AV </a:t>
                      </a:r>
                      <a:r>
                        <a:rPr kumimoji="0" lang="en-US" altLang="en-US" sz="1800" b="1" i="1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(r)</a:t>
                      </a:r>
                      <a:r>
                        <a:rPr kumimoji="0" lang="en-US" altLang="en-US" sz="1800" b="1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en-US" sz="1800" b="1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| </a:t>
                      </a:r>
                      <a:r>
                        <a:rPr kumimoji="0" lang="en-US" altLang="en-US" sz="1800" b="1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kumimoji="0" lang="en-US" altLang="en-US" sz="1800" b="1" i="1" baseline="-25000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en-US" sz="1800" b="1" baseline="-25000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</a:t>
                      </a:r>
                      <a:r>
                        <a:rPr kumimoji="0" lang="en-US" altLang="en-US" sz="1800" b="1" i="1" baseline="-25000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V </a:t>
                      </a:r>
                      <a:r>
                        <a:rPr kumimoji="0" lang="en-US" altLang="en-US" sz="1800" b="1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1800" b="1" i="1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r</a:t>
                      </a:r>
                      <a:r>
                        <a:rPr kumimoji="0" lang="en-US" altLang="en-US" sz="1800" b="1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) 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h</a:t>
                      </a:r>
                      <a:r>
                        <a:rPr lang="en-US" altLang="en-US" sz="2000" b="1" i="0" baseline="-2500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i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*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+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S</a:t>
                      </a:r>
                      <a:r>
                        <a:rPr lang="en-US" altLang="en-US" sz="2000" b="1" i="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dirty="0">
                          <a:solidFill>
                            <a:srgbClr val="0070C0"/>
                          </a:solidFill>
                          <a:ea typeface="MS PGothic" panose="020B0600070205080204" pitchFamily="34" charset="-128"/>
                        </a:rPr>
                        <a:t>*b</a:t>
                      </a:r>
                      <a:endParaRPr kumimoji="0" lang="en-US" altLang="en-US" sz="2000" i="0" dirty="0">
                        <a:solidFill>
                          <a:srgbClr val="0070C0"/>
                        </a:solidFill>
                        <a:ea typeface="MS PGothic" panose="020B0600070205080204" pitchFamily="34" charset="-128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i="0" dirty="0" err="1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</a:rPr>
                        <a:t>S</a:t>
                      </a:r>
                      <a:r>
                        <a:rPr lang="en-US" altLang="en-US" sz="2000" b="1" i="0" dirty="0" err="1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</a:rPr>
                        <a:t>T</a:t>
                      </a:r>
                      <a:r>
                        <a:rPr lang="en-US" altLang="en-US" sz="2000" b="1" i="0" dirty="0">
                          <a:solidFill>
                            <a:srgbClr val="00B050"/>
                          </a:solidFill>
                          <a:ea typeface="MS PGothic" panose="020B0600070205080204" pitchFamily="34" charset="-128"/>
                        </a:rPr>
                        <a:t>*b</a:t>
                      </a:r>
                      <a:endParaRPr lang="en-US" altLang="en-US" sz="2000" i="0" dirty="0">
                        <a:solidFill>
                          <a:srgbClr val="00B050"/>
                        </a:solidFill>
                        <a:ea typeface="MS PGothic" panose="020B060007020508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b="1" i="0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</a:rPr>
                        <a:t>h</a:t>
                      </a:r>
                      <a:r>
                        <a:rPr lang="en-US" altLang="en-US" sz="2000" b="1" i="0" baseline="-2500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</a:rPr>
                        <a:t>i</a:t>
                      </a:r>
                      <a:r>
                        <a:rPr lang="en-US" altLang="en-US" sz="2000" b="1" i="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</a:rPr>
                        <a:t>+n</a:t>
                      </a:r>
                      <a:r>
                        <a:rPr lang="en-US" altLang="en-US" sz="2000" b="1" i="0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</a:rPr>
                        <a:t>) * </a:t>
                      </a:r>
                      <a:r>
                        <a:rPr lang="en-US" altLang="en-US" sz="2000" b="1" i="0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2000" b="1" i="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baseline="-2500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T</a:t>
                      </a:r>
                      <a:r>
                        <a:rPr lang="en-US" altLang="en-US" sz="2000" b="1" i="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+t</a:t>
                      </a:r>
                      <a:r>
                        <a:rPr lang="en-US" altLang="en-US" sz="2000" b="1" i="0" baseline="-25000" dirty="0" err="1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en-US" sz="2000" b="1" i="0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i="0" dirty="0">
                        <a:solidFill>
                          <a:schemeClr val="tx1"/>
                        </a:solidFill>
                        <a:ea typeface="MS PGothic" panose="020B0600070205080204" pitchFamily="34" charset="-128"/>
                        <a:sym typeface="Symbol" panose="05050102010706020507" pitchFamily="18" charset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417506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Conjunction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en-US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</a:t>
                      </a:r>
                      <a:r>
                        <a:rPr lang="en-US" altLang="en-US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1</a:t>
                      </a:r>
                      <a:r>
                        <a:rPr lang="en-US" altLang="en-US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 </a:t>
                      </a:r>
                      <a:r>
                        <a:rPr lang="en-US" altLang="en-US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2</a:t>
                      </a:r>
                      <a:r>
                        <a:rPr lang="en-US" altLang="en-US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. . . </a:t>
                      </a:r>
                      <a:r>
                        <a:rPr lang="en-US" altLang="en-US" b="1" i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n</a:t>
                      </a:r>
                      <a:r>
                        <a:rPr lang="en-US" altLang="en-US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b="1" i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r) 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i="0" dirty="0"/>
                        <a:t>min{ </a:t>
                      </a:r>
                      <a:r>
                        <a:rPr lang="en-US" altLang="en-US" sz="2000" b="1" i="0" dirty="0"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en-US" sz="2000" b="1" i="0" baseline="-25000" dirty="0"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</a:t>
                      </a:r>
                      <a:r>
                        <a:rPr lang="en-US" altLang="en-US" sz="2000" b="1" i="0" baseline="-25000" dirty="0" err="1">
                          <a:ea typeface="MS PGothic" panose="020B0600070205080204" pitchFamily="34" charset="-128"/>
                          <a:sym typeface="Greek Symbols" pitchFamily="18" charset="2"/>
                        </a:rPr>
                        <a:t>i</a:t>
                      </a:r>
                      <a:r>
                        <a:rPr lang="en-US" altLang="en-US" sz="2000" b="1" i="0" dirty="0"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(r)  </a:t>
                      </a:r>
                      <a:r>
                        <a:rPr lang="en-US" altLang="zh-CN" sz="2000" b="1" i="0" dirty="0"/>
                        <a:t>}</a:t>
                      </a:r>
                      <a:endParaRPr lang="zh-CN" altLang="en-US" sz="2000" b="1" i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197452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Disjunction</a:t>
                      </a:r>
                    </a:p>
                    <a:p>
                      <a:pPr algn="ctr"/>
                      <a:r>
                        <a:rPr lang="en-US" altLang="en-US" sz="1800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en-US" sz="1800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</a:t>
                      </a:r>
                      <a:r>
                        <a:rPr lang="en-US" altLang="en-US" sz="1800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1</a:t>
                      </a:r>
                      <a:r>
                        <a:rPr lang="en-US" altLang="en-US" sz="1800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 </a:t>
                      </a:r>
                      <a:r>
                        <a:rPr lang="en-US" altLang="en-US" sz="1800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2 </a:t>
                      </a:r>
                      <a:r>
                        <a:rPr lang="en-US" altLang="en-US" sz="1800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. . . </a:t>
                      </a:r>
                      <a:r>
                        <a:rPr lang="en-US" altLang="en-US" sz="1800" b="1" i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Greek Symbols" pitchFamily="18" charset="2"/>
                        </a:rPr>
                        <a:t>n </a:t>
                      </a:r>
                      <a:r>
                        <a:rPr lang="en-US" altLang="en-US" sz="1800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1800" b="1" i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r)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r>
                        <a:rPr lang="en-US" altLang="en-US" sz="2000" b="1" i="0" dirty="0"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en-US" sz="2000" b="1" i="0" baseline="-25000" dirty="0"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</a:t>
                      </a:r>
                      <a:r>
                        <a:rPr lang="en-US" altLang="en-US" sz="2000" b="1" i="0" baseline="-25000" dirty="0" err="1">
                          <a:ea typeface="MS PGothic" panose="020B0600070205080204" pitchFamily="34" charset="-128"/>
                          <a:sym typeface="Greek Symbols" pitchFamily="18" charset="2"/>
                        </a:rPr>
                        <a:t>i</a:t>
                      </a:r>
                      <a:r>
                        <a:rPr lang="en-US" altLang="en-US" sz="2000" b="1" i="0" dirty="0"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(r)  </a:t>
                      </a:r>
                      <a:endParaRPr lang="zh-CN" altLang="en-US" sz="2000" b="1" i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804841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Negation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</a:t>
                      </a:r>
                      <a:r>
                        <a:rPr lang="en-US" altLang="en-US" sz="1800" b="1" baseline="-25000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</a:t>
                      </a:r>
                      <a:r>
                        <a:rPr lang="en-US" altLang="en-US" sz="1800" b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1800" b="1" i="1" dirty="0">
                          <a:solidFill>
                            <a:srgbClr val="FF0000"/>
                          </a:solidFill>
                          <a:ea typeface="MS PGothic" panose="020B0600070205080204" pitchFamily="34" charset="-128"/>
                          <a:sym typeface="Symbol" panose="05050102010706020507" pitchFamily="18" charset="2"/>
                        </a:rPr>
                        <a:t>r)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</a:rPr>
                        <a:t>(h</a:t>
                      </a:r>
                      <a:r>
                        <a:rPr kumimoji="0" lang="en-US" altLang="en-US" sz="20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</a:rPr>
                        <a:t>i</a:t>
                      </a:r>
                      <a:r>
                        <a:rPr kumimoji="0" lang="en-US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</a:rPr>
                        <a:t>+1) * </a:t>
                      </a:r>
                      <a:r>
                        <a:rPr kumimoji="0" lang="en-US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altLang="en-US" sz="20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alt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  <a:sym typeface="Symbol" panose="05050102010706020507" pitchFamily="18" charset="2"/>
                        </a:rPr>
                        <a:t>+t</a:t>
                      </a:r>
                      <a:r>
                        <a:rPr kumimoji="0" lang="en-US" altLang="en-US" sz="20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  <a:sym typeface="Symbol" panose="05050102010706020507" pitchFamily="18" charset="2"/>
                        </a:rPr>
                        <a:t>S</a:t>
                      </a:r>
                      <a:r>
                        <a:rPr kumimoji="0" lang="en-US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 panose="020B0600070205080204" pitchFamily="34" charset="-128"/>
                          <a:cs typeface="+mn-cs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 panose="020B0600070205080204" pitchFamily="34" charset="-128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558924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8B0C-5717-45C2-AE56-F41551C78EA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696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DDF7F2B-8943-470C-994B-58DD1AB4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Sorting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0460AFE-FB31-4327-A473-5E998AFE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BF72D-6A08-4238-B2F8-9B32232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BDF5BC-2CF3-4561-940E-BEC39168609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88591-AAA9-46A6-A530-CC5D5353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4B3ED-5C5E-4AA4-9CB4-44AEEA48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3253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do we need to sort?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Queries may request that tuples are sorted in a specific way (</a:t>
            </a:r>
            <a:r>
              <a:rPr lang="en-US" altLang="zh-CN" b="1" dirty="0">
                <a:solidFill>
                  <a:srgbClr val="FF0000"/>
                </a:solidFill>
              </a:rPr>
              <a:t>ORDER BY</a:t>
            </a:r>
            <a:r>
              <a:rPr lang="en-US" altLang="zh-CN" dirty="0"/>
              <a:t>).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But even if a query does not specify an order, we may still want to sort to do other things: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Trivial to support duplicate elimination (</a:t>
            </a:r>
            <a:r>
              <a:rPr lang="en-US" altLang="zh-CN" b="1" dirty="0">
                <a:solidFill>
                  <a:srgbClr val="FF0000"/>
                </a:solidFill>
              </a:rPr>
              <a:t>DISTINCT</a:t>
            </a:r>
            <a:r>
              <a:rPr lang="en-US" altLang="zh-CN" dirty="0"/>
              <a:t>).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Bulk loading sorted tuples into a </a:t>
            </a:r>
            <a:r>
              <a:rPr lang="en-US" altLang="zh-CN" dirty="0" err="1"/>
              <a:t>B+Tree</a:t>
            </a:r>
            <a:r>
              <a:rPr lang="en-US" altLang="zh-CN" dirty="0"/>
              <a:t> index is faster.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Aggregations (</a:t>
            </a:r>
            <a:r>
              <a:rPr lang="en-US" altLang="zh-CN" b="1" dirty="0">
                <a:solidFill>
                  <a:srgbClr val="FF0000"/>
                </a:solidFill>
              </a:rPr>
              <a:t>GROUP BY</a:t>
            </a:r>
            <a:r>
              <a:rPr lang="en-US" altLang="zh-CN" dirty="0"/>
              <a:t>).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3709-9435-475C-9256-DC53A15961C2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922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Sorting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If data fits in memory, then we can use a standard sorting algorithm like </a:t>
            </a:r>
            <a:r>
              <a:rPr lang="en-US" altLang="zh-CN" sz="2400" b="1" dirty="0">
                <a:solidFill>
                  <a:srgbClr val="00B050"/>
                </a:solidFill>
              </a:rPr>
              <a:t>quick-sort</a:t>
            </a:r>
            <a:r>
              <a:rPr lang="en-US" altLang="zh-CN" sz="2400" dirty="0"/>
              <a:t>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If data does not fit in memory, then we need to use </a:t>
            </a:r>
            <a:r>
              <a:rPr lang="en-US" altLang="zh-CN" sz="2400" b="1" dirty="0">
                <a:solidFill>
                  <a:srgbClr val="00B050"/>
                </a:solidFill>
              </a:rPr>
              <a:t>external merge sort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Divide-and-conquer</a:t>
            </a:r>
            <a:r>
              <a:rPr lang="en-US" altLang="zh-CN" sz="2000" dirty="0"/>
              <a:t> algorithm that splits the data set into separate </a:t>
            </a:r>
            <a:r>
              <a:rPr lang="en-US" altLang="zh-CN" sz="2000" b="1" dirty="0">
                <a:solidFill>
                  <a:srgbClr val="FF0000"/>
                </a:solidFill>
              </a:rPr>
              <a:t>runs</a:t>
            </a:r>
            <a:r>
              <a:rPr lang="en-US" altLang="zh-CN" sz="2000" dirty="0"/>
              <a:t>, sorts them individually, and then combine into larger sorted runs.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b="1" dirty="0"/>
              <a:t>Phase #1 – Sorting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/>
              <a:t>Sort blocks of data that fit in main-memory and then write back the sorted blocks to a file on disk.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b="1" dirty="0"/>
              <a:t>Phase #2 – Merging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/>
              <a:t>Combine sorted sub-files into a single larger file.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CDF1-1C38-440C-AD5A-890909B0C72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39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Sorted Runs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40287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 run is a list of key/value pairs.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Key</a:t>
            </a:r>
            <a:r>
              <a:rPr lang="en-US" altLang="zh-CN" dirty="0"/>
              <a:t>: The attribute(s) to compare to compute the sort order.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Value</a:t>
            </a:r>
            <a:r>
              <a:rPr lang="en-US" altLang="zh-CN" dirty="0"/>
              <a:t>: Two choices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Record Id (late materialization).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Tuple (early materialization).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653B-679B-42C5-BEF6-36BE2C3C5A9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D68076-B009-4CF9-8E58-0E62A411DDED}"/>
              </a:ext>
            </a:extLst>
          </p:cNvPr>
          <p:cNvSpPr/>
          <p:nvPr/>
        </p:nvSpPr>
        <p:spPr>
          <a:xfrm>
            <a:off x="7605091" y="2424201"/>
            <a:ext cx="2922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Early Materialization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24F1D2-D55C-497B-896F-708BA5259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427" y="2748549"/>
            <a:ext cx="3445773" cy="6804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7BF74E-159E-48E7-BCC4-B29D1B409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87" y="5070227"/>
            <a:ext cx="4360297" cy="36655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D595951-5176-4BE0-BD33-06E20BE6B5DD}"/>
              </a:ext>
            </a:extLst>
          </p:cNvPr>
          <p:cNvSpPr/>
          <p:nvPr/>
        </p:nvSpPr>
        <p:spPr>
          <a:xfrm>
            <a:off x="6692348" y="4700895"/>
            <a:ext cx="2922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Late Materialization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09333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2-Way External Merge Sort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AEE8-2DBC-4AD8-8B32-445AF51ACD1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F6E356-2EDF-4F6D-A707-EA51AB020001}"/>
              </a:ext>
            </a:extLst>
          </p:cNvPr>
          <p:cNvSpPr/>
          <p:nvPr/>
        </p:nvSpPr>
        <p:spPr>
          <a:xfrm>
            <a:off x="827842" y="1690688"/>
            <a:ext cx="37454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each pass, we read and write each page in file.</a:t>
            </a:r>
          </a:p>
          <a:p>
            <a:pPr>
              <a:spcBef>
                <a:spcPts val="18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Number of passes=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+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⌈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zh-CN" sz="2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⌉</a:t>
            </a:r>
          </a:p>
          <a:p>
            <a:pPr>
              <a:spcBef>
                <a:spcPts val="18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Total I/O cost= 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∙(# of passes)-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zh-CN" altLang="en-US" sz="24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D80E6AC-23EB-43CB-A3C9-299B6BE18488}"/>
              </a:ext>
            </a:extLst>
          </p:cNvPr>
          <p:cNvGrpSpPr/>
          <p:nvPr/>
        </p:nvGrpSpPr>
        <p:grpSpPr>
          <a:xfrm>
            <a:off x="6387548" y="2028616"/>
            <a:ext cx="4187688" cy="318055"/>
            <a:chOff x="6175513" y="2028614"/>
            <a:chExt cx="4187688" cy="31805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B40FB01-E1D9-41AF-A615-FE5EEEBA0B31}"/>
                </a:ext>
              </a:extLst>
            </p:cNvPr>
            <p:cNvSpPr/>
            <p:nvPr/>
          </p:nvSpPr>
          <p:spPr>
            <a:xfrm>
              <a:off x="6175513" y="2028618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3, 4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1B4E380-FD9A-4904-805A-CE5EBBC887A9}"/>
                </a:ext>
              </a:extLst>
            </p:cNvPr>
            <p:cNvSpPr/>
            <p:nvPr/>
          </p:nvSpPr>
          <p:spPr>
            <a:xfrm>
              <a:off x="6698974" y="2028618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6, 2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E6B0BA5-D29B-45D6-B03E-E556C9FE16F3}"/>
                </a:ext>
              </a:extLst>
            </p:cNvPr>
            <p:cNvSpPr/>
            <p:nvPr/>
          </p:nvSpPr>
          <p:spPr>
            <a:xfrm>
              <a:off x="7222435" y="2028617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9, 4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D8DC45A-99AE-44E8-A13F-F654C6B8355C}"/>
                </a:ext>
              </a:extLst>
            </p:cNvPr>
            <p:cNvSpPr/>
            <p:nvPr/>
          </p:nvSpPr>
          <p:spPr>
            <a:xfrm>
              <a:off x="7745896" y="2028617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8, 7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36BDAFE-95A2-43EA-8E91-CB614B96A010}"/>
                </a:ext>
              </a:extLst>
            </p:cNvPr>
            <p:cNvSpPr/>
            <p:nvPr/>
          </p:nvSpPr>
          <p:spPr>
            <a:xfrm>
              <a:off x="8269357" y="2028616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5, 6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4C55221-5144-4DAF-9BCD-553C066625A7}"/>
                </a:ext>
              </a:extLst>
            </p:cNvPr>
            <p:cNvSpPr/>
            <p:nvPr/>
          </p:nvSpPr>
          <p:spPr>
            <a:xfrm>
              <a:off x="8792818" y="2028615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3, 1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D4174C8-87CB-4530-89FC-C3A95A54E09C}"/>
                </a:ext>
              </a:extLst>
            </p:cNvPr>
            <p:cNvSpPr/>
            <p:nvPr/>
          </p:nvSpPr>
          <p:spPr>
            <a:xfrm>
              <a:off x="9316279" y="2028614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9A77BAD-8D29-45F0-997C-2585B28E2222}"/>
                </a:ext>
              </a:extLst>
            </p:cNvPr>
            <p:cNvSpPr/>
            <p:nvPr/>
          </p:nvSpPr>
          <p:spPr>
            <a:xfrm>
              <a:off x="9839740" y="2028614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47CFA6-C8D6-41C5-A09A-0BF332F68B2B}"/>
              </a:ext>
            </a:extLst>
          </p:cNvPr>
          <p:cNvGrpSpPr/>
          <p:nvPr/>
        </p:nvGrpSpPr>
        <p:grpSpPr>
          <a:xfrm>
            <a:off x="6390861" y="2677974"/>
            <a:ext cx="4187688" cy="318055"/>
            <a:chOff x="6175513" y="2028614"/>
            <a:chExt cx="4187688" cy="31805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1A22C06-4233-43A8-A067-3448ED0EE550}"/>
                </a:ext>
              </a:extLst>
            </p:cNvPr>
            <p:cNvSpPr/>
            <p:nvPr/>
          </p:nvSpPr>
          <p:spPr>
            <a:xfrm>
              <a:off x="6175513" y="2028618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3, 4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B8BEA98-43D5-4F79-B8B0-8B55EAB2F638}"/>
                </a:ext>
              </a:extLst>
            </p:cNvPr>
            <p:cNvSpPr/>
            <p:nvPr/>
          </p:nvSpPr>
          <p:spPr>
            <a:xfrm>
              <a:off x="6698974" y="2028618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2, 6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384ABAD-38FC-49F6-8E39-C51952918A1B}"/>
                </a:ext>
              </a:extLst>
            </p:cNvPr>
            <p:cNvSpPr/>
            <p:nvPr/>
          </p:nvSpPr>
          <p:spPr>
            <a:xfrm>
              <a:off x="7222435" y="2028617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4, 9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0C48404-7CEB-4FDD-ADFA-12CA0861B984}"/>
                </a:ext>
              </a:extLst>
            </p:cNvPr>
            <p:cNvSpPr/>
            <p:nvPr/>
          </p:nvSpPr>
          <p:spPr>
            <a:xfrm>
              <a:off x="7745896" y="2028617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7, 8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CD26396-AB28-4B12-86F8-51F196FFFA58}"/>
                </a:ext>
              </a:extLst>
            </p:cNvPr>
            <p:cNvSpPr/>
            <p:nvPr/>
          </p:nvSpPr>
          <p:spPr>
            <a:xfrm>
              <a:off x="8269357" y="2028616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5, 6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7059117-F8FA-4998-B773-E8C52667D32B}"/>
                </a:ext>
              </a:extLst>
            </p:cNvPr>
            <p:cNvSpPr/>
            <p:nvPr/>
          </p:nvSpPr>
          <p:spPr>
            <a:xfrm>
              <a:off x="8792818" y="2028615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1, 3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8684A83-CF3D-43C6-9EE0-26270834076D}"/>
                </a:ext>
              </a:extLst>
            </p:cNvPr>
            <p:cNvSpPr/>
            <p:nvPr/>
          </p:nvSpPr>
          <p:spPr>
            <a:xfrm>
              <a:off x="9316279" y="2028614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C6373EC-E190-4AA9-85BE-3B776F2A9AD7}"/>
                </a:ext>
              </a:extLst>
            </p:cNvPr>
            <p:cNvSpPr/>
            <p:nvPr/>
          </p:nvSpPr>
          <p:spPr>
            <a:xfrm>
              <a:off x="9839740" y="2028614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54DC12A-7484-4E9F-9CBD-826927A242E7}"/>
              </a:ext>
            </a:extLst>
          </p:cNvPr>
          <p:cNvGrpSpPr/>
          <p:nvPr/>
        </p:nvGrpSpPr>
        <p:grpSpPr>
          <a:xfrm>
            <a:off x="6655905" y="3360495"/>
            <a:ext cx="523461" cy="636103"/>
            <a:chOff x="6662529" y="3821010"/>
            <a:chExt cx="523461" cy="63610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5A7B8DF-C768-467A-B9BC-FA3D1DEE0EA9}"/>
                </a:ext>
              </a:extLst>
            </p:cNvPr>
            <p:cNvSpPr/>
            <p:nvPr/>
          </p:nvSpPr>
          <p:spPr>
            <a:xfrm>
              <a:off x="6662529" y="3821010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2, 3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B9B82A2-26BD-43DC-AA1B-714C81873871}"/>
                </a:ext>
              </a:extLst>
            </p:cNvPr>
            <p:cNvSpPr/>
            <p:nvPr/>
          </p:nvSpPr>
          <p:spPr>
            <a:xfrm>
              <a:off x="6662529" y="4139062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4, 6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0033FF9-12E1-49EA-84CB-361035344B80}"/>
              </a:ext>
            </a:extLst>
          </p:cNvPr>
          <p:cNvGrpSpPr/>
          <p:nvPr/>
        </p:nvGrpSpPr>
        <p:grpSpPr>
          <a:xfrm>
            <a:off x="7711106" y="3361565"/>
            <a:ext cx="523461" cy="636103"/>
            <a:chOff x="7702826" y="3821010"/>
            <a:chExt cx="523461" cy="63610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F41FBC4-4A63-483D-B5D1-7C6E1A5B5314}"/>
                </a:ext>
              </a:extLst>
            </p:cNvPr>
            <p:cNvSpPr/>
            <p:nvPr/>
          </p:nvSpPr>
          <p:spPr>
            <a:xfrm>
              <a:off x="7702826" y="3821010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4, 7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B4CFB79-990D-48DD-B5D0-306348EC3654}"/>
                </a:ext>
              </a:extLst>
            </p:cNvPr>
            <p:cNvSpPr/>
            <p:nvPr/>
          </p:nvSpPr>
          <p:spPr>
            <a:xfrm>
              <a:off x="7702826" y="4139062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8, 9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958491-095B-447A-AA04-D2B86DD9F0ED}"/>
              </a:ext>
            </a:extLst>
          </p:cNvPr>
          <p:cNvGrpSpPr/>
          <p:nvPr/>
        </p:nvGrpSpPr>
        <p:grpSpPr>
          <a:xfrm>
            <a:off x="8757201" y="3360495"/>
            <a:ext cx="523461" cy="636103"/>
            <a:chOff x="8759687" y="3821010"/>
            <a:chExt cx="523461" cy="636103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07D8613-B847-4ABA-BA4D-691BBAD30EE6}"/>
                </a:ext>
              </a:extLst>
            </p:cNvPr>
            <p:cNvSpPr/>
            <p:nvPr/>
          </p:nvSpPr>
          <p:spPr>
            <a:xfrm>
              <a:off x="8759687" y="3821010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1, 3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DBC5B98-E124-4438-922D-0C32CDFC0410}"/>
                </a:ext>
              </a:extLst>
            </p:cNvPr>
            <p:cNvSpPr/>
            <p:nvPr/>
          </p:nvSpPr>
          <p:spPr>
            <a:xfrm>
              <a:off x="8759687" y="4139062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5, 6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A025B8EB-AC9C-484C-A35F-7FB43AC9099A}"/>
              </a:ext>
            </a:extLst>
          </p:cNvPr>
          <p:cNvGrpSpPr/>
          <p:nvPr/>
        </p:nvGrpSpPr>
        <p:grpSpPr>
          <a:xfrm>
            <a:off x="9796670" y="3360495"/>
            <a:ext cx="523461" cy="636103"/>
            <a:chOff x="9949068" y="3821009"/>
            <a:chExt cx="523461" cy="636103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3C7D58D-4AE4-4502-9B38-26F040362F19}"/>
                </a:ext>
              </a:extLst>
            </p:cNvPr>
            <p:cNvSpPr/>
            <p:nvPr/>
          </p:nvSpPr>
          <p:spPr>
            <a:xfrm>
              <a:off x="9949068" y="3821009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4418B67-6387-4CF7-8DB8-4176DAADBB1E}"/>
                </a:ext>
              </a:extLst>
            </p:cNvPr>
            <p:cNvSpPr/>
            <p:nvPr/>
          </p:nvSpPr>
          <p:spPr>
            <a:xfrm>
              <a:off x="9949068" y="4139061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A3DD027-B7E2-4E42-891C-B01B0D29E4EC}"/>
              </a:ext>
            </a:extLst>
          </p:cNvPr>
          <p:cNvCxnSpPr>
            <a:stCxn id="8" idx="2"/>
            <a:endCxn id="18" idx="0"/>
          </p:cNvCxnSpPr>
          <p:nvPr/>
        </p:nvCxnSpPr>
        <p:spPr>
          <a:xfrm>
            <a:off x="6649279" y="2346671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FB15439-72AC-48DE-A262-A1BF962766C5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>
            <a:off x="7172740" y="2346671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C3EBE27-6AB1-47FC-B67A-26183B630394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>
            <a:off x="7696201" y="2346670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2B52891-4C0B-4004-8407-FCF3FACCF076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>
            <a:off x="8219662" y="2346670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FA45B35-EE6C-4E57-AF6D-C6CE7DD28452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8743123" y="2346669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AD5BD4F-EC16-4D91-8B7F-2B7E10DE4C72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9266584" y="2346668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85C009A-5E67-4B1D-8D12-101AC48299D8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>
            <a:off x="9790045" y="2346667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041E149-3679-4BDB-97E5-8158AA87BBF9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>
            <a:off x="10313506" y="2346667"/>
            <a:ext cx="3313" cy="33130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619746E-6790-4C32-A005-67DF1BC6042A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rot="16200000" flipH="1">
            <a:off x="6602881" y="3045740"/>
            <a:ext cx="364466" cy="26504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4">
            <a:extLst>
              <a:ext uri="{FF2B5EF4-FFF2-40B4-BE49-F238E27FC236}">
                <a16:creationId xmlns:a16="http://schemas.microsoft.com/office/drawing/2014/main" id="{54CC16C6-66B3-4B30-811D-38352D99280E}"/>
              </a:ext>
            </a:extLst>
          </p:cNvPr>
          <p:cNvCxnSpPr>
            <a:cxnSpLocks/>
            <a:stCxn id="19" idx="2"/>
            <a:endCxn id="27" idx="0"/>
          </p:cNvCxnSpPr>
          <p:nvPr/>
        </p:nvCxnSpPr>
        <p:spPr>
          <a:xfrm rot="5400000">
            <a:off x="6864612" y="3049054"/>
            <a:ext cx="364466" cy="258417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64">
            <a:extLst>
              <a:ext uri="{FF2B5EF4-FFF2-40B4-BE49-F238E27FC236}">
                <a16:creationId xmlns:a16="http://schemas.microsoft.com/office/drawing/2014/main" id="{83FF3051-95DF-4CEB-BD40-B83B0D0E96D9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 rot="16200000" flipH="1">
            <a:off x="7653407" y="3042134"/>
            <a:ext cx="365537" cy="27332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64">
            <a:extLst>
              <a:ext uri="{FF2B5EF4-FFF2-40B4-BE49-F238E27FC236}">
                <a16:creationId xmlns:a16="http://schemas.microsoft.com/office/drawing/2014/main" id="{AFD34CEB-1106-47C9-BC74-2BCE355246C9}"/>
              </a:ext>
            </a:extLst>
          </p:cNvPr>
          <p:cNvCxnSpPr>
            <a:cxnSpLocks/>
            <a:stCxn id="21" idx="2"/>
            <a:endCxn id="35" idx="0"/>
          </p:cNvCxnSpPr>
          <p:nvPr/>
        </p:nvCxnSpPr>
        <p:spPr>
          <a:xfrm rot="5400000">
            <a:off x="7915138" y="3053727"/>
            <a:ext cx="365537" cy="250138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64">
            <a:extLst>
              <a:ext uri="{FF2B5EF4-FFF2-40B4-BE49-F238E27FC236}">
                <a16:creationId xmlns:a16="http://schemas.microsoft.com/office/drawing/2014/main" id="{787FEB4B-D08C-44D2-9883-DB0DA8F9C8F8}"/>
              </a:ext>
            </a:extLst>
          </p:cNvPr>
          <p:cNvCxnSpPr>
            <a:cxnSpLocks/>
            <a:stCxn id="23" idx="2"/>
            <a:endCxn id="37" idx="0"/>
          </p:cNvCxnSpPr>
          <p:nvPr/>
        </p:nvCxnSpPr>
        <p:spPr>
          <a:xfrm rot="5400000">
            <a:off x="8962181" y="3052778"/>
            <a:ext cx="364469" cy="25096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64">
            <a:extLst>
              <a:ext uri="{FF2B5EF4-FFF2-40B4-BE49-F238E27FC236}">
                <a16:creationId xmlns:a16="http://schemas.microsoft.com/office/drawing/2014/main" id="{45A39065-978F-4A80-A10C-AB45512042AC}"/>
              </a:ext>
            </a:extLst>
          </p:cNvPr>
          <p:cNvCxnSpPr>
            <a:cxnSpLocks/>
            <a:stCxn id="22" idx="2"/>
            <a:endCxn id="37" idx="0"/>
          </p:cNvCxnSpPr>
          <p:nvPr/>
        </p:nvCxnSpPr>
        <p:spPr>
          <a:xfrm rot="16200000" flipH="1">
            <a:off x="8700450" y="3042013"/>
            <a:ext cx="364468" cy="272496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64">
            <a:extLst>
              <a:ext uri="{FF2B5EF4-FFF2-40B4-BE49-F238E27FC236}">
                <a16:creationId xmlns:a16="http://schemas.microsoft.com/office/drawing/2014/main" id="{68E01A55-683F-4718-96DA-F734C3FC2440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 rot="16200000" flipH="1">
            <a:off x="9743644" y="3045738"/>
            <a:ext cx="364470" cy="26504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64">
            <a:extLst>
              <a:ext uri="{FF2B5EF4-FFF2-40B4-BE49-F238E27FC236}">
                <a16:creationId xmlns:a16="http://schemas.microsoft.com/office/drawing/2014/main" id="{499B7256-7A99-46B2-A81F-F2E6CD844161}"/>
              </a:ext>
            </a:extLst>
          </p:cNvPr>
          <p:cNvCxnSpPr>
            <a:cxnSpLocks/>
            <a:stCxn id="25" idx="2"/>
            <a:endCxn id="39" idx="0"/>
          </p:cNvCxnSpPr>
          <p:nvPr/>
        </p:nvCxnSpPr>
        <p:spPr>
          <a:xfrm rot="5400000">
            <a:off x="10005375" y="3049051"/>
            <a:ext cx="364470" cy="258418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AAD4ABFF-FD3C-4081-8401-36C8AB7368FA}"/>
              </a:ext>
            </a:extLst>
          </p:cNvPr>
          <p:cNvGrpSpPr/>
          <p:nvPr/>
        </p:nvGrpSpPr>
        <p:grpSpPr>
          <a:xfrm>
            <a:off x="7172738" y="4263546"/>
            <a:ext cx="523462" cy="1271138"/>
            <a:chOff x="7172738" y="4263546"/>
            <a:chExt cx="523462" cy="1271138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E183574F-AA55-4633-9E26-8BAC1AC8839B}"/>
                </a:ext>
              </a:extLst>
            </p:cNvPr>
            <p:cNvGrpSpPr/>
            <p:nvPr/>
          </p:nvGrpSpPr>
          <p:grpSpPr>
            <a:xfrm>
              <a:off x="7172739" y="4263546"/>
              <a:ext cx="523461" cy="636103"/>
              <a:chOff x="6662529" y="3821010"/>
              <a:chExt cx="523461" cy="636103"/>
            </a:xfrm>
          </p:grpSpPr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23D1943A-5B57-4EA4-850A-2ADB8EFB939A}"/>
                  </a:ext>
                </a:extLst>
              </p:cNvPr>
              <p:cNvSpPr/>
              <p:nvPr/>
            </p:nvSpPr>
            <p:spPr>
              <a:xfrm>
                <a:off x="6662529" y="3821010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2, 3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76625194-9588-4E74-9E56-417249E95484}"/>
                  </a:ext>
                </a:extLst>
              </p:cNvPr>
              <p:cNvSpPr/>
              <p:nvPr/>
            </p:nvSpPr>
            <p:spPr>
              <a:xfrm>
                <a:off x="6662529" y="4139062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4, 4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DC13DCC2-7F28-45D1-947D-4EE829C28C45}"/>
                </a:ext>
              </a:extLst>
            </p:cNvPr>
            <p:cNvGrpSpPr/>
            <p:nvPr/>
          </p:nvGrpSpPr>
          <p:grpSpPr>
            <a:xfrm>
              <a:off x="7172738" y="4898581"/>
              <a:ext cx="523461" cy="636103"/>
              <a:chOff x="6662529" y="3821010"/>
              <a:chExt cx="523461" cy="636103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8930A972-ED7E-470B-8690-9FA8A2B650D5}"/>
                  </a:ext>
                </a:extLst>
              </p:cNvPr>
              <p:cNvSpPr/>
              <p:nvPr/>
            </p:nvSpPr>
            <p:spPr>
              <a:xfrm>
                <a:off x="6662529" y="3821010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6, 7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FC682FB6-17D2-4BE3-BF94-CC8ADCEC0527}"/>
                  </a:ext>
                </a:extLst>
              </p:cNvPr>
              <p:cNvSpPr/>
              <p:nvPr/>
            </p:nvSpPr>
            <p:spPr>
              <a:xfrm>
                <a:off x="6662529" y="4139062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8, 9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DB19E9C3-ED7F-4157-9B22-9EEF3C0B53D2}"/>
              </a:ext>
            </a:extLst>
          </p:cNvPr>
          <p:cNvGrpSpPr/>
          <p:nvPr/>
        </p:nvGrpSpPr>
        <p:grpSpPr>
          <a:xfrm>
            <a:off x="9297228" y="4263012"/>
            <a:ext cx="523462" cy="1271138"/>
            <a:chOff x="7172738" y="4263546"/>
            <a:chExt cx="523462" cy="1271138"/>
          </a:xfrm>
        </p:grpSpPr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E1664080-AF6B-48A1-BFFF-E80487DF7A85}"/>
                </a:ext>
              </a:extLst>
            </p:cNvPr>
            <p:cNvGrpSpPr/>
            <p:nvPr/>
          </p:nvGrpSpPr>
          <p:grpSpPr>
            <a:xfrm>
              <a:off x="7172739" y="4263546"/>
              <a:ext cx="523461" cy="636103"/>
              <a:chOff x="6662529" y="3821010"/>
              <a:chExt cx="523461" cy="636103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6DDDC66C-EA6A-42EB-A293-18CD0B6AA316}"/>
                  </a:ext>
                </a:extLst>
              </p:cNvPr>
              <p:cNvSpPr/>
              <p:nvPr/>
            </p:nvSpPr>
            <p:spPr>
              <a:xfrm>
                <a:off x="6662529" y="3821010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1, 2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17293BB8-ABEC-47D1-8B05-8EA10B0F4B09}"/>
                  </a:ext>
                </a:extLst>
              </p:cNvPr>
              <p:cNvSpPr/>
              <p:nvPr/>
            </p:nvSpPr>
            <p:spPr>
              <a:xfrm>
                <a:off x="6662529" y="4139062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3, 5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42F6F259-48CA-4ADB-8F32-6EFDF57AA505}"/>
                </a:ext>
              </a:extLst>
            </p:cNvPr>
            <p:cNvGrpSpPr/>
            <p:nvPr/>
          </p:nvGrpSpPr>
          <p:grpSpPr>
            <a:xfrm>
              <a:off x="7172738" y="4898581"/>
              <a:ext cx="523461" cy="636103"/>
              <a:chOff x="6662529" y="3821010"/>
              <a:chExt cx="523461" cy="636103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63FA3FBB-ED30-4675-B792-8A2E5E73FC26}"/>
                  </a:ext>
                </a:extLst>
              </p:cNvPr>
              <p:cNvSpPr/>
              <p:nvPr/>
            </p:nvSpPr>
            <p:spPr>
              <a:xfrm>
                <a:off x="6662529" y="3821010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01A09128-009B-4E2E-B844-BD6D157FC8A2}"/>
                  </a:ext>
                </a:extLst>
              </p:cNvPr>
              <p:cNvSpPr/>
              <p:nvPr/>
            </p:nvSpPr>
            <p:spPr>
              <a:xfrm>
                <a:off x="6662529" y="4139062"/>
                <a:ext cx="523461" cy="3180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EOF</a:t>
                </a:r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06" name="直接箭头连接符 64">
            <a:extLst>
              <a:ext uri="{FF2B5EF4-FFF2-40B4-BE49-F238E27FC236}">
                <a16:creationId xmlns:a16="http://schemas.microsoft.com/office/drawing/2014/main" id="{4CA9289C-B688-403F-A860-7CEC5725B976}"/>
              </a:ext>
            </a:extLst>
          </p:cNvPr>
          <p:cNvCxnSpPr>
            <a:cxnSpLocks/>
            <a:stCxn id="28" idx="2"/>
            <a:endCxn id="93" idx="0"/>
          </p:cNvCxnSpPr>
          <p:nvPr/>
        </p:nvCxnSpPr>
        <p:spPr>
          <a:xfrm rot="16200000" flipH="1">
            <a:off x="7042579" y="3871655"/>
            <a:ext cx="266948" cy="51683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64">
            <a:extLst>
              <a:ext uri="{FF2B5EF4-FFF2-40B4-BE49-F238E27FC236}">
                <a16:creationId xmlns:a16="http://schemas.microsoft.com/office/drawing/2014/main" id="{104D1A3D-0532-4EF8-A0D8-9505F185D41D}"/>
              </a:ext>
            </a:extLst>
          </p:cNvPr>
          <p:cNvCxnSpPr>
            <a:cxnSpLocks/>
            <a:stCxn id="36" idx="2"/>
            <a:endCxn id="93" idx="0"/>
          </p:cNvCxnSpPr>
          <p:nvPr/>
        </p:nvCxnSpPr>
        <p:spPr>
          <a:xfrm rot="5400000">
            <a:off x="7570715" y="3861424"/>
            <a:ext cx="265878" cy="538367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64">
            <a:extLst>
              <a:ext uri="{FF2B5EF4-FFF2-40B4-BE49-F238E27FC236}">
                <a16:creationId xmlns:a16="http://schemas.microsoft.com/office/drawing/2014/main" id="{EBDF2C82-CD81-495D-9BC5-69631E29901D}"/>
              </a:ext>
            </a:extLst>
          </p:cNvPr>
          <p:cNvCxnSpPr>
            <a:cxnSpLocks/>
            <a:stCxn id="38" idx="2"/>
            <a:endCxn id="104" idx="0"/>
          </p:cNvCxnSpPr>
          <p:nvPr/>
        </p:nvCxnSpPr>
        <p:spPr>
          <a:xfrm rot="16200000" flipH="1">
            <a:off x="9155739" y="3859791"/>
            <a:ext cx="266414" cy="540028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64">
            <a:extLst>
              <a:ext uri="{FF2B5EF4-FFF2-40B4-BE49-F238E27FC236}">
                <a16:creationId xmlns:a16="http://schemas.microsoft.com/office/drawing/2014/main" id="{E72A6559-5545-44A0-8ACA-3A95276803D6}"/>
              </a:ext>
            </a:extLst>
          </p:cNvPr>
          <p:cNvCxnSpPr>
            <a:cxnSpLocks/>
            <a:stCxn id="40" idx="2"/>
            <a:endCxn id="104" idx="0"/>
          </p:cNvCxnSpPr>
          <p:nvPr/>
        </p:nvCxnSpPr>
        <p:spPr>
          <a:xfrm rot="5400000">
            <a:off x="9675474" y="3880085"/>
            <a:ext cx="266414" cy="499441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09F3ABD-5DA5-4C46-8587-A9D761DCD33C}"/>
              </a:ext>
            </a:extLst>
          </p:cNvPr>
          <p:cNvGrpSpPr/>
          <p:nvPr/>
        </p:nvGrpSpPr>
        <p:grpSpPr>
          <a:xfrm>
            <a:off x="6387548" y="5930373"/>
            <a:ext cx="4187688" cy="318055"/>
            <a:chOff x="6175513" y="2028614"/>
            <a:chExt cx="4187688" cy="318055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3AAA1937-9BB6-48BA-BCF1-141D0026CDEE}"/>
                </a:ext>
              </a:extLst>
            </p:cNvPr>
            <p:cNvSpPr/>
            <p:nvPr/>
          </p:nvSpPr>
          <p:spPr>
            <a:xfrm>
              <a:off x="6175513" y="2028618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1, 2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DDB48D7-9321-49D2-A55A-D062BC713569}"/>
                </a:ext>
              </a:extLst>
            </p:cNvPr>
            <p:cNvSpPr/>
            <p:nvPr/>
          </p:nvSpPr>
          <p:spPr>
            <a:xfrm>
              <a:off x="6698974" y="2028618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2, 3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D44A0B0-DFE2-49B5-9D32-07F3C8D290A6}"/>
                </a:ext>
              </a:extLst>
            </p:cNvPr>
            <p:cNvSpPr/>
            <p:nvPr/>
          </p:nvSpPr>
          <p:spPr>
            <a:xfrm>
              <a:off x="7222435" y="2028617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3, 4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2EBF570F-8666-4B65-8AF5-566ABA668F3A}"/>
                </a:ext>
              </a:extLst>
            </p:cNvPr>
            <p:cNvSpPr/>
            <p:nvPr/>
          </p:nvSpPr>
          <p:spPr>
            <a:xfrm>
              <a:off x="7745896" y="2028617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4, 5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C4931331-2CF5-4C88-B2C2-198E9C9CF828}"/>
                </a:ext>
              </a:extLst>
            </p:cNvPr>
            <p:cNvSpPr/>
            <p:nvPr/>
          </p:nvSpPr>
          <p:spPr>
            <a:xfrm>
              <a:off x="8269357" y="2028616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6, 6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667A6CB8-7B6D-4296-9BE3-8CF080F742F5}"/>
                </a:ext>
              </a:extLst>
            </p:cNvPr>
            <p:cNvSpPr/>
            <p:nvPr/>
          </p:nvSpPr>
          <p:spPr>
            <a:xfrm>
              <a:off x="8792818" y="2028615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7, 8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A8A07901-D075-4203-A721-BB3E71ACF520}"/>
                </a:ext>
              </a:extLst>
            </p:cNvPr>
            <p:cNvSpPr/>
            <p:nvPr/>
          </p:nvSpPr>
          <p:spPr>
            <a:xfrm>
              <a:off x="9316279" y="2028614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62D9DC6B-D6F9-415F-BF9B-1063A3F08910}"/>
                </a:ext>
              </a:extLst>
            </p:cNvPr>
            <p:cNvSpPr/>
            <p:nvPr/>
          </p:nvSpPr>
          <p:spPr>
            <a:xfrm>
              <a:off x="9839740" y="2028614"/>
              <a:ext cx="523461" cy="3180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27" name="直接箭头连接符 64">
            <a:extLst>
              <a:ext uri="{FF2B5EF4-FFF2-40B4-BE49-F238E27FC236}">
                <a16:creationId xmlns:a16="http://schemas.microsoft.com/office/drawing/2014/main" id="{87742423-C8A9-4FDF-B949-EAAEC60F0C2A}"/>
              </a:ext>
            </a:extLst>
          </p:cNvPr>
          <p:cNvCxnSpPr>
            <a:cxnSpLocks/>
            <a:stCxn id="97" idx="2"/>
            <a:endCxn id="122" idx="0"/>
          </p:cNvCxnSpPr>
          <p:nvPr/>
        </p:nvCxnSpPr>
        <p:spPr>
          <a:xfrm rot="16200000" flipH="1">
            <a:off x="7629219" y="5339933"/>
            <a:ext cx="395692" cy="78519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64">
            <a:extLst>
              <a:ext uri="{FF2B5EF4-FFF2-40B4-BE49-F238E27FC236}">
                <a16:creationId xmlns:a16="http://schemas.microsoft.com/office/drawing/2014/main" id="{DFAECBC9-D8DC-41E8-B062-B8BD92F8F832}"/>
              </a:ext>
            </a:extLst>
          </p:cNvPr>
          <p:cNvCxnSpPr>
            <a:cxnSpLocks/>
            <a:stCxn id="103" idx="2"/>
            <a:endCxn id="123" idx="0"/>
          </p:cNvCxnSpPr>
          <p:nvPr/>
        </p:nvCxnSpPr>
        <p:spPr>
          <a:xfrm rot="5400000">
            <a:off x="8952929" y="5324344"/>
            <a:ext cx="396225" cy="815836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2E231321-CA44-4B21-9347-21E8476215E4}"/>
              </a:ext>
            </a:extLst>
          </p:cNvPr>
          <p:cNvSpPr/>
          <p:nvPr/>
        </p:nvSpPr>
        <p:spPr>
          <a:xfrm>
            <a:off x="5250345" y="2308642"/>
            <a:ext cx="1006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PASS #0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F3A240C-1830-4CE9-983E-BE1368C812C1}"/>
              </a:ext>
            </a:extLst>
          </p:cNvPr>
          <p:cNvSpPr/>
          <p:nvPr/>
        </p:nvSpPr>
        <p:spPr>
          <a:xfrm>
            <a:off x="5267736" y="3018640"/>
            <a:ext cx="1006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PASS #1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5D80A9F-FE20-4063-93A4-E9976D96F945}"/>
              </a:ext>
            </a:extLst>
          </p:cNvPr>
          <p:cNvSpPr/>
          <p:nvPr/>
        </p:nvSpPr>
        <p:spPr>
          <a:xfrm>
            <a:off x="5287205" y="3970635"/>
            <a:ext cx="1006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PASS #2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361FC25-CA60-44C6-8AA5-D4B96AF0B647}"/>
              </a:ext>
            </a:extLst>
          </p:cNvPr>
          <p:cNvSpPr/>
          <p:nvPr/>
        </p:nvSpPr>
        <p:spPr>
          <a:xfrm>
            <a:off x="5287205" y="5525353"/>
            <a:ext cx="1006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PASS #3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38BA7CA1-2843-4EE7-B062-79F0E3686059}"/>
              </a:ext>
            </a:extLst>
          </p:cNvPr>
          <p:cNvSpPr/>
          <p:nvPr/>
        </p:nvSpPr>
        <p:spPr>
          <a:xfrm>
            <a:off x="838200" y="4960159"/>
            <a:ext cx="3412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Only requires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buffer pages 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148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 External Merge Sort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b="1" dirty="0"/>
              <a:t>Pass #0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Use </a:t>
            </a:r>
            <a:r>
              <a:rPr lang="en-US" altLang="zh-CN" sz="2000" b="1" dirty="0">
                <a:solidFill>
                  <a:srgbClr val="FF0000"/>
                </a:solidFill>
              </a:rPr>
              <a:t>B</a:t>
            </a:r>
            <a:r>
              <a:rPr lang="en-US" altLang="zh-CN" sz="2000" dirty="0"/>
              <a:t> buffer pages.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Produce </a:t>
            </a:r>
            <a:r>
              <a:rPr lang="en-US" altLang="zh-CN" sz="2000" b="1" dirty="0">
                <a:solidFill>
                  <a:srgbClr val="FF0000"/>
                </a:solidFill>
              </a:rPr>
              <a:t>⌈</a:t>
            </a:r>
            <a:r>
              <a:rPr lang="en-US" altLang="zh-CN" sz="2000" b="1" dirty="0" err="1">
                <a:solidFill>
                  <a:srgbClr val="FF0000"/>
                </a:solidFill>
              </a:rPr>
              <a:t>b</a:t>
            </a:r>
            <a:r>
              <a:rPr lang="en-US" altLang="zh-CN" sz="2000" b="1" baseline="-25000" dirty="0" err="1">
                <a:solidFill>
                  <a:srgbClr val="FF0000"/>
                </a:solidFill>
              </a:rPr>
              <a:t>r</a:t>
            </a:r>
            <a:r>
              <a:rPr lang="en-US" altLang="zh-CN" sz="2000" b="1" dirty="0">
                <a:solidFill>
                  <a:srgbClr val="FF0000"/>
                </a:solidFill>
              </a:rPr>
              <a:t>/B⌉ </a:t>
            </a:r>
            <a:r>
              <a:rPr lang="en-US" altLang="zh-CN" sz="2000" dirty="0"/>
              <a:t>sorted runs of size </a:t>
            </a:r>
            <a:r>
              <a:rPr lang="en-US" altLang="zh-CN" sz="2000" b="1" dirty="0">
                <a:solidFill>
                  <a:srgbClr val="FF0000"/>
                </a:solidFill>
              </a:rPr>
              <a:t>B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b="1" dirty="0"/>
              <a:t>Pass #1,2,3,…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Merge </a:t>
            </a:r>
            <a:r>
              <a:rPr lang="en-US" altLang="zh-CN" sz="2000" b="1" i="1" dirty="0">
                <a:solidFill>
                  <a:srgbClr val="FF0000"/>
                </a:solidFill>
              </a:rPr>
              <a:t>B-1</a:t>
            </a:r>
            <a:r>
              <a:rPr lang="en-US" altLang="zh-CN" sz="2000" dirty="0"/>
              <a:t> runs (i.e., K-way merge).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Number of passes = </a:t>
            </a:r>
            <a:r>
              <a:rPr lang="en-US" altLang="zh-CN" sz="2400" b="1" dirty="0">
                <a:solidFill>
                  <a:srgbClr val="FF0000"/>
                </a:solidFill>
              </a:rPr>
              <a:t>1 + ⌈ log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B-1</a:t>
            </a:r>
            <a:r>
              <a:rPr lang="en-US" altLang="zh-CN" sz="2400" b="1" dirty="0">
                <a:solidFill>
                  <a:srgbClr val="FF0000"/>
                </a:solidFill>
              </a:rPr>
              <a:t> ⌈</a:t>
            </a:r>
            <a:r>
              <a:rPr lang="en-US" altLang="zh-CN" sz="2400" b="1" dirty="0" err="1">
                <a:solidFill>
                  <a:srgbClr val="FF0000"/>
                </a:solidFill>
              </a:rPr>
              <a:t>b</a:t>
            </a:r>
            <a:r>
              <a:rPr lang="en-US" altLang="zh-CN" sz="1800" b="1" baseline="-25000" dirty="0" err="1">
                <a:solidFill>
                  <a:srgbClr val="FF0000"/>
                </a:solidFill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</a:rPr>
              <a:t>/B⌉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⌉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Total I/O Cost = </a:t>
            </a:r>
            <a:r>
              <a:rPr lang="en-US" altLang="zh-CN" sz="2400" b="1" dirty="0">
                <a:solidFill>
                  <a:srgbClr val="FF0000"/>
                </a:solidFill>
              </a:rPr>
              <a:t>2b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</a:rPr>
              <a:t> ∙ (# of passes) - </a:t>
            </a:r>
            <a:r>
              <a:rPr lang="en-US" altLang="zh-CN" sz="2400" b="1" dirty="0" err="1">
                <a:solidFill>
                  <a:srgbClr val="FF0000"/>
                </a:solidFill>
              </a:rPr>
              <a:t>b</a:t>
            </a:r>
            <a:r>
              <a:rPr lang="en-US" altLang="zh-CN" sz="2400" b="1" baseline="-25000" dirty="0" err="1">
                <a:solidFill>
                  <a:srgbClr val="FF0000"/>
                </a:solidFill>
              </a:rPr>
              <a:t>r</a:t>
            </a:r>
            <a:endParaRPr lang="en-US" altLang="zh-CN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51E2-D395-4140-856B-699177B9DCF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319E80-2F11-47A7-AEEC-C9D72226E591}"/>
              </a:ext>
            </a:extLst>
          </p:cNvPr>
          <p:cNvSpPr/>
          <p:nvPr/>
        </p:nvSpPr>
        <p:spPr>
          <a:xfrm>
            <a:off x="3687417" y="5262979"/>
            <a:ext cx="5634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 err="1">
                <a:solidFill>
                  <a:srgbClr val="FF000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sz="2400" b="1" baseline="-25000" dirty="0" err="1">
                <a:solidFill>
                  <a:srgbClr val="FF000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</a:rPr>
              <a:t>(2 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400" b="1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2400" b="1" baseline="-25000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b="1" baseline="-25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–1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400" b="1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b="1" baseline="-25000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400" b="1" baseline="-25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/B) + 1)  </a:t>
            </a:r>
            <a:r>
              <a:rPr lang="en-US" altLang="en-US" sz="2400" b="1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902F31-B6DD-42C9-8950-B6ECE111423E}"/>
              </a:ext>
            </a:extLst>
          </p:cNvPr>
          <p:cNvSpPr/>
          <p:nvPr/>
        </p:nvSpPr>
        <p:spPr>
          <a:xfrm>
            <a:off x="3581400" y="5894685"/>
            <a:ext cx="56124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</a:rPr>
              <a:t>2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b</a:t>
            </a:r>
            <a:r>
              <a:rPr lang="en-US" altLang="en-US" sz="2400" b="1" baseline="-25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/B + </a:t>
            </a:r>
            <a:r>
              <a:rPr lang="en-US" altLang="en-US" sz="2400" b="1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b="1" baseline="-25000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400" b="1" baseline="-25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</a:rPr>
              <a:t>2 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400" b="1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2400" b="1" baseline="-25000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b="1" baseline="-25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–1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400" b="1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b="1" baseline="-25000" dirty="0" err="1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400" b="1" baseline="-25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/B) -1)  </a:t>
            </a:r>
            <a:r>
              <a:rPr lang="en-US" altLang="en-US" sz="2400" b="1" dirty="0">
                <a:ea typeface="MS PGothic" panose="020B0600070205080204" pitchFamily="34" charset="-128"/>
                <a:sym typeface="Symbol" panose="05050102010706020507" pitchFamily="18" charset="2"/>
              </a:rPr>
              <a:t>seeks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260810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99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Determine how many passes it takes to sort 108 pages with 5 buffer pages: </a:t>
            </a:r>
            <a:r>
              <a:rPr lang="en-US" altLang="zh-CN" b="1" dirty="0">
                <a:solidFill>
                  <a:srgbClr val="FF0000"/>
                </a:solidFill>
              </a:rPr>
              <a:t>N=108, B=5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Pass #0</a:t>
            </a:r>
            <a:r>
              <a:rPr lang="en-US" altLang="zh-CN" dirty="0"/>
              <a:t>: ⌈N/B⌉ = ⌈108/5⌉ = </a:t>
            </a:r>
            <a:r>
              <a:rPr lang="en-US" altLang="zh-CN" b="1" dirty="0">
                <a:solidFill>
                  <a:srgbClr val="FF0000"/>
                </a:solidFill>
              </a:rPr>
              <a:t>22</a:t>
            </a:r>
            <a:r>
              <a:rPr lang="en-US" altLang="zh-CN" dirty="0"/>
              <a:t> sorted runs of 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dirty="0"/>
              <a:t> pages each (last run is only 3 pages).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Pass #1</a:t>
            </a:r>
            <a:r>
              <a:rPr lang="en-US" altLang="zh-CN" dirty="0"/>
              <a:t>: ⌈N’/(B-1)⌉ = ⌈22/4⌉ = 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dirty="0"/>
              <a:t> sorted runs of </a:t>
            </a:r>
            <a:r>
              <a:rPr lang="en-US" altLang="zh-CN" b="1" dirty="0">
                <a:solidFill>
                  <a:srgbClr val="FF0000"/>
                </a:solidFill>
              </a:rPr>
              <a:t>20</a:t>
            </a:r>
            <a:r>
              <a:rPr lang="en-US" altLang="zh-CN" dirty="0"/>
              <a:t> pages each (last run is only 8 pages).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Pass #2</a:t>
            </a:r>
            <a:r>
              <a:rPr lang="en-US" altLang="zh-CN" dirty="0"/>
              <a:t>: ⌈N’’/(B-1)⌉ = ⌈6/4⌉ = 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 sorted runs, first one has </a:t>
            </a:r>
            <a:r>
              <a:rPr lang="en-US" altLang="zh-CN" b="1" dirty="0">
                <a:solidFill>
                  <a:srgbClr val="FF0000"/>
                </a:solidFill>
              </a:rPr>
              <a:t>80</a:t>
            </a:r>
            <a:r>
              <a:rPr lang="en-US" altLang="zh-CN" dirty="0"/>
              <a:t> pages and second one has 28 pages.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Pass #3</a:t>
            </a:r>
            <a:r>
              <a:rPr lang="en-US" altLang="zh-CN" dirty="0"/>
              <a:t>: Sorted file of </a:t>
            </a:r>
            <a:r>
              <a:rPr lang="en-US" altLang="zh-CN" b="1" dirty="0">
                <a:solidFill>
                  <a:srgbClr val="FF0000"/>
                </a:solidFill>
              </a:rPr>
              <a:t>108</a:t>
            </a:r>
            <a:r>
              <a:rPr lang="en-US" altLang="zh-CN" dirty="0"/>
              <a:t> pages.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1+⌈ log</a:t>
            </a:r>
            <a:r>
              <a:rPr lang="en-US" altLang="zh-CN" baseline="-25000" dirty="0"/>
              <a:t>B-1</a:t>
            </a:r>
            <a:r>
              <a:rPr lang="en-US" altLang="zh-CN" baseline="30000" dirty="0"/>
              <a:t>⌈N/B⌉ </a:t>
            </a:r>
            <a:r>
              <a:rPr lang="en-US" altLang="zh-CN" dirty="0"/>
              <a:t>⌉ = 1+⌈log</a:t>
            </a:r>
            <a:r>
              <a:rPr lang="en-US" altLang="zh-CN" baseline="-25000" dirty="0"/>
              <a:t>4</a:t>
            </a:r>
            <a:r>
              <a:rPr lang="en-US" altLang="zh-CN" baseline="30000" dirty="0"/>
              <a:t>22</a:t>
            </a:r>
            <a:r>
              <a:rPr lang="en-US" altLang="zh-CN" dirty="0"/>
              <a:t>⌉ = 1+⌈2.229...⌉= 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dirty="0"/>
              <a:t> passes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DA66-845A-4777-8E12-C3917BD4CF0A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92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13489</TotalTime>
  <Words>3728</Words>
  <Application>Microsoft Macintosh PowerPoint</Application>
  <PresentationFormat>宽屏</PresentationFormat>
  <Paragraphs>684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等线</vt:lpstr>
      <vt:lpstr>Crimson Text</vt:lpstr>
      <vt:lpstr>MS PGothic</vt:lpstr>
      <vt:lpstr>URWPalladioL</vt:lpstr>
      <vt:lpstr>Arial</vt:lpstr>
      <vt:lpstr>Courier New</vt:lpstr>
      <vt:lpstr>Inconsolata</vt:lpstr>
      <vt:lpstr>Wingdings</vt:lpstr>
      <vt:lpstr>Office 主题​​</vt:lpstr>
      <vt:lpstr>Query Processing I</vt:lpstr>
      <vt:lpstr>Basic Steps in Query Processing</vt:lpstr>
      <vt:lpstr>Architecture Overview</vt:lpstr>
      <vt:lpstr>Query Execution</vt:lpstr>
      <vt:lpstr>Process Models</vt:lpstr>
      <vt:lpstr>Scheduling</vt:lpstr>
      <vt:lpstr>Execution Optimization</vt:lpstr>
      <vt:lpstr>Processing Models</vt:lpstr>
      <vt:lpstr>Processing Models</vt:lpstr>
      <vt:lpstr>Iterator Model</vt:lpstr>
      <vt:lpstr>Iterator Model</vt:lpstr>
      <vt:lpstr>Iterator Model</vt:lpstr>
      <vt:lpstr>Iterator Model</vt:lpstr>
      <vt:lpstr>Iterator Model</vt:lpstr>
      <vt:lpstr>Materialization Model</vt:lpstr>
      <vt:lpstr>Materialization Model</vt:lpstr>
      <vt:lpstr>Materialization Model</vt:lpstr>
      <vt:lpstr>Materialization Model</vt:lpstr>
      <vt:lpstr>Materialization Model</vt:lpstr>
      <vt:lpstr>Vectorization Model</vt:lpstr>
      <vt:lpstr>Vectorization Model</vt:lpstr>
      <vt:lpstr>Vectorization Model</vt:lpstr>
      <vt:lpstr>Vectorization Model</vt:lpstr>
      <vt:lpstr>Plan Processing Direction</vt:lpstr>
      <vt:lpstr>Measures of Query Cost</vt:lpstr>
      <vt:lpstr>Measures of Query Cost</vt:lpstr>
      <vt:lpstr>Selection</vt:lpstr>
      <vt:lpstr>Access Method</vt:lpstr>
      <vt:lpstr>Sequential Scan</vt:lpstr>
      <vt:lpstr>Sequential Scan Optimizations</vt:lpstr>
      <vt:lpstr>Zone Maps</vt:lpstr>
      <vt:lpstr>Index Scan</vt:lpstr>
      <vt:lpstr>Multi-Index Scan</vt:lpstr>
      <vt:lpstr>Multi-Index Scan</vt:lpstr>
      <vt:lpstr>PowerPoint 演示文稿</vt:lpstr>
      <vt:lpstr>Algorithms</vt:lpstr>
      <vt:lpstr>Selection</vt:lpstr>
      <vt:lpstr>Sorting</vt:lpstr>
      <vt:lpstr>Why do we need to sort?</vt:lpstr>
      <vt:lpstr>Sorting Algorithms</vt:lpstr>
      <vt:lpstr>Sorted Runs</vt:lpstr>
      <vt:lpstr>2-Way External Merge Sort</vt:lpstr>
      <vt:lpstr>General External Merge Sort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Xueqing Gong</dc:creator>
  <cp:lastModifiedBy>Junjie Yao</cp:lastModifiedBy>
  <cp:revision>475</cp:revision>
  <dcterms:created xsi:type="dcterms:W3CDTF">2019-10-29T09:57:08Z</dcterms:created>
  <dcterms:modified xsi:type="dcterms:W3CDTF">2024-05-23T01:35:12Z</dcterms:modified>
</cp:coreProperties>
</file>