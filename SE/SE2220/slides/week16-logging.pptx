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9" r:id="rId1"/>
  </p:sldMasterIdLst>
  <p:notesMasterIdLst>
    <p:notesMasterId r:id="rId67"/>
  </p:notesMasterIdLst>
  <p:sldIdLst>
    <p:sldId id="256" r:id="rId2"/>
    <p:sldId id="278" r:id="rId3"/>
    <p:sldId id="285" r:id="rId4"/>
    <p:sldId id="286" r:id="rId5"/>
    <p:sldId id="287" r:id="rId6"/>
    <p:sldId id="280" r:id="rId7"/>
    <p:sldId id="281" r:id="rId8"/>
    <p:sldId id="282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83" r:id="rId18"/>
    <p:sldId id="296" r:id="rId19"/>
    <p:sldId id="297" r:id="rId20"/>
    <p:sldId id="298" r:id="rId21"/>
    <p:sldId id="300" r:id="rId22"/>
    <p:sldId id="299" r:id="rId23"/>
    <p:sldId id="301" r:id="rId24"/>
    <p:sldId id="284" r:id="rId25"/>
    <p:sldId id="302" r:id="rId26"/>
    <p:sldId id="309" r:id="rId27"/>
    <p:sldId id="310" r:id="rId28"/>
    <p:sldId id="311" r:id="rId29"/>
    <p:sldId id="312" r:id="rId30"/>
    <p:sldId id="313" r:id="rId31"/>
    <p:sldId id="314" r:id="rId32"/>
    <p:sldId id="303" r:id="rId33"/>
    <p:sldId id="304" r:id="rId34"/>
    <p:sldId id="336" r:id="rId35"/>
    <p:sldId id="337" r:id="rId36"/>
    <p:sldId id="338" r:id="rId37"/>
    <p:sldId id="339" r:id="rId38"/>
    <p:sldId id="340" r:id="rId39"/>
    <p:sldId id="341" r:id="rId40"/>
    <p:sldId id="342" r:id="rId41"/>
    <p:sldId id="305" r:id="rId42"/>
    <p:sldId id="306" r:id="rId43"/>
    <p:sldId id="315" r:id="rId44"/>
    <p:sldId id="316" r:id="rId45"/>
    <p:sldId id="317" r:id="rId46"/>
    <p:sldId id="318" r:id="rId47"/>
    <p:sldId id="319" r:id="rId48"/>
    <p:sldId id="320" r:id="rId49"/>
    <p:sldId id="321" r:id="rId50"/>
    <p:sldId id="322" r:id="rId51"/>
    <p:sldId id="323" r:id="rId52"/>
    <p:sldId id="324" r:id="rId53"/>
    <p:sldId id="325" r:id="rId54"/>
    <p:sldId id="326" r:id="rId55"/>
    <p:sldId id="327" r:id="rId56"/>
    <p:sldId id="328" r:id="rId57"/>
    <p:sldId id="329" r:id="rId58"/>
    <p:sldId id="307" r:id="rId59"/>
    <p:sldId id="308" r:id="rId60"/>
    <p:sldId id="330" r:id="rId61"/>
    <p:sldId id="331" r:id="rId62"/>
    <p:sldId id="332" r:id="rId63"/>
    <p:sldId id="333" r:id="rId64"/>
    <p:sldId id="334" r:id="rId65"/>
    <p:sldId id="335" r:id="rId6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B205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0755" autoAdjust="0"/>
  </p:normalViewPr>
  <p:slideViewPr>
    <p:cSldViewPr snapToGrid="0">
      <p:cViewPr varScale="1">
        <p:scale>
          <a:sx n="128" d="100"/>
          <a:sy n="128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C7C27-0E44-4290-A7B1-6D6F9A15BBB6}" type="datetimeFigureOut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5581F6-8C05-464A-A316-5949FBD12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480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4BF3913C-03C0-4DD1-8A1E-2EA9FC276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00" y="3667967"/>
            <a:ext cx="3175000" cy="2921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26640F0-29EB-4D05-984D-60BE6FED0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ACE81C-946D-4E24-981F-5DE21BD5D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47B225-EE9E-434E-AD70-00CDCB014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4A792-F759-42AB-B120-0D23773FA972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3649B8-B927-47AF-82EB-5F59ED16B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B73DF2-AF77-44AD-B985-9A5CFC79E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77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A7EC1-AE80-4979-A7D6-C87185D6B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1284FD-8087-4D82-8FD3-8F055885E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447675" indent="-447675">
              <a:buClr>
                <a:srgbClr val="FF0000"/>
              </a:buClr>
              <a:buFont typeface="Wingdings" panose="05000000000000000000" pitchFamily="2" charset="2"/>
              <a:buChar char="p"/>
              <a:defRPr/>
            </a:lvl1pPr>
            <a:lvl2pPr marL="808038" indent="-350838">
              <a:buClr>
                <a:srgbClr val="0066FF"/>
              </a:buClr>
              <a:buFont typeface="Wingdings" panose="05000000000000000000" pitchFamily="2" charset="2"/>
              <a:buChar char="l"/>
              <a:defRPr/>
            </a:lvl2pPr>
            <a:lvl3pPr marL="1254125" indent="-339725">
              <a:buClr>
                <a:srgbClr val="00B050"/>
              </a:buClr>
              <a:buSzPct val="60000"/>
              <a:buFont typeface="Wingdings" panose="05000000000000000000" pitchFamily="2" charset="2"/>
              <a:buChar char="u"/>
              <a:defRPr/>
            </a:lvl3pPr>
            <a:lvl4pPr marL="1616075" indent="-244475">
              <a:buClr>
                <a:srgbClr val="7030A0"/>
              </a:buClr>
              <a:defRPr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6126D6-36F6-41DF-A825-F1E8FBB9C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EB493-1B76-46BD-8593-14E77F1A23C3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76CEFF-0837-4190-9625-9533CCD6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E5D5BF-5D06-45F3-8ED0-281B61D3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http://old.ecnu.edu.cn/site/identity/images/a4.gif">
            <a:extLst>
              <a:ext uri="{FF2B5EF4-FFF2-40B4-BE49-F238E27FC236}">
                <a16:creationId xmlns:a16="http://schemas.microsoft.com/office/drawing/2014/main" id="{5595DAAA-AB55-4A84-ADB5-02FA029E12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099" y="371597"/>
            <a:ext cx="1325561" cy="132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F1F915F-2E6C-4469-BE1B-3DEED6DFAA85}"/>
              </a:ext>
            </a:extLst>
          </p:cNvPr>
          <p:cNvCxnSpPr>
            <a:cxnSpLocks/>
          </p:cNvCxnSpPr>
          <p:nvPr userDrawn="1"/>
        </p:nvCxnSpPr>
        <p:spPr>
          <a:xfrm>
            <a:off x="850640" y="1573762"/>
            <a:ext cx="9680497" cy="0"/>
          </a:xfrm>
          <a:prstGeom prst="line">
            <a:avLst/>
          </a:prstGeom>
          <a:ln w="25400">
            <a:solidFill>
              <a:srgbClr val="B205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2D48080-F667-4226-B356-BBC3C92937C4}"/>
              </a:ext>
            </a:extLst>
          </p:cNvPr>
          <p:cNvCxnSpPr>
            <a:cxnSpLocks/>
          </p:cNvCxnSpPr>
          <p:nvPr userDrawn="1"/>
        </p:nvCxnSpPr>
        <p:spPr>
          <a:xfrm>
            <a:off x="5257006" y="1639083"/>
            <a:ext cx="6049352" cy="0"/>
          </a:xfrm>
          <a:prstGeom prst="line">
            <a:avLst/>
          </a:prstGeom>
          <a:ln w="50800">
            <a:solidFill>
              <a:srgbClr val="B20537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B1E1CF1-8B7F-4EA2-92C8-2B4817076AE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996904" y="1583091"/>
            <a:ext cx="309454" cy="1"/>
          </a:xfrm>
          <a:prstGeom prst="line">
            <a:avLst/>
          </a:prstGeom>
          <a:ln w="25400">
            <a:solidFill>
              <a:srgbClr val="B205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590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54DB1-E92B-4113-82FE-530FDCC68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D509C0-436C-468D-B618-A02B7C51D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1C0C03-EC12-4489-B7B6-4F2A82314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A952-2BC6-4B3B-8FB2-B621C7E0737A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0DFF40-9B68-4F2F-8CD0-7AAE71E00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3EA13B-154D-4455-B12D-03EFA349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167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F1D83-F900-45B8-B37E-052B07F32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C78C22-1F69-43ED-95E7-FF654B3C2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8B764C-5F12-4AC1-B7A8-98C672330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2E8530-CA80-4659-8EEC-3FAABA203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7EAB9-0CF6-444E-926F-BF13CFB7FD0B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F6450F-45CB-43FD-8482-8DB883799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CDCE72-5275-43EA-ABE5-F76BFF066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42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D0A51B-BC75-4FCA-9436-EF78B564E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9B5BBD-D06F-4A36-B7A2-701789111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97B718-9D21-42BC-8681-01DA5D7DC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C878318-E4A8-4C85-B659-5222495A7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AD809B-D7DF-4155-97EB-8E179A20D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FD92687-48A0-4338-800A-C5DFDD78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115D-748A-412D-ABC2-70D1029BE4A4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E863C7-5439-4EF1-A21D-5E53501CD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D4E9EC9-403E-4D16-B568-9A9A4CB33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67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F30F9-6409-4212-89F8-11CDA167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7F5E84-DD0E-408A-BF4D-15867859F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AB54-0853-41E8-8CA8-76FFD87F8180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61CA323-9181-44B4-85A3-3C2F7D113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3F7471-B90E-467F-910F-52202B785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524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A7D63A-5BFD-499F-B3EA-463127E64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A4D27-6261-4EE3-937E-B0FE2640C207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AE59A3-DD05-4D90-96DC-686CB5174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D54B72-0D71-4D0F-BB90-83EAA438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955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45C962-3DDF-4D21-8468-6B248102E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43BD7E-88DC-4D87-BF3D-D55FF0186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0E8564-7092-4141-AD63-AAC23E8B0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893888-8F45-487B-923D-D4472215D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9D7E-9125-4098-8ED3-35E73D2B27C2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644FAC-6EEA-44B4-A4F1-653CB1CAD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3FA2B3-11DB-4BEE-84C8-2311B0A20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61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0FA414-D77C-4B82-8529-656C31367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F31F53-4CC4-46DC-8E70-3572E64FBA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F67C09-3FA3-4589-B78F-DCBEAED52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89F04E-67F4-4F68-B37D-A00A57E94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A4B2E-765A-49D2-B7CC-D40C10881298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99ECEA-4528-4530-A522-778BBB9C7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9C5F91-AAED-4F20-AF2C-9D1FF649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439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96D1D9-B232-4A42-AB69-863156B1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3A2D74-7775-4D3C-9091-9BAA39C8D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32DD2D-FDAC-4A32-B731-E3842FF1C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741D4-8CBE-477E-836B-63BEEDAA59D7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69388B-1355-49B2-B918-3CEE22470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C7334B-18F2-480F-8F95-682C88AE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844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B35CB8-CD11-431D-8FCF-85C153D2E2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FEF1E3-5F13-4B29-B438-6C1D20D6B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1A534A-6E71-4D12-AD85-7E28669D1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BF195-009D-4324-A7C2-C41C8DC6CBE7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FD16A3-5950-48B1-80C7-09517A34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5AEE19-5033-4C14-A64A-F63DEA781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39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88034C-A9C2-4DAC-9DB6-29CEC9FAE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F32A96-A572-45D8-B504-F225478C5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144EE8-4BFD-44E6-ACC4-C609EAA85F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AFA19FD-1239-4BCB-93B2-4B36E58A3F9E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0B2F3-D1DF-4CD8-BACC-8EA9D95652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F03E20-0C80-4229-8EE6-4E7402904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7E75A79-C12E-4282-8451-1BC984B858F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16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47675" indent="-447675" algn="l" defTabSz="914400" rtl="0" eaLnBrk="1" latinLnBrk="0" hangingPunct="1">
        <a:lnSpc>
          <a:spcPct val="90000"/>
        </a:lnSpc>
        <a:spcBef>
          <a:spcPts val="1000"/>
        </a:spcBef>
        <a:buClr>
          <a:srgbClr val="FF0000"/>
        </a:buClr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808038" indent="-350838" algn="l" defTabSz="914400" rtl="0" eaLnBrk="1" latinLnBrk="0" hangingPunct="1">
        <a:lnSpc>
          <a:spcPct val="90000"/>
        </a:lnSpc>
        <a:spcBef>
          <a:spcPts val="500"/>
        </a:spcBef>
        <a:buClr>
          <a:srgbClr val="0066FF"/>
        </a:buClr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4125" indent="-339725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SzPct val="70000"/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01800" indent="-3302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SzPct val="8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54238" indent="-3254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791A7B-F351-49FF-9E1D-E0348C33A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289" y="1047719"/>
            <a:ext cx="10152736" cy="1344608"/>
          </a:xfrm>
        </p:spPr>
        <p:txBody>
          <a:bodyPr>
            <a:noAutofit/>
          </a:bodyPr>
          <a:lstStyle/>
          <a:p>
            <a:r>
              <a:rPr lang="en-US" altLang="zh-CN" sz="4800" dirty="0"/>
              <a:t>Database Logging</a:t>
            </a:r>
            <a:endParaRPr lang="zh-CN" altLang="en-US" sz="48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B5AC91-97D4-4848-9A24-2C940C7DC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77644"/>
            <a:ext cx="9144000" cy="1055818"/>
          </a:xfrm>
        </p:spPr>
        <p:txBody>
          <a:bodyPr>
            <a:normAutofit/>
          </a:bodyPr>
          <a:lstStyle/>
          <a:p>
            <a:r>
              <a:rPr lang="en-US" altLang="zh-CN"/>
              <a:t>SEI.ECNU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14344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Motivation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7CE2D-08CA-4DAE-BC04-54350014A855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53400" y="1966869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243181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2877206"/>
              </p:ext>
            </p:extLst>
          </p:nvPr>
        </p:nvGraphicFramePr>
        <p:xfrm>
          <a:off x="1227980" y="2395085"/>
          <a:ext cx="1596886" cy="3352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96886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R(A)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W(A)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389486" y="2025753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9D70289-ED14-4D8F-891B-48768FD8C556}"/>
              </a:ext>
            </a:extLst>
          </p:cNvPr>
          <p:cNvGrpSpPr/>
          <p:nvPr/>
        </p:nvGrpSpPr>
        <p:grpSpPr>
          <a:xfrm>
            <a:off x="8983653" y="3833191"/>
            <a:ext cx="1247025" cy="1070113"/>
            <a:chOff x="8983653" y="3833191"/>
            <a:chExt cx="1247025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DBA3E72-1D29-45E4-8B11-97EDBCC57857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823792" y="2743200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92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Motivation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AD78-AEFD-44F1-9DBB-E5331B51D61E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53400" y="1966869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243181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27980" y="2395085"/>
          <a:ext cx="1596886" cy="3352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96886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R(A)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W(A)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389486" y="2025753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9D70289-ED14-4D8F-891B-48768FD8C556}"/>
              </a:ext>
            </a:extLst>
          </p:cNvPr>
          <p:cNvGrpSpPr/>
          <p:nvPr/>
        </p:nvGrpSpPr>
        <p:grpSpPr>
          <a:xfrm>
            <a:off x="8983653" y="3833191"/>
            <a:ext cx="1247025" cy="1070113"/>
            <a:chOff x="8983653" y="3833191"/>
            <a:chExt cx="1247025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DBA3E72-1D29-45E4-8B11-97EDBCC57857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823792" y="3061248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DE8DCB2-8898-4BDC-B086-C44077B1DCFD}"/>
              </a:ext>
            </a:extLst>
          </p:cNvPr>
          <p:cNvGrpSpPr/>
          <p:nvPr/>
        </p:nvGrpSpPr>
        <p:grpSpPr>
          <a:xfrm>
            <a:off x="4978015" y="2635925"/>
            <a:ext cx="1247025" cy="1070113"/>
            <a:chOff x="8983653" y="3833191"/>
            <a:chExt cx="1247025" cy="107011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B0C54CD-F6E6-4FD3-9A2C-D2B5FF6A03FC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26B5DC2-8216-4D56-BE59-0C95B8B7B03E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8F8EE0E-A733-4997-834A-89D01680C4A3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E6DA20B-A626-409E-A19D-EE238A34D240}"/>
              </a:ext>
            </a:extLst>
          </p:cNvPr>
          <p:cNvCxnSpPr>
            <a:cxnSpLocks/>
            <a:stCxn id="13" idx="1"/>
            <a:endCxn id="19" idx="3"/>
          </p:cNvCxnSpPr>
          <p:nvPr/>
        </p:nvCxnSpPr>
        <p:spPr>
          <a:xfrm flipH="1" flipV="1">
            <a:off x="6225040" y="3170982"/>
            <a:ext cx="2773186" cy="119726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600DED48-7ACB-4B78-BA2E-45A2C5B76422}"/>
              </a:ext>
            </a:extLst>
          </p:cNvPr>
          <p:cNvSpPr txBox="1"/>
          <p:nvPr/>
        </p:nvSpPr>
        <p:spPr>
          <a:xfrm rot="1439460">
            <a:off x="6729020" y="3332643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Input(</a:t>
            </a:r>
            <a:r>
              <a:rPr lang="en-US" altLang="zh-CN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altLang="zh-CN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983164B-EEC9-456A-AECD-6CB583AA42BB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2824866" y="3170982"/>
            <a:ext cx="2167722" cy="72444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766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Motivation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D44C9-5DA9-4318-BB51-2E7449E54C84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53400" y="1966869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243181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27980" y="2395085"/>
          <a:ext cx="1596886" cy="3352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96886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R(A)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W(A)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389486" y="2025753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9D70289-ED14-4D8F-891B-48768FD8C556}"/>
              </a:ext>
            </a:extLst>
          </p:cNvPr>
          <p:cNvGrpSpPr/>
          <p:nvPr/>
        </p:nvGrpSpPr>
        <p:grpSpPr>
          <a:xfrm>
            <a:off x="8983653" y="3833191"/>
            <a:ext cx="1247025" cy="1070113"/>
            <a:chOff x="8983653" y="3833191"/>
            <a:chExt cx="1247025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DBA3E72-1D29-45E4-8B11-97EDBCC57857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823792" y="3392548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DE8DCB2-8898-4BDC-B086-C44077B1DCFD}"/>
              </a:ext>
            </a:extLst>
          </p:cNvPr>
          <p:cNvGrpSpPr/>
          <p:nvPr/>
        </p:nvGrpSpPr>
        <p:grpSpPr>
          <a:xfrm>
            <a:off x="4978015" y="2635925"/>
            <a:ext cx="1247025" cy="1070113"/>
            <a:chOff x="8983653" y="3833191"/>
            <a:chExt cx="1247025" cy="107011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B0C54CD-F6E6-4FD3-9A2C-D2B5FF6A03FC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26B5DC2-8216-4D56-BE59-0C95B8B7B03E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8F8EE0E-A733-4997-834A-89D01680C4A3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945CA6F-2A28-4D3D-A69E-61149355FF19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24866" y="3170982"/>
            <a:ext cx="2167722" cy="400479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437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Motivation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EC975-6F85-4944-A4A9-A671037C2211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53400" y="1966869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243181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27980" y="2395085"/>
          <a:ext cx="1596886" cy="3352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96886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R(A)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W(A)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389486" y="2025753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9D70289-ED14-4D8F-891B-48768FD8C556}"/>
              </a:ext>
            </a:extLst>
          </p:cNvPr>
          <p:cNvGrpSpPr/>
          <p:nvPr/>
        </p:nvGrpSpPr>
        <p:grpSpPr>
          <a:xfrm>
            <a:off x="8983653" y="3833191"/>
            <a:ext cx="1247025" cy="1070113"/>
            <a:chOff x="8983653" y="3833191"/>
            <a:chExt cx="1247025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DBA3E72-1D29-45E4-8B11-97EDBCC57857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823792" y="3770232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闪电形 2">
            <a:extLst>
              <a:ext uri="{FF2B5EF4-FFF2-40B4-BE49-F238E27FC236}">
                <a16:creationId xmlns:a16="http://schemas.microsoft.com/office/drawing/2014/main" id="{849C7EDD-8B67-4419-8568-395F0F789380}"/>
              </a:ext>
            </a:extLst>
          </p:cNvPr>
          <p:cNvSpPr/>
          <p:nvPr/>
        </p:nvSpPr>
        <p:spPr>
          <a:xfrm>
            <a:off x="4506153" y="1775903"/>
            <a:ext cx="2190749" cy="2690192"/>
          </a:xfrm>
          <a:prstGeom prst="lightningBol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462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Crash Recovery Algorithms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sz="3200" dirty="0"/>
              <a:t>Techniques to ensure database </a:t>
            </a:r>
            <a:r>
              <a:rPr lang="en-US" altLang="zh-CN" sz="3200" b="1" dirty="0">
                <a:solidFill>
                  <a:srgbClr val="0066FF"/>
                </a:solidFill>
              </a:rPr>
              <a:t>consistency</a:t>
            </a:r>
            <a:r>
              <a:rPr lang="en-US" altLang="zh-CN" sz="3200" dirty="0"/>
              <a:t>, transaction </a:t>
            </a:r>
            <a:r>
              <a:rPr lang="en-US" altLang="zh-CN" sz="3200" b="1" dirty="0">
                <a:solidFill>
                  <a:srgbClr val="0066FF"/>
                </a:solidFill>
              </a:rPr>
              <a:t>atomicity</a:t>
            </a:r>
            <a:r>
              <a:rPr lang="en-US" altLang="zh-CN" sz="3200" dirty="0"/>
              <a:t>, and </a:t>
            </a:r>
            <a:r>
              <a:rPr lang="en-US" altLang="zh-CN" sz="3200" b="1" dirty="0">
                <a:solidFill>
                  <a:srgbClr val="0066FF"/>
                </a:solidFill>
              </a:rPr>
              <a:t>durability</a:t>
            </a:r>
            <a:r>
              <a:rPr lang="en-US" altLang="zh-CN" sz="3200" dirty="0"/>
              <a:t> despite failures.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sz="3200" dirty="0"/>
              <a:t>Recovery algorithms have two parts: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sz="2800" b="1" dirty="0"/>
              <a:t>Actions during normal </a:t>
            </a:r>
            <a:r>
              <a:rPr lang="en-US" altLang="zh-CN" sz="2800" b="1" dirty="0" err="1"/>
              <a:t>txn</a:t>
            </a:r>
            <a:r>
              <a:rPr lang="en-US" altLang="zh-CN" sz="2800" b="1" dirty="0"/>
              <a:t> processing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sz="2800" dirty="0"/>
              <a:t>Actions after a failure to recover the database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5243E-0D07-424E-84BA-E94B9613E2DF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499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Failure Classification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b="1" dirty="0"/>
              <a:t>Transaction failure</a:t>
            </a:r>
            <a:endParaRPr lang="en-US" altLang="en-US" dirty="0"/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en-US" b="1" dirty="0"/>
              <a:t>Logical errors</a:t>
            </a:r>
            <a:r>
              <a:rPr lang="en-US" altLang="en-US" dirty="0"/>
              <a:t>: TX cannot complete due to some internal error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en-US" b="1" dirty="0"/>
              <a:t>System errors</a:t>
            </a:r>
            <a:r>
              <a:rPr lang="en-US" altLang="en-US" dirty="0"/>
              <a:t>: the DBMS terminate an TX due to an error condition (e.g., deadlock)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b="1" dirty="0"/>
              <a:t>System crash</a:t>
            </a:r>
            <a:r>
              <a:rPr lang="en-US" altLang="en-US" dirty="0"/>
              <a:t>: hardware or software failure (e.g., Power failure)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en-US" b="1" dirty="0">
                <a:solidFill>
                  <a:srgbClr val="0066FF"/>
                </a:solidFill>
              </a:rPr>
              <a:t>Fail-stop assumption</a:t>
            </a:r>
            <a:endParaRPr lang="en-US" altLang="en-US" dirty="0">
              <a:solidFill>
                <a:srgbClr val="0066FF"/>
              </a:solidFill>
            </a:endParaRPr>
          </a:p>
          <a:p>
            <a:pPr lvl="2">
              <a:lnSpc>
                <a:spcPct val="120000"/>
              </a:lnSpc>
              <a:spcBef>
                <a:spcPts val="1200"/>
              </a:spcBef>
            </a:pPr>
            <a:r>
              <a:rPr lang="en-US" altLang="en-US" sz="1800" dirty="0"/>
              <a:t>non-volatile storage contents are assumed to not be corrupted by system crash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b="1" dirty="0"/>
              <a:t>Disk failure</a:t>
            </a:r>
            <a:r>
              <a:rPr lang="en-US" altLang="en-US" dirty="0"/>
              <a:t>: disk failure destroys all or part of disk storage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en-US" dirty="0"/>
              <a:t>Destruction is assumed to be detectable (checksums)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en-US" dirty="0"/>
              <a:t>No DBMS can recover from this! Database must be restored from archived version.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5716-0503-42C4-B4EB-33676AA5CAD3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736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Undo vs. Redo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>
                <a:solidFill>
                  <a:srgbClr val="0066FF"/>
                </a:solidFill>
              </a:rPr>
              <a:t>Undo</a:t>
            </a:r>
            <a:r>
              <a:rPr lang="en-US" altLang="zh-CN" dirty="0"/>
              <a:t>: The process of removing the effects of an incomplete or aborted </a:t>
            </a:r>
            <a:r>
              <a:rPr lang="en-US" altLang="zh-CN" dirty="0" err="1"/>
              <a:t>txn</a:t>
            </a:r>
            <a:r>
              <a:rPr lang="en-US" altLang="zh-CN" dirty="0"/>
              <a:t>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No partial changes are durable if the </a:t>
            </a:r>
            <a:r>
              <a:rPr lang="en-US" altLang="zh-CN" dirty="0" err="1"/>
              <a:t>txn</a:t>
            </a:r>
            <a:r>
              <a:rPr lang="en-US" altLang="zh-CN" dirty="0"/>
              <a:t> aborted.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>
                <a:solidFill>
                  <a:srgbClr val="0066FF"/>
                </a:solidFill>
              </a:rPr>
              <a:t>Redo</a:t>
            </a:r>
            <a:r>
              <a:rPr lang="en-US" altLang="zh-CN" dirty="0"/>
              <a:t>: The process of re-instating the effects of a committed </a:t>
            </a:r>
            <a:r>
              <a:rPr lang="en-US" altLang="zh-CN" dirty="0" err="1"/>
              <a:t>txn</a:t>
            </a:r>
            <a:r>
              <a:rPr lang="en-US" altLang="zh-CN" dirty="0"/>
              <a:t> for durability.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 changes for any </a:t>
            </a:r>
            <a:r>
              <a:rPr lang="en-US" altLang="zh-CN" dirty="0" err="1"/>
              <a:t>txn</a:t>
            </a:r>
            <a:r>
              <a:rPr lang="en-US" altLang="zh-CN" dirty="0"/>
              <a:t> must be durable once the DBMS has told somebody that it committed.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How the DBMS supports this functionality depends on how it manages the </a:t>
            </a:r>
            <a:r>
              <a:rPr lang="en-US" altLang="zh-CN" b="1" dirty="0">
                <a:solidFill>
                  <a:srgbClr val="FF0000"/>
                </a:solidFill>
              </a:rPr>
              <a:t>buffer pool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54497-B67B-4228-85D8-898DFA5D2851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302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Buffer Pool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761E7-620B-4A9C-B3F6-DF4CEFDDBFE6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53400" y="1966869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485095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8649609"/>
              </p:ext>
            </p:extLst>
          </p:nvPr>
        </p:nvGraphicFramePr>
        <p:xfrm>
          <a:off x="886115" y="2299152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W(A)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ABORT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49572" y="2643808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7D96ED6-DD3A-45B0-97D2-94606F84EEFE}"/>
              </a:ext>
            </a:extLst>
          </p:cNvPr>
          <p:cNvGrpSpPr/>
          <p:nvPr/>
        </p:nvGrpSpPr>
        <p:grpSpPr>
          <a:xfrm>
            <a:off x="8983653" y="3833191"/>
            <a:ext cx="1247025" cy="1070113"/>
            <a:chOff x="8983653" y="3833191"/>
            <a:chExt cx="1247025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DBA3E72-1D29-45E4-8B11-97EDBCC57857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59D8282-3AC3-4563-A7AE-48D41FF18004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B=9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2587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Buffer Pool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C70A7-4F90-4E74-B78B-D2DDDD5B2745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53400" y="1966869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485095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86115" y="2299152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W(A)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ABORT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49572" y="2981736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7D96ED6-DD3A-45B0-97D2-94606F84EEFE}"/>
              </a:ext>
            </a:extLst>
          </p:cNvPr>
          <p:cNvGrpSpPr/>
          <p:nvPr/>
        </p:nvGrpSpPr>
        <p:grpSpPr>
          <a:xfrm>
            <a:off x="8983653" y="3833191"/>
            <a:ext cx="1247025" cy="1070113"/>
            <a:chOff x="8983653" y="3833191"/>
            <a:chExt cx="1247025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DBA3E72-1D29-45E4-8B11-97EDBCC57857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59D8282-3AC3-4563-A7AE-48D41FF18004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B=9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7FF823F-7A26-43CE-A473-95BC24D10D0B}"/>
              </a:ext>
            </a:extLst>
          </p:cNvPr>
          <p:cNvCxnSpPr>
            <a:cxnSpLocks/>
            <a:stCxn id="13" idx="1"/>
            <a:endCxn id="23" idx="3"/>
          </p:cNvCxnSpPr>
          <p:nvPr/>
        </p:nvCxnSpPr>
        <p:spPr>
          <a:xfrm flipH="1" flipV="1">
            <a:off x="6452989" y="3204113"/>
            <a:ext cx="2545237" cy="116413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D4738C74-4935-40D0-882B-0B2657A892B5}"/>
              </a:ext>
            </a:extLst>
          </p:cNvPr>
          <p:cNvSpPr txBox="1"/>
          <p:nvPr/>
        </p:nvSpPr>
        <p:spPr>
          <a:xfrm rot="1439460">
            <a:off x="6749581" y="3288796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Input(</a:t>
            </a:r>
            <a:r>
              <a:rPr lang="en-US" altLang="zh-CN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altLang="zh-CN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EB2CF32-BED0-4CD7-B178-C421408C0CEA}"/>
              </a:ext>
            </a:extLst>
          </p:cNvPr>
          <p:cNvGrpSpPr/>
          <p:nvPr/>
        </p:nvGrpSpPr>
        <p:grpSpPr>
          <a:xfrm>
            <a:off x="5205964" y="2669056"/>
            <a:ext cx="1247025" cy="1070113"/>
            <a:chOff x="8983653" y="3833191"/>
            <a:chExt cx="1247025" cy="107011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120E16C-B7E3-4074-8DDF-0E88B78DEEBC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45511F6-E566-4524-BC06-63B741CBB34F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2C0EE88-FEDD-491B-AB79-E80CEF9C8425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1C1F8BF-F127-4238-9BFE-F648F8AB3C03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B=9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4B64525-6A86-4310-A477-C5B8E1DAB206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1573642" y="3107638"/>
            <a:ext cx="3846093" cy="51664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6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Buffer Pool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3FA1-C3C7-4727-8ADF-120F448D12F0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53400" y="1966869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485095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86115" y="2299152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W(A)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ABORT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49572" y="3299784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7D96ED6-DD3A-45B0-97D2-94606F84EEFE}"/>
              </a:ext>
            </a:extLst>
          </p:cNvPr>
          <p:cNvGrpSpPr/>
          <p:nvPr/>
        </p:nvGrpSpPr>
        <p:grpSpPr>
          <a:xfrm>
            <a:off x="8983653" y="3833191"/>
            <a:ext cx="1247025" cy="1070113"/>
            <a:chOff x="8983653" y="3833191"/>
            <a:chExt cx="1247025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DBA3E72-1D29-45E4-8B11-97EDBCC57857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59D8282-3AC3-4563-A7AE-48D41FF18004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B=9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EB2CF32-BED0-4CD7-B178-C421408C0CEA}"/>
              </a:ext>
            </a:extLst>
          </p:cNvPr>
          <p:cNvGrpSpPr/>
          <p:nvPr/>
        </p:nvGrpSpPr>
        <p:grpSpPr>
          <a:xfrm>
            <a:off x="5205964" y="2669056"/>
            <a:ext cx="1247025" cy="1070113"/>
            <a:chOff x="8983653" y="3833191"/>
            <a:chExt cx="1247025" cy="107011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120E16C-B7E3-4074-8DDF-0E88B78DEEBC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45511F6-E566-4524-BC06-63B741CBB34F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2C0EE88-FEDD-491B-AB79-E80CEF9C8425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1C1F8BF-F127-4238-9BFE-F648F8AB3C03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B=9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4B64525-6A86-4310-A477-C5B8E1DAB206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1573642" y="3107638"/>
            <a:ext cx="3846093" cy="39904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678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Buffer Pool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AB531-EB87-4B3B-A53D-41FA46EC7BD0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53400" y="1966869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485095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86115" y="2299152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W(A)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ABORT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49572" y="3995519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7D96ED6-DD3A-45B0-97D2-94606F84EEFE}"/>
              </a:ext>
            </a:extLst>
          </p:cNvPr>
          <p:cNvGrpSpPr/>
          <p:nvPr/>
        </p:nvGrpSpPr>
        <p:grpSpPr>
          <a:xfrm>
            <a:off x="8983653" y="3833191"/>
            <a:ext cx="1247025" cy="1070113"/>
            <a:chOff x="8983653" y="3833191"/>
            <a:chExt cx="1247025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DBA3E72-1D29-45E4-8B11-97EDBCC57857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59D8282-3AC3-4563-A7AE-48D41FF18004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B=9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EB2CF32-BED0-4CD7-B178-C421408C0CEA}"/>
              </a:ext>
            </a:extLst>
          </p:cNvPr>
          <p:cNvGrpSpPr/>
          <p:nvPr/>
        </p:nvGrpSpPr>
        <p:grpSpPr>
          <a:xfrm>
            <a:off x="5205964" y="2669056"/>
            <a:ext cx="1247025" cy="1070113"/>
            <a:chOff x="8983653" y="3833191"/>
            <a:chExt cx="1247025" cy="107011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120E16C-B7E3-4074-8DDF-0E88B78DEEBC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45511F6-E566-4524-BC06-63B741CBB34F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2C0EE88-FEDD-491B-AB79-E80CEF9C8425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1C1F8BF-F127-4238-9BFE-F648F8AB3C03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B=9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4B64525-6A86-4310-A477-C5B8E1DAB206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2968487" y="3375874"/>
            <a:ext cx="2451247" cy="765094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804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Buffer Pool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D096-D51B-4738-8161-BB665991F363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53400" y="1966869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485095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86115" y="2299152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W(A)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ABORT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49572" y="4300315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7D96ED6-DD3A-45B0-97D2-94606F84EEFE}"/>
              </a:ext>
            </a:extLst>
          </p:cNvPr>
          <p:cNvGrpSpPr/>
          <p:nvPr/>
        </p:nvGrpSpPr>
        <p:grpSpPr>
          <a:xfrm>
            <a:off x="8983653" y="3833191"/>
            <a:ext cx="1247025" cy="1070113"/>
            <a:chOff x="8983653" y="3833191"/>
            <a:chExt cx="1247025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DBA3E72-1D29-45E4-8B11-97EDBCC57857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59D8282-3AC3-4563-A7AE-48D41FF18004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B=9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EB2CF32-BED0-4CD7-B178-C421408C0CEA}"/>
              </a:ext>
            </a:extLst>
          </p:cNvPr>
          <p:cNvGrpSpPr/>
          <p:nvPr/>
        </p:nvGrpSpPr>
        <p:grpSpPr>
          <a:xfrm>
            <a:off x="5205964" y="2669056"/>
            <a:ext cx="1247025" cy="1070113"/>
            <a:chOff x="8983653" y="3833191"/>
            <a:chExt cx="1247025" cy="107011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120E16C-B7E3-4074-8DDF-0E88B78DEEBC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45511F6-E566-4524-BC06-63B741CBB34F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2C0EE88-FEDD-491B-AB79-E80CEF9C8425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1C1F8BF-F127-4238-9BFE-F648F8AB3C03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4B64525-6A86-4310-A477-C5B8E1DAB206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3014870" y="3375874"/>
            <a:ext cx="2404864" cy="109673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338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Buffer Pool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7284-4DD5-489A-BA09-ABAC3510D9DD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53400" y="1966869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485095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86115" y="2299152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W(A)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ABORT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49572" y="4638241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7D96ED6-DD3A-45B0-97D2-94606F84EEFE}"/>
              </a:ext>
            </a:extLst>
          </p:cNvPr>
          <p:cNvGrpSpPr/>
          <p:nvPr/>
        </p:nvGrpSpPr>
        <p:grpSpPr>
          <a:xfrm>
            <a:off x="8983653" y="3833191"/>
            <a:ext cx="1247025" cy="1070113"/>
            <a:chOff x="8983653" y="3833191"/>
            <a:chExt cx="1247025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DBA3E72-1D29-45E4-8B11-97EDBCC57857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59D8282-3AC3-4563-A7AE-48D41FF18004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B=9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EB2CF32-BED0-4CD7-B178-C421408C0CEA}"/>
              </a:ext>
            </a:extLst>
          </p:cNvPr>
          <p:cNvGrpSpPr/>
          <p:nvPr/>
        </p:nvGrpSpPr>
        <p:grpSpPr>
          <a:xfrm>
            <a:off x="5205964" y="2669056"/>
            <a:ext cx="1247025" cy="1070113"/>
            <a:chOff x="8983653" y="3833191"/>
            <a:chExt cx="1247025" cy="107011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120E16C-B7E3-4074-8DDF-0E88B78DEEBC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45511F6-E566-4524-BC06-63B741CBB34F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2C0EE88-FEDD-491B-AB79-E80CEF9C8425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1C1F8BF-F127-4238-9BFE-F648F8AB3C03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" name="对话气泡: 圆角矩形 26">
            <a:extLst>
              <a:ext uri="{FF2B5EF4-FFF2-40B4-BE49-F238E27FC236}">
                <a16:creationId xmlns:a16="http://schemas.microsoft.com/office/drawing/2014/main" id="{94B62B65-B7FA-4DC8-A0F9-EAE75F342F18}"/>
              </a:ext>
            </a:extLst>
          </p:cNvPr>
          <p:cNvSpPr/>
          <p:nvPr/>
        </p:nvSpPr>
        <p:spPr>
          <a:xfrm>
            <a:off x="6000517" y="3739169"/>
            <a:ext cx="3263348" cy="845498"/>
          </a:xfrm>
          <a:prstGeom prst="wedgeRoundRectCallout">
            <a:avLst>
              <a:gd name="adj1" fmla="val -40997"/>
              <a:gd name="adj2" fmla="val -87882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we force T</a:t>
            </a:r>
            <a:r>
              <a:rPr lang="en-US" altLang="zh-CN" b="1" i="1" baseline="-25000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’s changes to be written to disk?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对话气泡: 圆角矩形 27">
            <a:extLst>
              <a:ext uri="{FF2B5EF4-FFF2-40B4-BE49-F238E27FC236}">
                <a16:creationId xmlns:a16="http://schemas.microsoft.com/office/drawing/2014/main" id="{08E72017-779D-4B4E-B45C-C15972D12CB1}"/>
              </a:ext>
            </a:extLst>
          </p:cNvPr>
          <p:cNvSpPr/>
          <p:nvPr/>
        </p:nvSpPr>
        <p:spPr>
          <a:xfrm>
            <a:off x="6229278" y="1662126"/>
            <a:ext cx="3263348" cy="1033064"/>
          </a:xfrm>
          <a:prstGeom prst="wedgeRoundRectCallout">
            <a:avLst>
              <a:gd name="adj1" fmla="val -46885"/>
              <a:gd name="adj2" fmla="val 88503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</a:t>
            </a:r>
            <a:r>
              <a:rPr lang="en-US" altLang="zh-CN" b="1" i="1" baseline="-25000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allowed to overwrite A even though it has not committed?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363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Buffer Pool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37625-252E-49D4-B8B7-16465143A522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53400" y="1966869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485095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86115" y="2299152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W(A)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ABORT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49572" y="4638241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7D96ED6-DD3A-45B0-97D2-94606F84EEFE}"/>
              </a:ext>
            </a:extLst>
          </p:cNvPr>
          <p:cNvGrpSpPr/>
          <p:nvPr/>
        </p:nvGrpSpPr>
        <p:grpSpPr>
          <a:xfrm>
            <a:off x="8983653" y="3833191"/>
            <a:ext cx="1247025" cy="1070113"/>
            <a:chOff x="8983653" y="3833191"/>
            <a:chExt cx="1247025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DBA3E72-1D29-45E4-8B11-97EDBCC57857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59D8282-3AC3-4563-A7AE-48D41FF18004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EB2CF32-BED0-4CD7-B178-C421408C0CEA}"/>
              </a:ext>
            </a:extLst>
          </p:cNvPr>
          <p:cNvGrpSpPr/>
          <p:nvPr/>
        </p:nvGrpSpPr>
        <p:grpSpPr>
          <a:xfrm>
            <a:off x="5205964" y="2669056"/>
            <a:ext cx="1247025" cy="1070113"/>
            <a:chOff x="8983653" y="3833191"/>
            <a:chExt cx="1247025" cy="107011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120E16C-B7E3-4074-8DDF-0E88B78DEEBC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45511F6-E566-4524-BC06-63B741CBB34F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2C0EE88-FEDD-491B-AB79-E80CEF9C8425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1C1F8BF-F127-4238-9BFE-F648F8AB3C03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AC795B2A-1FCB-4712-A379-D27D622A301A}"/>
              </a:ext>
            </a:extLst>
          </p:cNvPr>
          <p:cNvCxnSpPr>
            <a:cxnSpLocks/>
            <a:stCxn id="23" idx="3"/>
            <a:endCxn id="13" idx="1"/>
          </p:cNvCxnSpPr>
          <p:nvPr/>
        </p:nvCxnSpPr>
        <p:spPr>
          <a:xfrm>
            <a:off x="6452989" y="3204113"/>
            <a:ext cx="2545237" cy="116413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1F3461FA-C431-404E-AC16-B5C1726A2588}"/>
              </a:ext>
            </a:extLst>
          </p:cNvPr>
          <p:cNvSpPr txBox="1"/>
          <p:nvPr/>
        </p:nvSpPr>
        <p:spPr>
          <a:xfrm rot="1439460">
            <a:off x="6675041" y="3288796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Output(</a:t>
            </a:r>
            <a:r>
              <a:rPr lang="en-US" altLang="zh-CN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altLang="zh-CN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238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Buffer Pool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6FDA8-5399-4C80-AC12-F7D0542B4A45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53400" y="1966869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485095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86115" y="2299152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W(A)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ABORT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49572" y="5307475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7D96ED6-DD3A-45B0-97D2-94606F84EEFE}"/>
              </a:ext>
            </a:extLst>
          </p:cNvPr>
          <p:cNvGrpSpPr/>
          <p:nvPr/>
        </p:nvGrpSpPr>
        <p:grpSpPr>
          <a:xfrm>
            <a:off x="8983653" y="3833191"/>
            <a:ext cx="1247025" cy="1070113"/>
            <a:chOff x="8983653" y="3833191"/>
            <a:chExt cx="1247025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DBA3E72-1D29-45E4-8B11-97EDBCC57857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59D8282-3AC3-4563-A7AE-48D41FF18004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EB2CF32-BED0-4CD7-B178-C421408C0CEA}"/>
              </a:ext>
            </a:extLst>
          </p:cNvPr>
          <p:cNvGrpSpPr/>
          <p:nvPr/>
        </p:nvGrpSpPr>
        <p:grpSpPr>
          <a:xfrm>
            <a:off x="5205964" y="2669056"/>
            <a:ext cx="1247025" cy="1070113"/>
            <a:chOff x="8983653" y="3833191"/>
            <a:chExt cx="1247025" cy="107011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120E16C-B7E3-4074-8DDF-0E88B78DEEBC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45511F6-E566-4524-BC06-63B741CBB34F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2C0EE88-FEDD-491B-AB79-E80CEF9C8425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1C1F8BF-F127-4238-9BFE-F648F8AB3C03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AC795B2A-1FCB-4712-A379-D27D622A301A}"/>
              </a:ext>
            </a:extLst>
          </p:cNvPr>
          <p:cNvCxnSpPr>
            <a:cxnSpLocks/>
            <a:stCxn id="23" idx="3"/>
            <a:endCxn id="13" idx="1"/>
          </p:cNvCxnSpPr>
          <p:nvPr/>
        </p:nvCxnSpPr>
        <p:spPr>
          <a:xfrm>
            <a:off x="6452989" y="3204113"/>
            <a:ext cx="2545237" cy="116413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1F3461FA-C431-404E-AC16-B5C1726A2588}"/>
              </a:ext>
            </a:extLst>
          </p:cNvPr>
          <p:cNvSpPr txBox="1"/>
          <p:nvPr/>
        </p:nvSpPr>
        <p:spPr>
          <a:xfrm rot="1439460">
            <a:off x="6675041" y="3288796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Output(</a:t>
            </a:r>
            <a:r>
              <a:rPr lang="en-US" altLang="zh-CN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altLang="zh-CN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对话气泡: 圆角矩形 26">
            <a:extLst>
              <a:ext uri="{FF2B5EF4-FFF2-40B4-BE49-F238E27FC236}">
                <a16:creationId xmlns:a16="http://schemas.microsoft.com/office/drawing/2014/main" id="{B5BE53BE-69EA-46A3-99CD-B1399337E660}"/>
              </a:ext>
            </a:extLst>
          </p:cNvPr>
          <p:cNvSpPr/>
          <p:nvPr/>
        </p:nvSpPr>
        <p:spPr>
          <a:xfrm>
            <a:off x="2156386" y="4271773"/>
            <a:ext cx="3263348" cy="845498"/>
          </a:xfrm>
          <a:prstGeom prst="wedgeRoundRectCallout">
            <a:avLst>
              <a:gd name="adj1" fmla="val -48713"/>
              <a:gd name="adj2" fmla="val 92367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happens when we</a:t>
            </a: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to rollback T</a:t>
            </a:r>
            <a:r>
              <a:rPr lang="en-US" altLang="zh-CN" b="1" i="1" baseline="-25000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980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Buffer Management Policy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Whether the DBMS allows an uncommitted </a:t>
            </a:r>
            <a:r>
              <a:rPr lang="en-US" altLang="zh-CN" dirty="0" err="1"/>
              <a:t>txn</a:t>
            </a:r>
            <a:r>
              <a:rPr lang="en-US" altLang="zh-CN" dirty="0"/>
              <a:t> to overwrite the value of an object in non-volatile storage.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>
                <a:solidFill>
                  <a:srgbClr val="0066FF"/>
                </a:solidFill>
              </a:rPr>
              <a:t>STEAL</a:t>
            </a:r>
            <a:r>
              <a:rPr lang="en-US" altLang="zh-CN" dirty="0"/>
              <a:t>: Is allowed.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>
                <a:solidFill>
                  <a:srgbClr val="0066FF"/>
                </a:solidFill>
              </a:rPr>
              <a:t>NO-STEAL</a:t>
            </a:r>
            <a:r>
              <a:rPr lang="en-US" altLang="zh-CN" dirty="0"/>
              <a:t>: Is not allowed.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Whether the DBMS requires that all updates made by a </a:t>
            </a:r>
            <a:r>
              <a:rPr lang="en-US" altLang="zh-CN" dirty="0" err="1"/>
              <a:t>txn</a:t>
            </a:r>
            <a:r>
              <a:rPr lang="en-US" altLang="zh-CN" dirty="0"/>
              <a:t> are reflected on non-volatile storage before the </a:t>
            </a:r>
            <a:r>
              <a:rPr lang="en-US" altLang="zh-CN" dirty="0" err="1"/>
              <a:t>txn</a:t>
            </a:r>
            <a:r>
              <a:rPr lang="en-US" altLang="zh-CN" dirty="0"/>
              <a:t> can commit.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>
                <a:solidFill>
                  <a:srgbClr val="0066FF"/>
                </a:solidFill>
              </a:rPr>
              <a:t>FORCE</a:t>
            </a:r>
            <a:r>
              <a:rPr lang="en-US" altLang="zh-CN" dirty="0"/>
              <a:t>: Is required.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>
                <a:solidFill>
                  <a:srgbClr val="0066FF"/>
                </a:solidFill>
              </a:rPr>
              <a:t>NO-FORCE</a:t>
            </a:r>
            <a:r>
              <a:rPr lang="en-US" altLang="zh-CN" dirty="0"/>
              <a:t>: Is not required.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B619-EE07-4F0D-9AB3-1BED6CAF9219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579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No-Steal + Force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EB13-25FD-4D29-AB86-3E51177CC7C9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53400" y="1966869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485095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86115" y="2299152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W(A)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ABORT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49572" y="2981736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7D96ED6-DD3A-45B0-97D2-94606F84EEFE}"/>
              </a:ext>
            </a:extLst>
          </p:cNvPr>
          <p:cNvGrpSpPr/>
          <p:nvPr/>
        </p:nvGrpSpPr>
        <p:grpSpPr>
          <a:xfrm>
            <a:off x="8983653" y="3833191"/>
            <a:ext cx="1247025" cy="1070113"/>
            <a:chOff x="8983653" y="3833191"/>
            <a:chExt cx="1247025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DBA3E72-1D29-45E4-8B11-97EDBCC57857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59D8282-3AC3-4563-A7AE-48D41FF18004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B=9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7FF823F-7A26-43CE-A473-95BC24D10D0B}"/>
              </a:ext>
            </a:extLst>
          </p:cNvPr>
          <p:cNvCxnSpPr>
            <a:cxnSpLocks/>
            <a:stCxn id="13" idx="1"/>
            <a:endCxn id="23" idx="3"/>
          </p:cNvCxnSpPr>
          <p:nvPr/>
        </p:nvCxnSpPr>
        <p:spPr>
          <a:xfrm flipH="1" flipV="1">
            <a:off x="6452989" y="3204113"/>
            <a:ext cx="2545237" cy="116413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D4738C74-4935-40D0-882B-0B2657A892B5}"/>
              </a:ext>
            </a:extLst>
          </p:cNvPr>
          <p:cNvSpPr txBox="1"/>
          <p:nvPr/>
        </p:nvSpPr>
        <p:spPr>
          <a:xfrm rot="1439460">
            <a:off x="6749581" y="3288796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Input(</a:t>
            </a:r>
            <a:r>
              <a:rPr lang="en-US" altLang="zh-CN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altLang="zh-CN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EB2CF32-BED0-4CD7-B178-C421408C0CEA}"/>
              </a:ext>
            </a:extLst>
          </p:cNvPr>
          <p:cNvGrpSpPr/>
          <p:nvPr/>
        </p:nvGrpSpPr>
        <p:grpSpPr>
          <a:xfrm>
            <a:off x="5205964" y="2669056"/>
            <a:ext cx="1247025" cy="1070113"/>
            <a:chOff x="8983653" y="3833191"/>
            <a:chExt cx="1247025" cy="107011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120E16C-B7E3-4074-8DDF-0E88B78DEEBC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45511F6-E566-4524-BC06-63B741CBB34F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2C0EE88-FEDD-491B-AB79-E80CEF9C8425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1C1F8BF-F127-4238-9BFE-F648F8AB3C03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B=9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4B64525-6A86-4310-A477-C5B8E1DAB206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1573642" y="3107638"/>
            <a:ext cx="3846093" cy="51664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36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No-Steal + Force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F501-009E-43A7-80F1-6A411978B38C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53400" y="1966869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485095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86115" y="2299152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W(A)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ABORT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49572" y="4300315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7D96ED6-DD3A-45B0-97D2-94606F84EEFE}"/>
              </a:ext>
            </a:extLst>
          </p:cNvPr>
          <p:cNvGrpSpPr/>
          <p:nvPr/>
        </p:nvGrpSpPr>
        <p:grpSpPr>
          <a:xfrm>
            <a:off x="8983653" y="3833191"/>
            <a:ext cx="1247025" cy="1070113"/>
            <a:chOff x="8983653" y="3833191"/>
            <a:chExt cx="1247025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DBA3E72-1D29-45E4-8B11-97EDBCC57857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59D8282-3AC3-4563-A7AE-48D41FF18004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B=9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EB2CF32-BED0-4CD7-B178-C421408C0CEA}"/>
              </a:ext>
            </a:extLst>
          </p:cNvPr>
          <p:cNvGrpSpPr/>
          <p:nvPr/>
        </p:nvGrpSpPr>
        <p:grpSpPr>
          <a:xfrm>
            <a:off x="5205964" y="2669056"/>
            <a:ext cx="1247025" cy="1070113"/>
            <a:chOff x="8983653" y="3833191"/>
            <a:chExt cx="1247025" cy="107011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120E16C-B7E3-4074-8DDF-0E88B78DEEBC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45511F6-E566-4524-BC06-63B741CBB34F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2C0EE88-FEDD-491B-AB79-E80CEF9C8425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1C1F8BF-F127-4238-9BFE-F648F8AB3C03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4951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No-Steal + Force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9F937-9BC2-4933-8492-8CD2F1114D7D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53400" y="1966869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485095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86115" y="2299152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W(A)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ABORT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49572" y="4651494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7D96ED6-DD3A-45B0-97D2-94606F84EEFE}"/>
              </a:ext>
            </a:extLst>
          </p:cNvPr>
          <p:cNvGrpSpPr/>
          <p:nvPr/>
        </p:nvGrpSpPr>
        <p:grpSpPr>
          <a:xfrm>
            <a:off x="8983653" y="3833191"/>
            <a:ext cx="1247025" cy="1070113"/>
            <a:chOff x="8983653" y="3833191"/>
            <a:chExt cx="1247025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DBA3E72-1D29-45E4-8B11-97EDBCC57857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59D8282-3AC3-4563-A7AE-48D41FF18004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B=9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EB2CF32-BED0-4CD7-B178-C421408C0CEA}"/>
              </a:ext>
            </a:extLst>
          </p:cNvPr>
          <p:cNvGrpSpPr/>
          <p:nvPr/>
        </p:nvGrpSpPr>
        <p:grpSpPr>
          <a:xfrm>
            <a:off x="5205964" y="2669056"/>
            <a:ext cx="1247025" cy="1070113"/>
            <a:chOff x="8983653" y="3833191"/>
            <a:chExt cx="1247025" cy="107011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120E16C-B7E3-4074-8DDF-0E88B78DEEBC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45511F6-E566-4524-BC06-63B741CBB34F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2C0EE88-FEDD-491B-AB79-E80CEF9C8425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1C1F8BF-F127-4238-9BFE-F648F8AB3C03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" name="对话气泡: 圆角矩形 26">
            <a:extLst>
              <a:ext uri="{FF2B5EF4-FFF2-40B4-BE49-F238E27FC236}">
                <a16:creationId xmlns:a16="http://schemas.microsoft.com/office/drawing/2014/main" id="{1572F3C1-E1B0-45BA-AD87-7D18D96B9FD4}"/>
              </a:ext>
            </a:extLst>
          </p:cNvPr>
          <p:cNvSpPr/>
          <p:nvPr/>
        </p:nvSpPr>
        <p:spPr>
          <a:xfrm>
            <a:off x="2209800" y="5366752"/>
            <a:ext cx="4787754" cy="845498"/>
          </a:xfrm>
          <a:prstGeom prst="wedgeRoundRectCallout">
            <a:avLst>
              <a:gd name="adj1" fmla="val -36119"/>
              <a:gd name="adj2" fmla="val -98854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u="sng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FORCE</a:t>
            </a:r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means that T</a:t>
            </a:r>
            <a:r>
              <a:rPr lang="en-US" altLang="zh-CN" b="1" i="1" baseline="-25000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changes must be</a:t>
            </a: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written to disk at this point.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457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No-Steal + Force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3F4C8-266F-48CE-BEDC-F1D413577D86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53400" y="1966869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485095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86115" y="2299152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W(A)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ABORT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49572" y="4651494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7D96ED6-DD3A-45B0-97D2-94606F84EEFE}"/>
              </a:ext>
            </a:extLst>
          </p:cNvPr>
          <p:cNvGrpSpPr/>
          <p:nvPr/>
        </p:nvGrpSpPr>
        <p:grpSpPr>
          <a:xfrm>
            <a:off x="8983653" y="3833191"/>
            <a:ext cx="1247025" cy="1070113"/>
            <a:chOff x="8983653" y="3833191"/>
            <a:chExt cx="1247025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DBA3E72-1D29-45E4-8B11-97EDBCC57857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59D8282-3AC3-4563-A7AE-48D41FF18004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B=9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EB2CF32-BED0-4CD7-B178-C421408C0CEA}"/>
              </a:ext>
            </a:extLst>
          </p:cNvPr>
          <p:cNvGrpSpPr/>
          <p:nvPr/>
        </p:nvGrpSpPr>
        <p:grpSpPr>
          <a:xfrm>
            <a:off x="5205964" y="2669056"/>
            <a:ext cx="1247025" cy="1070113"/>
            <a:chOff x="8983653" y="3833191"/>
            <a:chExt cx="1247025" cy="107011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120E16C-B7E3-4074-8DDF-0E88B78DEEBC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45511F6-E566-4524-BC06-63B741CBB34F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2C0EE88-FEDD-491B-AB79-E80CEF9C8425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1C1F8BF-F127-4238-9BFE-F648F8AB3C03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" name="对话气泡: 圆角矩形 26">
            <a:extLst>
              <a:ext uri="{FF2B5EF4-FFF2-40B4-BE49-F238E27FC236}">
                <a16:creationId xmlns:a16="http://schemas.microsoft.com/office/drawing/2014/main" id="{1572F3C1-E1B0-45BA-AD87-7D18D96B9FD4}"/>
              </a:ext>
            </a:extLst>
          </p:cNvPr>
          <p:cNvSpPr/>
          <p:nvPr/>
        </p:nvSpPr>
        <p:spPr>
          <a:xfrm>
            <a:off x="2209800" y="5366752"/>
            <a:ext cx="4787754" cy="845498"/>
          </a:xfrm>
          <a:prstGeom prst="wedgeRoundRectCallout">
            <a:avLst>
              <a:gd name="adj1" fmla="val -36119"/>
              <a:gd name="adj2" fmla="val -98854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u="sng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FORCE</a:t>
            </a:r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means that T</a:t>
            </a:r>
            <a:r>
              <a:rPr lang="en-US" altLang="zh-CN" b="1" i="1" baseline="-25000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changes must be</a:t>
            </a: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written to disk at this point.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7079EBDB-BF02-4C18-8D53-7B6BC493F2BF}"/>
              </a:ext>
            </a:extLst>
          </p:cNvPr>
          <p:cNvGrpSpPr/>
          <p:nvPr/>
        </p:nvGrpSpPr>
        <p:grpSpPr>
          <a:xfrm>
            <a:off x="5205964" y="3953997"/>
            <a:ext cx="1247025" cy="1070113"/>
            <a:chOff x="8983653" y="3833191"/>
            <a:chExt cx="1247025" cy="1070113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060FC56-76B2-45C9-9FDB-977A4D6C1F02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51F41DE-A0A2-47F7-A9A6-73FC2DE3C6ED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8BE5C655-1A59-4A71-B1EB-5FBCBB35EB05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0279CB3B-3FC3-4291-A634-7CBABAD390BC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3" name="对话气泡: 圆角矩形 32">
            <a:extLst>
              <a:ext uri="{FF2B5EF4-FFF2-40B4-BE49-F238E27FC236}">
                <a16:creationId xmlns:a16="http://schemas.microsoft.com/office/drawing/2014/main" id="{DB23E706-F767-4632-957D-22D63DB89BFC}"/>
              </a:ext>
            </a:extLst>
          </p:cNvPr>
          <p:cNvSpPr/>
          <p:nvPr/>
        </p:nvSpPr>
        <p:spPr>
          <a:xfrm>
            <a:off x="2372138" y="1524027"/>
            <a:ext cx="4092469" cy="845498"/>
          </a:xfrm>
          <a:prstGeom prst="wedgeRoundRectCallout">
            <a:avLst>
              <a:gd name="adj1" fmla="val 35570"/>
              <a:gd name="adj2" fmla="val 124498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u="sng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NO-STEAL</a:t>
            </a:r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means that T</a:t>
            </a:r>
            <a:r>
              <a:rPr lang="en-US" altLang="zh-CN" b="1" i="1" baseline="-25000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changes</a:t>
            </a: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cannot be written to disk yet.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848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No-Steal + Force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32E4D-8144-41F9-994F-8EC3DFBFDFAA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53400" y="1966869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485095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86115" y="2299152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W(A)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ABORT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49572" y="4651494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7D96ED6-DD3A-45B0-97D2-94606F84EEFE}"/>
              </a:ext>
            </a:extLst>
          </p:cNvPr>
          <p:cNvGrpSpPr/>
          <p:nvPr/>
        </p:nvGrpSpPr>
        <p:grpSpPr>
          <a:xfrm>
            <a:off x="8983653" y="3833191"/>
            <a:ext cx="1247025" cy="1070113"/>
            <a:chOff x="8983653" y="3833191"/>
            <a:chExt cx="1247025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DBA3E72-1D29-45E4-8B11-97EDBCC57857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59D8282-3AC3-4563-A7AE-48D41FF18004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EB2CF32-BED0-4CD7-B178-C421408C0CEA}"/>
              </a:ext>
            </a:extLst>
          </p:cNvPr>
          <p:cNvGrpSpPr/>
          <p:nvPr/>
        </p:nvGrpSpPr>
        <p:grpSpPr>
          <a:xfrm>
            <a:off x="5205964" y="2669056"/>
            <a:ext cx="1247025" cy="1070113"/>
            <a:chOff x="8983653" y="3833191"/>
            <a:chExt cx="1247025" cy="107011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120E16C-B7E3-4074-8DDF-0E88B78DEEBC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45511F6-E566-4524-BC06-63B741CBB34F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2C0EE88-FEDD-491B-AB79-E80CEF9C8425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1C1F8BF-F127-4238-9BFE-F648F8AB3C03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" name="对话气泡: 圆角矩形 26">
            <a:extLst>
              <a:ext uri="{FF2B5EF4-FFF2-40B4-BE49-F238E27FC236}">
                <a16:creationId xmlns:a16="http://schemas.microsoft.com/office/drawing/2014/main" id="{1572F3C1-E1B0-45BA-AD87-7D18D96B9FD4}"/>
              </a:ext>
            </a:extLst>
          </p:cNvPr>
          <p:cNvSpPr/>
          <p:nvPr/>
        </p:nvSpPr>
        <p:spPr>
          <a:xfrm>
            <a:off x="2209800" y="5366752"/>
            <a:ext cx="4787754" cy="845498"/>
          </a:xfrm>
          <a:prstGeom prst="wedgeRoundRectCallout">
            <a:avLst>
              <a:gd name="adj1" fmla="val -36119"/>
              <a:gd name="adj2" fmla="val -98854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u="sng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FORCE</a:t>
            </a:r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means that T</a:t>
            </a:r>
            <a:r>
              <a:rPr lang="en-US" altLang="zh-CN" b="1" i="1" baseline="-25000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changes must be</a:t>
            </a: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written to disk at this point.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7079EBDB-BF02-4C18-8D53-7B6BC493F2BF}"/>
              </a:ext>
            </a:extLst>
          </p:cNvPr>
          <p:cNvGrpSpPr/>
          <p:nvPr/>
        </p:nvGrpSpPr>
        <p:grpSpPr>
          <a:xfrm>
            <a:off x="5205964" y="3953997"/>
            <a:ext cx="1247025" cy="1070113"/>
            <a:chOff x="8983653" y="3833191"/>
            <a:chExt cx="1247025" cy="1070113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060FC56-76B2-45C9-9FDB-977A4D6C1F02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51F41DE-A0A2-47F7-A9A6-73FC2DE3C6ED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8BE5C655-1A59-4A71-B1EB-5FBCBB35EB05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0279CB3B-3FC3-4291-A634-7CBABAD390BC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3" name="对话气泡: 圆角矩形 32">
            <a:extLst>
              <a:ext uri="{FF2B5EF4-FFF2-40B4-BE49-F238E27FC236}">
                <a16:creationId xmlns:a16="http://schemas.microsoft.com/office/drawing/2014/main" id="{DB23E706-F767-4632-957D-22D63DB89BFC}"/>
              </a:ext>
            </a:extLst>
          </p:cNvPr>
          <p:cNvSpPr/>
          <p:nvPr/>
        </p:nvSpPr>
        <p:spPr>
          <a:xfrm>
            <a:off x="2372138" y="1524027"/>
            <a:ext cx="4092469" cy="845498"/>
          </a:xfrm>
          <a:prstGeom prst="wedgeRoundRectCallout">
            <a:avLst>
              <a:gd name="adj1" fmla="val 35570"/>
              <a:gd name="adj2" fmla="val 124498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u="sng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NO-STEAL</a:t>
            </a:r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means that T</a:t>
            </a:r>
            <a:r>
              <a:rPr lang="en-US" altLang="zh-CN" b="1" i="1" baseline="-25000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changes</a:t>
            </a: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cannot be written to disk yet.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94C7B74D-9E49-40C9-BDD3-44CAD20EFF30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6452989" y="4368248"/>
            <a:ext cx="2545237" cy="12080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F6228954-D840-406D-B41D-61C1242D049B}"/>
              </a:ext>
            </a:extLst>
          </p:cNvPr>
          <p:cNvSpPr txBox="1"/>
          <p:nvPr/>
        </p:nvSpPr>
        <p:spPr>
          <a:xfrm rot="21447826">
            <a:off x="6743053" y="4005392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Output(</a:t>
            </a:r>
            <a:r>
              <a:rPr lang="en-US" altLang="zh-CN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altLang="zh-CN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747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No-Steal + Force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ED1C-CBB0-4A9D-B20D-3F35FA283711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53400" y="1966869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485095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86115" y="2299152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W(A)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ABORT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49572" y="5353859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7D96ED6-DD3A-45B0-97D2-94606F84EEFE}"/>
              </a:ext>
            </a:extLst>
          </p:cNvPr>
          <p:cNvGrpSpPr/>
          <p:nvPr/>
        </p:nvGrpSpPr>
        <p:grpSpPr>
          <a:xfrm>
            <a:off x="8983653" y="3833191"/>
            <a:ext cx="1247025" cy="1070113"/>
            <a:chOff x="8983653" y="3833191"/>
            <a:chExt cx="1247025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DBA3E72-1D29-45E4-8B11-97EDBCC57857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59D8282-3AC3-4563-A7AE-48D41FF18004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EB2CF32-BED0-4CD7-B178-C421408C0CEA}"/>
              </a:ext>
            </a:extLst>
          </p:cNvPr>
          <p:cNvGrpSpPr/>
          <p:nvPr/>
        </p:nvGrpSpPr>
        <p:grpSpPr>
          <a:xfrm>
            <a:off x="5205964" y="2669056"/>
            <a:ext cx="1247025" cy="1070113"/>
            <a:chOff x="8983653" y="3833191"/>
            <a:chExt cx="1247025" cy="107011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120E16C-B7E3-4074-8DDF-0E88B78DEEBC}"/>
                </a:ext>
              </a:extLst>
            </p:cNvPr>
            <p:cNvSpPr/>
            <p:nvPr/>
          </p:nvSpPr>
          <p:spPr>
            <a:xfrm>
              <a:off x="8998226" y="3833191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45511F6-E566-4524-BC06-63B741CBB34F}"/>
                </a:ext>
              </a:extLst>
            </p:cNvPr>
            <p:cNvSpPr txBox="1"/>
            <p:nvPr/>
          </p:nvSpPr>
          <p:spPr>
            <a:xfrm>
              <a:off x="8983653" y="3833191"/>
              <a:ext cx="6799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r>
                <a:rPr lang="en-US" altLang="zh-CN" sz="14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2C0EE88-FEDD-491B-AB79-E80CEF9C8425}"/>
                </a:ext>
              </a:extLst>
            </p:cNvPr>
            <p:cNvSpPr txBox="1"/>
            <p:nvPr/>
          </p:nvSpPr>
          <p:spPr>
            <a:xfrm>
              <a:off x="9197424" y="414096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1C1F8BF-F127-4238-9BFE-F648F8AB3C03}"/>
                </a:ext>
              </a:extLst>
            </p:cNvPr>
            <p:cNvSpPr txBox="1"/>
            <p:nvPr/>
          </p:nvSpPr>
          <p:spPr>
            <a:xfrm>
              <a:off x="9197423" y="4409204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</a:t>
              </a:r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" name="对话气泡: 圆角矩形 26">
            <a:extLst>
              <a:ext uri="{FF2B5EF4-FFF2-40B4-BE49-F238E27FC236}">
                <a16:creationId xmlns:a16="http://schemas.microsoft.com/office/drawing/2014/main" id="{1572F3C1-E1B0-45BA-AD87-7D18D96B9FD4}"/>
              </a:ext>
            </a:extLst>
          </p:cNvPr>
          <p:cNvSpPr/>
          <p:nvPr/>
        </p:nvSpPr>
        <p:spPr>
          <a:xfrm>
            <a:off x="1809309" y="4099051"/>
            <a:ext cx="2554429" cy="845498"/>
          </a:xfrm>
          <a:prstGeom prst="wedgeRoundRectCallout">
            <a:avLst>
              <a:gd name="adj1" fmla="val -42604"/>
              <a:gd name="adj2" fmla="val 108824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Now it’s trivial to</a:t>
            </a: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rollback T</a:t>
            </a:r>
            <a:r>
              <a:rPr lang="en-US" altLang="zh-CN" b="1" i="1" baseline="-25000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432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No-Steal + Force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Never have to </a:t>
            </a:r>
            <a:r>
              <a:rPr lang="en-US" altLang="zh-CN" b="1" u="sng" dirty="0"/>
              <a:t>undo</a:t>
            </a:r>
            <a:r>
              <a:rPr lang="en-US" altLang="zh-CN" dirty="0"/>
              <a:t> changes of an aborted </a:t>
            </a:r>
            <a:r>
              <a:rPr lang="en-US" altLang="zh-CN" dirty="0" err="1"/>
              <a:t>txn</a:t>
            </a:r>
            <a:r>
              <a:rPr lang="en-US" altLang="zh-CN" dirty="0"/>
              <a:t> because the changes were not written to disk.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Never have to </a:t>
            </a:r>
            <a:r>
              <a:rPr lang="en-US" altLang="zh-CN" b="1" u="sng" dirty="0"/>
              <a:t>redo</a:t>
            </a:r>
            <a:r>
              <a:rPr lang="en-US" altLang="zh-CN" dirty="0"/>
              <a:t> changes of a committed </a:t>
            </a:r>
            <a:r>
              <a:rPr lang="en-US" altLang="zh-CN" dirty="0" err="1"/>
              <a:t>txn</a:t>
            </a:r>
            <a:r>
              <a:rPr lang="en-US" altLang="zh-CN" dirty="0"/>
              <a:t> because all the changes are guaranteed to be written to disk at commit time (assuming atomic hardware writes).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>
                <a:solidFill>
                  <a:srgbClr val="0066FF"/>
                </a:solidFill>
              </a:rPr>
              <a:t>sync()</a:t>
            </a:r>
            <a:r>
              <a:rPr lang="en-US" altLang="zh-CN" dirty="0"/>
              <a:t>: puts all modified block buffers into the write queue and then returns, it does not wait for the actual write disk operation to end.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 err="1">
                <a:solidFill>
                  <a:srgbClr val="0066FF"/>
                </a:solidFill>
              </a:rPr>
              <a:t>fsync</a:t>
            </a:r>
            <a:r>
              <a:rPr lang="en-US" altLang="zh-CN" b="1" dirty="0">
                <a:solidFill>
                  <a:srgbClr val="0066FF"/>
                </a:solidFill>
              </a:rPr>
              <a:t>()</a:t>
            </a:r>
            <a:r>
              <a:rPr lang="en-US" altLang="zh-CN" dirty="0"/>
              <a:t>:  works on a single file specified by the file descriptor </a:t>
            </a:r>
            <a:r>
              <a:rPr lang="en-US" altLang="zh-CN" dirty="0" err="1"/>
              <a:t>filedes</a:t>
            </a:r>
            <a:r>
              <a:rPr lang="en-US" altLang="zh-CN" dirty="0"/>
              <a:t> and waits for the write disk operation to complete before returning.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 err="1">
                <a:solidFill>
                  <a:srgbClr val="0066FF"/>
                </a:solidFill>
              </a:rPr>
              <a:t>fdatasync</a:t>
            </a:r>
            <a:r>
              <a:rPr lang="en-US" altLang="zh-CN" b="1" dirty="0">
                <a:solidFill>
                  <a:srgbClr val="0066FF"/>
                </a:solidFill>
              </a:rPr>
              <a:t>()</a:t>
            </a:r>
            <a:r>
              <a:rPr lang="en-US" altLang="zh-CN" dirty="0"/>
              <a:t>: similar to </a:t>
            </a:r>
            <a:r>
              <a:rPr lang="en-US" altLang="zh-CN" dirty="0" err="1"/>
              <a:t>fsync</a:t>
            </a:r>
            <a:r>
              <a:rPr lang="en-US" altLang="zh-CN" dirty="0"/>
              <a:t>, but it only affects the data portion of the file. In addition to the data, </a:t>
            </a:r>
            <a:r>
              <a:rPr lang="en-US" altLang="zh-CN" dirty="0" err="1"/>
              <a:t>fsync</a:t>
            </a:r>
            <a:r>
              <a:rPr lang="en-US" altLang="zh-CN" dirty="0"/>
              <a:t> will also update the properties of the file.</a:t>
            </a:r>
          </a:p>
          <a:p>
            <a:pPr lvl="2">
              <a:lnSpc>
                <a:spcPct val="100000"/>
              </a:lnSpc>
              <a:spcBef>
                <a:spcPts val="1800"/>
              </a:spcBef>
            </a:pP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DBC7C-2D6F-41C5-8DD6-C5873652FDC9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721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Shadow Paging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Maintain two separate copies of the database: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b="1" u="sng" dirty="0"/>
              <a:t>Master</a:t>
            </a:r>
            <a:r>
              <a:rPr lang="en-US" altLang="zh-CN" dirty="0"/>
              <a:t>: Contains only changes from committed </a:t>
            </a:r>
            <a:r>
              <a:rPr lang="en-US" altLang="zh-CN" dirty="0" err="1"/>
              <a:t>txns</a:t>
            </a:r>
            <a:r>
              <a:rPr lang="en-US" altLang="zh-CN" dirty="0"/>
              <a:t>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b="1" u="sng" dirty="0"/>
              <a:t>Shadow</a:t>
            </a:r>
            <a:r>
              <a:rPr lang="en-US" altLang="zh-CN" dirty="0"/>
              <a:t>: Temporary DB with changes made from uncommitted </a:t>
            </a:r>
            <a:r>
              <a:rPr lang="en-US" altLang="zh-CN" dirty="0" err="1"/>
              <a:t>txns</a:t>
            </a:r>
            <a:r>
              <a:rPr lang="en-US" altLang="zh-CN" dirty="0"/>
              <a:t>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 err="1"/>
              <a:t>Txns</a:t>
            </a:r>
            <a:r>
              <a:rPr lang="en-US" altLang="zh-CN" dirty="0"/>
              <a:t> only make updates in the shadow copy.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When a </a:t>
            </a:r>
            <a:r>
              <a:rPr lang="en-US" altLang="zh-CN" dirty="0" err="1"/>
              <a:t>txn</a:t>
            </a:r>
            <a:r>
              <a:rPr lang="en-US" altLang="zh-CN" dirty="0"/>
              <a:t> commits, atomically switch the shadow to become the new master.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Buffer Pool Policy: </a:t>
            </a:r>
            <a:r>
              <a:rPr lang="en-US" altLang="zh-CN" b="1" dirty="0">
                <a:solidFill>
                  <a:srgbClr val="0066FF"/>
                </a:solidFill>
              </a:rPr>
              <a:t>NO-STEAL</a:t>
            </a:r>
            <a:r>
              <a:rPr lang="en-US" altLang="zh-CN" dirty="0"/>
              <a:t> + </a:t>
            </a:r>
            <a:r>
              <a:rPr lang="en-US" altLang="zh-CN" b="1" dirty="0">
                <a:solidFill>
                  <a:srgbClr val="0066FF"/>
                </a:solidFill>
              </a:rPr>
              <a:t>FORCE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97775-D79F-44FF-BF0B-2FB35EAB5AAD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753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Shadow Paging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ACC69-26B3-4BEA-964E-755CEDAE0592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216848" y="1994920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485095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8530257"/>
              </p:ext>
            </p:extLst>
          </p:nvPr>
        </p:nvGraphicFramePr>
        <p:xfrm>
          <a:off x="1432328" y="2285800"/>
          <a:ext cx="1323685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W(Page 4)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W(Page 1)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4F8773-A445-4120-A2E5-0C06D2B7558F}"/>
              </a:ext>
            </a:extLst>
          </p:cNvPr>
          <p:cNvSpPr/>
          <p:nvPr/>
        </p:nvSpPr>
        <p:spPr>
          <a:xfrm>
            <a:off x="9007295" y="3491110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B75AEE6-D9FE-4A4C-A054-92CB25872206}"/>
              </a:ext>
            </a:extLst>
          </p:cNvPr>
          <p:cNvSpPr/>
          <p:nvPr/>
        </p:nvSpPr>
        <p:spPr>
          <a:xfrm>
            <a:off x="9007297" y="3843134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1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C17E4B9-FCF9-4278-8D40-2B72DAE3D56A}"/>
              </a:ext>
            </a:extLst>
          </p:cNvPr>
          <p:cNvSpPr/>
          <p:nvPr/>
        </p:nvSpPr>
        <p:spPr>
          <a:xfrm>
            <a:off x="9007296" y="4195158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2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EE428B3-BF70-4CEA-8BFF-E9A7DA9264F1}"/>
              </a:ext>
            </a:extLst>
          </p:cNvPr>
          <p:cNvSpPr/>
          <p:nvPr/>
        </p:nvSpPr>
        <p:spPr>
          <a:xfrm>
            <a:off x="9009742" y="4546352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5344B6D-4174-4359-AECB-1260924A535A}"/>
              </a:ext>
            </a:extLst>
          </p:cNvPr>
          <p:cNvSpPr/>
          <p:nvPr/>
        </p:nvSpPr>
        <p:spPr>
          <a:xfrm>
            <a:off x="9007295" y="4908082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4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2296EAB-B537-4762-947F-8385E2E815BC}"/>
              </a:ext>
            </a:extLst>
          </p:cNvPr>
          <p:cNvSpPr/>
          <p:nvPr/>
        </p:nvSpPr>
        <p:spPr>
          <a:xfrm>
            <a:off x="4502439" y="4398004"/>
            <a:ext cx="732722" cy="24759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C425AAD-7A9B-4871-8615-A2E5C8A703F5}"/>
              </a:ext>
            </a:extLst>
          </p:cNvPr>
          <p:cNvSpPr/>
          <p:nvPr/>
        </p:nvSpPr>
        <p:spPr>
          <a:xfrm>
            <a:off x="5521487" y="2688765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1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331B255-3A5F-4882-A5E4-B2BC87EFF8BE}"/>
              </a:ext>
            </a:extLst>
          </p:cNvPr>
          <p:cNvSpPr/>
          <p:nvPr/>
        </p:nvSpPr>
        <p:spPr>
          <a:xfrm>
            <a:off x="5521486" y="3040789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2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C1CC138-3C78-4895-A2F5-8555618DA225}"/>
              </a:ext>
            </a:extLst>
          </p:cNvPr>
          <p:cNvSpPr/>
          <p:nvPr/>
        </p:nvSpPr>
        <p:spPr>
          <a:xfrm>
            <a:off x="5523932" y="3391983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688285E-0209-4649-8DC2-4FB8BB1A2EDD}"/>
              </a:ext>
            </a:extLst>
          </p:cNvPr>
          <p:cNvSpPr/>
          <p:nvPr/>
        </p:nvSpPr>
        <p:spPr>
          <a:xfrm>
            <a:off x="5521485" y="3753713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4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41D02E8-1C1B-4E6A-B377-D25C15467743}"/>
              </a:ext>
            </a:extLst>
          </p:cNvPr>
          <p:cNvSpPr txBox="1"/>
          <p:nvPr/>
        </p:nvSpPr>
        <p:spPr>
          <a:xfrm>
            <a:off x="5379218" y="2384318"/>
            <a:ext cx="17422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 Page Table</a:t>
            </a:r>
            <a:endParaRPr lang="zh-CN" altLang="en-US" sz="14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6359F2F-BE90-4063-B568-F04692FAE41D}"/>
              </a:ext>
            </a:extLst>
          </p:cNvPr>
          <p:cNvCxnSpPr>
            <a:stCxn id="32" idx="0"/>
            <a:endCxn id="37" idx="1"/>
          </p:cNvCxnSpPr>
          <p:nvPr/>
        </p:nvCxnSpPr>
        <p:spPr>
          <a:xfrm flipV="1">
            <a:off x="4868800" y="2538207"/>
            <a:ext cx="510418" cy="185979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0812001-AB6B-4561-A4A1-32147DE0AFFE}"/>
              </a:ext>
            </a:extLst>
          </p:cNvPr>
          <p:cNvCxnSpPr>
            <a:cxnSpLocks/>
            <a:stCxn id="33" idx="3"/>
            <a:endCxn id="28" idx="1"/>
          </p:cNvCxnSpPr>
          <p:nvPr/>
        </p:nvCxnSpPr>
        <p:spPr>
          <a:xfrm>
            <a:off x="6979226" y="2836195"/>
            <a:ext cx="2028071" cy="115436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7">
            <a:extLst>
              <a:ext uri="{FF2B5EF4-FFF2-40B4-BE49-F238E27FC236}">
                <a16:creationId xmlns:a16="http://schemas.microsoft.com/office/drawing/2014/main" id="{EF625E9E-EB99-4095-8BDC-C442392D420D}"/>
              </a:ext>
            </a:extLst>
          </p:cNvPr>
          <p:cNvCxnSpPr>
            <a:cxnSpLocks/>
            <a:stCxn id="34" idx="3"/>
            <a:endCxn id="29" idx="1"/>
          </p:cNvCxnSpPr>
          <p:nvPr/>
        </p:nvCxnSpPr>
        <p:spPr>
          <a:xfrm>
            <a:off x="6979225" y="3188219"/>
            <a:ext cx="2028071" cy="115436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37">
            <a:extLst>
              <a:ext uri="{FF2B5EF4-FFF2-40B4-BE49-F238E27FC236}">
                <a16:creationId xmlns:a16="http://schemas.microsoft.com/office/drawing/2014/main" id="{6E72821D-9A2A-45F1-8B38-AE52BA3CFC24}"/>
              </a:ext>
            </a:extLst>
          </p:cNvPr>
          <p:cNvCxnSpPr>
            <a:cxnSpLocks/>
            <a:stCxn id="35" idx="3"/>
            <a:endCxn id="30" idx="1"/>
          </p:cNvCxnSpPr>
          <p:nvPr/>
        </p:nvCxnSpPr>
        <p:spPr>
          <a:xfrm>
            <a:off x="6981671" y="3539413"/>
            <a:ext cx="2028071" cy="115436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37">
            <a:extLst>
              <a:ext uri="{FF2B5EF4-FFF2-40B4-BE49-F238E27FC236}">
                <a16:creationId xmlns:a16="http://schemas.microsoft.com/office/drawing/2014/main" id="{BDD1245E-CAA1-4B4D-9A04-8A9793B9923D}"/>
              </a:ext>
            </a:extLst>
          </p:cNvPr>
          <p:cNvCxnSpPr>
            <a:cxnSpLocks/>
            <a:stCxn id="36" idx="3"/>
            <a:endCxn id="31" idx="1"/>
          </p:cNvCxnSpPr>
          <p:nvPr/>
        </p:nvCxnSpPr>
        <p:spPr>
          <a:xfrm>
            <a:off x="6979224" y="3901143"/>
            <a:ext cx="2028071" cy="115436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4827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Shadow Paging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2E884-6F9B-48F2-BD9E-2B57D720E9E4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216848" y="1994920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485095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558578"/>
              </p:ext>
            </p:extLst>
          </p:nvPr>
        </p:nvGraphicFramePr>
        <p:xfrm>
          <a:off x="1432328" y="2285800"/>
          <a:ext cx="1323685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W(Page 4)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W(Page 1)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4F8773-A445-4120-A2E5-0C06D2B7558F}"/>
              </a:ext>
            </a:extLst>
          </p:cNvPr>
          <p:cNvSpPr/>
          <p:nvPr/>
        </p:nvSpPr>
        <p:spPr>
          <a:xfrm>
            <a:off x="9007295" y="3491110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B75AEE6-D9FE-4A4C-A054-92CB25872206}"/>
              </a:ext>
            </a:extLst>
          </p:cNvPr>
          <p:cNvSpPr/>
          <p:nvPr/>
        </p:nvSpPr>
        <p:spPr>
          <a:xfrm>
            <a:off x="9007297" y="3843134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1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C17E4B9-FCF9-4278-8D40-2B72DAE3D56A}"/>
              </a:ext>
            </a:extLst>
          </p:cNvPr>
          <p:cNvSpPr/>
          <p:nvPr/>
        </p:nvSpPr>
        <p:spPr>
          <a:xfrm>
            <a:off x="9007296" y="4195158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2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EE428B3-BF70-4CEA-8BFF-E9A7DA9264F1}"/>
              </a:ext>
            </a:extLst>
          </p:cNvPr>
          <p:cNvSpPr/>
          <p:nvPr/>
        </p:nvSpPr>
        <p:spPr>
          <a:xfrm>
            <a:off x="9009742" y="4546352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5344B6D-4174-4359-AECB-1260924A535A}"/>
              </a:ext>
            </a:extLst>
          </p:cNvPr>
          <p:cNvSpPr/>
          <p:nvPr/>
        </p:nvSpPr>
        <p:spPr>
          <a:xfrm>
            <a:off x="9007295" y="4908082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4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2296EAB-B537-4762-947F-8385E2E815BC}"/>
              </a:ext>
            </a:extLst>
          </p:cNvPr>
          <p:cNvSpPr/>
          <p:nvPr/>
        </p:nvSpPr>
        <p:spPr>
          <a:xfrm>
            <a:off x="4502439" y="4398004"/>
            <a:ext cx="732722" cy="24759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C425AAD-7A9B-4871-8615-A2E5C8A703F5}"/>
              </a:ext>
            </a:extLst>
          </p:cNvPr>
          <p:cNvSpPr/>
          <p:nvPr/>
        </p:nvSpPr>
        <p:spPr>
          <a:xfrm>
            <a:off x="5521487" y="2688765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1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331B255-3A5F-4882-A5E4-B2BC87EFF8BE}"/>
              </a:ext>
            </a:extLst>
          </p:cNvPr>
          <p:cNvSpPr/>
          <p:nvPr/>
        </p:nvSpPr>
        <p:spPr>
          <a:xfrm>
            <a:off x="5521486" y="3040789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2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C1CC138-3C78-4895-A2F5-8555618DA225}"/>
              </a:ext>
            </a:extLst>
          </p:cNvPr>
          <p:cNvSpPr/>
          <p:nvPr/>
        </p:nvSpPr>
        <p:spPr>
          <a:xfrm>
            <a:off x="5523932" y="3391983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688285E-0209-4649-8DC2-4FB8BB1A2EDD}"/>
              </a:ext>
            </a:extLst>
          </p:cNvPr>
          <p:cNvSpPr/>
          <p:nvPr/>
        </p:nvSpPr>
        <p:spPr>
          <a:xfrm>
            <a:off x="5521485" y="3753713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4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41D02E8-1C1B-4E6A-B377-D25C15467743}"/>
              </a:ext>
            </a:extLst>
          </p:cNvPr>
          <p:cNvSpPr txBox="1"/>
          <p:nvPr/>
        </p:nvSpPr>
        <p:spPr>
          <a:xfrm>
            <a:off x="5379218" y="2384318"/>
            <a:ext cx="17422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 Page Table</a:t>
            </a:r>
            <a:endParaRPr lang="zh-CN" altLang="en-US" sz="14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6359F2F-BE90-4063-B568-F04692FAE41D}"/>
              </a:ext>
            </a:extLst>
          </p:cNvPr>
          <p:cNvCxnSpPr>
            <a:stCxn id="32" idx="0"/>
            <a:endCxn id="37" idx="1"/>
          </p:cNvCxnSpPr>
          <p:nvPr/>
        </p:nvCxnSpPr>
        <p:spPr>
          <a:xfrm rot="5400000" flipH="1" flipV="1">
            <a:off x="4194111" y="3212897"/>
            <a:ext cx="1859797" cy="510418"/>
          </a:xfrm>
          <a:prstGeom prst="curvedConnector2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0812001-AB6B-4561-A4A1-32147DE0AFFE}"/>
              </a:ext>
            </a:extLst>
          </p:cNvPr>
          <p:cNvCxnSpPr>
            <a:cxnSpLocks/>
            <a:stCxn id="33" idx="3"/>
            <a:endCxn id="28" idx="1"/>
          </p:cNvCxnSpPr>
          <p:nvPr/>
        </p:nvCxnSpPr>
        <p:spPr>
          <a:xfrm>
            <a:off x="6979226" y="2836195"/>
            <a:ext cx="2028071" cy="115436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7">
            <a:extLst>
              <a:ext uri="{FF2B5EF4-FFF2-40B4-BE49-F238E27FC236}">
                <a16:creationId xmlns:a16="http://schemas.microsoft.com/office/drawing/2014/main" id="{EF625E9E-EB99-4095-8BDC-C442392D420D}"/>
              </a:ext>
            </a:extLst>
          </p:cNvPr>
          <p:cNvCxnSpPr>
            <a:cxnSpLocks/>
            <a:stCxn id="34" idx="3"/>
            <a:endCxn id="29" idx="1"/>
          </p:cNvCxnSpPr>
          <p:nvPr/>
        </p:nvCxnSpPr>
        <p:spPr>
          <a:xfrm>
            <a:off x="6979225" y="3188219"/>
            <a:ext cx="2028071" cy="115436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37">
            <a:extLst>
              <a:ext uri="{FF2B5EF4-FFF2-40B4-BE49-F238E27FC236}">
                <a16:creationId xmlns:a16="http://schemas.microsoft.com/office/drawing/2014/main" id="{6E72821D-9A2A-45F1-8B38-AE52BA3CFC24}"/>
              </a:ext>
            </a:extLst>
          </p:cNvPr>
          <p:cNvCxnSpPr>
            <a:cxnSpLocks/>
            <a:stCxn id="35" idx="3"/>
            <a:endCxn id="30" idx="1"/>
          </p:cNvCxnSpPr>
          <p:nvPr/>
        </p:nvCxnSpPr>
        <p:spPr>
          <a:xfrm>
            <a:off x="6981671" y="3539413"/>
            <a:ext cx="2028071" cy="115436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37">
            <a:extLst>
              <a:ext uri="{FF2B5EF4-FFF2-40B4-BE49-F238E27FC236}">
                <a16:creationId xmlns:a16="http://schemas.microsoft.com/office/drawing/2014/main" id="{BDD1245E-CAA1-4B4D-9A04-8A9793B9923D}"/>
              </a:ext>
            </a:extLst>
          </p:cNvPr>
          <p:cNvCxnSpPr>
            <a:cxnSpLocks/>
            <a:stCxn id="36" idx="3"/>
            <a:endCxn id="31" idx="1"/>
          </p:cNvCxnSpPr>
          <p:nvPr/>
        </p:nvCxnSpPr>
        <p:spPr>
          <a:xfrm>
            <a:off x="6979224" y="3901143"/>
            <a:ext cx="2028071" cy="115436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E9BCA573-6EDE-4E52-9705-8D7C7872ACEA}"/>
              </a:ext>
            </a:extLst>
          </p:cNvPr>
          <p:cNvSpPr/>
          <p:nvPr/>
        </p:nvSpPr>
        <p:spPr>
          <a:xfrm>
            <a:off x="5506505" y="4591469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1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897CD2B-C63A-4DCE-A385-38C0B9AC78AF}"/>
              </a:ext>
            </a:extLst>
          </p:cNvPr>
          <p:cNvSpPr/>
          <p:nvPr/>
        </p:nvSpPr>
        <p:spPr>
          <a:xfrm>
            <a:off x="5506504" y="4943493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2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80BB1A7-E67D-4563-B15C-7C5281CBAAE4}"/>
              </a:ext>
            </a:extLst>
          </p:cNvPr>
          <p:cNvSpPr/>
          <p:nvPr/>
        </p:nvSpPr>
        <p:spPr>
          <a:xfrm>
            <a:off x="5508950" y="5294687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85A6B2D-6DCB-4568-AA63-A1736FE09AB6}"/>
              </a:ext>
            </a:extLst>
          </p:cNvPr>
          <p:cNvSpPr/>
          <p:nvPr/>
        </p:nvSpPr>
        <p:spPr>
          <a:xfrm>
            <a:off x="5506503" y="5656417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4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33822AC-7F50-41F4-AE7A-9EA0252B6D22}"/>
              </a:ext>
            </a:extLst>
          </p:cNvPr>
          <p:cNvSpPr txBox="1"/>
          <p:nvPr/>
        </p:nvSpPr>
        <p:spPr>
          <a:xfrm>
            <a:off x="5364236" y="4287022"/>
            <a:ext cx="18579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Shadow Page Table</a:t>
            </a:r>
            <a:endParaRPr lang="zh-CN" altLang="en-US" sz="14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直接箭头连接符 37">
            <a:extLst>
              <a:ext uri="{FF2B5EF4-FFF2-40B4-BE49-F238E27FC236}">
                <a16:creationId xmlns:a16="http://schemas.microsoft.com/office/drawing/2014/main" id="{9FBB9B8E-1943-4250-9C32-6B47940BFB19}"/>
              </a:ext>
            </a:extLst>
          </p:cNvPr>
          <p:cNvCxnSpPr>
            <a:cxnSpLocks/>
            <a:stCxn id="40" idx="3"/>
            <a:endCxn id="28" idx="1"/>
          </p:cNvCxnSpPr>
          <p:nvPr/>
        </p:nvCxnSpPr>
        <p:spPr>
          <a:xfrm flipV="1">
            <a:off x="6964244" y="3990564"/>
            <a:ext cx="2043053" cy="748335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37">
            <a:extLst>
              <a:ext uri="{FF2B5EF4-FFF2-40B4-BE49-F238E27FC236}">
                <a16:creationId xmlns:a16="http://schemas.microsoft.com/office/drawing/2014/main" id="{7A927A94-CCB0-40CE-8820-D67B40B39381}"/>
              </a:ext>
            </a:extLst>
          </p:cNvPr>
          <p:cNvCxnSpPr>
            <a:cxnSpLocks/>
            <a:stCxn id="41" idx="3"/>
            <a:endCxn id="29" idx="1"/>
          </p:cNvCxnSpPr>
          <p:nvPr/>
        </p:nvCxnSpPr>
        <p:spPr>
          <a:xfrm flipV="1">
            <a:off x="6964243" y="4342588"/>
            <a:ext cx="2043053" cy="748335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37">
            <a:extLst>
              <a:ext uri="{FF2B5EF4-FFF2-40B4-BE49-F238E27FC236}">
                <a16:creationId xmlns:a16="http://schemas.microsoft.com/office/drawing/2014/main" id="{4A0101FC-E02D-4BB5-920B-1F7C42B98E7E}"/>
              </a:ext>
            </a:extLst>
          </p:cNvPr>
          <p:cNvCxnSpPr>
            <a:cxnSpLocks/>
            <a:stCxn id="43" idx="3"/>
            <a:endCxn id="30" idx="1"/>
          </p:cNvCxnSpPr>
          <p:nvPr/>
        </p:nvCxnSpPr>
        <p:spPr>
          <a:xfrm flipV="1">
            <a:off x="6966689" y="4693782"/>
            <a:ext cx="2043053" cy="748335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37">
            <a:extLst>
              <a:ext uri="{FF2B5EF4-FFF2-40B4-BE49-F238E27FC236}">
                <a16:creationId xmlns:a16="http://schemas.microsoft.com/office/drawing/2014/main" id="{0ABEF4E8-688C-404B-8870-562F4357DC1E}"/>
              </a:ext>
            </a:extLst>
          </p:cNvPr>
          <p:cNvCxnSpPr>
            <a:cxnSpLocks/>
            <a:stCxn id="44" idx="3"/>
            <a:endCxn id="31" idx="1"/>
          </p:cNvCxnSpPr>
          <p:nvPr/>
        </p:nvCxnSpPr>
        <p:spPr>
          <a:xfrm flipV="1">
            <a:off x="6964242" y="5055512"/>
            <a:ext cx="2043053" cy="748335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对话气泡: 圆角矩形 50">
            <a:extLst>
              <a:ext uri="{FF2B5EF4-FFF2-40B4-BE49-F238E27FC236}">
                <a16:creationId xmlns:a16="http://schemas.microsoft.com/office/drawing/2014/main" id="{B2BD8F2C-653F-42A8-BD89-213110DAE96F}"/>
              </a:ext>
            </a:extLst>
          </p:cNvPr>
          <p:cNvSpPr/>
          <p:nvPr/>
        </p:nvSpPr>
        <p:spPr>
          <a:xfrm>
            <a:off x="3604591" y="1149422"/>
            <a:ext cx="3160644" cy="845498"/>
          </a:xfrm>
          <a:prstGeom prst="wedgeRoundRectCallout">
            <a:avLst>
              <a:gd name="adj1" fmla="val 20499"/>
              <a:gd name="adj2" fmla="val 100987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Read-only </a:t>
            </a:r>
            <a:r>
              <a:rPr lang="en-US" altLang="zh-CN" b="1" i="1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txns</a:t>
            </a:r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access the</a:t>
            </a: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master.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对话气泡: 圆角矩形 51">
            <a:extLst>
              <a:ext uri="{FF2B5EF4-FFF2-40B4-BE49-F238E27FC236}">
                <a16:creationId xmlns:a16="http://schemas.microsoft.com/office/drawing/2014/main" id="{B8859156-9992-48F9-A534-28CA892B6DC4}"/>
              </a:ext>
            </a:extLst>
          </p:cNvPr>
          <p:cNvSpPr/>
          <p:nvPr/>
        </p:nvSpPr>
        <p:spPr>
          <a:xfrm>
            <a:off x="2345859" y="6018147"/>
            <a:ext cx="3160644" cy="845498"/>
          </a:xfrm>
          <a:prstGeom prst="wedgeRoundRectCallout">
            <a:avLst>
              <a:gd name="adj1" fmla="val 60960"/>
              <a:gd name="adj2" fmla="val -52616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 modifying </a:t>
            </a:r>
            <a:r>
              <a:rPr lang="en-US" altLang="zh-CN" b="1" i="1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endParaRPr lang="en-US" altLang="zh-CN" b="1" i="1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updates shadow pages.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524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Shadow Paging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6848C-35FB-4916-B20E-63FC8F4422A6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216848" y="1994920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485095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32328" y="2285800"/>
          <a:ext cx="1323685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W(Page 4)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W(Page 1)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4F8773-A445-4120-A2E5-0C06D2B7558F}"/>
              </a:ext>
            </a:extLst>
          </p:cNvPr>
          <p:cNvSpPr/>
          <p:nvPr/>
        </p:nvSpPr>
        <p:spPr>
          <a:xfrm>
            <a:off x="9007295" y="3491110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B75AEE6-D9FE-4A4C-A054-92CB25872206}"/>
              </a:ext>
            </a:extLst>
          </p:cNvPr>
          <p:cNvSpPr/>
          <p:nvPr/>
        </p:nvSpPr>
        <p:spPr>
          <a:xfrm>
            <a:off x="9007297" y="3843134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1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C17E4B9-FCF9-4278-8D40-2B72DAE3D56A}"/>
              </a:ext>
            </a:extLst>
          </p:cNvPr>
          <p:cNvSpPr/>
          <p:nvPr/>
        </p:nvSpPr>
        <p:spPr>
          <a:xfrm>
            <a:off x="9007296" y="4195158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2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EE428B3-BF70-4CEA-8BFF-E9A7DA9264F1}"/>
              </a:ext>
            </a:extLst>
          </p:cNvPr>
          <p:cNvSpPr/>
          <p:nvPr/>
        </p:nvSpPr>
        <p:spPr>
          <a:xfrm>
            <a:off x="9009742" y="4546352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5344B6D-4174-4359-AECB-1260924A535A}"/>
              </a:ext>
            </a:extLst>
          </p:cNvPr>
          <p:cNvSpPr/>
          <p:nvPr/>
        </p:nvSpPr>
        <p:spPr>
          <a:xfrm>
            <a:off x="9007295" y="4908082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4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2296EAB-B537-4762-947F-8385E2E815BC}"/>
              </a:ext>
            </a:extLst>
          </p:cNvPr>
          <p:cNvSpPr/>
          <p:nvPr/>
        </p:nvSpPr>
        <p:spPr>
          <a:xfrm>
            <a:off x="4502439" y="4398004"/>
            <a:ext cx="732722" cy="24759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C425AAD-7A9B-4871-8615-A2E5C8A703F5}"/>
              </a:ext>
            </a:extLst>
          </p:cNvPr>
          <p:cNvSpPr/>
          <p:nvPr/>
        </p:nvSpPr>
        <p:spPr>
          <a:xfrm>
            <a:off x="5521487" y="2688765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1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331B255-3A5F-4882-A5E4-B2BC87EFF8BE}"/>
              </a:ext>
            </a:extLst>
          </p:cNvPr>
          <p:cNvSpPr/>
          <p:nvPr/>
        </p:nvSpPr>
        <p:spPr>
          <a:xfrm>
            <a:off x="5521486" y="3040789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2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C1CC138-3C78-4895-A2F5-8555618DA225}"/>
              </a:ext>
            </a:extLst>
          </p:cNvPr>
          <p:cNvSpPr/>
          <p:nvPr/>
        </p:nvSpPr>
        <p:spPr>
          <a:xfrm>
            <a:off x="5523932" y="3391983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688285E-0209-4649-8DC2-4FB8BB1A2EDD}"/>
              </a:ext>
            </a:extLst>
          </p:cNvPr>
          <p:cNvSpPr/>
          <p:nvPr/>
        </p:nvSpPr>
        <p:spPr>
          <a:xfrm>
            <a:off x="5521485" y="3753713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4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41D02E8-1C1B-4E6A-B377-D25C15467743}"/>
              </a:ext>
            </a:extLst>
          </p:cNvPr>
          <p:cNvSpPr txBox="1"/>
          <p:nvPr/>
        </p:nvSpPr>
        <p:spPr>
          <a:xfrm>
            <a:off x="5379218" y="2384318"/>
            <a:ext cx="17422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 Page Table</a:t>
            </a:r>
            <a:endParaRPr lang="zh-CN" altLang="en-US" sz="14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6359F2F-BE90-4063-B568-F04692FAE41D}"/>
              </a:ext>
            </a:extLst>
          </p:cNvPr>
          <p:cNvCxnSpPr>
            <a:stCxn id="32" idx="0"/>
            <a:endCxn id="37" idx="1"/>
          </p:cNvCxnSpPr>
          <p:nvPr/>
        </p:nvCxnSpPr>
        <p:spPr>
          <a:xfrm rot="5400000" flipH="1" flipV="1">
            <a:off x="4194111" y="3212897"/>
            <a:ext cx="1859797" cy="510418"/>
          </a:xfrm>
          <a:prstGeom prst="curvedConnector2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0812001-AB6B-4561-A4A1-32147DE0AFFE}"/>
              </a:ext>
            </a:extLst>
          </p:cNvPr>
          <p:cNvCxnSpPr>
            <a:cxnSpLocks/>
            <a:stCxn id="33" idx="3"/>
            <a:endCxn id="28" idx="1"/>
          </p:cNvCxnSpPr>
          <p:nvPr/>
        </p:nvCxnSpPr>
        <p:spPr>
          <a:xfrm>
            <a:off x="6979226" y="2836195"/>
            <a:ext cx="2028071" cy="115436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7">
            <a:extLst>
              <a:ext uri="{FF2B5EF4-FFF2-40B4-BE49-F238E27FC236}">
                <a16:creationId xmlns:a16="http://schemas.microsoft.com/office/drawing/2014/main" id="{EF625E9E-EB99-4095-8BDC-C442392D420D}"/>
              </a:ext>
            </a:extLst>
          </p:cNvPr>
          <p:cNvCxnSpPr>
            <a:cxnSpLocks/>
            <a:stCxn id="34" idx="3"/>
            <a:endCxn id="29" idx="1"/>
          </p:cNvCxnSpPr>
          <p:nvPr/>
        </p:nvCxnSpPr>
        <p:spPr>
          <a:xfrm>
            <a:off x="6979225" y="3188219"/>
            <a:ext cx="2028071" cy="115436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37">
            <a:extLst>
              <a:ext uri="{FF2B5EF4-FFF2-40B4-BE49-F238E27FC236}">
                <a16:creationId xmlns:a16="http://schemas.microsoft.com/office/drawing/2014/main" id="{6E72821D-9A2A-45F1-8B38-AE52BA3CFC24}"/>
              </a:ext>
            </a:extLst>
          </p:cNvPr>
          <p:cNvCxnSpPr>
            <a:cxnSpLocks/>
            <a:stCxn id="35" idx="3"/>
            <a:endCxn id="30" idx="1"/>
          </p:cNvCxnSpPr>
          <p:nvPr/>
        </p:nvCxnSpPr>
        <p:spPr>
          <a:xfrm>
            <a:off x="6981671" y="3539413"/>
            <a:ext cx="2028071" cy="115436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37">
            <a:extLst>
              <a:ext uri="{FF2B5EF4-FFF2-40B4-BE49-F238E27FC236}">
                <a16:creationId xmlns:a16="http://schemas.microsoft.com/office/drawing/2014/main" id="{BDD1245E-CAA1-4B4D-9A04-8A9793B9923D}"/>
              </a:ext>
            </a:extLst>
          </p:cNvPr>
          <p:cNvCxnSpPr>
            <a:cxnSpLocks/>
            <a:stCxn id="36" idx="3"/>
            <a:endCxn id="31" idx="1"/>
          </p:cNvCxnSpPr>
          <p:nvPr/>
        </p:nvCxnSpPr>
        <p:spPr>
          <a:xfrm>
            <a:off x="6979224" y="3901143"/>
            <a:ext cx="2028071" cy="115436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E9BCA573-6EDE-4E52-9705-8D7C7872ACEA}"/>
              </a:ext>
            </a:extLst>
          </p:cNvPr>
          <p:cNvSpPr/>
          <p:nvPr/>
        </p:nvSpPr>
        <p:spPr>
          <a:xfrm>
            <a:off x="5506505" y="4591469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1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897CD2B-C63A-4DCE-A385-38C0B9AC78AF}"/>
              </a:ext>
            </a:extLst>
          </p:cNvPr>
          <p:cNvSpPr/>
          <p:nvPr/>
        </p:nvSpPr>
        <p:spPr>
          <a:xfrm>
            <a:off x="5506504" y="4943493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2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80BB1A7-E67D-4563-B15C-7C5281CBAAE4}"/>
              </a:ext>
            </a:extLst>
          </p:cNvPr>
          <p:cNvSpPr/>
          <p:nvPr/>
        </p:nvSpPr>
        <p:spPr>
          <a:xfrm>
            <a:off x="5508950" y="5294687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85A6B2D-6DCB-4568-AA63-A1736FE09AB6}"/>
              </a:ext>
            </a:extLst>
          </p:cNvPr>
          <p:cNvSpPr/>
          <p:nvPr/>
        </p:nvSpPr>
        <p:spPr>
          <a:xfrm>
            <a:off x="5506503" y="5656417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4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33822AC-7F50-41F4-AE7A-9EA0252B6D22}"/>
              </a:ext>
            </a:extLst>
          </p:cNvPr>
          <p:cNvSpPr txBox="1"/>
          <p:nvPr/>
        </p:nvSpPr>
        <p:spPr>
          <a:xfrm>
            <a:off x="5364236" y="4287022"/>
            <a:ext cx="18579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Shadow Page Table</a:t>
            </a:r>
            <a:endParaRPr lang="zh-CN" altLang="en-US" sz="14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直接箭头连接符 37">
            <a:extLst>
              <a:ext uri="{FF2B5EF4-FFF2-40B4-BE49-F238E27FC236}">
                <a16:creationId xmlns:a16="http://schemas.microsoft.com/office/drawing/2014/main" id="{9FBB9B8E-1943-4250-9C32-6B47940BFB19}"/>
              </a:ext>
            </a:extLst>
          </p:cNvPr>
          <p:cNvCxnSpPr>
            <a:cxnSpLocks/>
            <a:stCxn id="40" idx="3"/>
            <a:endCxn id="28" idx="1"/>
          </p:cNvCxnSpPr>
          <p:nvPr/>
        </p:nvCxnSpPr>
        <p:spPr>
          <a:xfrm flipV="1">
            <a:off x="6964244" y="3990564"/>
            <a:ext cx="2043053" cy="748335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37">
            <a:extLst>
              <a:ext uri="{FF2B5EF4-FFF2-40B4-BE49-F238E27FC236}">
                <a16:creationId xmlns:a16="http://schemas.microsoft.com/office/drawing/2014/main" id="{7A927A94-CCB0-40CE-8820-D67B40B39381}"/>
              </a:ext>
            </a:extLst>
          </p:cNvPr>
          <p:cNvCxnSpPr>
            <a:cxnSpLocks/>
            <a:stCxn id="41" idx="3"/>
            <a:endCxn id="29" idx="1"/>
          </p:cNvCxnSpPr>
          <p:nvPr/>
        </p:nvCxnSpPr>
        <p:spPr>
          <a:xfrm flipV="1">
            <a:off x="6964243" y="4342588"/>
            <a:ext cx="2043053" cy="748335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37">
            <a:extLst>
              <a:ext uri="{FF2B5EF4-FFF2-40B4-BE49-F238E27FC236}">
                <a16:creationId xmlns:a16="http://schemas.microsoft.com/office/drawing/2014/main" id="{4A0101FC-E02D-4BB5-920B-1F7C42B98E7E}"/>
              </a:ext>
            </a:extLst>
          </p:cNvPr>
          <p:cNvCxnSpPr>
            <a:cxnSpLocks/>
            <a:stCxn id="43" idx="3"/>
            <a:endCxn id="30" idx="1"/>
          </p:cNvCxnSpPr>
          <p:nvPr/>
        </p:nvCxnSpPr>
        <p:spPr>
          <a:xfrm flipV="1">
            <a:off x="6966689" y="4693782"/>
            <a:ext cx="2043053" cy="748335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37">
            <a:extLst>
              <a:ext uri="{FF2B5EF4-FFF2-40B4-BE49-F238E27FC236}">
                <a16:creationId xmlns:a16="http://schemas.microsoft.com/office/drawing/2014/main" id="{0ABEF4E8-688C-404B-8870-562F4357DC1E}"/>
              </a:ext>
            </a:extLst>
          </p:cNvPr>
          <p:cNvCxnSpPr>
            <a:cxnSpLocks/>
            <a:stCxn id="44" idx="3"/>
            <a:endCxn id="55" idx="1"/>
          </p:cNvCxnSpPr>
          <p:nvPr/>
        </p:nvCxnSpPr>
        <p:spPr>
          <a:xfrm flipV="1">
            <a:off x="6964242" y="5424624"/>
            <a:ext cx="2043052" cy="379223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对话气泡: 圆角矩形 50">
            <a:extLst>
              <a:ext uri="{FF2B5EF4-FFF2-40B4-BE49-F238E27FC236}">
                <a16:creationId xmlns:a16="http://schemas.microsoft.com/office/drawing/2014/main" id="{B2BD8F2C-653F-42A8-BD89-213110DAE96F}"/>
              </a:ext>
            </a:extLst>
          </p:cNvPr>
          <p:cNvSpPr/>
          <p:nvPr/>
        </p:nvSpPr>
        <p:spPr>
          <a:xfrm>
            <a:off x="3604591" y="1149422"/>
            <a:ext cx="3160644" cy="845498"/>
          </a:xfrm>
          <a:prstGeom prst="wedgeRoundRectCallout">
            <a:avLst>
              <a:gd name="adj1" fmla="val 20499"/>
              <a:gd name="adj2" fmla="val 100987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Read-only </a:t>
            </a:r>
            <a:r>
              <a:rPr lang="en-US" altLang="zh-CN" b="1" i="1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txns</a:t>
            </a:r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access the</a:t>
            </a: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master.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对话气泡: 圆角矩形 51">
            <a:extLst>
              <a:ext uri="{FF2B5EF4-FFF2-40B4-BE49-F238E27FC236}">
                <a16:creationId xmlns:a16="http://schemas.microsoft.com/office/drawing/2014/main" id="{B8859156-9992-48F9-A534-28CA892B6DC4}"/>
              </a:ext>
            </a:extLst>
          </p:cNvPr>
          <p:cNvSpPr/>
          <p:nvPr/>
        </p:nvSpPr>
        <p:spPr>
          <a:xfrm>
            <a:off x="2345859" y="6018147"/>
            <a:ext cx="3160644" cy="845498"/>
          </a:xfrm>
          <a:prstGeom prst="wedgeRoundRectCallout">
            <a:avLst>
              <a:gd name="adj1" fmla="val 60960"/>
              <a:gd name="adj2" fmla="val -52616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 modifying </a:t>
            </a:r>
            <a:r>
              <a:rPr lang="en-US" altLang="zh-CN" b="1" i="1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endParaRPr lang="en-US" altLang="zh-CN" b="1" i="1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updates shadow pages.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箭头: 右 52">
            <a:extLst>
              <a:ext uri="{FF2B5EF4-FFF2-40B4-BE49-F238E27FC236}">
                <a16:creationId xmlns:a16="http://schemas.microsoft.com/office/drawing/2014/main" id="{DBE9EC53-61BF-4D07-8FFC-FA766ACEF1E2}"/>
              </a:ext>
            </a:extLst>
          </p:cNvPr>
          <p:cNvSpPr/>
          <p:nvPr/>
        </p:nvSpPr>
        <p:spPr>
          <a:xfrm>
            <a:off x="971344" y="3315706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4" name="直接箭头连接符 18">
            <a:extLst>
              <a:ext uri="{FF2B5EF4-FFF2-40B4-BE49-F238E27FC236}">
                <a16:creationId xmlns:a16="http://schemas.microsoft.com/office/drawing/2014/main" id="{77DC7CA1-B26F-44E8-80DB-5D24CF385677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2636478" y="3452538"/>
            <a:ext cx="2870025" cy="235130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9378CFD9-C78B-45BA-A116-74CD618D2EE4}"/>
              </a:ext>
            </a:extLst>
          </p:cNvPr>
          <p:cNvSpPr/>
          <p:nvPr/>
        </p:nvSpPr>
        <p:spPr>
          <a:xfrm>
            <a:off x="9007294" y="5277194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4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2660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Shadow Paging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162C-57AD-4322-82D5-6C0DE74572B0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216848" y="1994920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485095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32328" y="2285800"/>
          <a:ext cx="1323685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W(Page 4)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W(Page 1)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4F8773-A445-4120-A2E5-0C06D2B7558F}"/>
              </a:ext>
            </a:extLst>
          </p:cNvPr>
          <p:cNvSpPr/>
          <p:nvPr/>
        </p:nvSpPr>
        <p:spPr>
          <a:xfrm>
            <a:off x="9007295" y="3491110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B75AEE6-D9FE-4A4C-A054-92CB25872206}"/>
              </a:ext>
            </a:extLst>
          </p:cNvPr>
          <p:cNvSpPr/>
          <p:nvPr/>
        </p:nvSpPr>
        <p:spPr>
          <a:xfrm>
            <a:off x="9007297" y="3843134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1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C17E4B9-FCF9-4278-8D40-2B72DAE3D56A}"/>
              </a:ext>
            </a:extLst>
          </p:cNvPr>
          <p:cNvSpPr/>
          <p:nvPr/>
        </p:nvSpPr>
        <p:spPr>
          <a:xfrm>
            <a:off x="9007296" y="4195158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2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EE428B3-BF70-4CEA-8BFF-E9A7DA9264F1}"/>
              </a:ext>
            </a:extLst>
          </p:cNvPr>
          <p:cNvSpPr/>
          <p:nvPr/>
        </p:nvSpPr>
        <p:spPr>
          <a:xfrm>
            <a:off x="9009742" y="4546352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5344B6D-4174-4359-AECB-1260924A535A}"/>
              </a:ext>
            </a:extLst>
          </p:cNvPr>
          <p:cNvSpPr/>
          <p:nvPr/>
        </p:nvSpPr>
        <p:spPr>
          <a:xfrm>
            <a:off x="9007295" y="4908082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4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2296EAB-B537-4762-947F-8385E2E815BC}"/>
              </a:ext>
            </a:extLst>
          </p:cNvPr>
          <p:cNvSpPr/>
          <p:nvPr/>
        </p:nvSpPr>
        <p:spPr>
          <a:xfrm>
            <a:off x="4502439" y="4398004"/>
            <a:ext cx="732722" cy="24759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C425AAD-7A9B-4871-8615-A2E5C8A703F5}"/>
              </a:ext>
            </a:extLst>
          </p:cNvPr>
          <p:cNvSpPr/>
          <p:nvPr/>
        </p:nvSpPr>
        <p:spPr>
          <a:xfrm>
            <a:off x="5521487" y="2688765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1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331B255-3A5F-4882-A5E4-B2BC87EFF8BE}"/>
              </a:ext>
            </a:extLst>
          </p:cNvPr>
          <p:cNvSpPr/>
          <p:nvPr/>
        </p:nvSpPr>
        <p:spPr>
          <a:xfrm>
            <a:off x="5521486" y="3040789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2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C1CC138-3C78-4895-A2F5-8555618DA225}"/>
              </a:ext>
            </a:extLst>
          </p:cNvPr>
          <p:cNvSpPr/>
          <p:nvPr/>
        </p:nvSpPr>
        <p:spPr>
          <a:xfrm>
            <a:off x="5523932" y="3391983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688285E-0209-4649-8DC2-4FB8BB1A2EDD}"/>
              </a:ext>
            </a:extLst>
          </p:cNvPr>
          <p:cNvSpPr/>
          <p:nvPr/>
        </p:nvSpPr>
        <p:spPr>
          <a:xfrm>
            <a:off x="5521485" y="3753713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4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41D02E8-1C1B-4E6A-B377-D25C15467743}"/>
              </a:ext>
            </a:extLst>
          </p:cNvPr>
          <p:cNvSpPr txBox="1"/>
          <p:nvPr/>
        </p:nvSpPr>
        <p:spPr>
          <a:xfrm>
            <a:off x="5379218" y="2384318"/>
            <a:ext cx="17422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 Page Table</a:t>
            </a:r>
            <a:endParaRPr lang="zh-CN" altLang="en-US" sz="14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6359F2F-BE90-4063-B568-F04692FAE41D}"/>
              </a:ext>
            </a:extLst>
          </p:cNvPr>
          <p:cNvCxnSpPr>
            <a:stCxn id="32" idx="0"/>
            <a:endCxn id="37" idx="1"/>
          </p:cNvCxnSpPr>
          <p:nvPr/>
        </p:nvCxnSpPr>
        <p:spPr>
          <a:xfrm rot="5400000" flipH="1" flipV="1">
            <a:off x="4194111" y="3212897"/>
            <a:ext cx="1859797" cy="510418"/>
          </a:xfrm>
          <a:prstGeom prst="curvedConnector2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0812001-AB6B-4561-A4A1-32147DE0AFFE}"/>
              </a:ext>
            </a:extLst>
          </p:cNvPr>
          <p:cNvCxnSpPr>
            <a:cxnSpLocks/>
            <a:stCxn id="33" idx="3"/>
            <a:endCxn id="28" idx="1"/>
          </p:cNvCxnSpPr>
          <p:nvPr/>
        </p:nvCxnSpPr>
        <p:spPr>
          <a:xfrm>
            <a:off x="6979226" y="2836195"/>
            <a:ext cx="2028071" cy="115436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7">
            <a:extLst>
              <a:ext uri="{FF2B5EF4-FFF2-40B4-BE49-F238E27FC236}">
                <a16:creationId xmlns:a16="http://schemas.microsoft.com/office/drawing/2014/main" id="{EF625E9E-EB99-4095-8BDC-C442392D420D}"/>
              </a:ext>
            </a:extLst>
          </p:cNvPr>
          <p:cNvCxnSpPr>
            <a:cxnSpLocks/>
            <a:stCxn id="34" idx="3"/>
            <a:endCxn id="29" idx="1"/>
          </p:cNvCxnSpPr>
          <p:nvPr/>
        </p:nvCxnSpPr>
        <p:spPr>
          <a:xfrm>
            <a:off x="6979225" y="3188219"/>
            <a:ext cx="2028071" cy="115436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37">
            <a:extLst>
              <a:ext uri="{FF2B5EF4-FFF2-40B4-BE49-F238E27FC236}">
                <a16:creationId xmlns:a16="http://schemas.microsoft.com/office/drawing/2014/main" id="{6E72821D-9A2A-45F1-8B38-AE52BA3CFC24}"/>
              </a:ext>
            </a:extLst>
          </p:cNvPr>
          <p:cNvCxnSpPr>
            <a:cxnSpLocks/>
            <a:stCxn id="35" idx="3"/>
            <a:endCxn id="30" idx="1"/>
          </p:cNvCxnSpPr>
          <p:nvPr/>
        </p:nvCxnSpPr>
        <p:spPr>
          <a:xfrm>
            <a:off x="6981671" y="3539413"/>
            <a:ext cx="2028071" cy="115436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37">
            <a:extLst>
              <a:ext uri="{FF2B5EF4-FFF2-40B4-BE49-F238E27FC236}">
                <a16:creationId xmlns:a16="http://schemas.microsoft.com/office/drawing/2014/main" id="{BDD1245E-CAA1-4B4D-9A04-8A9793B9923D}"/>
              </a:ext>
            </a:extLst>
          </p:cNvPr>
          <p:cNvCxnSpPr>
            <a:cxnSpLocks/>
            <a:stCxn id="36" idx="3"/>
            <a:endCxn id="31" idx="1"/>
          </p:cNvCxnSpPr>
          <p:nvPr/>
        </p:nvCxnSpPr>
        <p:spPr>
          <a:xfrm>
            <a:off x="6979224" y="3901143"/>
            <a:ext cx="2028071" cy="115436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E9BCA573-6EDE-4E52-9705-8D7C7872ACEA}"/>
              </a:ext>
            </a:extLst>
          </p:cNvPr>
          <p:cNvSpPr/>
          <p:nvPr/>
        </p:nvSpPr>
        <p:spPr>
          <a:xfrm>
            <a:off x="5506505" y="4591469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1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897CD2B-C63A-4DCE-A385-38C0B9AC78AF}"/>
              </a:ext>
            </a:extLst>
          </p:cNvPr>
          <p:cNvSpPr/>
          <p:nvPr/>
        </p:nvSpPr>
        <p:spPr>
          <a:xfrm>
            <a:off x="5506504" y="4943493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2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80BB1A7-E67D-4563-B15C-7C5281CBAAE4}"/>
              </a:ext>
            </a:extLst>
          </p:cNvPr>
          <p:cNvSpPr/>
          <p:nvPr/>
        </p:nvSpPr>
        <p:spPr>
          <a:xfrm>
            <a:off x="5508950" y="5294687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85A6B2D-6DCB-4568-AA63-A1736FE09AB6}"/>
              </a:ext>
            </a:extLst>
          </p:cNvPr>
          <p:cNvSpPr/>
          <p:nvPr/>
        </p:nvSpPr>
        <p:spPr>
          <a:xfrm>
            <a:off x="5506503" y="5656417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4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33822AC-7F50-41F4-AE7A-9EA0252B6D22}"/>
              </a:ext>
            </a:extLst>
          </p:cNvPr>
          <p:cNvSpPr txBox="1"/>
          <p:nvPr/>
        </p:nvSpPr>
        <p:spPr>
          <a:xfrm>
            <a:off x="5364236" y="4287022"/>
            <a:ext cx="18579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Shadow Page Table</a:t>
            </a:r>
            <a:endParaRPr lang="zh-CN" altLang="en-US" sz="14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直接箭头连接符 37">
            <a:extLst>
              <a:ext uri="{FF2B5EF4-FFF2-40B4-BE49-F238E27FC236}">
                <a16:creationId xmlns:a16="http://schemas.microsoft.com/office/drawing/2014/main" id="{9FBB9B8E-1943-4250-9C32-6B47940BFB19}"/>
              </a:ext>
            </a:extLst>
          </p:cNvPr>
          <p:cNvCxnSpPr>
            <a:cxnSpLocks/>
            <a:stCxn id="40" idx="3"/>
            <a:endCxn id="56" idx="1"/>
          </p:cNvCxnSpPr>
          <p:nvPr/>
        </p:nvCxnSpPr>
        <p:spPr>
          <a:xfrm>
            <a:off x="6964244" y="4738899"/>
            <a:ext cx="2043050" cy="104633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37">
            <a:extLst>
              <a:ext uri="{FF2B5EF4-FFF2-40B4-BE49-F238E27FC236}">
                <a16:creationId xmlns:a16="http://schemas.microsoft.com/office/drawing/2014/main" id="{7A927A94-CCB0-40CE-8820-D67B40B39381}"/>
              </a:ext>
            </a:extLst>
          </p:cNvPr>
          <p:cNvCxnSpPr>
            <a:cxnSpLocks/>
            <a:stCxn id="41" idx="3"/>
            <a:endCxn id="29" idx="1"/>
          </p:cNvCxnSpPr>
          <p:nvPr/>
        </p:nvCxnSpPr>
        <p:spPr>
          <a:xfrm flipV="1">
            <a:off x="6964243" y="4342588"/>
            <a:ext cx="2043053" cy="748335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37">
            <a:extLst>
              <a:ext uri="{FF2B5EF4-FFF2-40B4-BE49-F238E27FC236}">
                <a16:creationId xmlns:a16="http://schemas.microsoft.com/office/drawing/2014/main" id="{4A0101FC-E02D-4BB5-920B-1F7C42B98E7E}"/>
              </a:ext>
            </a:extLst>
          </p:cNvPr>
          <p:cNvCxnSpPr>
            <a:cxnSpLocks/>
            <a:stCxn id="43" idx="3"/>
            <a:endCxn id="30" idx="1"/>
          </p:cNvCxnSpPr>
          <p:nvPr/>
        </p:nvCxnSpPr>
        <p:spPr>
          <a:xfrm flipV="1">
            <a:off x="6966689" y="4693782"/>
            <a:ext cx="2043053" cy="748335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37">
            <a:extLst>
              <a:ext uri="{FF2B5EF4-FFF2-40B4-BE49-F238E27FC236}">
                <a16:creationId xmlns:a16="http://schemas.microsoft.com/office/drawing/2014/main" id="{0ABEF4E8-688C-404B-8870-562F4357DC1E}"/>
              </a:ext>
            </a:extLst>
          </p:cNvPr>
          <p:cNvCxnSpPr>
            <a:cxnSpLocks/>
            <a:stCxn id="44" idx="3"/>
            <a:endCxn id="55" idx="1"/>
          </p:cNvCxnSpPr>
          <p:nvPr/>
        </p:nvCxnSpPr>
        <p:spPr>
          <a:xfrm flipV="1">
            <a:off x="6964242" y="5424624"/>
            <a:ext cx="2043052" cy="379223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对话气泡: 圆角矩形 50">
            <a:extLst>
              <a:ext uri="{FF2B5EF4-FFF2-40B4-BE49-F238E27FC236}">
                <a16:creationId xmlns:a16="http://schemas.microsoft.com/office/drawing/2014/main" id="{B2BD8F2C-653F-42A8-BD89-213110DAE96F}"/>
              </a:ext>
            </a:extLst>
          </p:cNvPr>
          <p:cNvSpPr/>
          <p:nvPr/>
        </p:nvSpPr>
        <p:spPr>
          <a:xfrm>
            <a:off x="3604591" y="1149422"/>
            <a:ext cx="3160644" cy="845498"/>
          </a:xfrm>
          <a:prstGeom prst="wedgeRoundRectCallout">
            <a:avLst>
              <a:gd name="adj1" fmla="val 20499"/>
              <a:gd name="adj2" fmla="val 100987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Read-only </a:t>
            </a:r>
            <a:r>
              <a:rPr lang="en-US" altLang="zh-CN" b="1" i="1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txns</a:t>
            </a:r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access the</a:t>
            </a: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master.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对话气泡: 圆角矩形 51">
            <a:extLst>
              <a:ext uri="{FF2B5EF4-FFF2-40B4-BE49-F238E27FC236}">
                <a16:creationId xmlns:a16="http://schemas.microsoft.com/office/drawing/2014/main" id="{B8859156-9992-48F9-A534-28CA892B6DC4}"/>
              </a:ext>
            </a:extLst>
          </p:cNvPr>
          <p:cNvSpPr/>
          <p:nvPr/>
        </p:nvSpPr>
        <p:spPr>
          <a:xfrm>
            <a:off x="2345859" y="6018147"/>
            <a:ext cx="3160644" cy="845498"/>
          </a:xfrm>
          <a:prstGeom prst="wedgeRoundRectCallout">
            <a:avLst>
              <a:gd name="adj1" fmla="val 60960"/>
              <a:gd name="adj2" fmla="val -52616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 modifying </a:t>
            </a:r>
            <a:r>
              <a:rPr lang="en-US" altLang="zh-CN" b="1" i="1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endParaRPr lang="en-US" altLang="zh-CN" b="1" i="1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updates shadow pages.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箭头: 右 52">
            <a:extLst>
              <a:ext uri="{FF2B5EF4-FFF2-40B4-BE49-F238E27FC236}">
                <a16:creationId xmlns:a16="http://schemas.microsoft.com/office/drawing/2014/main" id="{DBE9EC53-61BF-4D07-8FFC-FA766ACEF1E2}"/>
              </a:ext>
            </a:extLst>
          </p:cNvPr>
          <p:cNvSpPr/>
          <p:nvPr/>
        </p:nvSpPr>
        <p:spPr>
          <a:xfrm>
            <a:off x="971344" y="3918678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4" name="直接箭头连接符 18">
            <a:extLst>
              <a:ext uri="{FF2B5EF4-FFF2-40B4-BE49-F238E27FC236}">
                <a16:creationId xmlns:a16="http://schemas.microsoft.com/office/drawing/2014/main" id="{77DC7CA1-B26F-44E8-80DB-5D24CF385677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2551043" y="4165906"/>
            <a:ext cx="2955462" cy="572993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9378CFD9-C78B-45BA-A116-74CD618D2EE4}"/>
              </a:ext>
            </a:extLst>
          </p:cNvPr>
          <p:cNvSpPr/>
          <p:nvPr/>
        </p:nvSpPr>
        <p:spPr>
          <a:xfrm>
            <a:off x="9007294" y="5277194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4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1FC3AF8-A9F2-4B9D-84F9-A8A6005363E2}"/>
              </a:ext>
            </a:extLst>
          </p:cNvPr>
          <p:cNvSpPr/>
          <p:nvPr/>
        </p:nvSpPr>
        <p:spPr>
          <a:xfrm>
            <a:off x="9007294" y="5637808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1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7900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Shadow Paging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D4583-3929-49B7-9DCE-DA548229C564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216848" y="1994920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485095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32328" y="2285800"/>
          <a:ext cx="1323685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W(Page 4)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W(Page 1)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4F8773-A445-4120-A2E5-0C06D2B7558F}"/>
              </a:ext>
            </a:extLst>
          </p:cNvPr>
          <p:cNvSpPr/>
          <p:nvPr/>
        </p:nvSpPr>
        <p:spPr>
          <a:xfrm>
            <a:off x="9007295" y="3491110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B75AEE6-D9FE-4A4C-A054-92CB25872206}"/>
              </a:ext>
            </a:extLst>
          </p:cNvPr>
          <p:cNvSpPr/>
          <p:nvPr/>
        </p:nvSpPr>
        <p:spPr>
          <a:xfrm>
            <a:off x="9007297" y="3843134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1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C17E4B9-FCF9-4278-8D40-2B72DAE3D56A}"/>
              </a:ext>
            </a:extLst>
          </p:cNvPr>
          <p:cNvSpPr/>
          <p:nvPr/>
        </p:nvSpPr>
        <p:spPr>
          <a:xfrm>
            <a:off x="9007296" y="4195158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2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EE428B3-BF70-4CEA-8BFF-E9A7DA9264F1}"/>
              </a:ext>
            </a:extLst>
          </p:cNvPr>
          <p:cNvSpPr/>
          <p:nvPr/>
        </p:nvSpPr>
        <p:spPr>
          <a:xfrm>
            <a:off x="9009742" y="4546352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5344B6D-4174-4359-AECB-1260924A535A}"/>
              </a:ext>
            </a:extLst>
          </p:cNvPr>
          <p:cNvSpPr/>
          <p:nvPr/>
        </p:nvSpPr>
        <p:spPr>
          <a:xfrm>
            <a:off x="9007295" y="4908082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4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2296EAB-B537-4762-947F-8385E2E815BC}"/>
              </a:ext>
            </a:extLst>
          </p:cNvPr>
          <p:cNvSpPr/>
          <p:nvPr/>
        </p:nvSpPr>
        <p:spPr>
          <a:xfrm>
            <a:off x="4502439" y="4398004"/>
            <a:ext cx="732722" cy="24759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C425AAD-7A9B-4871-8615-A2E5C8A703F5}"/>
              </a:ext>
            </a:extLst>
          </p:cNvPr>
          <p:cNvSpPr/>
          <p:nvPr/>
        </p:nvSpPr>
        <p:spPr>
          <a:xfrm>
            <a:off x="5521487" y="2688765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1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331B255-3A5F-4882-A5E4-B2BC87EFF8BE}"/>
              </a:ext>
            </a:extLst>
          </p:cNvPr>
          <p:cNvSpPr/>
          <p:nvPr/>
        </p:nvSpPr>
        <p:spPr>
          <a:xfrm>
            <a:off x="5521486" y="3040789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2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C1CC138-3C78-4895-A2F5-8555618DA225}"/>
              </a:ext>
            </a:extLst>
          </p:cNvPr>
          <p:cNvSpPr/>
          <p:nvPr/>
        </p:nvSpPr>
        <p:spPr>
          <a:xfrm>
            <a:off x="5523932" y="3391983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688285E-0209-4649-8DC2-4FB8BB1A2EDD}"/>
              </a:ext>
            </a:extLst>
          </p:cNvPr>
          <p:cNvSpPr/>
          <p:nvPr/>
        </p:nvSpPr>
        <p:spPr>
          <a:xfrm>
            <a:off x="5521485" y="3753713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4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41D02E8-1C1B-4E6A-B377-D25C15467743}"/>
              </a:ext>
            </a:extLst>
          </p:cNvPr>
          <p:cNvSpPr txBox="1"/>
          <p:nvPr/>
        </p:nvSpPr>
        <p:spPr>
          <a:xfrm>
            <a:off x="5379218" y="2384318"/>
            <a:ext cx="17422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 Page Table</a:t>
            </a:r>
            <a:endParaRPr lang="zh-CN" altLang="en-US" sz="14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6359F2F-BE90-4063-B568-F04692FAE41D}"/>
              </a:ext>
            </a:extLst>
          </p:cNvPr>
          <p:cNvCxnSpPr>
            <a:cxnSpLocks/>
            <a:stCxn id="32" idx="2"/>
            <a:endCxn id="46" idx="1"/>
          </p:cNvCxnSpPr>
          <p:nvPr/>
        </p:nvCxnSpPr>
        <p:spPr>
          <a:xfrm rot="5400000" flipH="1" flipV="1">
            <a:off x="5014176" y="4295535"/>
            <a:ext cx="204684" cy="495436"/>
          </a:xfrm>
          <a:prstGeom prst="curvedConnector4">
            <a:avLst>
              <a:gd name="adj1" fmla="val -111684"/>
              <a:gd name="adj2" fmla="val 86973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0812001-AB6B-4561-A4A1-32147DE0AFFE}"/>
              </a:ext>
            </a:extLst>
          </p:cNvPr>
          <p:cNvCxnSpPr>
            <a:cxnSpLocks/>
            <a:stCxn id="33" idx="3"/>
            <a:endCxn id="28" idx="1"/>
          </p:cNvCxnSpPr>
          <p:nvPr/>
        </p:nvCxnSpPr>
        <p:spPr>
          <a:xfrm>
            <a:off x="6979226" y="2836195"/>
            <a:ext cx="2028071" cy="115436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7">
            <a:extLst>
              <a:ext uri="{FF2B5EF4-FFF2-40B4-BE49-F238E27FC236}">
                <a16:creationId xmlns:a16="http://schemas.microsoft.com/office/drawing/2014/main" id="{EF625E9E-EB99-4095-8BDC-C442392D420D}"/>
              </a:ext>
            </a:extLst>
          </p:cNvPr>
          <p:cNvCxnSpPr>
            <a:cxnSpLocks/>
            <a:stCxn id="34" idx="3"/>
            <a:endCxn id="29" idx="1"/>
          </p:cNvCxnSpPr>
          <p:nvPr/>
        </p:nvCxnSpPr>
        <p:spPr>
          <a:xfrm>
            <a:off x="6979225" y="3188219"/>
            <a:ext cx="2028071" cy="115436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37">
            <a:extLst>
              <a:ext uri="{FF2B5EF4-FFF2-40B4-BE49-F238E27FC236}">
                <a16:creationId xmlns:a16="http://schemas.microsoft.com/office/drawing/2014/main" id="{6E72821D-9A2A-45F1-8B38-AE52BA3CFC24}"/>
              </a:ext>
            </a:extLst>
          </p:cNvPr>
          <p:cNvCxnSpPr>
            <a:cxnSpLocks/>
            <a:stCxn id="35" idx="3"/>
            <a:endCxn id="30" idx="1"/>
          </p:cNvCxnSpPr>
          <p:nvPr/>
        </p:nvCxnSpPr>
        <p:spPr>
          <a:xfrm>
            <a:off x="6981671" y="3539413"/>
            <a:ext cx="2028071" cy="115436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37">
            <a:extLst>
              <a:ext uri="{FF2B5EF4-FFF2-40B4-BE49-F238E27FC236}">
                <a16:creationId xmlns:a16="http://schemas.microsoft.com/office/drawing/2014/main" id="{BDD1245E-CAA1-4B4D-9A04-8A9793B9923D}"/>
              </a:ext>
            </a:extLst>
          </p:cNvPr>
          <p:cNvCxnSpPr>
            <a:cxnSpLocks/>
            <a:stCxn id="36" idx="3"/>
            <a:endCxn id="31" idx="1"/>
          </p:cNvCxnSpPr>
          <p:nvPr/>
        </p:nvCxnSpPr>
        <p:spPr>
          <a:xfrm>
            <a:off x="6979224" y="3901143"/>
            <a:ext cx="2028071" cy="115436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E9BCA573-6EDE-4E52-9705-8D7C7872ACEA}"/>
              </a:ext>
            </a:extLst>
          </p:cNvPr>
          <p:cNvSpPr/>
          <p:nvPr/>
        </p:nvSpPr>
        <p:spPr>
          <a:xfrm>
            <a:off x="5506505" y="4591469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1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897CD2B-C63A-4DCE-A385-38C0B9AC78AF}"/>
              </a:ext>
            </a:extLst>
          </p:cNvPr>
          <p:cNvSpPr/>
          <p:nvPr/>
        </p:nvSpPr>
        <p:spPr>
          <a:xfrm>
            <a:off x="5506504" y="4943493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2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80BB1A7-E67D-4563-B15C-7C5281CBAAE4}"/>
              </a:ext>
            </a:extLst>
          </p:cNvPr>
          <p:cNvSpPr/>
          <p:nvPr/>
        </p:nvSpPr>
        <p:spPr>
          <a:xfrm>
            <a:off x="5508950" y="5294687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85A6B2D-6DCB-4568-AA63-A1736FE09AB6}"/>
              </a:ext>
            </a:extLst>
          </p:cNvPr>
          <p:cNvSpPr/>
          <p:nvPr/>
        </p:nvSpPr>
        <p:spPr>
          <a:xfrm>
            <a:off x="5506503" y="5656417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4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33822AC-7F50-41F4-AE7A-9EA0252B6D22}"/>
              </a:ext>
            </a:extLst>
          </p:cNvPr>
          <p:cNvSpPr txBox="1"/>
          <p:nvPr/>
        </p:nvSpPr>
        <p:spPr>
          <a:xfrm>
            <a:off x="5364236" y="4287022"/>
            <a:ext cx="18579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Shadow Page Table</a:t>
            </a:r>
            <a:endParaRPr lang="zh-CN" altLang="en-US" sz="14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直接箭头连接符 37">
            <a:extLst>
              <a:ext uri="{FF2B5EF4-FFF2-40B4-BE49-F238E27FC236}">
                <a16:creationId xmlns:a16="http://schemas.microsoft.com/office/drawing/2014/main" id="{9FBB9B8E-1943-4250-9C32-6B47940BFB19}"/>
              </a:ext>
            </a:extLst>
          </p:cNvPr>
          <p:cNvCxnSpPr>
            <a:cxnSpLocks/>
            <a:stCxn id="40" idx="3"/>
            <a:endCxn id="56" idx="1"/>
          </p:cNvCxnSpPr>
          <p:nvPr/>
        </p:nvCxnSpPr>
        <p:spPr>
          <a:xfrm>
            <a:off x="6964244" y="4738899"/>
            <a:ext cx="2043050" cy="104633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37">
            <a:extLst>
              <a:ext uri="{FF2B5EF4-FFF2-40B4-BE49-F238E27FC236}">
                <a16:creationId xmlns:a16="http://schemas.microsoft.com/office/drawing/2014/main" id="{7A927A94-CCB0-40CE-8820-D67B40B39381}"/>
              </a:ext>
            </a:extLst>
          </p:cNvPr>
          <p:cNvCxnSpPr>
            <a:cxnSpLocks/>
            <a:stCxn id="41" idx="3"/>
            <a:endCxn id="29" idx="1"/>
          </p:cNvCxnSpPr>
          <p:nvPr/>
        </p:nvCxnSpPr>
        <p:spPr>
          <a:xfrm flipV="1">
            <a:off x="6964243" y="4342588"/>
            <a:ext cx="2043053" cy="748335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37">
            <a:extLst>
              <a:ext uri="{FF2B5EF4-FFF2-40B4-BE49-F238E27FC236}">
                <a16:creationId xmlns:a16="http://schemas.microsoft.com/office/drawing/2014/main" id="{4A0101FC-E02D-4BB5-920B-1F7C42B98E7E}"/>
              </a:ext>
            </a:extLst>
          </p:cNvPr>
          <p:cNvCxnSpPr>
            <a:cxnSpLocks/>
            <a:stCxn id="43" idx="3"/>
            <a:endCxn id="30" idx="1"/>
          </p:cNvCxnSpPr>
          <p:nvPr/>
        </p:nvCxnSpPr>
        <p:spPr>
          <a:xfrm flipV="1">
            <a:off x="6966689" y="4693782"/>
            <a:ext cx="2043053" cy="748335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37">
            <a:extLst>
              <a:ext uri="{FF2B5EF4-FFF2-40B4-BE49-F238E27FC236}">
                <a16:creationId xmlns:a16="http://schemas.microsoft.com/office/drawing/2014/main" id="{0ABEF4E8-688C-404B-8870-562F4357DC1E}"/>
              </a:ext>
            </a:extLst>
          </p:cNvPr>
          <p:cNvCxnSpPr>
            <a:cxnSpLocks/>
            <a:stCxn id="44" idx="3"/>
            <a:endCxn id="55" idx="1"/>
          </p:cNvCxnSpPr>
          <p:nvPr/>
        </p:nvCxnSpPr>
        <p:spPr>
          <a:xfrm flipV="1">
            <a:off x="6964242" y="5424624"/>
            <a:ext cx="2043052" cy="379223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对话气泡: 圆角矩形 50">
            <a:extLst>
              <a:ext uri="{FF2B5EF4-FFF2-40B4-BE49-F238E27FC236}">
                <a16:creationId xmlns:a16="http://schemas.microsoft.com/office/drawing/2014/main" id="{B2BD8F2C-653F-42A8-BD89-213110DAE96F}"/>
              </a:ext>
            </a:extLst>
          </p:cNvPr>
          <p:cNvSpPr/>
          <p:nvPr/>
        </p:nvSpPr>
        <p:spPr>
          <a:xfrm>
            <a:off x="3604591" y="1149422"/>
            <a:ext cx="3160644" cy="845498"/>
          </a:xfrm>
          <a:prstGeom prst="wedgeRoundRectCallout">
            <a:avLst>
              <a:gd name="adj1" fmla="val 20499"/>
              <a:gd name="adj2" fmla="val 100987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Read-only </a:t>
            </a:r>
            <a:r>
              <a:rPr lang="en-US" altLang="zh-CN" b="1" i="1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txns</a:t>
            </a:r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access the</a:t>
            </a: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master.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对话气泡: 圆角矩形 51">
            <a:extLst>
              <a:ext uri="{FF2B5EF4-FFF2-40B4-BE49-F238E27FC236}">
                <a16:creationId xmlns:a16="http://schemas.microsoft.com/office/drawing/2014/main" id="{B8859156-9992-48F9-A534-28CA892B6DC4}"/>
              </a:ext>
            </a:extLst>
          </p:cNvPr>
          <p:cNvSpPr/>
          <p:nvPr/>
        </p:nvSpPr>
        <p:spPr>
          <a:xfrm>
            <a:off x="2345859" y="6018147"/>
            <a:ext cx="3160644" cy="845498"/>
          </a:xfrm>
          <a:prstGeom prst="wedgeRoundRectCallout">
            <a:avLst>
              <a:gd name="adj1" fmla="val 60960"/>
              <a:gd name="adj2" fmla="val -52616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 modifying </a:t>
            </a:r>
            <a:r>
              <a:rPr lang="en-US" altLang="zh-CN" b="1" i="1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endParaRPr lang="en-US" altLang="zh-CN" b="1" i="1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updates shadow pages.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箭头: 右 52">
            <a:extLst>
              <a:ext uri="{FF2B5EF4-FFF2-40B4-BE49-F238E27FC236}">
                <a16:creationId xmlns:a16="http://schemas.microsoft.com/office/drawing/2014/main" id="{DBE9EC53-61BF-4D07-8FFC-FA766ACEF1E2}"/>
              </a:ext>
            </a:extLst>
          </p:cNvPr>
          <p:cNvSpPr/>
          <p:nvPr/>
        </p:nvSpPr>
        <p:spPr>
          <a:xfrm>
            <a:off x="971344" y="4614414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378CFD9-C78B-45BA-A116-74CD618D2EE4}"/>
              </a:ext>
            </a:extLst>
          </p:cNvPr>
          <p:cNvSpPr/>
          <p:nvPr/>
        </p:nvSpPr>
        <p:spPr>
          <a:xfrm>
            <a:off x="9007294" y="5277194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4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1FC3AF8-A9F2-4B9D-84F9-A8A6005363E2}"/>
              </a:ext>
            </a:extLst>
          </p:cNvPr>
          <p:cNvSpPr/>
          <p:nvPr/>
        </p:nvSpPr>
        <p:spPr>
          <a:xfrm>
            <a:off x="9007294" y="5637808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1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" name="直接箭头连接符 18">
            <a:extLst>
              <a:ext uri="{FF2B5EF4-FFF2-40B4-BE49-F238E27FC236}">
                <a16:creationId xmlns:a16="http://schemas.microsoft.com/office/drawing/2014/main" id="{012641EE-6E2A-4426-B920-E7BF5FEDDB6E}"/>
              </a:ext>
            </a:extLst>
          </p:cNvPr>
          <p:cNvCxnSpPr>
            <a:cxnSpLocks/>
            <a:stCxn id="32" idx="0"/>
            <a:endCxn id="13" idx="1"/>
          </p:cNvCxnSpPr>
          <p:nvPr/>
        </p:nvCxnSpPr>
        <p:spPr>
          <a:xfrm rot="5400000" flipH="1" flipV="1">
            <a:off x="6558315" y="1949025"/>
            <a:ext cx="759464" cy="4138495"/>
          </a:xfrm>
          <a:prstGeom prst="curvedConnector2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3250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Shadow Paging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7E5D-288F-4B44-BD64-1E1DAFB8399B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216848" y="1994920"/>
            <a:ext cx="3020494" cy="430426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601829-94E1-4382-9B3E-586E06258F7D}"/>
              </a:ext>
            </a:extLst>
          </p:cNvPr>
          <p:cNvGrpSpPr/>
          <p:nvPr/>
        </p:nvGrpSpPr>
        <p:grpSpPr>
          <a:xfrm>
            <a:off x="4485095" y="1966869"/>
            <a:ext cx="2716695" cy="4245381"/>
            <a:chOff x="4646544" y="2025753"/>
            <a:chExt cx="2716695" cy="424538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646544" y="2025753"/>
              <a:ext cx="2716695" cy="4245381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290593" y="20257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32328" y="2285800"/>
          <a:ext cx="1323685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W(Page 4)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W(Page 1)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4F8773-A445-4120-A2E5-0C06D2B7558F}"/>
              </a:ext>
            </a:extLst>
          </p:cNvPr>
          <p:cNvSpPr/>
          <p:nvPr/>
        </p:nvSpPr>
        <p:spPr>
          <a:xfrm>
            <a:off x="9007295" y="3491110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C17E4B9-FCF9-4278-8D40-2B72DAE3D56A}"/>
              </a:ext>
            </a:extLst>
          </p:cNvPr>
          <p:cNvSpPr/>
          <p:nvPr/>
        </p:nvSpPr>
        <p:spPr>
          <a:xfrm>
            <a:off x="9007296" y="4195158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2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EE428B3-BF70-4CEA-8BFF-E9A7DA9264F1}"/>
              </a:ext>
            </a:extLst>
          </p:cNvPr>
          <p:cNvSpPr/>
          <p:nvPr/>
        </p:nvSpPr>
        <p:spPr>
          <a:xfrm>
            <a:off x="9009742" y="4546352"/>
            <a:ext cx="1457739" cy="2948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2296EAB-B537-4762-947F-8385E2E815BC}"/>
              </a:ext>
            </a:extLst>
          </p:cNvPr>
          <p:cNvSpPr/>
          <p:nvPr/>
        </p:nvSpPr>
        <p:spPr>
          <a:xfrm>
            <a:off x="4502439" y="4398004"/>
            <a:ext cx="732722" cy="24759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6359F2F-BE90-4063-B568-F04692FAE41D}"/>
              </a:ext>
            </a:extLst>
          </p:cNvPr>
          <p:cNvCxnSpPr>
            <a:cxnSpLocks/>
            <a:stCxn id="32" idx="2"/>
            <a:endCxn id="46" idx="1"/>
          </p:cNvCxnSpPr>
          <p:nvPr/>
        </p:nvCxnSpPr>
        <p:spPr>
          <a:xfrm rot="5400000" flipH="1" flipV="1">
            <a:off x="5014176" y="4295535"/>
            <a:ext cx="204684" cy="495436"/>
          </a:xfrm>
          <a:prstGeom prst="curvedConnector4">
            <a:avLst>
              <a:gd name="adj1" fmla="val -111684"/>
              <a:gd name="adj2" fmla="val 86973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E9BCA573-6EDE-4E52-9705-8D7C7872ACEA}"/>
              </a:ext>
            </a:extLst>
          </p:cNvPr>
          <p:cNvSpPr/>
          <p:nvPr/>
        </p:nvSpPr>
        <p:spPr>
          <a:xfrm>
            <a:off x="5506505" y="4591469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1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897CD2B-C63A-4DCE-A385-38C0B9AC78AF}"/>
              </a:ext>
            </a:extLst>
          </p:cNvPr>
          <p:cNvSpPr/>
          <p:nvPr/>
        </p:nvSpPr>
        <p:spPr>
          <a:xfrm>
            <a:off x="5506504" y="4943493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2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80BB1A7-E67D-4563-B15C-7C5281CBAAE4}"/>
              </a:ext>
            </a:extLst>
          </p:cNvPr>
          <p:cNvSpPr/>
          <p:nvPr/>
        </p:nvSpPr>
        <p:spPr>
          <a:xfrm>
            <a:off x="5508950" y="5294687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85A6B2D-6DCB-4568-AA63-A1736FE09AB6}"/>
              </a:ext>
            </a:extLst>
          </p:cNvPr>
          <p:cNvSpPr/>
          <p:nvPr/>
        </p:nvSpPr>
        <p:spPr>
          <a:xfrm>
            <a:off x="5506503" y="5656417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4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33822AC-7F50-41F4-AE7A-9EA0252B6D22}"/>
              </a:ext>
            </a:extLst>
          </p:cNvPr>
          <p:cNvSpPr txBox="1"/>
          <p:nvPr/>
        </p:nvSpPr>
        <p:spPr>
          <a:xfrm>
            <a:off x="5364236" y="4287022"/>
            <a:ext cx="1748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 Page Table</a:t>
            </a:r>
            <a:endParaRPr lang="zh-CN" altLang="en-US" sz="14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直接箭头连接符 37">
            <a:extLst>
              <a:ext uri="{FF2B5EF4-FFF2-40B4-BE49-F238E27FC236}">
                <a16:creationId xmlns:a16="http://schemas.microsoft.com/office/drawing/2014/main" id="{9FBB9B8E-1943-4250-9C32-6B47940BFB19}"/>
              </a:ext>
            </a:extLst>
          </p:cNvPr>
          <p:cNvCxnSpPr>
            <a:cxnSpLocks/>
            <a:stCxn id="40" idx="3"/>
            <a:endCxn id="56" idx="1"/>
          </p:cNvCxnSpPr>
          <p:nvPr/>
        </p:nvCxnSpPr>
        <p:spPr>
          <a:xfrm>
            <a:off x="6964244" y="4738899"/>
            <a:ext cx="2043050" cy="1046339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37">
            <a:extLst>
              <a:ext uri="{FF2B5EF4-FFF2-40B4-BE49-F238E27FC236}">
                <a16:creationId xmlns:a16="http://schemas.microsoft.com/office/drawing/2014/main" id="{7A927A94-CCB0-40CE-8820-D67B40B39381}"/>
              </a:ext>
            </a:extLst>
          </p:cNvPr>
          <p:cNvCxnSpPr>
            <a:cxnSpLocks/>
            <a:stCxn id="41" idx="3"/>
            <a:endCxn id="29" idx="1"/>
          </p:cNvCxnSpPr>
          <p:nvPr/>
        </p:nvCxnSpPr>
        <p:spPr>
          <a:xfrm flipV="1">
            <a:off x="6964243" y="4342588"/>
            <a:ext cx="2043053" cy="748335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37">
            <a:extLst>
              <a:ext uri="{FF2B5EF4-FFF2-40B4-BE49-F238E27FC236}">
                <a16:creationId xmlns:a16="http://schemas.microsoft.com/office/drawing/2014/main" id="{4A0101FC-E02D-4BB5-920B-1F7C42B98E7E}"/>
              </a:ext>
            </a:extLst>
          </p:cNvPr>
          <p:cNvCxnSpPr>
            <a:cxnSpLocks/>
            <a:stCxn id="43" idx="3"/>
            <a:endCxn id="30" idx="1"/>
          </p:cNvCxnSpPr>
          <p:nvPr/>
        </p:nvCxnSpPr>
        <p:spPr>
          <a:xfrm flipV="1">
            <a:off x="6966689" y="4693782"/>
            <a:ext cx="2043053" cy="748335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37">
            <a:extLst>
              <a:ext uri="{FF2B5EF4-FFF2-40B4-BE49-F238E27FC236}">
                <a16:creationId xmlns:a16="http://schemas.microsoft.com/office/drawing/2014/main" id="{0ABEF4E8-688C-404B-8870-562F4357DC1E}"/>
              </a:ext>
            </a:extLst>
          </p:cNvPr>
          <p:cNvCxnSpPr>
            <a:cxnSpLocks/>
            <a:stCxn id="44" idx="3"/>
            <a:endCxn id="55" idx="1"/>
          </p:cNvCxnSpPr>
          <p:nvPr/>
        </p:nvCxnSpPr>
        <p:spPr>
          <a:xfrm flipV="1">
            <a:off x="6964242" y="5424624"/>
            <a:ext cx="2043052" cy="379223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箭头: 右 52">
            <a:extLst>
              <a:ext uri="{FF2B5EF4-FFF2-40B4-BE49-F238E27FC236}">
                <a16:creationId xmlns:a16="http://schemas.microsoft.com/office/drawing/2014/main" id="{DBE9EC53-61BF-4D07-8FFC-FA766ACEF1E2}"/>
              </a:ext>
            </a:extLst>
          </p:cNvPr>
          <p:cNvSpPr/>
          <p:nvPr/>
        </p:nvSpPr>
        <p:spPr>
          <a:xfrm>
            <a:off x="971344" y="4614414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378CFD9-C78B-45BA-A116-74CD618D2EE4}"/>
              </a:ext>
            </a:extLst>
          </p:cNvPr>
          <p:cNvSpPr/>
          <p:nvPr/>
        </p:nvSpPr>
        <p:spPr>
          <a:xfrm>
            <a:off x="9007294" y="5277194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4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1FC3AF8-A9F2-4B9D-84F9-A8A6005363E2}"/>
              </a:ext>
            </a:extLst>
          </p:cNvPr>
          <p:cNvSpPr/>
          <p:nvPr/>
        </p:nvSpPr>
        <p:spPr>
          <a:xfrm>
            <a:off x="9007294" y="5637808"/>
            <a:ext cx="1457739" cy="2948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Page 1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" name="直接箭头连接符 18">
            <a:extLst>
              <a:ext uri="{FF2B5EF4-FFF2-40B4-BE49-F238E27FC236}">
                <a16:creationId xmlns:a16="http://schemas.microsoft.com/office/drawing/2014/main" id="{012641EE-6E2A-4426-B920-E7BF5FEDDB6E}"/>
              </a:ext>
            </a:extLst>
          </p:cNvPr>
          <p:cNvCxnSpPr>
            <a:cxnSpLocks/>
            <a:stCxn id="32" idx="0"/>
            <a:endCxn id="13" idx="1"/>
          </p:cNvCxnSpPr>
          <p:nvPr/>
        </p:nvCxnSpPr>
        <p:spPr>
          <a:xfrm rot="5400000" flipH="1" flipV="1">
            <a:off x="6558315" y="1949025"/>
            <a:ext cx="759464" cy="4138495"/>
          </a:xfrm>
          <a:prstGeom prst="curvedConnector2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313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Shadow Paging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Supporting rollbacks and recovery is </a:t>
            </a:r>
            <a:r>
              <a:rPr lang="en-US" altLang="zh-CN" b="1" dirty="0">
                <a:solidFill>
                  <a:srgbClr val="0066FF"/>
                </a:solidFill>
              </a:rPr>
              <a:t>easy</a:t>
            </a:r>
            <a:r>
              <a:rPr lang="en-US" altLang="zh-CN" dirty="0"/>
              <a:t>.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b="1" u="sng" dirty="0"/>
              <a:t>Undo</a:t>
            </a:r>
            <a:r>
              <a:rPr lang="en-US" altLang="zh-CN" dirty="0"/>
              <a:t>: Remove the shadow pages. Leave the master and the DB root pointer alone.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b="1" u="sng" dirty="0"/>
              <a:t>Redo</a:t>
            </a:r>
            <a:r>
              <a:rPr lang="en-US" altLang="zh-CN" dirty="0"/>
              <a:t>: Not needed at all.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Copying the entire page table is </a:t>
            </a:r>
            <a:r>
              <a:rPr lang="en-US" altLang="zh-CN" b="1" dirty="0">
                <a:solidFill>
                  <a:srgbClr val="FF0000"/>
                </a:solidFill>
              </a:rPr>
              <a:t>expensive</a:t>
            </a:r>
            <a:r>
              <a:rPr lang="en-US" altLang="zh-CN" dirty="0"/>
              <a:t>: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Use a page table structured like a </a:t>
            </a:r>
            <a:r>
              <a:rPr lang="en-US" altLang="zh-CN" dirty="0" err="1"/>
              <a:t>B+tree</a:t>
            </a:r>
            <a:r>
              <a:rPr lang="en-US" altLang="zh-CN" dirty="0"/>
              <a:t>.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No need to copy entire tree, only need to copy paths in the tree that lead to updated leaf nodes.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Commit </a:t>
            </a:r>
            <a:r>
              <a:rPr lang="en-US" altLang="zh-CN" b="1" dirty="0">
                <a:solidFill>
                  <a:srgbClr val="FF0000"/>
                </a:solidFill>
              </a:rPr>
              <a:t>overhead</a:t>
            </a:r>
            <a:r>
              <a:rPr lang="en-US" altLang="zh-CN" dirty="0"/>
              <a:t> is high: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Flush every updated page, page table, and root.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Data gets </a:t>
            </a:r>
            <a:r>
              <a:rPr lang="en-US" altLang="zh-CN" b="1" u="sng" dirty="0"/>
              <a:t>fragmented</a:t>
            </a:r>
            <a:r>
              <a:rPr lang="en-US" altLang="zh-CN" dirty="0"/>
              <a:t>.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Need </a:t>
            </a:r>
            <a:r>
              <a:rPr lang="en-US" altLang="zh-CN" b="1" u="sng" dirty="0"/>
              <a:t>garbage</a:t>
            </a:r>
            <a:r>
              <a:rPr lang="en-US" altLang="zh-CN" dirty="0"/>
              <a:t> collection.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Only supports one writer </a:t>
            </a:r>
            <a:r>
              <a:rPr lang="en-US" altLang="zh-CN" dirty="0" err="1"/>
              <a:t>txn</a:t>
            </a:r>
            <a:r>
              <a:rPr lang="en-US" altLang="zh-CN" dirty="0"/>
              <a:t> at a time or </a:t>
            </a:r>
            <a:r>
              <a:rPr lang="en-US" altLang="zh-CN" dirty="0" err="1"/>
              <a:t>txns</a:t>
            </a:r>
            <a:r>
              <a:rPr lang="en-US" altLang="zh-CN" dirty="0"/>
              <a:t> in a batch.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59F39-7451-4883-9EBA-417DC607CA08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3429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SQLite ( Pre-2010 )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9399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When a </a:t>
            </a:r>
            <a:r>
              <a:rPr lang="en-US" altLang="zh-CN" dirty="0" err="1"/>
              <a:t>txn</a:t>
            </a:r>
            <a:r>
              <a:rPr lang="en-US" altLang="zh-CN" dirty="0"/>
              <a:t> modifies a page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 DBMS copies the original page to a separate </a:t>
            </a:r>
            <a:r>
              <a:rPr lang="en-US" altLang="zh-CN" b="1" dirty="0">
                <a:solidFill>
                  <a:srgbClr val="FF0000"/>
                </a:solidFill>
              </a:rPr>
              <a:t>journal file </a:t>
            </a:r>
            <a:r>
              <a:rPr lang="en-US" altLang="zh-CN" dirty="0"/>
              <a:t>before overwriting master version.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After restarting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if a journal file exists, then the DBMS restores it to undo changes from uncommitted </a:t>
            </a:r>
            <a:r>
              <a:rPr lang="en-US" altLang="zh-CN" dirty="0" err="1"/>
              <a:t>txns</a:t>
            </a:r>
            <a:r>
              <a:rPr lang="en-US" altLang="zh-CN" dirty="0"/>
              <a:t>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F7B9-600E-4464-99A8-193AFA967228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33</a:t>
            </a:fld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F6F151D-3535-4804-BCFC-C19548C55BC2}"/>
              </a:ext>
            </a:extLst>
          </p:cNvPr>
          <p:cNvGrpSpPr/>
          <p:nvPr/>
        </p:nvGrpSpPr>
        <p:grpSpPr>
          <a:xfrm>
            <a:off x="7308112" y="4335352"/>
            <a:ext cx="3646967" cy="1754372"/>
            <a:chOff x="7308112" y="4335352"/>
            <a:chExt cx="3646967" cy="1754372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9FA753D2-8C9E-4797-B670-B9949BFE5FD4}"/>
                </a:ext>
              </a:extLst>
            </p:cNvPr>
            <p:cNvSpPr/>
            <p:nvPr/>
          </p:nvSpPr>
          <p:spPr>
            <a:xfrm>
              <a:off x="7308112" y="4335352"/>
              <a:ext cx="3646967" cy="1754372"/>
            </a:xfrm>
            <a:prstGeom prst="roundRect">
              <a:avLst>
                <a:gd name="adj" fmla="val 6393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AF842A9-F74B-42FE-B0E1-9459880966DC}"/>
                </a:ext>
              </a:extLst>
            </p:cNvPr>
            <p:cNvGrpSpPr/>
            <p:nvPr/>
          </p:nvGrpSpPr>
          <p:grpSpPr>
            <a:xfrm>
              <a:off x="7660756" y="4958315"/>
              <a:ext cx="1470840" cy="864783"/>
              <a:chOff x="7660756" y="4958315"/>
              <a:chExt cx="1470840" cy="864783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A813C7C-33A2-43F3-94F3-DF426E517A45}"/>
                  </a:ext>
                </a:extLst>
              </p:cNvPr>
              <p:cNvSpPr/>
              <p:nvPr/>
            </p:nvSpPr>
            <p:spPr>
              <a:xfrm>
                <a:off x="7660758" y="4960088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1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226C11B-90E2-4866-8372-93F5738E44F2}"/>
                  </a:ext>
                </a:extLst>
              </p:cNvPr>
              <p:cNvSpPr/>
              <p:nvPr/>
            </p:nvSpPr>
            <p:spPr>
              <a:xfrm>
                <a:off x="8472377" y="4958315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2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E298D8A-1D65-4A20-A14E-A9C09CEF1838}"/>
                  </a:ext>
                </a:extLst>
              </p:cNvPr>
              <p:cNvSpPr/>
              <p:nvPr/>
            </p:nvSpPr>
            <p:spPr>
              <a:xfrm>
                <a:off x="7660757" y="5264002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3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2B91A5E-E963-4DF2-BE13-CDD13FEF0EB2}"/>
                  </a:ext>
                </a:extLst>
              </p:cNvPr>
              <p:cNvSpPr/>
              <p:nvPr/>
            </p:nvSpPr>
            <p:spPr>
              <a:xfrm>
                <a:off x="8472377" y="5263115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4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2624993E-E816-440B-829A-ECAB4C1E4A09}"/>
                  </a:ext>
                </a:extLst>
              </p:cNvPr>
              <p:cNvSpPr/>
              <p:nvPr/>
            </p:nvSpPr>
            <p:spPr>
              <a:xfrm>
                <a:off x="7660756" y="5567916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5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392E96C-6DA5-42B2-8FEC-5CEDC74D4B51}"/>
                  </a:ext>
                </a:extLst>
              </p:cNvPr>
              <p:cNvSpPr/>
              <p:nvPr/>
            </p:nvSpPr>
            <p:spPr>
              <a:xfrm>
                <a:off x="8472377" y="5567916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6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B144C3A1-D12A-46DD-9C45-A182B2019554}"/>
                </a:ext>
              </a:extLst>
            </p:cNvPr>
            <p:cNvCxnSpPr/>
            <p:nvPr/>
          </p:nvCxnSpPr>
          <p:spPr>
            <a:xfrm>
              <a:off x="9480389" y="4933026"/>
              <a:ext cx="0" cy="915360"/>
            </a:xfrm>
            <a:prstGeom prst="line">
              <a:avLst/>
            </a:prstGeom>
            <a:ln w="508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441C229-663B-4E17-A3EC-C6B8DA42AFC1}"/>
                </a:ext>
              </a:extLst>
            </p:cNvPr>
            <p:cNvSpPr txBox="1"/>
            <p:nvPr/>
          </p:nvSpPr>
          <p:spPr>
            <a:xfrm>
              <a:off x="8795605" y="4455670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Disk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CEE2301-0F6D-4A46-8606-BE764528973A}"/>
                </a:ext>
              </a:extLst>
            </p:cNvPr>
            <p:cNvSpPr txBox="1"/>
            <p:nvPr/>
          </p:nvSpPr>
          <p:spPr>
            <a:xfrm>
              <a:off x="9565686" y="4873984"/>
              <a:ext cx="13372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Journal File</a:t>
              </a:r>
              <a:endParaRPr lang="zh-CN" alt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FFB4424-1948-4BCD-A04C-8B730162D606}"/>
                </a:ext>
              </a:extLst>
            </p:cNvPr>
            <p:cNvSpPr/>
            <p:nvPr/>
          </p:nvSpPr>
          <p:spPr>
            <a:xfrm>
              <a:off x="9904689" y="5263115"/>
              <a:ext cx="659219" cy="25518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2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4265731-5B51-4763-A9EE-8A166F7811FC}"/>
              </a:ext>
            </a:extLst>
          </p:cNvPr>
          <p:cNvGrpSpPr/>
          <p:nvPr/>
        </p:nvGrpSpPr>
        <p:grpSpPr>
          <a:xfrm>
            <a:off x="7308112" y="2036570"/>
            <a:ext cx="3646967" cy="1754372"/>
            <a:chOff x="7308112" y="2036570"/>
            <a:chExt cx="3646967" cy="1754372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96B4587D-2E0C-4BA0-B8B3-B93598AE1FA2}"/>
                </a:ext>
              </a:extLst>
            </p:cNvPr>
            <p:cNvSpPr/>
            <p:nvPr/>
          </p:nvSpPr>
          <p:spPr>
            <a:xfrm>
              <a:off x="7308112" y="2036570"/>
              <a:ext cx="3646967" cy="1754372"/>
            </a:xfrm>
            <a:prstGeom prst="roundRect">
              <a:avLst>
                <a:gd name="adj" fmla="val 6393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0BB3655-282B-4C27-AEF3-3D2AB772645D}"/>
                </a:ext>
              </a:extLst>
            </p:cNvPr>
            <p:cNvSpPr txBox="1"/>
            <p:nvPr/>
          </p:nvSpPr>
          <p:spPr>
            <a:xfrm>
              <a:off x="8596834" y="2128985"/>
              <a:ext cx="1069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9641225-394F-4C64-9B22-98CEC48FBE83}"/>
                </a:ext>
              </a:extLst>
            </p:cNvPr>
            <p:cNvSpPr/>
            <p:nvPr/>
          </p:nvSpPr>
          <p:spPr>
            <a:xfrm>
              <a:off x="7793285" y="2885429"/>
              <a:ext cx="659219" cy="25518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1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BB9EFDD-FD77-4E32-B3ED-250C3676C410}"/>
                </a:ext>
              </a:extLst>
            </p:cNvPr>
            <p:cNvSpPr/>
            <p:nvPr/>
          </p:nvSpPr>
          <p:spPr>
            <a:xfrm>
              <a:off x="8795605" y="2875496"/>
              <a:ext cx="659219" cy="25518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2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DC3A718-3669-4B91-B8B9-AE9001D74F46}"/>
                </a:ext>
              </a:extLst>
            </p:cNvPr>
            <p:cNvSpPr/>
            <p:nvPr/>
          </p:nvSpPr>
          <p:spPr>
            <a:xfrm>
              <a:off x="9797925" y="2885429"/>
              <a:ext cx="659219" cy="25518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3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6" name="箭头: 下 25">
            <a:extLst>
              <a:ext uri="{FF2B5EF4-FFF2-40B4-BE49-F238E27FC236}">
                <a16:creationId xmlns:a16="http://schemas.microsoft.com/office/drawing/2014/main" id="{44AD6961-FCB2-481C-86EB-42B32B584C42}"/>
              </a:ext>
            </a:extLst>
          </p:cNvPr>
          <p:cNvSpPr/>
          <p:nvPr/>
        </p:nvSpPr>
        <p:spPr>
          <a:xfrm>
            <a:off x="9002385" y="2571189"/>
            <a:ext cx="258417" cy="29236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FC63964-2A11-4A0B-97D8-CE1E6E687340}"/>
              </a:ext>
            </a:extLst>
          </p:cNvPr>
          <p:cNvCxnSpPr>
            <a:cxnSpLocks/>
            <a:stCxn id="24" idx="2"/>
            <a:endCxn id="18" idx="0"/>
          </p:cNvCxnSpPr>
          <p:nvPr/>
        </p:nvCxnSpPr>
        <p:spPr>
          <a:xfrm rot="16200000" flipH="1">
            <a:off x="8808104" y="3447789"/>
            <a:ext cx="1743306" cy="1109084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7805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SQLite ( Pre-2010 )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9399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When a </a:t>
            </a:r>
            <a:r>
              <a:rPr lang="en-US" altLang="zh-CN" dirty="0" err="1"/>
              <a:t>txn</a:t>
            </a:r>
            <a:r>
              <a:rPr lang="en-US" altLang="zh-CN" dirty="0"/>
              <a:t> modifies a page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 DBMS copies the original page to a separate </a:t>
            </a:r>
            <a:r>
              <a:rPr lang="en-US" altLang="zh-CN" b="1" dirty="0">
                <a:solidFill>
                  <a:srgbClr val="FF0000"/>
                </a:solidFill>
              </a:rPr>
              <a:t>journal file </a:t>
            </a:r>
            <a:r>
              <a:rPr lang="en-US" altLang="zh-CN" dirty="0"/>
              <a:t>before overwriting master version.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After restarting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if a journal file exists, then the DBMS restores it to undo changes from uncommitted </a:t>
            </a:r>
            <a:r>
              <a:rPr lang="en-US" altLang="zh-CN" dirty="0" err="1"/>
              <a:t>txns</a:t>
            </a:r>
            <a:r>
              <a:rPr lang="en-US" altLang="zh-CN" dirty="0"/>
              <a:t>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D35B1-843E-47F8-ABAB-B7F8E04B8505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34</a:t>
            </a:fld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F6F151D-3535-4804-BCFC-C19548C55BC2}"/>
              </a:ext>
            </a:extLst>
          </p:cNvPr>
          <p:cNvGrpSpPr/>
          <p:nvPr/>
        </p:nvGrpSpPr>
        <p:grpSpPr>
          <a:xfrm>
            <a:off x="7308112" y="4335352"/>
            <a:ext cx="3646967" cy="1754372"/>
            <a:chOff x="7308112" y="4335352"/>
            <a:chExt cx="3646967" cy="1754372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9FA753D2-8C9E-4797-B670-B9949BFE5FD4}"/>
                </a:ext>
              </a:extLst>
            </p:cNvPr>
            <p:cNvSpPr/>
            <p:nvPr/>
          </p:nvSpPr>
          <p:spPr>
            <a:xfrm>
              <a:off x="7308112" y="4335352"/>
              <a:ext cx="3646967" cy="1754372"/>
            </a:xfrm>
            <a:prstGeom prst="roundRect">
              <a:avLst>
                <a:gd name="adj" fmla="val 6393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AF842A9-F74B-42FE-B0E1-9459880966DC}"/>
                </a:ext>
              </a:extLst>
            </p:cNvPr>
            <p:cNvGrpSpPr/>
            <p:nvPr/>
          </p:nvGrpSpPr>
          <p:grpSpPr>
            <a:xfrm>
              <a:off x="7660756" y="4958315"/>
              <a:ext cx="1470840" cy="864783"/>
              <a:chOff x="7660756" y="4958315"/>
              <a:chExt cx="1470840" cy="864783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A813C7C-33A2-43F3-94F3-DF426E517A45}"/>
                  </a:ext>
                </a:extLst>
              </p:cNvPr>
              <p:cNvSpPr/>
              <p:nvPr/>
            </p:nvSpPr>
            <p:spPr>
              <a:xfrm>
                <a:off x="7660758" y="4960088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1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226C11B-90E2-4866-8372-93F5738E44F2}"/>
                  </a:ext>
                </a:extLst>
              </p:cNvPr>
              <p:cNvSpPr/>
              <p:nvPr/>
            </p:nvSpPr>
            <p:spPr>
              <a:xfrm>
                <a:off x="8472377" y="4958315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2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E298D8A-1D65-4A20-A14E-A9C09CEF1838}"/>
                  </a:ext>
                </a:extLst>
              </p:cNvPr>
              <p:cNvSpPr/>
              <p:nvPr/>
            </p:nvSpPr>
            <p:spPr>
              <a:xfrm>
                <a:off x="7660757" y="5264002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3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2B91A5E-E963-4DF2-BE13-CDD13FEF0EB2}"/>
                  </a:ext>
                </a:extLst>
              </p:cNvPr>
              <p:cNvSpPr/>
              <p:nvPr/>
            </p:nvSpPr>
            <p:spPr>
              <a:xfrm>
                <a:off x="8472377" y="5263115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4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2624993E-E816-440B-829A-ECAB4C1E4A09}"/>
                  </a:ext>
                </a:extLst>
              </p:cNvPr>
              <p:cNvSpPr/>
              <p:nvPr/>
            </p:nvSpPr>
            <p:spPr>
              <a:xfrm>
                <a:off x="7660756" y="5567916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5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392E96C-6DA5-42B2-8FEC-5CEDC74D4B51}"/>
                  </a:ext>
                </a:extLst>
              </p:cNvPr>
              <p:cNvSpPr/>
              <p:nvPr/>
            </p:nvSpPr>
            <p:spPr>
              <a:xfrm>
                <a:off x="8472377" y="5567916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6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B144C3A1-D12A-46DD-9C45-A182B2019554}"/>
                </a:ext>
              </a:extLst>
            </p:cNvPr>
            <p:cNvCxnSpPr/>
            <p:nvPr/>
          </p:nvCxnSpPr>
          <p:spPr>
            <a:xfrm>
              <a:off x="9480389" y="4933026"/>
              <a:ext cx="0" cy="915360"/>
            </a:xfrm>
            <a:prstGeom prst="line">
              <a:avLst/>
            </a:prstGeom>
            <a:ln w="508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441C229-663B-4E17-A3EC-C6B8DA42AFC1}"/>
                </a:ext>
              </a:extLst>
            </p:cNvPr>
            <p:cNvSpPr txBox="1"/>
            <p:nvPr/>
          </p:nvSpPr>
          <p:spPr>
            <a:xfrm>
              <a:off x="8795605" y="4455670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Disk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CEE2301-0F6D-4A46-8606-BE764528973A}"/>
                </a:ext>
              </a:extLst>
            </p:cNvPr>
            <p:cNvSpPr txBox="1"/>
            <p:nvPr/>
          </p:nvSpPr>
          <p:spPr>
            <a:xfrm>
              <a:off x="9565686" y="4873984"/>
              <a:ext cx="13372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Journal File</a:t>
              </a:r>
              <a:endParaRPr lang="zh-CN" alt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FFB4424-1948-4BCD-A04C-8B730162D606}"/>
                </a:ext>
              </a:extLst>
            </p:cNvPr>
            <p:cNvSpPr/>
            <p:nvPr/>
          </p:nvSpPr>
          <p:spPr>
            <a:xfrm>
              <a:off x="9904689" y="5263115"/>
              <a:ext cx="659219" cy="25518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2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4265731-5B51-4763-A9EE-8A166F7811FC}"/>
              </a:ext>
            </a:extLst>
          </p:cNvPr>
          <p:cNvGrpSpPr/>
          <p:nvPr/>
        </p:nvGrpSpPr>
        <p:grpSpPr>
          <a:xfrm>
            <a:off x="7308112" y="2036570"/>
            <a:ext cx="3646967" cy="1754372"/>
            <a:chOff x="7308112" y="2036570"/>
            <a:chExt cx="3646967" cy="1754372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96B4587D-2E0C-4BA0-B8B3-B93598AE1FA2}"/>
                </a:ext>
              </a:extLst>
            </p:cNvPr>
            <p:cNvSpPr/>
            <p:nvPr/>
          </p:nvSpPr>
          <p:spPr>
            <a:xfrm>
              <a:off x="7308112" y="2036570"/>
              <a:ext cx="3646967" cy="1754372"/>
            </a:xfrm>
            <a:prstGeom prst="roundRect">
              <a:avLst>
                <a:gd name="adj" fmla="val 6393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0BB3655-282B-4C27-AEF3-3D2AB772645D}"/>
                </a:ext>
              </a:extLst>
            </p:cNvPr>
            <p:cNvSpPr txBox="1"/>
            <p:nvPr/>
          </p:nvSpPr>
          <p:spPr>
            <a:xfrm>
              <a:off x="8596834" y="2128985"/>
              <a:ext cx="1069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9641225-394F-4C64-9B22-98CEC48FBE83}"/>
                </a:ext>
              </a:extLst>
            </p:cNvPr>
            <p:cNvSpPr/>
            <p:nvPr/>
          </p:nvSpPr>
          <p:spPr>
            <a:xfrm>
              <a:off x="7793285" y="2885429"/>
              <a:ext cx="659219" cy="25518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1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BB9EFDD-FD77-4E32-B3ED-250C3676C410}"/>
                </a:ext>
              </a:extLst>
            </p:cNvPr>
            <p:cNvSpPr/>
            <p:nvPr/>
          </p:nvSpPr>
          <p:spPr>
            <a:xfrm>
              <a:off x="8795605" y="2875496"/>
              <a:ext cx="659219" cy="25518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2’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DC3A718-3669-4B91-B8B9-AE9001D74F46}"/>
                </a:ext>
              </a:extLst>
            </p:cNvPr>
            <p:cNvSpPr/>
            <p:nvPr/>
          </p:nvSpPr>
          <p:spPr>
            <a:xfrm>
              <a:off x="9797925" y="2885429"/>
              <a:ext cx="659219" cy="25518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3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6" name="箭头: 下 25">
            <a:extLst>
              <a:ext uri="{FF2B5EF4-FFF2-40B4-BE49-F238E27FC236}">
                <a16:creationId xmlns:a16="http://schemas.microsoft.com/office/drawing/2014/main" id="{44AD6961-FCB2-481C-86EB-42B32B584C42}"/>
              </a:ext>
            </a:extLst>
          </p:cNvPr>
          <p:cNvSpPr/>
          <p:nvPr/>
        </p:nvSpPr>
        <p:spPr>
          <a:xfrm>
            <a:off x="9002385" y="2571189"/>
            <a:ext cx="258417" cy="29236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FC63964-2A11-4A0B-97D8-CE1E6E687340}"/>
              </a:ext>
            </a:extLst>
          </p:cNvPr>
          <p:cNvCxnSpPr>
            <a:cxnSpLocks/>
            <a:stCxn id="24" idx="2"/>
            <a:endCxn id="18" idx="0"/>
          </p:cNvCxnSpPr>
          <p:nvPr/>
        </p:nvCxnSpPr>
        <p:spPr>
          <a:xfrm rot="16200000" flipH="1">
            <a:off x="8808104" y="3447789"/>
            <a:ext cx="1743306" cy="1109084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63891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SQLite ( Pre-2010 )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9399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When a </a:t>
            </a:r>
            <a:r>
              <a:rPr lang="en-US" altLang="zh-CN" dirty="0" err="1"/>
              <a:t>txn</a:t>
            </a:r>
            <a:r>
              <a:rPr lang="en-US" altLang="zh-CN" dirty="0"/>
              <a:t> modifies a page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 DBMS copies the original page to a separate </a:t>
            </a:r>
            <a:r>
              <a:rPr lang="en-US" altLang="zh-CN" b="1" dirty="0">
                <a:solidFill>
                  <a:srgbClr val="FF0000"/>
                </a:solidFill>
              </a:rPr>
              <a:t>journal file </a:t>
            </a:r>
            <a:r>
              <a:rPr lang="en-US" altLang="zh-CN" dirty="0"/>
              <a:t>before overwriting master version.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After restarting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if a journal file exists, then the DBMS restores it to undo changes from uncommitted </a:t>
            </a:r>
            <a:r>
              <a:rPr lang="en-US" altLang="zh-CN" dirty="0" err="1"/>
              <a:t>txns</a:t>
            </a:r>
            <a:r>
              <a:rPr lang="en-US" altLang="zh-CN" dirty="0"/>
              <a:t>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618C1-37B9-41B5-BE7F-1E1AB66CF0E1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35</a:t>
            </a:fld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F6F151D-3535-4804-BCFC-C19548C55BC2}"/>
              </a:ext>
            </a:extLst>
          </p:cNvPr>
          <p:cNvGrpSpPr/>
          <p:nvPr/>
        </p:nvGrpSpPr>
        <p:grpSpPr>
          <a:xfrm>
            <a:off x="7308112" y="4335352"/>
            <a:ext cx="3646967" cy="1754372"/>
            <a:chOff x="7308112" y="4335352"/>
            <a:chExt cx="3646967" cy="1754372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9FA753D2-8C9E-4797-B670-B9949BFE5FD4}"/>
                </a:ext>
              </a:extLst>
            </p:cNvPr>
            <p:cNvSpPr/>
            <p:nvPr/>
          </p:nvSpPr>
          <p:spPr>
            <a:xfrm>
              <a:off x="7308112" y="4335352"/>
              <a:ext cx="3646967" cy="1754372"/>
            </a:xfrm>
            <a:prstGeom prst="roundRect">
              <a:avLst>
                <a:gd name="adj" fmla="val 6393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AF842A9-F74B-42FE-B0E1-9459880966DC}"/>
                </a:ext>
              </a:extLst>
            </p:cNvPr>
            <p:cNvGrpSpPr/>
            <p:nvPr/>
          </p:nvGrpSpPr>
          <p:grpSpPr>
            <a:xfrm>
              <a:off x="7660756" y="4958315"/>
              <a:ext cx="1470840" cy="864783"/>
              <a:chOff x="7660756" y="4958315"/>
              <a:chExt cx="1470840" cy="864783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A813C7C-33A2-43F3-94F3-DF426E517A45}"/>
                  </a:ext>
                </a:extLst>
              </p:cNvPr>
              <p:cNvSpPr/>
              <p:nvPr/>
            </p:nvSpPr>
            <p:spPr>
              <a:xfrm>
                <a:off x="7660758" y="4960088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1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226C11B-90E2-4866-8372-93F5738E44F2}"/>
                  </a:ext>
                </a:extLst>
              </p:cNvPr>
              <p:cNvSpPr/>
              <p:nvPr/>
            </p:nvSpPr>
            <p:spPr>
              <a:xfrm>
                <a:off x="8472377" y="4958315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2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E298D8A-1D65-4A20-A14E-A9C09CEF1838}"/>
                  </a:ext>
                </a:extLst>
              </p:cNvPr>
              <p:cNvSpPr/>
              <p:nvPr/>
            </p:nvSpPr>
            <p:spPr>
              <a:xfrm>
                <a:off x="7660757" y="5264002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3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2B91A5E-E963-4DF2-BE13-CDD13FEF0EB2}"/>
                  </a:ext>
                </a:extLst>
              </p:cNvPr>
              <p:cNvSpPr/>
              <p:nvPr/>
            </p:nvSpPr>
            <p:spPr>
              <a:xfrm>
                <a:off x="8472377" y="5263115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4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2624993E-E816-440B-829A-ECAB4C1E4A09}"/>
                  </a:ext>
                </a:extLst>
              </p:cNvPr>
              <p:cNvSpPr/>
              <p:nvPr/>
            </p:nvSpPr>
            <p:spPr>
              <a:xfrm>
                <a:off x="7660756" y="5567916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5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392E96C-6DA5-42B2-8FEC-5CEDC74D4B51}"/>
                  </a:ext>
                </a:extLst>
              </p:cNvPr>
              <p:cNvSpPr/>
              <p:nvPr/>
            </p:nvSpPr>
            <p:spPr>
              <a:xfrm>
                <a:off x="8472377" y="5567916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6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B144C3A1-D12A-46DD-9C45-A182B2019554}"/>
                </a:ext>
              </a:extLst>
            </p:cNvPr>
            <p:cNvCxnSpPr/>
            <p:nvPr/>
          </p:nvCxnSpPr>
          <p:spPr>
            <a:xfrm>
              <a:off x="9480389" y="4933026"/>
              <a:ext cx="0" cy="915360"/>
            </a:xfrm>
            <a:prstGeom prst="line">
              <a:avLst/>
            </a:prstGeom>
            <a:ln w="508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441C229-663B-4E17-A3EC-C6B8DA42AFC1}"/>
                </a:ext>
              </a:extLst>
            </p:cNvPr>
            <p:cNvSpPr txBox="1"/>
            <p:nvPr/>
          </p:nvSpPr>
          <p:spPr>
            <a:xfrm>
              <a:off x="8795605" y="4455670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Disk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CEE2301-0F6D-4A46-8606-BE764528973A}"/>
                </a:ext>
              </a:extLst>
            </p:cNvPr>
            <p:cNvSpPr txBox="1"/>
            <p:nvPr/>
          </p:nvSpPr>
          <p:spPr>
            <a:xfrm>
              <a:off x="9565686" y="4873984"/>
              <a:ext cx="13372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Journal File</a:t>
              </a:r>
              <a:endParaRPr lang="zh-CN" alt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FFB4424-1948-4BCD-A04C-8B730162D606}"/>
                </a:ext>
              </a:extLst>
            </p:cNvPr>
            <p:cNvSpPr/>
            <p:nvPr/>
          </p:nvSpPr>
          <p:spPr>
            <a:xfrm>
              <a:off x="9904689" y="5263115"/>
              <a:ext cx="659219" cy="25518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2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4265731-5B51-4763-A9EE-8A166F7811FC}"/>
              </a:ext>
            </a:extLst>
          </p:cNvPr>
          <p:cNvGrpSpPr/>
          <p:nvPr/>
        </p:nvGrpSpPr>
        <p:grpSpPr>
          <a:xfrm>
            <a:off x="7308112" y="2036570"/>
            <a:ext cx="3646967" cy="1754372"/>
            <a:chOff x="7308112" y="2036570"/>
            <a:chExt cx="3646967" cy="1754372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96B4587D-2E0C-4BA0-B8B3-B93598AE1FA2}"/>
                </a:ext>
              </a:extLst>
            </p:cNvPr>
            <p:cNvSpPr/>
            <p:nvPr/>
          </p:nvSpPr>
          <p:spPr>
            <a:xfrm>
              <a:off x="7308112" y="2036570"/>
              <a:ext cx="3646967" cy="1754372"/>
            </a:xfrm>
            <a:prstGeom prst="roundRect">
              <a:avLst>
                <a:gd name="adj" fmla="val 6393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0BB3655-282B-4C27-AEF3-3D2AB772645D}"/>
                </a:ext>
              </a:extLst>
            </p:cNvPr>
            <p:cNvSpPr txBox="1"/>
            <p:nvPr/>
          </p:nvSpPr>
          <p:spPr>
            <a:xfrm>
              <a:off x="8596834" y="2128985"/>
              <a:ext cx="1069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9641225-394F-4C64-9B22-98CEC48FBE83}"/>
                </a:ext>
              </a:extLst>
            </p:cNvPr>
            <p:cNvSpPr/>
            <p:nvPr/>
          </p:nvSpPr>
          <p:spPr>
            <a:xfrm>
              <a:off x="7793285" y="2885429"/>
              <a:ext cx="659219" cy="25518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1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BB9EFDD-FD77-4E32-B3ED-250C3676C410}"/>
                </a:ext>
              </a:extLst>
            </p:cNvPr>
            <p:cNvSpPr/>
            <p:nvPr/>
          </p:nvSpPr>
          <p:spPr>
            <a:xfrm>
              <a:off x="8795605" y="2875496"/>
              <a:ext cx="659219" cy="25518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2’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DC3A718-3669-4B91-B8B9-AE9001D74F46}"/>
                </a:ext>
              </a:extLst>
            </p:cNvPr>
            <p:cNvSpPr/>
            <p:nvPr/>
          </p:nvSpPr>
          <p:spPr>
            <a:xfrm>
              <a:off x="9797925" y="2885429"/>
              <a:ext cx="659219" cy="25518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3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6" name="箭头: 下 25">
            <a:extLst>
              <a:ext uri="{FF2B5EF4-FFF2-40B4-BE49-F238E27FC236}">
                <a16:creationId xmlns:a16="http://schemas.microsoft.com/office/drawing/2014/main" id="{44AD6961-FCB2-481C-86EB-42B32B584C42}"/>
              </a:ext>
            </a:extLst>
          </p:cNvPr>
          <p:cNvSpPr/>
          <p:nvPr/>
        </p:nvSpPr>
        <p:spPr>
          <a:xfrm>
            <a:off x="9949918" y="2571189"/>
            <a:ext cx="258417" cy="29236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FC63964-2A11-4A0B-97D8-CE1E6E687340}"/>
              </a:ext>
            </a:extLst>
          </p:cNvPr>
          <p:cNvCxnSpPr>
            <a:cxnSpLocks/>
            <a:stCxn id="25" idx="2"/>
            <a:endCxn id="18" idx="0"/>
          </p:cNvCxnSpPr>
          <p:nvPr/>
        </p:nvCxnSpPr>
        <p:spPr>
          <a:xfrm rot="16200000" flipH="1">
            <a:off x="9314231" y="3953915"/>
            <a:ext cx="1733373" cy="106764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8BB145A1-DB27-4944-993E-67FAE39EEB15}"/>
              </a:ext>
            </a:extLst>
          </p:cNvPr>
          <p:cNvSpPr/>
          <p:nvPr/>
        </p:nvSpPr>
        <p:spPr>
          <a:xfrm>
            <a:off x="9904689" y="5567916"/>
            <a:ext cx="659219" cy="2551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222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SQLite ( Pre-2010 )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9399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When a </a:t>
            </a:r>
            <a:r>
              <a:rPr lang="en-US" altLang="zh-CN" dirty="0" err="1"/>
              <a:t>txn</a:t>
            </a:r>
            <a:r>
              <a:rPr lang="en-US" altLang="zh-CN" dirty="0"/>
              <a:t> modifies a page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 DBMS copies the original page to a separate </a:t>
            </a:r>
            <a:r>
              <a:rPr lang="en-US" altLang="zh-CN" b="1" dirty="0">
                <a:solidFill>
                  <a:srgbClr val="FF0000"/>
                </a:solidFill>
              </a:rPr>
              <a:t>journal file </a:t>
            </a:r>
            <a:r>
              <a:rPr lang="en-US" altLang="zh-CN" dirty="0"/>
              <a:t>before overwriting master version.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After restarting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if a journal file exists, then the DBMS restores it to undo changes from uncommitted </a:t>
            </a:r>
            <a:r>
              <a:rPr lang="en-US" altLang="zh-CN" dirty="0" err="1"/>
              <a:t>txns</a:t>
            </a:r>
            <a:r>
              <a:rPr lang="en-US" altLang="zh-CN" dirty="0"/>
              <a:t>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BCCF8-3CCC-4FB2-B6C5-82739CF86809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36</a:t>
            </a:fld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F6F151D-3535-4804-BCFC-C19548C55BC2}"/>
              </a:ext>
            </a:extLst>
          </p:cNvPr>
          <p:cNvGrpSpPr/>
          <p:nvPr/>
        </p:nvGrpSpPr>
        <p:grpSpPr>
          <a:xfrm>
            <a:off x="7308112" y="4335352"/>
            <a:ext cx="3646967" cy="1754372"/>
            <a:chOff x="7308112" y="4335352"/>
            <a:chExt cx="3646967" cy="1754372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9FA753D2-8C9E-4797-B670-B9949BFE5FD4}"/>
                </a:ext>
              </a:extLst>
            </p:cNvPr>
            <p:cNvSpPr/>
            <p:nvPr/>
          </p:nvSpPr>
          <p:spPr>
            <a:xfrm>
              <a:off x="7308112" y="4335352"/>
              <a:ext cx="3646967" cy="1754372"/>
            </a:xfrm>
            <a:prstGeom prst="roundRect">
              <a:avLst>
                <a:gd name="adj" fmla="val 6393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AF842A9-F74B-42FE-B0E1-9459880966DC}"/>
                </a:ext>
              </a:extLst>
            </p:cNvPr>
            <p:cNvGrpSpPr/>
            <p:nvPr/>
          </p:nvGrpSpPr>
          <p:grpSpPr>
            <a:xfrm>
              <a:off x="7660756" y="4958315"/>
              <a:ext cx="1470840" cy="864783"/>
              <a:chOff x="7660756" y="4958315"/>
              <a:chExt cx="1470840" cy="864783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A813C7C-33A2-43F3-94F3-DF426E517A45}"/>
                  </a:ext>
                </a:extLst>
              </p:cNvPr>
              <p:cNvSpPr/>
              <p:nvPr/>
            </p:nvSpPr>
            <p:spPr>
              <a:xfrm>
                <a:off x="7660758" y="4960088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1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226C11B-90E2-4866-8372-93F5738E44F2}"/>
                  </a:ext>
                </a:extLst>
              </p:cNvPr>
              <p:cNvSpPr/>
              <p:nvPr/>
            </p:nvSpPr>
            <p:spPr>
              <a:xfrm>
                <a:off x="8472377" y="4958315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2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E298D8A-1D65-4A20-A14E-A9C09CEF1838}"/>
                  </a:ext>
                </a:extLst>
              </p:cNvPr>
              <p:cNvSpPr/>
              <p:nvPr/>
            </p:nvSpPr>
            <p:spPr>
              <a:xfrm>
                <a:off x="7660757" y="5264002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3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2B91A5E-E963-4DF2-BE13-CDD13FEF0EB2}"/>
                  </a:ext>
                </a:extLst>
              </p:cNvPr>
              <p:cNvSpPr/>
              <p:nvPr/>
            </p:nvSpPr>
            <p:spPr>
              <a:xfrm>
                <a:off x="8472377" y="5263115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4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2624993E-E816-440B-829A-ECAB4C1E4A09}"/>
                  </a:ext>
                </a:extLst>
              </p:cNvPr>
              <p:cNvSpPr/>
              <p:nvPr/>
            </p:nvSpPr>
            <p:spPr>
              <a:xfrm>
                <a:off x="7660756" y="5567916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5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392E96C-6DA5-42B2-8FEC-5CEDC74D4B51}"/>
                  </a:ext>
                </a:extLst>
              </p:cNvPr>
              <p:cNvSpPr/>
              <p:nvPr/>
            </p:nvSpPr>
            <p:spPr>
              <a:xfrm>
                <a:off x="8472377" y="5567916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6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B144C3A1-D12A-46DD-9C45-A182B2019554}"/>
                </a:ext>
              </a:extLst>
            </p:cNvPr>
            <p:cNvCxnSpPr/>
            <p:nvPr/>
          </p:nvCxnSpPr>
          <p:spPr>
            <a:xfrm>
              <a:off x="9480389" y="4933026"/>
              <a:ext cx="0" cy="915360"/>
            </a:xfrm>
            <a:prstGeom prst="line">
              <a:avLst/>
            </a:prstGeom>
            <a:ln w="508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441C229-663B-4E17-A3EC-C6B8DA42AFC1}"/>
                </a:ext>
              </a:extLst>
            </p:cNvPr>
            <p:cNvSpPr txBox="1"/>
            <p:nvPr/>
          </p:nvSpPr>
          <p:spPr>
            <a:xfrm>
              <a:off x="8795605" y="4455670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Disk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CEE2301-0F6D-4A46-8606-BE764528973A}"/>
                </a:ext>
              </a:extLst>
            </p:cNvPr>
            <p:cNvSpPr txBox="1"/>
            <p:nvPr/>
          </p:nvSpPr>
          <p:spPr>
            <a:xfrm>
              <a:off x="9565686" y="4873984"/>
              <a:ext cx="13372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Journal File</a:t>
              </a:r>
              <a:endParaRPr lang="zh-CN" alt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FFB4424-1948-4BCD-A04C-8B730162D606}"/>
                </a:ext>
              </a:extLst>
            </p:cNvPr>
            <p:cNvSpPr/>
            <p:nvPr/>
          </p:nvSpPr>
          <p:spPr>
            <a:xfrm>
              <a:off x="9904689" y="5263115"/>
              <a:ext cx="659219" cy="25518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2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4265731-5B51-4763-A9EE-8A166F7811FC}"/>
              </a:ext>
            </a:extLst>
          </p:cNvPr>
          <p:cNvGrpSpPr/>
          <p:nvPr/>
        </p:nvGrpSpPr>
        <p:grpSpPr>
          <a:xfrm>
            <a:off x="7308112" y="2036570"/>
            <a:ext cx="3646967" cy="1754372"/>
            <a:chOff x="7308112" y="2036570"/>
            <a:chExt cx="3646967" cy="1754372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96B4587D-2E0C-4BA0-B8B3-B93598AE1FA2}"/>
                </a:ext>
              </a:extLst>
            </p:cNvPr>
            <p:cNvSpPr/>
            <p:nvPr/>
          </p:nvSpPr>
          <p:spPr>
            <a:xfrm>
              <a:off x="7308112" y="2036570"/>
              <a:ext cx="3646967" cy="1754372"/>
            </a:xfrm>
            <a:prstGeom prst="roundRect">
              <a:avLst>
                <a:gd name="adj" fmla="val 6393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0BB3655-282B-4C27-AEF3-3D2AB772645D}"/>
                </a:ext>
              </a:extLst>
            </p:cNvPr>
            <p:cNvSpPr txBox="1"/>
            <p:nvPr/>
          </p:nvSpPr>
          <p:spPr>
            <a:xfrm>
              <a:off x="8596834" y="2128985"/>
              <a:ext cx="1069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9641225-394F-4C64-9B22-98CEC48FBE83}"/>
                </a:ext>
              </a:extLst>
            </p:cNvPr>
            <p:cNvSpPr/>
            <p:nvPr/>
          </p:nvSpPr>
          <p:spPr>
            <a:xfrm>
              <a:off x="7793285" y="2885429"/>
              <a:ext cx="659219" cy="25518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1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BB9EFDD-FD77-4E32-B3ED-250C3676C410}"/>
                </a:ext>
              </a:extLst>
            </p:cNvPr>
            <p:cNvSpPr/>
            <p:nvPr/>
          </p:nvSpPr>
          <p:spPr>
            <a:xfrm>
              <a:off x="8795605" y="2875496"/>
              <a:ext cx="659219" cy="25518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2’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DC3A718-3669-4B91-B8B9-AE9001D74F46}"/>
                </a:ext>
              </a:extLst>
            </p:cNvPr>
            <p:cNvSpPr/>
            <p:nvPr/>
          </p:nvSpPr>
          <p:spPr>
            <a:xfrm>
              <a:off x="9797925" y="2885429"/>
              <a:ext cx="659219" cy="25518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3’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6" name="箭头: 下 25">
            <a:extLst>
              <a:ext uri="{FF2B5EF4-FFF2-40B4-BE49-F238E27FC236}">
                <a16:creationId xmlns:a16="http://schemas.microsoft.com/office/drawing/2014/main" id="{44AD6961-FCB2-481C-86EB-42B32B584C42}"/>
              </a:ext>
            </a:extLst>
          </p:cNvPr>
          <p:cNvSpPr/>
          <p:nvPr/>
        </p:nvSpPr>
        <p:spPr>
          <a:xfrm>
            <a:off x="9949918" y="2571189"/>
            <a:ext cx="258417" cy="29236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FC63964-2A11-4A0B-97D8-CE1E6E687340}"/>
              </a:ext>
            </a:extLst>
          </p:cNvPr>
          <p:cNvCxnSpPr>
            <a:cxnSpLocks/>
            <a:stCxn id="25" idx="2"/>
            <a:endCxn id="18" idx="0"/>
          </p:cNvCxnSpPr>
          <p:nvPr/>
        </p:nvCxnSpPr>
        <p:spPr>
          <a:xfrm rot="16200000" flipH="1">
            <a:off x="9314231" y="3953915"/>
            <a:ext cx="1733373" cy="106764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8BB145A1-DB27-4944-993E-67FAE39EEB15}"/>
              </a:ext>
            </a:extLst>
          </p:cNvPr>
          <p:cNvSpPr/>
          <p:nvPr/>
        </p:nvSpPr>
        <p:spPr>
          <a:xfrm>
            <a:off x="9904689" y="5567916"/>
            <a:ext cx="659219" cy="2551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9475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SQLite ( Pre-2010 )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9399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When a </a:t>
            </a:r>
            <a:r>
              <a:rPr lang="en-US" altLang="zh-CN" dirty="0" err="1"/>
              <a:t>txn</a:t>
            </a:r>
            <a:r>
              <a:rPr lang="en-US" altLang="zh-CN" dirty="0"/>
              <a:t> modifies a page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 DBMS copies the original page to a separate </a:t>
            </a:r>
            <a:r>
              <a:rPr lang="en-US" altLang="zh-CN" b="1" dirty="0">
                <a:solidFill>
                  <a:srgbClr val="FF0000"/>
                </a:solidFill>
              </a:rPr>
              <a:t>journal file </a:t>
            </a:r>
            <a:r>
              <a:rPr lang="en-US" altLang="zh-CN" dirty="0"/>
              <a:t>before overwriting master version.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After restarting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if a journal file exists, then the DBMS restores it to undo changes from uncommitted </a:t>
            </a:r>
            <a:r>
              <a:rPr lang="en-US" altLang="zh-CN" dirty="0" err="1"/>
              <a:t>txns</a:t>
            </a:r>
            <a:r>
              <a:rPr lang="en-US" altLang="zh-CN" dirty="0"/>
              <a:t>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3AAD3-8BB1-480D-B878-520DF423003F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37</a:t>
            </a:fld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F6F151D-3535-4804-BCFC-C19548C55BC2}"/>
              </a:ext>
            </a:extLst>
          </p:cNvPr>
          <p:cNvGrpSpPr/>
          <p:nvPr/>
        </p:nvGrpSpPr>
        <p:grpSpPr>
          <a:xfrm>
            <a:off x="7308112" y="4335352"/>
            <a:ext cx="3646967" cy="1754372"/>
            <a:chOff x="7308112" y="4335352"/>
            <a:chExt cx="3646967" cy="1754372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9FA753D2-8C9E-4797-B670-B9949BFE5FD4}"/>
                </a:ext>
              </a:extLst>
            </p:cNvPr>
            <p:cNvSpPr/>
            <p:nvPr/>
          </p:nvSpPr>
          <p:spPr>
            <a:xfrm>
              <a:off x="7308112" y="4335352"/>
              <a:ext cx="3646967" cy="1754372"/>
            </a:xfrm>
            <a:prstGeom prst="roundRect">
              <a:avLst>
                <a:gd name="adj" fmla="val 6393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AF842A9-F74B-42FE-B0E1-9459880966DC}"/>
                </a:ext>
              </a:extLst>
            </p:cNvPr>
            <p:cNvGrpSpPr/>
            <p:nvPr/>
          </p:nvGrpSpPr>
          <p:grpSpPr>
            <a:xfrm>
              <a:off x="7660756" y="4958315"/>
              <a:ext cx="1470840" cy="864783"/>
              <a:chOff x="7660756" y="4958315"/>
              <a:chExt cx="1470840" cy="864783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A813C7C-33A2-43F3-94F3-DF426E517A45}"/>
                  </a:ext>
                </a:extLst>
              </p:cNvPr>
              <p:cNvSpPr/>
              <p:nvPr/>
            </p:nvSpPr>
            <p:spPr>
              <a:xfrm>
                <a:off x="7660758" y="4960088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1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226C11B-90E2-4866-8372-93F5738E44F2}"/>
                  </a:ext>
                </a:extLst>
              </p:cNvPr>
              <p:cNvSpPr/>
              <p:nvPr/>
            </p:nvSpPr>
            <p:spPr>
              <a:xfrm>
                <a:off x="8472377" y="4958315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2’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E298D8A-1D65-4A20-A14E-A9C09CEF1838}"/>
                  </a:ext>
                </a:extLst>
              </p:cNvPr>
              <p:cNvSpPr/>
              <p:nvPr/>
            </p:nvSpPr>
            <p:spPr>
              <a:xfrm>
                <a:off x="7660757" y="5264002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3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2B91A5E-E963-4DF2-BE13-CDD13FEF0EB2}"/>
                  </a:ext>
                </a:extLst>
              </p:cNvPr>
              <p:cNvSpPr/>
              <p:nvPr/>
            </p:nvSpPr>
            <p:spPr>
              <a:xfrm>
                <a:off x="8472377" y="5263115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4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2624993E-E816-440B-829A-ECAB4C1E4A09}"/>
                  </a:ext>
                </a:extLst>
              </p:cNvPr>
              <p:cNvSpPr/>
              <p:nvPr/>
            </p:nvSpPr>
            <p:spPr>
              <a:xfrm>
                <a:off x="7660756" y="5567916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5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392E96C-6DA5-42B2-8FEC-5CEDC74D4B51}"/>
                  </a:ext>
                </a:extLst>
              </p:cNvPr>
              <p:cNvSpPr/>
              <p:nvPr/>
            </p:nvSpPr>
            <p:spPr>
              <a:xfrm>
                <a:off x="8472377" y="5567916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6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B144C3A1-D12A-46DD-9C45-A182B2019554}"/>
                </a:ext>
              </a:extLst>
            </p:cNvPr>
            <p:cNvCxnSpPr/>
            <p:nvPr/>
          </p:nvCxnSpPr>
          <p:spPr>
            <a:xfrm>
              <a:off x="9480389" y="4933026"/>
              <a:ext cx="0" cy="915360"/>
            </a:xfrm>
            <a:prstGeom prst="line">
              <a:avLst/>
            </a:prstGeom>
            <a:ln w="508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441C229-663B-4E17-A3EC-C6B8DA42AFC1}"/>
                </a:ext>
              </a:extLst>
            </p:cNvPr>
            <p:cNvSpPr txBox="1"/>
            <p:nvPr/>
          </p:nvSpPr>
          <p:spPr>
            <a:xfrm>
              <a:off x="8795605" y="4455670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Disk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CEE2301-0F6D-4A46-8606-BE764528973A}"/>
                </a:ext>
              </a:extLst>
            </p:cNvPr>
            <p:cNvSpPr txBox="1"/>
            <p:nvPr/>
          </p:nvSpPr>
          <p:spPr>
            <a:xfrm>
              <a:off x="9565686" y="4873984"/>
              <a:ext cx="13372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Journal File</a:t>
              </a:r>
              <a:endParaRPr lang="zh-CN" alt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FFB4424-1948-4BCD-A04C-8B730162D606}"/>
                </a:ext>
              </a:extLst>
            </p:cNvPr>
            <p:cNvSpPr/>
            <p:nvPr/>
          </p:nvSpPr>
          <p:spPr>
            <a:xfrm>
              <a:off x="9904689" y="5263115"/>
              <a:ext cx="659219" cy="25518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2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4265731-5B51-4763-A9EE-8A166F7811FC}"/>
              </a:ext>
            </a:extLst>
          </p:cNvPr>
          <p:cNvGrpSpPr/>
          <p:nvPr/>
        </p:nvGrpSpPr>
        <p:grpSpPr>
          <a:xfrm>
            <a:off x="7308112" y="2036570"/>
            <a:ext cx="3646967" cy="1754372"/>
            <a:chOff x="7308112" y="2036570"/>
            <a:chExt cx="3646967" cy="1754372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96B4587D-2E0C-4BA0-B8B3-B93598AE1FA2}"/>
                </a:ext>
              </a:extLst>
            </p:cNvPr>
            <p:cNvSpPr/>
            <p:nvPr/>
          </p:nvSpPr>
          <p:spPr>
            <a:xfrm>
              <a:off x="7308112" y="2036570"/>
              <a:ext cx="3646967" cy="1754372"/>
            </a:xfrm>
            <a:prstGeom prst="roundRect">
              <a:avLst>
                <a:gd name="adj" fmla="val 6393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0BB3655-282B-4C27-AEF3-3D2AB772645D}"/>
                </a:ext>
              </a:extLst>
            </p:cNvPr>
            <p:cNvSpPr txBox="1"/>
            <p:nvPr/>
          </p:nvSpPr>
          <p:spPr>
            <a:xfrm>
              <a:off x="8596834" y="2128985"/>
              <a:ext cx="1069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9641225-394F-4C64-9B22-98CEC48FBE83}"/>
                </a:ext>
              </a:extLst>
            </p:cNvPr>
            <p:cNvSpPr/>
            <p:nvPr/>
          </p:nvSpPr>
          <p:spPr>
            <a:xfrm>
              <a:off x="7793285" y="2885429"/>
              <a:ext cx="659219" cy="25518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1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BB9EFDD-FD77-4E32-B3ED-250C3676C410}"/>
                </a:ext>
              </a:extLst>
            </p:cNvPr>
            <p:cNvSpPr/>
            <p:nvPr/>
          </p:nvSpPr>
          <p:spPr>
            <a:xfrm>
              <a:off x="8795605" y="2875496"/>
              <a:ext cx="659219" cy="25518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2’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DC3A718-3669-4B91-B8B9-AE9001D74F46}"/>
                </a:ext>
              </a:extLst>
            </p:cNvPr>
            <p:cNvSpPr/>
            <p:nvPr/>
          </p:nvSpPr>
          <p:spPr>
            <a:xfrm>
              <a:off x="9797925" y="2885429"/>
              <a:ext cx="659219" cy="25518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3’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8BB145A1-DB27-4944-993E-67FAE39EEB15}"/>
              </a:ext>
            </a:extLst>
          </p:cNvPr>
          <p:cNvSpPr/>
          <p:nvPr/>
        </p:nvSpPr>
        <p:spPr>
          <a:xfrm>
            <a:off x="9904689" y="5567916"/>
            <a:ext cx="659219" cy="2551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直接箭头连接符 29">
            <a:extLst>
              <a:ext uri="{FF2B5EF4-FFF2-40B4-BE49-F238E27FC236}">
                <a16:creationId xmlns:a16="http://schemas.microsoft.com/office/drawing/2014/main" id="{8328F0E0-CC85-41C8-B9BC-28A5B4F091C0}"/>
              </a:ext>
            </a:extLst>
          </p:cNvPr>
          <p:cNvCxnSpPr>
            <a:cxnSpLocks/>
            <a:stCxn id="24" idx="2"/>
            <a:endCxn id="9" idx="0"/>
          </p:cNvCxnSpPr>
          <p:nvPr/>
        </p:nvCxnSpPr>
        <p:spPr>
          <a:xfrm rot="5400000">
            <a:off x="8049783" y="3882882"/>
            <a:ext cx="1827637" cy="323228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27568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SQLite ( Pre-2010 )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9399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When a </a:t>
            </a:r>
            <a:r>
              <a:rPr lang="en-US" altLang="zh-CN" dirty="0" err="1"/>
              <a:t>txn</a:t>
            </a:r>
            <a:r>
              <a:rPr lang="en-US" altLang="zh-CN" dirty="0"/>
              <a:t> modifies a page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 DBMS copies the original page to a separate </a:t>
            </a:r>
            <a:r>
              <a:rPr lang="en-US" altLang="zh-CN" b="1" dirty="0">
                <a:solidFill>
                  <a:srgbClr val="FF0000"/>
                </a:solidFill>
              </a:rPr>
              <a:t>journal file </a:t>
            </a:r>
            <a:r>
              <a:rPr lang="en-US" altLang="zh-CN" dirty="0"/>
              <a:t>before overwriting master version.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After restarting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if a journal file exists, then the DBMS restores it to undo changes from uncommitted </a:t>
            </a:r>
            <a:r>
              <a:rPr lang="en-US" altLang="zh-CN" dirty="0" err="1"/>
              <a:t>txns</a:t>
            </a:r>
            <a:r>
              <a:rPr lang="en-US" altLang="zh-CN" dirty="0"/>
              <a:t>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BF77-A41A-402A-8E4B-5B365D534C64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38</a:t>
            </a:fld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F6F151D-3535-4804-BCFC-C19548C55BC2}"/>
              </a:ext>
            </a:extLst>
          </p:cNvPr>
          <p:cNvGrpSpPr/>
          <p:nvPr/>
        </p:nvGrpSpPr>
        <p:grpSpPr>
          <a:xfrm>
            <a:off x="7308112" y="4335352"/>
            <a:ext cx="3646967" cy="1754372"/>
            <a:chOff x="7308112" y="4335352"/>
            <a:chExt cx="3646967" cy="1754372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9FA753D2-8C9E-4797-B670-B9949BFE5FD4}"/>
                </a:ext>
              </a:extLst>
            </p:cNvPr>
            <p:cNvSpPr/>
            <p:nvPr/>
          </p:nvSpPr>
          <p:spPr>
            <a:xfrm>
              <a:off x="7308112" y="4335352"/>
              <a:ext cx="3646967" cy="1754372"/>
            </a:xfrm>
            <a:prstGeom prst="roundRect">
              <a:avLst>
                <a:gd name="adj" fmla="val 6393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AF842A9-F74B-42FE-B0E1-9459880966DC}"/>
                </a:ext>
              </a:extLst>
            </p:cNvPr>
            <p:cNvGrpSpPr/>
            <p:nvPr/>
          </p:nvGrpSpPr>
          <p:grpSpPr>
            <a:xfrm>
              <a:off x="7660756" y="4958315"/>
              <a:ext cx="1470840" cy="864783"/>
              <a:chOff x="7660756" y="4958315"/>
              <a:chExt cx="1470840" cy="864783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A813C7C-33A2-43F3-94F3-DF426E517A45}"/>
                  </a:ext>
                </a:extLst>
              </p:cNvPr>
              <p:cNvSpPr/>
              <p:nvPr/>
            </p:nvSpPr>
            <p:spPr>
              <a:xfrm>
                <a:off x="7660758" y="4960088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1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226C11B-90E2-4866-8372-93F5738E44F2}"/>
                  </a:ext>
                </a:extLst>
              </p:cNvPr>
              <p:cNvSpPr/>
              <p:nvPr/>
            </p:nvSpPr>
            <p:spPr>
              <a:xfrm>
                <a:off x="8472377" y="4958315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2’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E298D8A-1D65-4A20-A14E-A9C09CEF1838}"/>
                  </a:ext>
                </a:extLst>
              </p:cNvPr>
              <p:cNvSpPr/>
              <p:nvPr/>
            </p:nvSpPr>
            <p:spPr>
              <a:xfrm>
                <a:off x="7660757" y="5264002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3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2B91A5E-E963-4DF2-BE13-CDD13FEF0EB2}"/>
                  </a:ext>
                </a:extLst>
              </p:cNvPr>
              <p:cNvSpPr/>
              <p:nvPr/>
            </p:nvSpPr>
            <p:spPr>
              <a:xfrm>
                <a:off x="8472377" y="5263115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4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2624993E-E816-440B-829A-ECAB4C1E4A09}"/>
                  </a:ext>
                </a:extLst>
              </p:cNvPr>
              <p:cNvSpPr/>
              <p:nvPr/>
            </p:nvSpPr>
            <p:spPr>
              <a:xfrm>
                <a:off x="7660756" y="5567916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5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392E96C-6DA5-42B2-8FEC-5CEDC74D4B51}"/>
                  </a:ext>
                </a:extLst>
              </p:cNvPr>
              <p:cNvSpPr/>
              <p:nvPr/>
            </p:nvSpPr>
            <p:spPr>
              <a:xfrm>
                <a:off x="8472377" y="5567916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6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B144C3A1-D12A-46DD-9C45-A182B2019554}"/>
                </a:ext>
              </a:extLst>
            </p:cNvPr>
            <p:cNvCxnSpPr/>
            <p:nvPr/>
          </p:nvCxnSpPr>
          <p:spPr>
            <a:xfrm>
              <a:off x="9480389" y="4933026"/>
              <a:ext cx="0" cy="915360"/>
            </a:xfrm>
            <a:prstGeom prst="line">
              <a:avLst/>
            </a:prstGeom>
            <a:ln w="508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441C229-663B-4E17-A3EC-C6B8DA42AFC1}"/>
                </a:ext>
              </a:extLst>
            </p:cNvPr>
            <p:cNvSpPr txBox="1"/>
            <p:nvPr/>
          </p:nvSpPr>
          <p:spPr>
            <a:xfrm>
              <a:off x="8795605" y="4455670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Disk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CEE2301-0F6D-4A46-8606-BE764528973A}"/>
                </a:ext>
              </a:extLst>
            </p:cNvPr>
            <p:cNvSpPr txBox="1"/>
            <p:nvPr/>
          </p:nvSpPr>
          <p:spPr>
            <a:xfrm>
              <a:off x="9565686" y="4873984"/>
              <a:ext cx="13372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Journal File</a:t>
              </a:r>
              <a:endParaRPr lang="zh-CN" alt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FFB4424-1948-4BCD-A04C-8B730162D606}"/>
                </a:ext>
              </a:extLst>
            </p:cNvPr>
            <p:cNvSpPr/>
            <p:nvPr/>
          </p:nvSpPr>
          <p:spPr>
            <a:xfrm>
              <a:off x="9904689" y="5263115"/>
              <a:ext cx="659219" cy="25518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2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4265731-5B51-4763-A9EE-8A166F7811FC}"/>
              </a:ext>
            </a:extLst>
          </p:cNvPr>
          <p:cNvGrpSpPr/>
          <p:nvPr/>
        </p:nvGrpSpPr>
        <p:grpSpPr>
          <a:xfrm>
            <a:off x="7308112" y="2036570"/>
            <a:ext cx="3646967" cy="1754372"/>
            <a:chOff x="7308112" y="2036570"/>
            <a:chExt cx="3646967" cy="1754372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96B4587D-2E0C-4BA0-B8B3-B93598AE1FA2}"/>
                </a:ext>
              </a:extLst>
            </p:cNvPr>
            <p:cNvSpPr/>
            <p:nvPr/>
          </p:nvSpPr>
          <p:spPr>
            <a:xfrm>
              <a:off x="7308112" y="2036570"/>
              <a:ext cx="3646967" cy="1754372"/>
            </a:xfrm>
            <a:prstGeom prst="roundRect">
              <a:avLst>
                <a:gd name="adj" fmla="val 6393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0BB3655-282B-4C27-AEF3-3D2AB772645D}"/>
                </a:ext>
              </a:extLst>
            </p:cNvPr>
            <p:cNvSpPr txBox="1"/>
            <p:nvPr/>
          </p:nvSpPr>
          <p:spPr>
            <a:xfrm>
              <a:off x="8596834" y="2128985"/>
              <a:ext cx="1069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8BB145A1-DB27-4944-993E-67FAE39EEB15}"/>
              </a:ext>
            </a:extLst>
          </p:cNvPr>
          <p:cNvSpPr/>
          <p:nvPr/>
        </p:nvSpPr>
        <p:spPr>
          <a:xfrm>
            <a:off x="9904689" y="5567916"/>
            <a:ext cx="659219" cy="2551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闪电形 29">
            <a:extLst>
              <a:ext uri="{FF2B5EF4-FFF2-40B4-BE49-F238E27FC236}">
                <a16:creationId xmlns:a16="http://schemas.microsoft.com/office/drawing/2014/main" id="{6EDE2186-4E17-4EEF-8DE3-50C4743EBC19}"/>
              </a:ext>
            </a:extLst>
          </p:cNvPr>
          <p:cNvSpPr/>
          <p:nvPr/>
        </p:nvSpPr>
        <p:spPr>
          <a:xfrm>
            <a:off x="8366860" y="1907612"/>
            <a:ext cx="1529467" cy="2045345"/>
          </a:xfrm>
          <a:prstGeom prst="lightningBolt">
            <a:avLst/>
          </a:prstGeom>
          <a:gradFill>
            <a:gsLst>
              <a:gs pos="0">
                <a:srgbClr val="FF0000"/>
              </a:gs>
              <a:gs pos="80000">
                <a:schemeClr val="accent2">
                  <a:lumMod val="105000"/>
                  <a:satMod val="103000"/>
                  <a:tint val="73000"/>
                </a:schemeClr>
              </a:gs>
              <a:gs pos="100000">
                <a:schemeClr val="accent2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6761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SQLite ( Pre-2010 )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9399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When a </a:t>
            </a:r>
            <a:r>
              <a:rPr lang="en-US" altLang="zh-CN" dirty="0" err="1"/>
              <a:t>txn</a:t>
            </a:r>
            <a:r>
              <a:rPr lang="en-US" altLang="zh-CN" dirty="0"/>
              <a:t> modifies a page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 DBMS copies the original page to a separate </a:t>
            </a:r>
            <a:r>
              <a:rPr lang="en-US" altLang="zh-CN" b="1" dirty="0">
                <a:solidFill>
                  <a:srgbClr val="FF0000"/>
                </a:solidFill>
              </a:rPr>
              <a:t>journal file </a:t>
            </a:r>
            <a:r>
              <a:rPr lang="en-US" altLang="zh-CN" dirty="0"/>
              <a:t>before overwriting master version.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After restarting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if a journal file exists, then the DBMS restores it to undo changes from uncommitted </a:t>
            </a:r>
            <a:r>
              <a:rPr lang="en-US" altLang="zh-CN" dirty="0" err="1"/>
              <a:t>txns</a:t>
            </a:r>
            <a:r>
              <a:rPr lang="en-US" altLang="zh-CN" dirty="0"/>
              <a:t>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7F74A-D322-4ADA-8136-AF5A85FB3CFC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39</a:t>
            </a:fld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F6F151D-3535-4804-BCFC-C19548C55BC2}"/>
              </a:ext>
            </a:extLst>
          </p:cNvPr>
          <p:cNvGrpSpPr/>
          <p:nvPr/>
        </p:nvGrpSpPr>
        <p:grpSpPr>
          <a:xfrm>
            <a:off x="7308112" y="4335352"/>
            <a:ext cx="3646967" cy="1754372"/>
            <a:chOff x="7308112" y="4335352"/>
            <a:chExt cx="3646967" cy="1754372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9FA753D2-8C9E-4797-B670-B9949BFE5FD4}"/>
                </a:ext>
              </a:extLst>
            </p:cNvPr>
            <p:cNvSpPr/>
            <p:nvPr/>
          </p:nvSpPr>
          <p:spPr>
            <a:xfrm>
              <a:off x="7308112" y="4335352"/>
              <a:ext cx="3646967" cy="1754372"/>
            </a:xfrm>
            <a:prstGeom prst="roundRect">
              <a:avLst>
                <a:gd name="adj" fmla="val 6393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AF842A9-F74B-42FE-B0E1-9459880966DC}"/>
                </a:ext>
              </a:extLst>
            </p:cNvPr>
            <p:cNvGrpSpPr/>
            <p:nvPr/>
          </p:nvGrpSpPr>
          <p:grpSpPr>
            <a:xfrm>
              <a:off x="7660756" y="4958315"/>
              <a:ext cx="1470840" cy="864783"/>
              <a:chOff x="7660756" y="4958315"/>
              <a:chExt cx="1470840" cy="864783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A813C7C-33A2-43F3-94F3-DF426E517A45}"/>
                  </a:ext>
                </a:extLst>
              </p:cNvPr>
              <p:cNvSpPr/>
              <p:nvPr/>
            </p:nvSpPr>
            <p:spPr>
              <a:xfrm>
                <a:off x="7660758" y="4960088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1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226C11B-90E2-4866-8372-93F5738E44F2}"/>
                  </a:ext>
                </a:extLst>
              </p:cNvPr>
              <p:cNvSpPr/>
              <p:nvPr/>
            </p:nvSpPr>
            <p:spPr>
              <a:xfrm>
                <a:off x="8472377" y="4958315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2’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E298D8A-1D65-4A20-A14E-A9C09CEF1838}"/>
                  </a:ext>
                </a:extLst>
              </p:cNvPr>
              <p:cNvSpPr/>
              <p:nvPr/>
            </p:nvSpPr>
            <p:spPr>
              <a:xfrm>
                <a:off x="7660757" y="5264002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3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2B91A5E-E963-4DF2-BE13-CDD13FEF0EB2}"/>
                  </a:ext>
                </a:extLst>
              </p:cNvPr>
              <p:cNvSpPr/>
              <p:nvPr/>
            </p:nvSpPr>
            <p:spPr>
              <a:xfrm>
                <a:off x="8472377" y="5263115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4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2624993E-E816-440B-829A-ECAB4C1E4A09}"/>
                  </a:ext>
                </a:extLst>
              </p:cNvPr>
              <p:cNvSpPr/>
              <p:nvPr/>
            </p:nvSpPr>
            <p:spPr>
              <a:xfrm>
                <a:off x="7660756" y="5567916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5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392E96C-6DA5-42B2-8FEC-5CEDC74D4B51}"/>
                  </a:ext>
                </a:extLst>
              </p:cNvPr>
              <p:cNvSpPr/>
              <p:nvPr/>
            </p:nvSpPr>
            <p:spPr>
              <a:xfrm>
                <a:off x="8472377" y="5567916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6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B144C3A1-D12A-46DD-9C45-A182B2019554}"/>
                </a:ext>
              </a:extLst>
            </p:cNvPr>
            <p:cNvCxnSpPr/>
            <p:nvPr/>
          </p:nvCxnSpPr>
          <p:spPr>
            <a:xfrm>
              <a:off x="9480389" y="4933026"/>
              <a:ext cx="0" cy="915360"/>
            </a:xfrm>
            <a:prstGeom prst="line">
              <a:avLst/>
            </a:prstGeom>
            <a:ln w="508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441C229-663B-4E17-A3EC-C6B8DA42AFC1}"/>
                </a:ext>
              </a:extLst>
            </p:cNvPr>
            <p:cNvSpPr txBox="1"/>
            <p:nvPr/>
          </p:nvSpPr>
          <p:spPr>
            <a:xfrm>
              <a:off x="8795605" y="4455670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Disk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CEE2301-0F6D-4A46-8606-BE764528973A}"/>
                </a:ext>
              </a:extLst>
            </p:cNvPr>
            <p:cNvSpPr txBox="1"/>
            <p:nvPr/>
          </p:nvSpPr>
          <p:spPr>
            <a:xfrm>
              <a:off x="9565686" y="4873984"/>
              <a:ext cx="13372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Journal File</a:t>
              </a:r>
              <a:endParaRPr lang="zh-CN" alt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FFB4424-1948-4BCD-A04C-8B730162D606}"/>
                </a:ext>
              </a:extLst>
            </p:cNvPr>
            <p:cNvSpPr/>
            <p:nvPr/>
          </p:nvSpPr>
          <p:spPr>
            <a:xfrm>
              <a:off x="9904689" y="5263115"/>
              <a:ext cx="659219" cy="25518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2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4265731-5B51-4763-A9EE-8A166F7811FC}"/>
              </a:ext>
            </a:extLst>
          </p:cNvPr>
          <p:cNvGrpSpPr/>
          <p:nvPr/>
        </p:nvGrpSpPr>
        <p:grpSpPr>
          <a:xfrm>
            <a:off x="7308112" y="2036570"/>
            <a:ext cx="3646967" cy="1754372"/>
            <a:chOff x="7308112" y="2036570"/>
            <a:chExt cx="3646967" cy="1754372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96B4587D-2E0C-4BA0-B8B3-B93598AE1FA2}"/>
                </a:ext>
              </a:extLst>
            </p:cNvPr>
            <p:cNvSpPr/>
            <p:nvPr/>
          </p:nvSpPr>
          <p:spPr>
            <a:xfrm>
              <a:off x="7308112" y="2036570"/>
              <a:ext cx="3646967" cy="1754372"/>
            </a:xfrm>
            <a:prstGeom prst="roundRect">
              <a:avLst>
                <a:gd name="adj" fmla="val 6393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0BB3655-282B-4C27-AEF3-3D2AB772645D}"/>
                </a:ext>
              </a:extLst>
            </p:cNvPr>
            <p:cNvSpPr txBox="1"/>
            <p:nvPr/>
          </p:nvSpPr>
          <p:spPr>
            <a:xfrm>
              <a:off x="8596834" y="2128985"/>
              <a:ext cx="1069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8BB145A1-DB27-4944-993E-67FAE39EEB15}"/>
              </a:ext>
            </a:extLst>
          </p:cNvPr>
          <p:cNvSpPr/>
          <p:nvPr/>
        </p:nvSpPr>
        <p:spPr>
          <a:xfrm>
            <a:off x="9904689" y="5567916"/>
            <a:ext cx="659219" cy="2551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E4F5415-6B8A-4A71-83F2-DBA050717FAA}"/>
              </a:ext>
            </a:extLst>
          </p:cNvPr>
          <p:cNvSpPr/>
          <p:nvPr/>
        </p:nvSpPr>
        <p:spPr>
          <a:xfrm>
            <a:off x="9732411" y="2913756"/>
            <a:ext cx="659219" cy="2551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9295E85-2C0A-4F8C-8F59-35055C0E5C45}"/>
              </a:ext>
            </a:extLst>
          </p:cNvPr>
          <p:cNvSpPr/>
          <p:nvPr/>
        </p:nvSpPr>
        <p:spPr>
          <a:xfrm>
            <a:off x="8795605" y="2913756"/>
            <a:ext cx="659219" cy="2551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latin typeface="Arial" panose="020B0604020202020204" pitchFamily="34" charset="0"/>
                <a:cs typeface="Arial" panose="020B0604020202020204" pitchFamily="34" charset="0"/>
              </a:rPr>
              <a:t>Page 2</a:t>
            </a:r>
            <a:endParaRPr lang="zh-CN" alt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箭头: 下 30">
            <a:extLst>
              <a:ext uri="{FF2B5EF4-FFF2-40B4-BE49-F238E27FC236}">
                <a16:creationId xmlns:a16="http://schemas.microsoft.com/office/drawing/2014/main" id="{1D1939E5-139F-4CB3-B725-E5A371EE94D4}"/>
              </a:ext>
            </a:extLst>
          </p:cNvPr>
          <p:cNvSpPr/>
          <p:nvPr/>
        </p:nvSpPr>
        <p:spPr>
          <a:xfrm rot="10800000">
            <a:off x="10091772" y="5863586"/>
            <a:ext cx="258417" cy="29236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箭头连接符 29">
            <a:extLst>
              <a:ext uri="{FF2B5EF4-FFF2-40B4-BE49-F238E27FC236}">
                <a16:creationId xmlns:a16="http://schemas.microsoft.com/office/drawing/2014/main" id="{5F7D8224-E15E-455F-9E83-B44041AA44F1}"/>
              </a:ext>
            </a:extLst>
          </p:cNvPr>
          <p:cNvCxnSpPr>
            <a:cxnSpLocks/>
            <a:stCxn id="22" idx="1"/>
            <a:endCxn id="26" idx="2"/>
          </p:cNvCxnSpPr>
          <p:nvPr/>
        </p:nvCxnSpPr>
        <p:spPr>
          <a:xfrm rot="10800000">
            <a:off x="9125215" y="3168938"/>
            <a:ext cx="779474" cy="2221768"/>
          </a:xfrm>
          <a:prstGeom prst="curvedConnector2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29">
            <a:extLst>
              <a:ext uri="{FF2B5EF4-FFF2-40B4-BE49-F238E27FC236}">
                <a16:creationId xmlns:a16="http://schemas.microsoft.com/office/drawing/2014/main" id="{5AE5E684-0846-4392-87FB-7D99E29260F8}"/>
              </a:ext>
            </a:extLst>
          </p:cNvPr>
          <p:cNvCxnSpPr>
            <a:cxnSpLocks/>
            <a:stCxn id="29" idx="3"/>
            <a:endCxn id="25" idx="2"/>
          </p:cNvCxnSpPr>
          <p:nvPr/>
        </p:nvCxnSpPr>
        <p:spPr>
          <a:xfrm flipH="1" flipV="1">
            <a:off x="10062021" y="3168938"/>
            <a:ext cx="501887" cy="2526569"/>
          </a:xfrm>
          <a:prstGeom prst="curvedConnector4">
            <a:avLst>
              <a:gd name="adj1" fmla="val -45548"/>
              <a:gd name="adj2" fmla="val 52525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4615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SQLite ( Pre-2010 )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9399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When a </a:t>
            </a:r>
            <a:r>
              <a:rPr lang="en-US" altLang="zh-CN" dirty="0" err="1"/>
              <a:t>txn</a:t>
            </a:r>
            <a:r>
              <a:rPr lang="en-US" altLang="zh-CN" dirty="0"/>
              <a:t> modifies a page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 DBMS copies the original page to a separate </a:t>
            </a:r>
            <a:r>
              <a:rPr lang="en-US" altLang="zh-CN" b="1" dirty="0">
                <a:solidFill>
                  <a:srgbClr val="FF0000"/>
                </a:solidFill>
              </a:rPr>
              <a:t>journal file </a:t>
            </a:r>
            <a:r>
              <a:rPr lang="en-US" altLang="zh-CN" dirty="0"/>
              <a:t>before overwriting master version.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After restarting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if a journal file exists, then the DBMS restores it to undo changes from uncommitted </a:t>
            </a:r>
            <a:r>
              <a:rPr lang="en-US" altLang="zh-CN" dirty="0" err="1"/>
              <a:t>txns</a:t>
            </a:r>
            <a:r>
              <a:rPr lang="en-US" altLang="zh-CN" dirty="0"/>
              <a:t>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32D99-132C-48DD-921F-14128D7C5C6D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40</a:t>
            </a:fld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F6F151D-3535-4804-BCFC-C19548C55BC2}"/>
              </a:ext>
            </a:extLst>
          </p:cNvPr>
          <p:cNvGrpSpPr/>
          <p:nvPr/>
        </p:nvGrpSpPr>
        <p:grpSpPr>
          <a:xfrm>
            <a:off x="7308112" y="4335352"/>
            <a:ext cx="3646967" cy="1754372"/>
            <a:chOff x="7308112" y="4335352"/>
            <a:chExt cx="3646967" cy="1754372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9FA753D2-8C9E-4797-B670-B9949BFE5FD4}"/>
                </a:ext>
              </a:extLst>
            </p:cNvPr>
            <p:cNvSpPr/>
            <p:nvPr/>
          </p:nvSpPr>
          <p:spPr>
            <a:xfrm>
              <a:off x="7308112" y="4335352"/>
              <a:ext cx="3646967" cy="1754372"/>
            </a:xfrm>
            <a:prstGeom prst="roundRect">
              <a:avLst>
                <a:gd name="adj" fmla="val 6393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AF842A9-F74B-42FE-B0E1-9459880966DC}"/>
                </a:ext>
              </a:extLst>
            </p:cNvPr>
            <p:cNvGrpSpPr/>
            <p:nvPr/>
          </p:nvGrpSpPr>
          <p:grpSpPr>
            <a:xfrm>
              <a:off x="7660756" y="4958315"/>
              <a:ext cx="1470840" cy="864783"/>
              <a:chOff x="7660756" y="4958315"/>
              <a:chExt cx="1470840" cy="864783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A813C7C-33A2-43F3-94F3-DF426E517A45}"/>
                  </a:ext>
                </a:extLst>
              </p:cNvPr>
              <p:cNvSpPr/>
              <p:nvPr/>
            </p:nvSpPr>
            <p:spPr>
              <a:xfrm>
                <a:off x="7660758" y="4960088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1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226C11B-90E2-4866-8372-93F5738E44F2}"/>
                  </a:ext>
                </a:extLst>
              </p:cNvPr>
              <p:cNvSpPr/>
              <p:nvPr/>
            </p:nvSpPr>
            <p:spPr>
              <a:xfrm>
                <a:off x="8472377" y="4958315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2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E298D8A-1D65-4A20-A14E-A9C09CEF1838}"/>
                  </a:ext>
                </a:extLst>
              </p:cNvPr>
              <p:cNvSpPr/>
              <p:nvPr/>
            </p:nvSpPr>
            <p:spPr>
              <a:xfrm>
                <a:off x="7660757" y="5264002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3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2B91A5E-E963-4DF2-BE13-CDD13FEF0EB2}"/>
                  </a:ext>
                </a:extLst>
              </p:cNvPr>
              <p:cNvSpPr/>
              <p:nvPr/>
            </p:nvSpPr>
            <p:spPr>
              <a:xfrm>
                <a:off x="8472377" y="5263115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4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2624993E-E816-440B-829A-ECAB4C1E4A09}"/>
                  </a:ext>
                </a:extLst>
              </p:cNvPr>
              <p:cNvSpPr/>
              <p:nvPr/>
            </p:nvSpPr>
            <p:spPr>
              <a:xfrm>
                <a:off x="7660756" y="5567916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5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392E96C-6DA5-42B2-8FEC-5CEDC74D4B51}"/>
                  </a:ext>
                </a:extLst>
              </p:cNvPr>
              <p:cNvSpPr/>
              <p:nvPr/>
            </p:nvSpPr>
            <p:spPr>
              <a:xfrm>
                <a:off x="8472377" y="5567916"/>
                <a:ext cx="659219" cy="2551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Page 6</a:t>
                </a:r>
                <a:endParaRPr lang="zh-CN" alt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B144C3A1-D12A-46DD-9C45-A182B2019554}"/>
                </a:ext>
              </a:extLst>
            </p:cNvPr>
            <p:cNvCxnSpPr/>
            <p:nvPr/>
          </p:nvCxnSpPr>
          <p:spPr>
            <a:xfrm>
              <a:off x="9480389" y="4933026"/>
              <a:ext cx="0" cy="915360"/>
            </a:xfrm>
            <a:prstGeom prst="line">
              <a:avLst/>
            </a:prstGeom>
            <a:ln w="508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441C229-663B-4E17-A3EC-C6B8DA42AFC1}"/>
                </a:ext>
              </a:extLst>
            </p:cNvPr>
            <p:cNvSpPr txBox="1"/>
            <p:nvPr/>
          </p:nvSpPr>
          <p:spPr>
            <a:xfrm>
              <a:off x="8795605" y="4455670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Disk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CEE2301-0F6D-4A46-8606-BE764528973A}"/>
                </a:ext>
              </a:extLst>
            </p:cNvPr>
            <p:cNvSpPr txBox="1"/>
            <p:nvPr/>
          </p:nvSpPr>
          <p:spPr>
            <a:xfrm>
              <a:off x="9565686" y="4873984"/>
              <a:ext cx="13372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Journal File</a:t>
              </a:r>
              <a:endParaRPr lang="zh-CN" alt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FFB4424-1948-4BCD-A04C-8B730162D606}"/>
                </a:ext>
              </a:extLst>
            </p:cNvPr>
            <p:cNvSpPr/>
            <p:nvPr/>
          </p:nvSpPr>
          <p:spPr>
            <a:xfrm>
              <a:off x="9904689" y="5263115"/>
              <a:ext cx="659219" cy="25518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Page 2</a:t>
              </a:r>
              <a:endPara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4265731-5B51-4763-A9EE-8A166F7811FC}"/>
              </a:ext>
            </a:extLst>
          </p:cNvPr>
          <p:cNvGrpSpPr/>
          <p:nvPr/>
        </p:nvGrpSpPr>
        <p:grpSpPr>
          <a:xfrm>
            <a:off x="7308112" y="2036570"/>
            <a:ext cx="3646967" cy="1754372"/>
            <a:chOff x="7308112" y="2036570"/>
            <a:chExt cx="3646967" cy="1754372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96B4587D-2E0C-4BA0-B8B3-B93598AE1FA2}"/>
                </a:ext>
              </a:extLst>
            </p:cNvPr>
            <p:cNvSpPr/>
            <p:nvPr/>
          </p:nvSpPr>
          <p:spPr>
            <a:xfrm>
              <a:off x="7308112" y="2036570"/>
              <a:ext cx="3646967" cy="1754372"/>
            </a:xfrm>
            <a:prstGeom prst="roundRect">
              <a:avLst>
                <a:gd name="adj" fmla="val 6393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0BB3655-282B-4C27-AEF3-3D2AB772645D}"/>
                </a:ext>
              </a:extLst>
            </p:cNvPr>
            <p:cNvSpPr txBox="1"/>
            <p:nvPr/>
          </p:nvSpPr>
          <p:spPr>
            <a:xfrm>
              <a:off x="8596834" y="2128985"/>
              <a:ext cx="1069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8BB145A1-DB27-4944-993E-67FAE39EEB15}"/>
              </a:ext>
            </a:extLst>
          </p:cNvPr>
          <p:cNvSpPr/>
          <p:nvPr/>
        </p:nvSpPr>
        <p:spPr>
          <a:xfrm>
            <a:off x="9904689" y="5567916"/>
            <a:ext cx="659219" cy="2551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E4F5415-6B8A-4A71-83F2-DBA050717FAA}"/>
              </a:ext>
            </a:extLst>
          </p:cNvPr>
          <p:cNvSpPr/>
          <p:nvPr/>
        </p:nvSpPr>
        <p:spPr>
          <a:xfrm>
            <a:off x="9732411" y="2913756"/>
            <a:ext cx="659219" cy="2551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latin typeface="Arial" panose="020B0604020202020204" pitchFamily="34" charset="0"/>
                <a:cs typeface="Arial" panose="020B0604020202020204" pitchFamily="34" charset="0"/>
              </a:rPr>
              <a:t>Page 3</a:t>
            </a:r>
            <a:endParaRPr lang="zh-CN" alt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9295E85-2C0A-4F8C-8F59-35055C0E5C45}"/>
              </a:ext>
            </a:extLst>
          </p:cNvPr>
          <p:cNvSpPr/>
          <p:nvPr/>
        </p:nvSpPr>
        <p:spPr>
          <a:xfrm>
            <a:off x="8795605" y="2913756"/>
            <a:ext cx="659219" cy="2551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latin typeface="Arial" panose="020B0604020202020204" pitchFamily="34" charset="0"/>
                <a:cs typeface="Arial" panose="020B0604020202020204" pitchFamily="34" charset="0"/>
              </a:rPr>
              <a:t>Page 2</a:t>
            </a:r>
            <a:endParaRPr lang="zh-CN" alt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箭头: 下 30">
            <a:extLst>
              <a:ext uri="{FF2B5EF4-FFF2-40B4-BE49-F238E27FC236}">
                <a16:creationId xmlns:a16="http://schemas.microsoft.com/office/drawing/2014/main" id="{1D1939E5-139F-4CB3-B725-E5A371EE94D4}"/>
              </a:ext>
            </a:extLst>
          </p:cNvPr>
          <p:cNvSpPr/>
          <p:nvPr/>
        </p:nvSpPr>
        <p:spPr>
          <a:xfrm rot="10800000">
            <a:off x="10091772" y="5863586"/>
            <a:ext cx="258417" cy="29236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箭头连接符 29">
            <a:extLst>
              <a:ext uri="{FF2B5EF4-FFF2-40B4-BE49-F238E27FC236}">
                <a16:creationId xmlns:a16="http://schemas.microsoft.com/office/drawing/2014/main" id="{5F7D8224-E15E-455F-9E83-B44041AA44F1}"/>
              </a:ext>
            </a:extLst>
          </p:cNvPr>
          <p:cNvCxnSpPr>
            <a:cxnSpLocks/>
            <a:stCxn id="26" idx="2"/>
            <a:endCxn id="9" idx="0"/>
          </p:cNvCxnSpPr>
          <p:nvPr/>
        </p:nvCxnSpPr>
        <p:spPr>
          <a:xfrm rot="5400000">
            <a:off x="8068913" y="3902012"/>
            <a:ext cx="1789377" cy="323228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29">
            <a:extLst>
              <a:ext uri="{FF2B5EF4-FFF2-40B4-BE49-F238E27FC236}">
                <a16:creationId xmlns:a16="http://schemas.microsoft.com/office/drawing/2014/main" id="{5AE5E684-0846-4392-87FB-7D99E29260F8}"/>
              </a:ext>
            </a:extLst>
          </p:cNvPr>
          <p:cNvCxnSpPr>
            <a:cxnSpLocks/>
            <a:stCxn id="25" idx="2"/>
            <a:endCxn id="10" idx="3"/>
          </p:cNvCxnSpPr>
          <p:nvPr/>
        </p:nvCxnSpPr>
        <p:spPr>
          <a:xfrm rot="5400000">
            <a:off x="8079672" y="3409243"/>
            <a:ext cx="2222655" cy="1742045"/>
          </a:xfrm>
          <a:prstGeom prst="curvedConnector2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563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Log-Based Recovery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Maintain a </a:t>
            </a:r>
            <a:r>
              <a:rPr lang="en-US" altLang="zh-CN" b="1" dirty="0">
                <a:solidFill>
                  <a:srgbClr val="FF0000"/>
                </a:solidFill>
              </a:rPr>
              <a:t>log file </a:t>
            </a:r>
            <a:r>
              <a:rPr lang="en-US" altLang="zh-CN" dirty="0"/>
              <a:t>separate from </a:t>
            </a:r>
            <a:r>
              <a:rPr lang="en-US" altLang="zh-CN" b="1" dirty="0">
                <a:solidFill>
                  <a:srgbClr val="FF0000"/>
                </a:solidFill>
              </a:rPr>
              <a:t>data files </a:t>
            </a:r>
            <a:r>
              <a:rPr lang="en-US" altLang="zh-CN" dirty="0"/>
              <a:t>that contains the changes that </a:t>
            </a:r>
            <a:r>
              <a:rPr lang="en-US" altLang="zh-CN" dirty="0" err="1"/>
              <a:t>txns</a:t>
            </a:r>
            <a:r>
              <a:rPr lang="en-US" altLang="zh-CN" dirty="0"/>
              <a:t> make to database.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Assume that the log is on stable storage.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Log contains enough information to perform the necessary undo and redo actions to restore the database.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b="1" dirty="0"/>
              <a:t>Write-Ahead Logging (WAL)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DBMS must write to disk the log file records that correspond to changes made to a database object before it can flush that object to disk.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Buffer Pool Policy: </a:t>
            </a:r>
            <a:r>
              <a:rPr lang="en-US" altLang="zh-CN" b="1" dirty="0">
                <a:solidFill>
                  <a:srgbClr val="0066FF"/>
                </a:solidFill>
              </a:rPr>
              <a:t>STEAL</a:t>
            </a:r>
            <a:r>
              <a:rPr lang="en-US" altLang="zh-CN" dirty="0"/>
              <a:t> + </a:t>
            </a:r>
            <a:r>
              <a:rPr lang="en-US" altLang="zh-CN" b="1" dirty="0">
                <a:solidFill>
                  <a:srgbClr val="0066FF"/>
                </a:solidFill>
              </a:rPr>
              <a:t>NO-FORCE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26B69-F41A-442A-8908-F9BF9DC1186D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8829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Log Records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i="1" dirty="0"/>
              <a:t>&lt;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baseline="-25000" dirty="0"/>
              <a:t>  </a:t>
            </a:r>
            <a:r>
              <a:rPr lang="en-US" altLang="en-US" b="1" dirty="0"/>
              <a:t>start</a:t>
            </a:r>
            <a:r>
              <a:rPr lang="en-US" altLang="en-US" dirty="0"/>
              <a:t>&gt;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i="1" dirty="0"/>
              <a:t>&lt;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, X,  V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 V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&gt;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i="1" dirty="0" err="1"/>
              <a:t>T</a:t>
            </a:r>
            <a:r>
              <a:rPr lang="en-US" altLang="zh-CN" i="1" baseline="-25000" dirty="0" err="1"/>
              <a:t>i</a:t>
            </a:r>
            <a:r>
              <a:rPr lang="zh-CN" altLang="en-US" i="1" dirty="0"/>
              <a:t>：</a:t>
            </a:r>
            <a:r>
              <a:rPr lang="en-US" altLang="zh-CN" i="1" dirty="0"/>
              <a:t>Transaction ID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i="1" dirty="0"/>
              <a:t>X: Data object ID or Data object address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i="1" dirty="0"/>
              <a:t>V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: </a:t>
            </a:r>
            <a:r>
              <a:rPr lang="en-US" altLang="en-US" dirty="0"/>
              <a:t>value of </a:t>
            </a:r>
            <a:r>
              <a:rPr lang="en-US" altLang="en-US" i="1" dirty="0"/>
              <a:t>X</a:t>
            </a:r>
            <a:r>
              <a:rPr lang="en-US" altLang="en-US" dirty="0"/>
              <a:t>  before the write (old value)</a:t>
            </a:r>
            <a:endParaRPr lang="en-US" altLang="zh-CN" i="1" dirty="0"/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i="1" dirty="0"/>
              <a:t>V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: </a:t>
            </a:r>
            <a:r>
              <a:rPr lang="en-US" altLang="en-US" dirty="0"/>
              <a:t>value of </a:t>
            </a:r>
            <a:r>
              <a:rPr lang="en-US" altLang="en-US" i="1" dirty="0"/>
              <a:t>X</a:t>
            </a:r>
            <a:r>
              <a:rPr lang="en-US" altLang="en-US" dirty="0"/>
              <a:t>  after the write (new value)</a:t>
            </a:r>
            <a:endParaRPr lang="en-US" altLang="en-US" i="1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&lt;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</a:t>
            </a:r>
            <a:r>
              <a:rPr lang="en-US" altLang="en-US" b="1" i="1" dirty="0"/>
              <a:t> </a:t>
            </a:r>
            <a:r>
              <a:rPr lang="en-US" altLang="en-US" b="1" dirty="0"/>
              <a:t>commi</a:t>
            </a:r>
            <a:r>
              <a:rPr lang="en-US" altLang="en-US" dirty="0"/>
              <a:t>t&gt; / &lt;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</a:t>
            </a:r>
            <a:r>
              <a:rPr lang="en-US" altLang="en-US" b="1" i="1" dirty="0"/>
              <a:t> </a:t>
            </a:r>
            <a:r>
              <a:rPr lang="en-US" altLang="en-US" b="1" dirty="0"/>
              <a:t>abort</a:t>
            </a:r>
            <a:r>
              <a:rPr lang="en-US" altLang="en-US" dirty="0"/>
              <a:t>&gt;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/>
              <a:t>&lt;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</a:t>
            </a:r>
            <a:r>
              <a:rPr lang="en-US" altLang="en-US" b="1" i="1" dirty="0"/>
              <a:t> </a:t>
            </a:r>
            <a:r>
              <a:rPr lang="en-US" altLang="en-US" b="1" dirty="0"/>
              <a:t>E</a:t>
            </a:r>
            <a:r>
              <a:rPr lang="en-US" altLang="zh-CN" b="1" dirty="0"/>
              <a:t>nd</a:t>
            </a:r>
            <a:r>
              <a:rPr lang="en-US" altLang="en-US" dirty="0"/>
              <a:t>&gt;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D7E6-A79C-45B5-AC43-9E529C00DFD7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2949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WAL Example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A8739-3CFB-4F6E-A900-E6F2ACB3FCB6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60684" y="4115027"/>
            <a:ext cx="3020494" cy="237499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2054E9C-AF36-49B6-9E5F-DB018132B9F3}"/>
              </a:ext>
            </a:extLst>
          </p:cNvPr>
          <p:cNvGrpSpPr/>
          <p:nvPr/>
        </p:nvGrpSpPr>
        <p:grpSpPr>
          <a:xfrm>
            <a:off x="4549970" y="4167639"/>
            <a:ext cx="2716695" cy="2181915"/>
            <a:chOff x="4549970" y="4167639"/>
            <a:chExt cx="2716695" cy="2181915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549970" y="4174435"/>
              <a:ext cx="2716695" cy="2175119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156744" y="4167639"/>
              <a:ext cx="1428596" cy="3859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6346781"/>
              </p:ext>
            </p:extLst>
          </p:nvPr>
        </p:nvGraphicFramePr>
        <p:xfrm>
          <a:off x="1417243" y="2299152"/>
          <a:ext cx="1323685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W(A)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972221" y="2628350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流程图: 磁盘 18">
            <a:extLst>
              <a:ext uri="{FF2B5EF4-FFF2-40B4-BE49-F238E27FC236}">
                <a16:creationId xmlns:a16="http://schemas.microsoft.com/office/drawing/2014/main" id="{125F989A-A24C-44DA-A898-97523D6CD2A6}"/>
              </a:ext>
            </a:extLst>
          </p:cNvPr>
          <p:cNvSpPr/>
          <p:nvPr/>
        </p:nvSpPr>
        <p:spPr>
          <a:xfrm>
            <a:off x="8160684" y="1810254"/>
            <a:ext cx="3020494" cy="2121757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7C3683B-171C-4D9E-AF9B-BFF934FA7EBA}"/>
              </a:ext>
            </a:extLst>
          </p:cNvPr>
          <p:cNvGrpSpPr/>
          <p:nvPr/>
        </p:nvGrpSpPr>
        <p:grpSpPr>
          <a:xfrm>
            <a:off x="4549970" y="1810254"/>
            <a:ext cx="2716695" cy="2181915"/>
            <a:chOff x="4549970" y="4167639"/>
            <a:chExt cx="2716695" cy="2181915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A1DA1460-941D-4827-BA6B-BEFAFF8BC7FB}"/>
                </a:ext>
              </a:extLst>
            </p:cNvPr>
            <p:cNvSpPr/>
            <p:nvPr/>
          </p:nvSpPr>
          <p:spPr>
            <a:xfrm>
              <a:off x="4549970" y="4174435"/>
              <a:ext cx="2716695" cy="2175119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65D4754-9D87-476E-881E-7E402924A763}"/>
                </a:ext>
              </a:extLst>
            </p:cNvPr>
            <p:cNvSpPr txBox="1"/>
            <p:nvPr/>
          </p:nvSpPr>
          <p:spPr>
            <a:xfrm>
              <a:off x="5156744" y="4167639"/>
              <a:ext cx="14373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WAL Buffer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F63F45C6-35EB-4168-B798-7447C73A549A}"/>
              </a:ext>
            </a:extLst>
          </p:cNvPr>
          <p:cNvSpPr txBox="1"/>
          <p:nvPr/>
        </p:nvSpPr>
        <p:spPr>
          <a:xfrm>
            <a:off x="9097697" y="4304198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Data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2B6304-195C-4288-9BEE-6FCE09D21795}"/>
              </a:ext>
            </a:extLst>
          </p:cNvPr>
          <p:cNvSpPr txBox="1"/>
          <p:nvPr/>
        </p:nvSpPr>
        <p:spPr>
          <a:xfrm>
            <a:off x="9174641" y="192982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B1F369C-D02C-4759-A3BA-42F0C39789E9}"/>
              </a:ext>
            </a:extLst>
          </p:cNvPr>
          <p:cNvGrpSpPr/>
          <p:nvPr/>
        </p:nvGrpSpPr>
        <p:grpSpPr>
          <a:xfrm>
            <a:off x="9054707" y="5232032"/>
            <a:ext cx="1232452" cy="1070113"/>
            <a:chOff x="9054707" y="5232032"/>
            <a:chExt cx="1232452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9054707" y="5232032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267157" y="5327777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59D8282-3AC3-4563-A7AE-48D41FF18004}"/>
                </a:ext>
              </a:extLst>
            </p:cNvPr>
            <p:cNvSpPr txBox="1"/>
            <p:nvPr/>
          </p:nvSpPr>
          <p:spPr>
            <a:xfrm>
              <a:off x="9267156" y="5596013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B=5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A7109EF-FB46-479E-9DCF-55A7D55F77E8}"/>
                </a:ext>
              </a:extLst>
            </p:cNvPr>
            <p:cNvSpPr txBox="1"/>
            <p:nvPr/>
          </p:nvSpPr>
          <p:spPr>
            <a:xfrm>
              <a:off x="9267156" y="586328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C=7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3CE9B2C-27BE-4DAB-9B8C-F38B930CE3A1}"/>
              </a:ext>
            </a:extLst>
          </p:cNvPr>
          <p:cNvGrpSpPr/>
          <p:nvPr/>
        </p:nvGrpSpPr>
        <p:grpSpPr>
          <a:xfrm>
            <a:off x="5272974" y="2272605"/>
            <a:ext cx="1383863" cy="1439480"/>
            <a:chOff x="5272974" y="2272605"/>
            <a:chExt cx="1383863" cy="1439480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B5082E73-37C1-4226-9211-C269CF20EE39}"/>
                </a:ext>
              </a:extLst>
            </p:cNvPr>
            <p:cNvSpPr/>
            <p:nvPr/>
          </p:nvSpPr>
          <p:spPr>
            <a:xfrm>
              <a:off x="5272974" y="2272605"/>
              <a:ext cx="1383863" cy="143948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47EAC73-0DE2-49EC-8ED6-8D7B52512F7B}"/>
                </a:ext>
              </a:extLst>
            </p:cNvPr>
            <p:cNvSpPr txBox="1"/>
            <p:nvPr/>
          </p:nvSpPr>
          <p:spPr>
            <a:xfrm>
              <a:off x="5333716" y="2324044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C0380C1E-4DEF-4ED5-9D19-CA1133564F7E}"/>
              </a:ext>
            </a:extLst>
          </p:cNvPr>
          <p:cNvGrpSpPr/>
          <p:nvPr/>
        </p:nvGrpSpPr>
        <p:grpSpPr>
          <a:xfrm>
            <a:off x="5346473" y="4792720"/>
            <a:ext cx="1232452" cy="1070113"/>
            <a:chOff x="9054707" y="5232032"/>
            <a:chExt cx="1232452" cy="1070113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A3EE3740-01C6-49F5-B6AE-81325FC7C98E}"/>
                </a:ext>
              </a:extLst>
            </p:cNvPr>
            <p:cNvSpPr/>
            <p:nvPr/>
          </p:nvSpPr>
          <p:spPr>
            <a:xfrm>
              <a:off x="9054707" y="5232032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B26B18EA-AC61-45B3-99F2-D6F747E9C2C7}"/>
                </a:ext>
              </a:extLst>
            </p:cNvPr>
            <p:cNvSpPr txBox="1"/>
            <p:nvPr/>
          </p:nvSpPr>
          <p:spPr>
            <a:xfrm>
              <a:off x="9267157" y="5327777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95FC9CA-7B3E-4736-8704-7E9E4165FE21}"/>
                </a:ext>
              </a:extLst>
            </p:cNvPr>
            <p:cNvSpPr txBox="1"/>
            <p:nvPr/>
          </p:nvSpPr>
          <p:spPr>
            <a:xfrm>
              <a:off x="9267156" y="5596013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B=5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9F6673C0-106D-45C3-9690-1828C9EA359E}"/>
                </a:ext>
              </a:extLst>
            </p:cNvPr>
            <p:cNvSpPr txBox="1"/>
            <p:nvPr/>
          </p:nvSpPr>
          <p:spPr>
            <a:xfrm>
              <a:off x="9267156" y="586328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C=7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17819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WAL Example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C5BA-8B8F-4814-9812-542F06164FC2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60684" y="4115027"/>
            <a:ext cx="3020494" cy="237499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2054E9C-AF36-49B6-9E5F-DB018132B9F3}"/>
              </a:ext>
            </a:extLst>
          </p:cNvPr>
          <p:cNvGrpSpPr/>
          <p:nvPr/>
        </p:nvGrpSpPr>
        <p:grpSpPr>
          <a:xfrm>
            <a:off x="4549970" y="4167639"/>
            <a:ext cx="2716695" cy="2181915"/>
            <a:chOff x="4549970" y="4167639"/>
            <a:chExt cx="2716695" cy="2181915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549970" y="4174435"/>
              <a:ext cx="2716695" cy="2175119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156744" y="4167639"/>
              <a:ext cx="1428596" cy="3859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17243" y="2299152"/>
          <a:ext cx="1323685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W(A)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972221" y="2966276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流程图: 磁盘 18">
            <a:extLst>
              <a:ext uri="{FF2B5EF4-FFF2-40B4-BE49-F238E27FC236}">
                <a16:creationId xmlns:a16="http://schemas.microsoft.com/office/drawing/2014/main" id="{125F989A-A24C-44DA-A898-97523D6CD2A6}"/>
              </a:ext>
            </a:extLst>
          </p:cNvPr>
          <p:cNvSpPr/>
          <p:nvPr/>
        </p:nvSpPr>
        <p:spPr>
          <a:xfrm>
            <a:off x="8160684" y="1810254"/>
            <a:ext cx="3020494" cy="2121757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7C3683B-171C-4D9E-AF9B-BFF934FA7EBA}"/>
              </a:ext>
            </a:extLst>
          </p:cNvPr>
          <p:cNvGrpSpPr/>
          <p:nvPr/>
        </p:nvGrpSpPr>
        <p:grpSpPr>
          <a:xfrm>
            <a:off x="4549970" y="1810254"/>
            <a:ext cx="2716695" cy="2181915"/>
            <a:chOff x="4549970" y="4167639"/>
            <a:chExt cx="2716695" cy="2181915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A1DA1460-941D-4827-BA6B-BEFAFF8BC7FB}"/>
                </a:ext>
              </a:extLst>
            </p:cNvPr>
            <p:cNvSpPr/>
            <p:nvPr/>
          </p:nvSpPr>
          <p:spPr>
            <a:xfrm>
              <a:off x="4549970" y="4174435"/>
              <a:ext cx="2716695" cy="2175119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65D4754-9D87-476E-881E-7E402924A763}"/>
                </a:ext>
              </a:extLst>
            </p:cNvPr>
            <p:cNvSpPr txBox="1"/>
            <p:nvPr/>
          </p:nvSpPr>
          <p:spPr>
            <a:xfrm>
              <a:off x="5156744" y="4167639"/>
              <a:ext cx="14373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WAL Buffer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F63F45C6-35EB-4168-B798-7447C73A549A}"/>
              </a:ext>
            </a:extLst>
          </p:cNvPr>
          <p:cNvSpPr txBox="1"/>
          <p:nvPr/>
        </p:nvSpPr>
        <p:spPr>
          <a:xfrm>
            <a:off x="9097697" y="4304198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Data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2B6304-195C-4288-9BEE-6FCE09D21795}"/>
              </a:ext>
            </a:extLst>
          </p:cNvPr>
          <p:cNvSpPr txBox="1"/>
          <p:nvPr/>
        </p:nvSpPr>
        <p:spPr>
          <a:xfrm>
            <a:off x="9174641" y="192982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B1F369C-D02C-4759-A3BA-42F0C39789E9}"/>
              </a:ext>
            </a:extLst>
          </p:cNvPr>
          <p:cNvGrpSpPr/>
          <p:nvPr/>
        </p:nvGrpSpPr>
        <p:grpSpPr>
          <a:xfrm>
            <a:off x="9054707" y="5232032"/>
            <a:ext cx="1232452" cy="1070113"/>
            <a:chOff x="9054707" y="5232032"/>
            <a:chExt cx="1232452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9054707" y="5232032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267157" y="5327777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59D8282-3AC3-4563-A7AE-48D41FF18004}"/>
                </a:ext>
              </a:extLst>
            </p:cNvPr>
            <p:cNvSpPr txBox="1"/>
            <p:nvPr/>
          </p:nvSpPr>
          <p:spPr>
            <a:xfrm>
              <a:off x="9267156" y="5596013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B=5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A7109EF-FB46-479E-9DCF-55A7D55F77E8}"/>
                </a:ext>
              </a:extLst>
            </p:cNvPr>
            <p:cNvSpPr txBox="1"/>
            <p:nvPr/>
          </p:nvSpPr>
          <p:spPr>
            <a:xfrm>
              <a:off x="9267156" y="586328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C=7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3CE9B2C-27BE-4DAB-9B8C-F38B930CE3A1}"/>
              </a:ext>
            </a:extLst>
          </p:cNvPr>
          <p:cNvGrpSpPr/>
          <p:nvPr/>
        </p:nvGrpSpPr>
        <p:grpSpPr>
          <a:xfrm>
            <a:off x="5272974" y="2272605"/>
            <a:ext cx="1383863" cy="1439480"/>
            <a:chOff x="5272974" y="2272605"/>
            <a:chExt cx="1383863" cy="1439480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B5082E73-37C1-4226-9211-C269CF20EE39}"/>
                </a:ext>
              </a:extLst>
            </p:cNvPr>
            <p:cNvSpPr/>
            <p:nvPr/>
          </p:nvSpPr>
          <p:spPr>
            <a:xfrm>
              <a:off x="5272974" y="2272605"/>
              <a:ext cx="1383863" cy="143948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47EAC73-0DE2-49EC-8ED6-8D7B52512F7B}"/>
                </a:ext>
              </a:extLst>
            </p:cNvPr>
            <p:cNvSpPr txBox="1"/>
            <p:nvPr/>
          </p:nvSpPr>
          <p:spPr>
            <a:xfrm>
              <a:off x="5333716" y="2324044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C0380C1E-4DEF-4ED5-9D19-CA1133564F7E}"/>
              </a:ext>
            </a:extLst>
          </p:cNvPr>
          <p:cNvGrpSpPr/>
          <p:nvPr/>
        </p:nvGrpSpPr>
        <p:grpSpPr>
          <a:xfrm>
            <a:off x="5346473" y="4792720"/>
            <a:ext cx="1232452" cy="1070113"/>
            <a:chOff x="9054707" y="5232032"/>
            <a:chExt cx="1232452" cy="1070113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A3EE3740-01C6-49F5-B6AE-81325FC7C98E}"/>
                </a:ext>
              </a:extLst>
            </p:cNvPr>
            <p:cNvSpPr/>
            <p:nvPr/>
          </p:nvSpPr>
          <p:spPr>
            <a:xfrm>
              <a:off x="9054707" y="5232032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B26B18EA-AC61-45B3-99F2-D6F747E9C2C7}"/>
                </a:ext>
              </a:extLst>
            </p:cNvPr>
            <p:cNvSpPr txBox="1"/>
            <p:nvPr/>
          </p:nvSpPr>
          <p:spPr>
            <a:xfrm>
              <a:off x="9267157" y="5327777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95FC9CA-7B3E-4736-8704-7E9E4165FE21}"/>
                </a:ext>
              </a:extLst>
            </p:cNvPr>
            <p:cNvSpPr txBox="1"/>
            <p:nvPr/>
          </p:nvSpPr>
          <p:spPr>
            <a:xfrm>
              <a:off x="9267156" y="5596013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B=5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9F6673C0-106D-45C3-9690-1828C9EA359E}"/>
                </a:ext>
              </a:extLst>
            </p:cNvPr>
            <p:cNvSpPr txBox="1"/>
            <p:nvPr/>
          </p:nvSpPr>
          <p:spPr>
            <a:xfrm>
              <a:off x="9267156" y="586328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C=7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8312E1D6-8EFC-4C1F-836C-9D2EEDB29E5B}"/>
              </a:ext>
            </a:extLst>
          </p:cNvPr>
          <p:cNvSpPr txBox="1"/>
          <p:nvPr/>
        </p:nvSpPr>
        <p:spPr>
          <a:xfrm>
            <a:off x="5334000" y="2551687"/>
            <a:ext cx="1257966" cy="2539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A, 1, 8&gt;</a:t>
            </a:r>
            <a:endParaRPr lang="zh-CN" altLang="en-US" sz="1050" b="1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4507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WAL Example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CCF2-211A-4C10-98A9-4FE3583E1227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60684" y="4115027"/>
            <a:ext cx="3020494" cy="237499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2054E9C-AF36-49B6-9E5F-DB018132B9F3}"/>
              </a:ext>
            </a:extLst>
          </p:cNvPr>
          <p:cNvGrpSpPr/>
          <p:nvPr/>
        </p:nvGrpSpPr>
        <p:grpSpPr>
          <a:xfrm>
            <a:off x="4549970" y="4167639"/>
            <a:ext cx="2716695" cy="2181915"/>
            <a:chOff x="4549970" y="4167639"/>
            <a:chExt cx="2716695" cy="2181915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549970" y="4174435"/>
              <a:ext cx="2716695" cy="2175119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156744" y="4167639"/>
              <a:ext cx="1428596" cy="3859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17243" y="2299152"/>
          <a:ext cx="1323685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W(A)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972221" y="2966276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流程图: 磁盘 18">
            <a:extLst>
              <a:ext uri="{FF2B5EF4-FFF2-40B4-BE49-F238E27FC236}">
                <a16:creationId xmlns:a16="http://schemas.microsoft.com/office/drawing/2014/main" id="{125F989A-A24C-44DA-A898-97523D6CD2A6}"/>
              </a:ext>
            </a:extLst>
          </p:cNvPr>
          <p:cNvSpPr/>
          <p:nvPr/>
        </p:nvSpPr>
        <p:spPr>
          <a:xfrm>
            <a:off x="8160684" y="1810254"/>
            <a:ext cx="3020494" cy="2121757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7C3683B-171C-4D9E-AF9B-BFF934FA7EBA}"/>
              </a:ext>
            </a:extLst>
          </p:cNvPr>
          <p:cNvGrpSpPr/>
          <p:nvPr/>
        </p:nvGrpSpPr>
        <p:grpSpPr>
          <a:xfrm>
            <a:off x="4549970" y="1810254"/>
            <a:ext cx="2716695" cy="2181915"/>
            <a:chOff x="4549970" y="4167639"/>
            <a:chExt cx="2716695" cy="2181915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A1DA1460-941D-4827-BA6B-BEFAFF8BC7FB}"/>
                </a:ext>
              </a:extLst>
            </p:cNvPr>
            <p:cNvSpPr/>
            <p:nvPr/>
          </p:nvSpPr>
          <p:spPr>
            <a:xfrm>
              <a:off x="4549970" y="4174435"/>
              <a:ext cx="2716695" cy="2175119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65D4754-9D87-476E-881E-7E402924A763}"/>
                </a:ext>
              </a:extLst>
            </p:cNvPr>
            <p:cNvSpPr txBox="1"/>
            <p:nvPr/>
          </p:nvSpPr>
          <p:spPr>
            <a:xfrm>
              <a:off x="5156744" y="4167639"/>
              <a:ext cx="14373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WAL Buffer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F63F45C6-35EB-4168-B798-7447C73A549A}"/>
              </a:ext>
            </a:extLst>
          </p:cNvPr>
          <p:cNvSpPr txBox="1"/>
          <p:nvPr/>
        </p:nvSpPr>
        <p:spPr>
          <a:xfrm>
            <a:off x="9097697" y="4304198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Data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2B6304-195C-4288-9BEE-6FCE09D21795}"/>
              </a:ext>
            </a:extLst>
          </p:cNvPr>
          <p:cNvSpPr txBox="1"/>
          <p:nvPr/>
        </p:nvSpPr>
        <p:spPr>
          <a:xfrm>
            <a:off x="9174641" y="192982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B1F369C-D02C-4759-A3BA-42F0C39789E9}"/>
              </a:ext>
            </a:extLst>
          </p:cNvPr>
          <p:cNvGrpSpPr/>
          <p:nvPr/>
        </p:nvGrpSpPr>
        <p:grpSpPr>
          <a:xfrm>
            <a:off x="9054707" y="5232032"/>
            <a:ext cx="1232452" cy="1070113"/>
            <a:chOff x="9054707" y="5232032"/>
            <a:chExt cx="1232452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9054707" y="5232032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267157" y="5327777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59D8282-3AC3-4563-A7AE-48D41FF18004}"/>
                </a:ext>
              </a:extLst>
            </p:cNvPr>
            <p:cNvSpPr txBox="1"/>
            <p:nvPr/>
          </p:nvSpPr>
          <p:spPr>
            <a:xfrm>
              <a:off x="9267156" y="5596013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B=5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A7109EF-FB46-479E-9DCF-55A7D55F77E8}"/>
                </a:ext>
              </a:extLst>
            </p:cNvPr>
            <p:cNvSpPr txBox="1"/>
            <p:nvPr/>
          </p:nvSpPr>
          <p:spPr>
            <a:xfrm>
              <a:off x="9267156" y="586328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C=7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3CE9B2C-27BE-4DAB-9B8C-F38B930CE3A1}"/>
              </a:ext>
            </a:extLst>
          </p:cNvPr>
          <p:cNvGrpSpPr/>
          <p:nvPr/>
        </p:nvGrpSpPr>
        <p:grpSpPr>
          <a:xfrm>
            <a:off x="5272974" y="2272605"/>
            <a:ext cx="1383863" cy="1439480"/>
            <a:chOff x="5272974" y="2272605"/>
            <a:chExt cx="1383863" cy="1439480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B5082E73-37C1-4226-9211-C269CF20EE39}"/>
                </a:ext>
              </a:extLst>
            </p:cNvPr>
            <p:cNvSpPr/>
            <p:nvPr/>
          </p:nvSpPr>
          <p:spPr>
            <a:xfrm>
              <a:off x="5272974" y="2272605"/>
              <a:ext cx="1383863" cy="143948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47EAC73-0DE2-49EC-8ED6-8D7B52512F7B}"/>
                </a:ext>
              </a:extLst>
            </p:cNvPr>
            <p:cNvSpPr txBox="1"/>
            <p:nvPr/>
          </p:nvSpPr>
          <p:spPr>
            <a:xfrm>
              <a:off x="5333716" y="2324044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C0380C1E-4DEF-4ED5-9D19-CA1133564F7E}"/>
              </a:ext>
            </a:extLst>
          </p:cNvPr>
          <p:cNvGrpSpPr/>
          <p:nvPr/>
        </p:nvGrpSpPr>
        <p:grpSpPr>
          <a:xfrm>
            <a:off x="5346473" y="4792720"/>
            <a:ext cx="1232452" cy="1070113"/>
            <a:chOff x="9054707" y="5232032"/>
            <a:chExt cx="1232452" cy="1070113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A3EE3740-01C6-49F5-B6AE-81325FC7C98E}"/>
                </a:ext>
              </a:extLst>
            </p:cNvPr>
            <p:cNvSpPr/>
            <p:nvPr/>
          </p:nvSpPr>
          <p:spPr>
            <a:xfrm>
              <a:off x="9054707" y="5232032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B26B18EA-AC61-45B3-99F2-D6F747E9C2C7}"/>
                </a:ext>
              </a:extLst>
            </p:cNvPr>
            <p:cNvSpPr txBox="1"/>
            <p:nvPr/>
          </p:nvSpPr>
          <p:spPr>
            <a:xfrm>
              <a:off x="9267157" y="5327777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A=8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95FC9CA-7B3E-4736-8704-7E9E4165FE21}"/>
                </a:ext>
              </a:extLst>
            </p:cNvPr>
            <p:cNvSpPr txBox="1"/>
            <p:nvPr/>
          </p:nvSpPr>
          <p:spPr>
            <a:xfrm>
              <a:off x="9267156" y="5596013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B=5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9F6673C0-106D-45C3-9690-1828C9EA359E}"/>
                </a:ext>
              </a:extLst>
            </p:cNvPr>
            <p:cNvSpPr txBox="1"/>
            <p:nvPr/>
          </p:nvSpPr>
          <p:spPr>
            <a:xfrm>
              <a:off x="9267156" y="586328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C=7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8312E1D6-8EFC-4C1F-836C-9D2EEDB29E5B}"/>
              </a:ext>
            </a:extLst>
          </p:cNvPr>
          <p:cNvSpPr txBox="1"/>
          <p:nvPr/>
        </p:nvSpPr>
        <p:spPr>
          <a:xfrm>
            <a:off x="5334000" y="2551687"/>
            <a:ext cx="1257966" cy="2539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A, 1, 8&gt;</a:t>
            </a:r>
            <a:endParaRPr lang="zh-CN" altLang="en-US" sz="1050" b="1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8365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WAL Example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7DB44-E859-487C-ACC8-6C1B3FCFD69B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60684" y="4115027"/>
            <a:ext cx="3020494" cy="237499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2054E9C-AF36-49B6-9E5F-DB018132B9F3}"/>
              </a:ext>
            </a:extLst>
          </p:cNvPr>
          <p:cNvGrpSpPr/>
          <p:nvPr/>
        </p:nvGrpSpPr>
        <p:grpSpPr>
          <a:xfrm>
            <a:off x="4549970" y="4167639"/>
            <a:ext cx="2716695" cy="2181915"/>
            <a:chOff x="4549970" y="4167639"/>
            <a:chExt cx="2716695" cy="2181915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549970" y="4174435"/>
              <a:ext cx="2716695" cy="2175119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156744" y="4167639"/>
              <a:ext cx="1428596" cy="3859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17243" y="2299152"/>
          <a:ext cx="1323685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W(A)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972221" y="3277698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流程图: 磁盘 18">
            <a:extLst>
              <a:ext uri="{FF2B5EF4-FFF2-40B4-BE49-F238E27FC236}">
                <a16:creationId xmlns:a16="http://schemas.microsoft.com/office/drawing/2014/main" id="{125F989A-A24C-44DA-A898-97523D6CD2A6}"/>
              </a:ext>
            </a:extLst>
          </p:cNvPr>
          <p:cNvSpPr/>
          <p:nvPr/>
        </p:nvSpPr>
        <p:spPr>
          <a:xfrm>
            <a:off x="8160684" y="1810254"/>
            <a:ext cx="3020494" cy="2121757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7C3683B-171C-4D9E-AF9B-BFF934FA7EBA}"/>
              </a:ext>
            </a:extLst>
          </p:cNvPr>
          <p:cNvGrpSpPr/>
          <p:nvPr/>
        </p:nvGrpSpPr>
        <p:grpSpPr>
          <a:xfrm>
            <a:off x="4549970" y="1810254"/>
            <a:ext cx="2716695" cy="2181915"/>
            <a:chOff x="4549970" y="4167639"/>
            <a:chExt cx="2716695" cy="2181915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A1DA1460-941D-4827-BA6B-BEFAFF8BC7FB}"/>
                </a:ext>
              </a:extLst>
            </p:cNvPr>
            <p:cNvSpPr/>
            <p:nvPr/>
          </p:nvSpPr>
          <p:spPr>
            <a:xfrm>
              <a:off x="4549970" y="4174435"/>
              <a:ext cx="2716695" cy="2175119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65D4754-9D87-476E-881E-7E402924A763}"/>
                </a:ext>
              </a:extLst>
            </p:cNvPr>
            <p:cNvSpPr txBox="1"/>
            <p:nvPr/>
          </p:nvSpPr>
          <p:spPr>
            <a:xfrm>
              <a:off x="5156744" y="4167639"/>
              <a:ext cx="14373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WAL Buffer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F63F45C6-35EB-4168-B798-7447C73A549A}"/>
              </a:ext>
            </a:extLst>
          </p:cNvPr>
          <p:cNvSpPr txBox="1"/>
          <p:nvPr/>
        </p:nvSpPr>
        <p:spPr>
          <a:xfrm>
            <a:off x="9097697" y="4304198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Data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2B6304-195C-4288-9BEE-6FCE09D21795}"/>
              </a:ext>
            </a:extLst>
          </p:cNvPr>
          <p:cNvSpPr txBox="1"/>
          <p:nvPr/>
        </p:nvSpPr>
        <p:spPr>
          <a:xfrm>
            <a:off x="9174641" y="192982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B1F369C-D02C-4759-A3BA-42F0C39789E9}"/>
              </a:ext>
            </a:extLst>
          </p:cNvPr>
          <p:cNvGrpSpPr/>
          <p:nvPr/>
        </p:nvGrpSpPr>
        <p:grpSpPr>
          <a:xfrm>
            <a:off x="9054707" y="5232032"/>
            <a:ext cx="1232452" cy="1070113"/>
            <a:chOff x="9054707" y="5232032"/>
            <a:chExt cx="1232452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9054707" y="5232032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267157" y="5327777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59D8282-3AC3-4563-A7AE-48D41FF18004}"/>
                </a:ext>
              </a:extLst>
            </p:cNvPr>
            <p:cNvSpPr txBox="1"/>
            <p:nvPr/>
          </p:nvSpPr>
          <p:spPr>
            <a:xfrm>
              <a:off x="9267156" y="5596013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B=5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A7109EF-FB46-479E-9DCF-55A7D55F77E8}"/>
                </a:ext>
              </a:extLst>
            </p:cNvPr>
            <p:cNvSpPr txBox="1"/>
            <p:nvPr/>
          </p:nvSpPr>
          <p:spPr>
            <a:xfrm>
              <a:off x="9267156" y="586328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C=7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3CE9B2C-27BE-4DAB-9B8C-F38B930CE3A1}"/>
              </a:ext>
            </a:extLst>
          </p:cNvPr>
          <p:cNvGrpSpPr/>
          <p:nvPr/>
        </p:nvGrpSpPr>
        <p:grpSpPr>
          <a:xfrm>
            <a:off x="5272974" y="2272605"/>
            <a:ext cx="1383863" cy="1439480"/>
            <a:chOff x="5272974" y="2272605"/>
            <a:chExt cx="1383863" cy="1439480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B5082E73-37C1-4226-9211-C269CF20EE39}"/>
                </a:ext>
              </a:extLst>
            </p:cNvPr>
            <p:cNvSpPr/>
            <p:nvPr/>
          </p:nvSpPr>
          <p:spPr>
            <a:xfrm>
              <a:off x="5272974" y="2272605"/>
              <a:ext cx="1383863" cy="143948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47EAC73-0DE2-49EC-8ED6-8D7B52512F7B}"/>
                </a:ext>
              </a:extLst>
            </p:cNvPr>
            <p:cNvSpPr txBox="1"/>
            <p:nvPr/>
          </p:nvSpPr>
          <p:spPr>
            <a:xfrm>
              <a:off x="5333716" y="2324044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C0380C1E-4DEF-4ED5-9D19-CA1133564F7E}"/>
              </a:ext>
            </a:extLst>
          </p:cNvPr>
          <p:cNvGrpSpPr/>
          <p:nvPr/>
        </p:nvGrpSpPr>
        <p:grpSpPr>
          <a:xfrm>
            <a:off x="5346473" y="4792720"/>
            <a:ext cx="1232452" cy="1070113"/>
            <a:chOff x="9054707" y="5232032"/>
            <a:chExt cx="1232452" cy="1070113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A3EE3740-01C6-49F5-B6AE-81325FC7C98E}"/>
                </a:ext>
              </a:extLst>
            </p:cNvPr>
            <p:cNvSpPr/>
            <p:nvPr/>
          </p:nvSpPr>
          <p:spPr>
            <a:xfrm>
              <a:off x="9054707" y="5232032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B26B18EA-AC61-45B3-99F2-D6F747E9C2C7}"/>
                </a:ext>
              </a:extLst>
            </p:cNvPr>
            <p:cNvSpPr txBox="1"/>
            <p:nvPr/>
          </p:nvSpPr>
          <p:spPr>
            <a:xfrm>
              <a:off x="9267157" y="5327777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A=8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95FC9CA-7B3E-4736-8704-7E9E4165FE21}"/>
                </a:ext>
              </a:extLst>
            </p:cNvPr>
            <p:cNvSpPr txBox="1"/>
            <p:nvPr/>
          </p:nvSpPr>
          <p:spPr>
            <a:xfrm>
              <a:off x="9267156" y="5596013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B=9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9F6673C0-106D-45C3-9690-1828C9EA359E}"/>
                </a:ext>
              </a:extLst>
            </p:cNvPr>
            <p:cNvSpPr txBox="1"/>
            <p:nvPr/>
          </p:nvSpPr>
          <p:spPr>
            <a:xfrm>
              <a:off x="9267156" y="586328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C=7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8312E1D6-8EFC-4C1F-836C-9D2EEDB29E5B}"/>
              </a:ext>
            </a:extLst>
          </p:cNvPr>
          <p:cNvSpPr txBox="1"/>
          <p:nvPr/>
        </p:nvSpPr>
        <p:spPr>
          <a:xfrm>
            <a:off x="5334000" y="2551687"/>
            <a:ext cx="1257966" cy="2539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A, 1, 8&gt;</a:t>
            </a:r>
            <a:endParaRPr lang="zh-CN" altLang="en-US" sz="1050" b="1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BC43F6A-1926-4BCC-9B3B-BA642BAF21F4}"/>
              </a:ext>
            </a:extLst>
          </p:cNvPr>
          <p:cNvSpPr txBox="1"/>
          <p:nvPr/>
        </p:nvSpPr>
        <p:spPr>
          <a:xfrm>
            <a:off x="5334000" y="2798213"/>
            <a:ext cx="1257966" cy="2539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B, 5, 9&gt;</a:t>
            </a:r>
            <a:endParaRPr lang="zh-CN" altLang="en-US" sz="1050" b="1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3138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WAL Example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A71C-161B-40D7-82EC-14A78B6E4130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60684" y="4115027"/>
            <a:ext cx="3020494" cy="237499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2054E9C-AF36-49B6-9E5F-DB018132B9F3}"/>
              </a:ext>
            </a:extLst>
          </p:cNvPr>
          <p:cNvGrpSpPr/>
          <p:nvPr/>
        </p:nvGrpSpPr>
        <p:grpSpPr>
          <a:xfrm>
            <a:off x="4549970" y="4167639"/>
            <a:ext cx="2716695" cy="2181915"/>
            <a:chOff x="4549970" y="4167639"/>
            <a:chExt cx="2716695" cy="2181915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549970" y="4174435"/>
              <a:ext cx="2716695" cy="2175119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156744" y="4167639"/>
              <a:ext cx="1428596" cy="3859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17243" y="2299152"/>
          <a:ext cx="1323685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W(A)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972221" y="3953557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流程图: 磁盘 18">
            <a:extLst>
              <a:ext uri="{FF2B5EF4-FFF2-40B4-BE49-F238E27FC236}">
                <a16:creationId xmlns:a16="http://schemas.microsoft.com/office/drawing/2014/main" id="{125F989A-A24C-44DA-A898-97523D6CD2A6}"/>
              </a:ext>
            </a:extLst>
          </p:cNvPr>
          <p:cNvSpPr/>
          <p:nvPr/>
        </p:nvSpPr>
        <p:spPr>
          <a:xfrm>
            <a:off x="8160684" y="1810254"/>
            <a:ext cx="3020494" cy="2121757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7C3683B-171C-4D9E-AF9B-BFF934FA7EBA}"/>
              </a:ext>
            </a:extLst>
          </p:cNvPr>
          <p:cNvGrpSpPr/>
          <p:nvPr/>
        </p:nvGrpSpPr>
        <p:grpSpPr>
          <a:xfrm>
            <a:off x="4549970" y="1810254"/>
            <a:ext cx="2716695" cy="2181915"/>
            <a:chOff x="4549970" y="4167639"/>
            <a:chExt cx="2716695" cy="2181915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A1DA1460-941D-4827-BA6B-BEFAFF8BC7FB}"/>
                </a:ext>
              </a:extLst>
            </p:cNvPr>
            <p:cNvSpPr/>
            <p:nvPr/>
          </p:nvSpPr>
          <p:spPr>
            <a:xfrm>
              <a:off x="4549970" y="4174435"/>
              <a:ext cx="2716695" cy="2175119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65D4754-9D87-476E-881E-7E402924A763}"/>
                </a:ext>
              </a:extLst>
            </p:cNvPr>
            <p:cNvSpPr txBox="1"/>
            <p:nvPr/>
          </p:nvSpPr>
          <p:spPr>
            <a:xfrm>
              <a:off x="5156744" y="4167639"/>
              <a:ext cx="14373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WAL Buffer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F63F45C6-35EB-4168-B798-7447C73A549A}"/>
              </a:ext>
            </a:extLst>
          </p:cNvPr>
          <p:cNvSpPr txBox="1"/>
          <p:nvPr/>
        </p:nvSpPr>
        <p:spPr>
          <a:xfrm>
            <a:off x="9097697" y="4304198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Data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2B6304-195C-4288-9BEE-6FCE09D21795}"/>
              </a:ext>
            </a:extLst>
          </p:cNvPr>
          <p:cNvSpPr txBox="1"/>
          <p:nvPr/>
        </p:nvSpPr>
        <p:spPr>
          <a:xfrm>
            <a:off x="9174641" y="192982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B1F369C-D02C-4759-A3BA-42F0C39789E9}"/>
              </a:ext>
            </a:extLst>
          </p:cNvPr>
          <p:cNvGrpSpPr/>
          <p:nvPr/>
        </p:nvGrpSpPr>
        <p:grpSpPr>
          <a:xfrm>
            <a:off x="9054707" y="5232032"/>
            <a:ext cx="1232452" cy="1070113"/>
            <a:chOff x="9054707" y="5232032"/>
            <a:chExt cx="1232452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9054707" y="5232032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267157" y="5327777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59D8282-3AC3-4563-A7AE-48D41FF18004}"/>
                </a:ext>
              </a:extLst>
            </p:cNvPr>
            <p:cNvSpPr txBox="1"/>
            <p:nvPr/>
          </p:nvSpPr>
          <p:spPr>
            <a:xfrm>
              <a:off x="9267156" y="5596013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B=5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A7109EF-FB46-479E-9DCF-55A7D55F77E8}"/>
                </a:ext>
              </a:extLst>
            </p:cNvPr>
            <p:cNvSpPr txBox="1"/>
            <p:nvPr/>
          </p:nvSpPr>
          <p:spPr>
            <a:xfrm>
              <a:off x="9267156" y="586328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C=7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C0380C1E-4DEF-4ED5-9D19-CA1133564F7E}"/>
              </a:ext>
            </a:extLst>
          </p:cNvPr>
          <p:cNvGrpSpPr/>
          <p:nvPr/>
        </p:nvGrpSpPr>
        <p:grpSpPr>
          <a:xfrm>
            <a:off x="5346473" y="4792720"/>
            <a:ext cx="1232452" cy="1070113"/>
            <a:chOff x="9054707" y="5232032"/>
            <a:chExt cx="1232452" cy="1070113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A3EE3740-01C6-49F5-B6AE-81325FC7C98E}"/>
                </a:ext>
              </a:extLst>
            </p:cNvPr>
            <p:cNvSpPr/>
            <p:nvPr/>
          </p:nvSpPr>
          <p:spPr>
            <a:xfrm>
              <a:off x="9054707" y="5232032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B26B18EA-AC61-45B3-99F2-D6F747E9C2C7}"/>
                </a:ext>
              </a:extLst>
            </p:cNvPr>
            <p:cNvSpPr txBox="1"/>
            <p:nvPr/>
          </p:nvSpPr>
          <p:spPr>
            <a:xfrm>
              <a:off x="9267157" y="5327777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A=8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95FC9CA-7B3E-4736-8704-7E9E4165FE21}"/>
                </a:ext>
              </a:extLst>
            </p:cNvPr>
            <p:cNvSpPr txBox="1"/>
            <p:nvPr/>
          </p:nvSpPr>
          <p:spPr>
            <a:xfrm>
              <a:off x="9267156" y="5596013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B=9</a:t>
              </a:r>
              <a:endParaRPr lang="zh-CN" altLang="en-US" sz="105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9F6673C0-106D-45C3-9690-1828C9EA359E}"/>
                </a:ext>
              </a:extLst>
            </p:cNvPr>
            <p:cNvSpPr txBox="1"/>
            <p:nvPr/>
          </p:nvSpPr>
          <p:spPr>
            <a:xfrm>
              <a:off x="9267156" y="586328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C=7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12FD342C-430C-44DA-98AD-FA3BFFB6C839}"/>
              </a:ext>
            </a:extLst>
          </p:cNvPr>
          <p:cNvGrpSpPr/>
          <p:nvPr/>
        </p:nvGrpSpPr>
        <p:grpSpPr>
          <a:xfrm>
            <a:off x="5272974" y="2272605"/>
            <a:ext cx="1383863" cy="1439480"/>
            <a:chOff x="5272974" y="2272605"/>
            <a:chExt cx="1383863" cy="1439480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13CE9B2C-27BE-4DAB-9B8C-F38B930CE3A1}"/>
                </a:ext>
              </a:extLst>
            </p:cNvPr>
            <p:cNvGrpSpPr/>
            <p:nvPr/>
          </p:nvGrpSpPr>
          <p:grpSpPr>
            <a:xfrm>
              <a:off x="5272974" y="2272605"/>
              <a:ext cx="1383863" cy="1439480"/>
              <a:chOff x="5272974" y="2272605"/>
              <a:chExt cx="1383863" cy="1439480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B5082E73-37C1-4226-9211-C269CF20EE39}"/>
                  </a:ext>
                </a:extLst>
              </p:cNvPr>
              <p:cNvSpPr/>
              <p:nvPr/>
            </p:nvSpPr>
            <p:spPr>
              <a:xfrm>
                <a:off x="5272974" y="2272605"/>
                <a:ext cx="1383863" cy="1439480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47EAC73-0DE2-49EC-8ED6-8D7B52512F7B}"/>
                  </a:ext>
                </a:extLst>
              </p:cNvPr>
              <p:cNvSpPr txBox="1"/>
              <p:nvPr/>
            </p:nvSpPr>
            <p:spPr>
              <a:xfrm>
                <a:off x="5333716" y="2324044"/>
                <a:ext cx="1257966" cy="25391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zh-CN" sz="105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&lt;T</a:t>
                </a:r>
                <a:r>
                  <a:rPr lang="en-US" altLang="zh-CN" sz="1050" b="1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altLang="zh-CN" sz="105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BEGIN&gt;</a:t>
                </a:r>
                <a:endParaRPr lang="zh-CN" altLang="en-US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8312E1D6-8EFC-4C1F-836C-9D2EEDB29E5B}"/>
                </a:ext>
              </a:extLst>
            </p:cNvPr>
            <p:cNvSpPr txBox="1"/>
            <p:nvPr/>
          </p:nvSpPr>
          <p:spPr>
            <a:xfrm>
              <a:off x="5334000" y="2551687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A, 1, 8&gt;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BC43F6A-1926-4BCC-9B3B-BA642BAF21F4}"/>
                </a:ext>
              </a:extLst>
            </p:cNvPr>
            <p:cNvSpPr txBox="1"/>
            <p:nvPr/>
          </p:nvSpPr>
          <p:spPr>
            <a:xfrm>
              <a:off x="5334000" y="2798213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B, 5, 9&gt;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0D0D6AB-A095-4CBE-809F-CB4C117E1D40}"/>
                </a:ext>
              </a:extLst>
            </p:cNvPr>
            <p:cNvSpPr txBox="1"/>
            <p:nvPr/>
          </p:nvSpPr>
          <p:spPr>
            <a:xfrm>
              <a:off x="5334000" y="3065213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COMMIT&gt;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6708D34C-5AE9-4393-96E9-D5E6ADAE325C}"/>
              </a:ext>
            </a:extLst>
          </p:cNvPr>
          <p:cNvGrpSpPr/>
          <p:nvPr/>
        </p:nvGrpSpPr>
        <p:grpSpPr>
          <a:xfrm>
            <a:off x="9054707" y="2418718"/>
            <a:ext cx="1383863" cy="1439480"/>
            <a:chOff x="5272974" y="2272605"/>
            <a:chExt cx="1383863" cy="1439480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F73F4440-D1B2-47E5-B739-05248459368C}"/>
                </a:ext>
              </a:extLst>
            </p:cNvPr>
            <p:cNvGrpSpPr/>
            <p:nvPr/>
          </p:nvGrpSpPr>
          <p:grpSpPr>
            <a:xfrm>
              <a:off x="5272974" y="2272605"/>
              <a:ext cx="1383863" cy="1439480"/>
              <a:chOff x="5272974" y="2272605"/>
              <a:chExt cx="1383863" cy="1439480"/>
            </a:xfrm>
          </p:grpSpPr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65D9FDF9-1F2B-4E17-BFC1-38E70EBA4F13}"/>
                  </a:ext>
                </a:extLst>
              </p:cNvPr>
              <p:cNvSpPr/>
              <p:nvPr/>
            </p:nvSpPr>
            <p:spPr>
              <a:xfrm>
                <a:off x="5272974" y="2272605"/>
                <a:ext cx="1383863" cy="1439480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C940A7BA-0439-4137-94BF-ED05423D7F0D}"/>
                  </a:ext>
                </a:extLst>
              </p:cNvPr>
              <p:cNvSpPr txBox="1"/>
              <p:nvPr/>
            </p:nvSpPr>
            <p:spPr>
              <a:xfrm>
                <a:off x="5333716" y="2324044"/>
                <a:ext cx="1257966" cy="25391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zh-CN" sz="105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&lt;T</a:t>
                </a:r>
                <a:r>
                  <a:rPr lang="en-US" altLang="zh-CN" sz="1050" b="1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altLang="zh-CN" sz="105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BEGIN&gt;</a:t>
                </a:r>
                <a:endParaRPr lang="zh-CN" altLang="en-US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E435D047-37B9-4ACA-ABB8-10FE27E65904}"/>
                </a:ext>
              </a:extLst>
            </p:cNvPr>
            <p:cNvSpPr txBox="1"/>
            <p:nvPr/>
          </p:nvSpPr>
          <p:spPr>
            <a:xfrm>
              <a:off x="5334000" y="2551687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A, 1, 8&gt;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72D86546-47D0-45E4-B6E6-0951F58F3814}"/>
                </a:ext>
              </a:extLst>
            </p:cNvPr>
            <p:cNvSpPr txBox="1"/>
            <p:nvPr/>
          </p:nvSpPr>
          <p:spPr>
            <a:xfrm>
              <a:off x="5334000" y="2798213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B, 5, 9&gt;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6144C160-2FE0-43E1-9DD1-16AFB9CF8CC3}"/>
                </a:ext>
              </a:extLst>
            </p:cNvPr>
            <p:cNvSpPr txBox="1"/>
            <p:nvPr/>
          </p:nvSpPr>
          <p:spPr>
            <a:xfrm>
              <a:off x="5334000" y="3065213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COMMIT&gt;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5FADA798-25E4-48A1-AED2-042C2C6A3919}"/>
              </a:ext>
            </a:extLst>
          </p:cNvPr>
          <p:cNvCxnSpPr>
            <a:cxnSpLocks/>
            <a:stCxn id="26" idx="3"/>
            <a:endCxn id="48" idx="1"/>
          </p:cNvCxnSpPr>
          <p:nvPr/>
        </p:nvCxnSpPr>
        <p:spPr>
          <a:xfrm>
            <a:off x="6656837" y="2992345"/>
            <a:ext cx="2397870" cy="146113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对话气泡: 圆角矩形 50">
            <a:extLst>
              <a:ext uri="{FF2B5EF4-FFF2-40B4-BE49-F238E27FC236}">
                <a16:creationId xmlns:a16="http://schemas.microsoft.com/office/drawing/2014/main" id="{D142871B-B989-47A7-9D44-6CE60B71D6FE}"/>
              </a:ext>
            </a:extLst>
          </p:cNvPr>
          <p:cNvSpPr/>
          <p:nvPr/>
        </p:nvSpPr>
        <p:spPr>
          <a:xfrm>
            <a:off x="1291810" y="4809283"/>
            <a:ext cx="3160644" cy="845498"/>
          </a:xfrm>
          <a:prstGeom prst="wedgeRoundRectCallout">
            <a:avLst>
              <a:gd name="adj1" fmla="val -19124"/>
              <a:gd name="adj2" fmla="val -113744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result is now safe to</a:t>
            </a: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 to application.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8341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WAL Example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5CDD5-3FEF-4208-A0D5-09A451646EE5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60684" y="4115027"/>
            <a:ext cx="3020494" cy="237499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2054E9C-AF36-49B6-9E5F-DB018132B9F3}"/>
              </a:ext>
            </a:extLst>
          </p:cNvPr>
          <p:cNvGrpSpPr/>
          <p:nvPr/>
        </p:nvGrpSpPr>
        <p:grpSpPr>
          <a:xfrm>
            <a:off x="4549970" y="4167639"/>
            <a:ext cx="2716695" cy="2181915"/>
            <a:chOff x="4549970" y="4167639"/>
            <a:chExt cx="2716695" cy="2181915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549970" y="4174435"/>
              <a:ext cx="2716695" cy="2175119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156744" y="4167639"/>
              <a:ext cx="1428596" cy="3859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内容占位符 6">
            <a:extLst>
              <a:ext uri="{FF2B5EF4-FFF2-40B4-BE49-F238E27FC236}">
                <a16:creationId xmlns:a16="http://schemas.microsoft.com/office/drawing/2014/main" id="{B5FC3CE1-B478-4DED-B6FA-0D1C5BAD2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17243" y="2299152"/>
          <a:ext cx="1323685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W(A)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…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488877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972221" y="3953557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流程图: 磁盘 18">
            <a:extLst>
              <a:ext uri="{FF2B5EF4-FFF2-40B4-BE49-F238E27FC236}">
                <a16:creationId xmlns:a16="http://schemas.microsoft.com/office/drawing/2014/main" id="{125F989A-A24C-44DA-A898-97523D6CD2A6}"/>
              </a:ext>
            </a:extLst>
          </p:cNvPr>
          <p:cNvSpPr/>
          <p:nvPr/>
        </p:nvSpPr>
        <p:spPr>
          <a:xfrm>
            <a:off x="8160684" y="1810254"/>
            <a:ext cx="3020494" cy="2121757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7C3683B-171C-4D9E-AF9B-BFF934FA7EBA}"/>
              </a:ext>
            </a:extLst>
          </p:cNvPr>
          <p:cNvGrpSpPr/>
          <p:nvPr/>
        </p:nvGrpSpPr>
        <p:grpSpPr>
          <a:xfrm>
            <a:off x="4549970" y="1810254"/>
            <a:ext cx="2716695" cy="2181915"/>
            <a:chOff x="4549970" y="4167639"/>
            <a:chExt cx="2716695" cy="2181915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A1DA1460-941D-4827-BA6B-BEFAFF8BC7FB}"/>
                </a:ext>
              </a:extLst>
            </p:cNvPr>
            <p:cNvSpPr/>
            <p:nvPr/>
          </p:nvSpPr>
          <p:spPr>
            <a:xfrm>
              <a:off x="4549970" y="4174435"/>
              <a:ext cx="2716695" cy="2175119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65D4754-9D87-476E-881E-7E402924A763}"/>
                </a:ext>
              </a:extLst>
            </p:cNvPr>
            <p:cNvSpPr txBox="1"/>
            <p:nvPr/>
          </p:nvSpPr>
          <p:spPr>
            <a:xfrm>
              <a:off x="5156744" y="4167639"/>
              <a:ext cx="14373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WAL Buffer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F63F45C6-35EB-4168-B798-7447C73A549A}"/>
              </a:ext>
            </a:extLst>
          </p:cNvPr>
          <p:cNvSpPr txBox="1"/>
          <p:nvPr/>
        </p:nvSpPr>
        <p:spPr>
          <a:xfrm>
            <a:off x="9097697" y="4304198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Data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2B6304-195C-4288-9BEE-6FCE09D21795}"/>
              </a:ext>
            </a:extLst>
          </p:cNvPr>
          <p:cNvSpPr txBox="1"/>
          <p:nvPr/>
        </p:nvSpPr>
        <p:spPr>
          <a:xfrm>
            <a:off x="9174641" y="192982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B1F369C-D02C-4759-A3BA-42F0C39789E9}"/>
              </a:ext>
            </a:extLst>
          </p:cNvPr>
          <p:cNvGrpSpPr/>
          <p:nvPr/>
        </p:nvGrpSpPr>
        <p:grpSpPr>
          <a:xfrm>
            <a:off x="9054707" y="5232032"/>
            <a:ext cx="1232452" cy="1070113"/>
            <a:chOff x="9054707" y="5232032"/>
            <a:chExt cx="1232452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9054707" y="5232032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72C67A-F159-4282-B170-C36D5CA6EF39}"/>
                </a:ext>
              </a:extLst>
            </p:cNvPr>
            <p:cNvSpPr txBox="1"/>
            <p:nvPr/>
          </p:nvSpPr>
          <p:spPr>
            <a:xfrm>
              <a:off x="9267157" y="5327777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A=1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59D8282-3AC3-4563-A7AE-48D41FF18004}"/>
                </a:ext>
              </a:extLst>
            </p:cNvPr>
            <p:cNvSpPr txBox="1"/>
            <p:nvPr/>
          </p:nvSpPr>
          <p:spPr>
            <a:xfrm>
              <a:off x="9267156" y="5596013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B=5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A7109EF-FB46-479E-9DCF-55A7D55F77E8}"/>
                </a:ext>
              </a:extLst>
            </p:cNvPr>
            <p:cNvSpPr txBox="1"/>
            <p:nvPr/>
          </p:nvSpPr>
          <p:spPr>
            <a:xfrm>
              <a:off x="9267156" y="5863288"/>
              <a:ext cx="834055" cy="2616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C=7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6708D34C-5AE9-4393-96E9-D5E6ADAE325C}"/>
              </a:ext>
            </a:extLst>
          </p:cNvPr>
          <p:cNvGrpSpPr/>
          <p:nvPr/>
        </p:nvGrpSpPr>
        <p:grpSpPr>
          <a:xfrm>
            <a:off x="9054707" y="2418718"/>
            <a:ext cx="1383863" cy="1439480"/>
            <a:chOff x="5272974" y="2272605"/>
            <a:chExt cx="1383863" cy="1439480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F73F4440-D1B2-47E5-B739-05248459368C}"/>
                </a:ext>
              </a:extLst>
            </p:cNvPr>
            <p:cNvGrpSpPr/>
            <p:nvPr/>
          </p:nvGrpSpPr>
          <p:grpSpPr>
            <a:xfrm>
              <a:off x="5272974" y="2272605"/>
              <a:ext cx="1383863" cy="1439480"/>
              <a:chOff x="5272974" y="2272605"/>
              <a:chExt cx="1383863" cy="1439480"/>
            </a:xfrm>
          </p:grpSpPr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65D9FDF9-1F2B-4E17-BFC1-38E70EBA4F13}"/>
                  </a:ext>
                </a:extLst>
              </p:cNvPr>
              <p:cNvSpPr/>
              <p:nvPr/>
            </p:nvSpPr>
            <p:spPr>
              <a:xfrm>
                <a:off x="5272974" y="2272605"/>
                <a:ext cx="1383863" cy="1439480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C940A7BA-0439-4137-94BF-ED05423D7F0D}"/>
                  </a:ext>
                </a:extLst>
              </p:cNvPr>
              <p:cNvSpPr txBox="1"/>
              <p:nvPr/>
            </p:nvSpPr>
            <p:spPr>
              <a:xfrm>
                <a:off x="5333716" y="2324044"/>
                <a:ext cx="1257966" cy="25391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zh-CN" sz="105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&lt;T</a:t>
                </a:r>
                <a:r>
                  <a:rPr lang="en-US" altLang="zh-CN" sz="1050" b="1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altLang="zh-CN" sz="105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BEGIN&gt;</a:t>
                </a:r>
                <a:endParaRPr lang="zh-CN" altLang="en-US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E435D047-37B9-4ACA-ABB8-10FE27E65904}"/>
                </a:ext>
              </a:extLst>
            </p:cNvPr>
            <p:cNvSpPr txBox="1"/>
            <p:nvPr/>
          </p:nvSpPr>
          <p:spPr>
            <a:xfrm>
              <a:off x="5334000" y="2551687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A, 1, 8&gt;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72D86546-47D0-45E4-B6E6-0951F58F3814}"/>
                </a:ext>
              </a:extLst>
            </p:cNvPr>
            <p:cNvSpPr txBox="1"/>
            <p:nvPr/>
          </p:nvSpPr>
          <p:spPr>
            <a:xfrm>
              <a:off x="5334000" y="2798213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B, 5, 9&gt;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6144C160-2FE0-43E1-9DD1-16AFB9CF8CC3}"/>
                </a:ext>
              </a:extLst>
            </p:cNvPr>
            <p:cNvSpPr txBox="1"/>
            <p:nvPr/>
          </p:nvSpPr>
          <p:spPr>
            <a:xfrm>
              <a:off x="5334000" y="3065213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COMMIT&gt;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1" name="对话气泡: 圆角矩形 50">
            <a:extLst>
              <a:ext uri="{FF2B5EF4-FFF2-40B4-BE49-F238E27FC236}">
                <a16:creationId xmlns:a16="http://schemas.microsoft.com/office/drawing/2014/main" id="{D142871B-B989-47A7-9D44-6CE60B71D6FE}"/>
              </a:ext>
            </a:extLst>
          </p:cNvPr>
          <p:cNvSpPr/>
          <p:nvPr/>
        </p:nvSpPr>
        <p:spPr>
          <a:xfrm>
            <a:off x="1291810" y="4809283"/>
            <a:ext cx="3160644" cy="845498"/>
          </a:xfrm>
          <a:prstGeom prst="wedgeRoundRectCallout">
            <a:avLst>
              <a:gd name="adj1" fmla="val -19124"/>
              <a:gd name="adj2" fmla="val -113744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result is now safe to</a:t>
            </a: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 to application.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闪电形 51">
            <a:extLst>
              <a:ext uri="{FF2B5EF4-FFF2-40B4-BE49-F238E27FC236}">
                <a16:creationId xmlns:a16="http://schemas.microsoft.com/office/drawing/2014/main" id="{679637CA-AE55-4F11-9A18-B65D446B5F9F}"/>
              </a:ext>
            </a:extLst>
          </p:cNvPr>
          <p:cNvSpPr/>
          <p:nvPr/>
        </p:nvSpPr>
        <p:spPr>
          <a:xfrm>
            <a:off x="4812942" y="2612333"/>
            <a:ext cx="2190749" cy="2690192"/>
          </a:xfrm>
          <a:prstGeom prst="lightningBol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对话气泡: 圆角矩形 52">
            <a:extLst>
              <a:ext uri="{FF2B5EF4-FFF2-40B4-BE49-F238E27FC236}">
                <a16:creationId xmlns:a16="http://schemas.microsoft.com/office/drawing/2014/main" id="{FB443E9D-8047-482D-8251-16658B244CDB}"/>
              </a:ext>
            </a:extLst>
          </p:cNvPr>
          <p:cNvSpPr/>
          <p:nvPr/>
        </p:nvSpPr>
        <p:spPr>
          <a:xfrm>
            <a:off x="5566988" y="1331120"/>
            <a:ext cx="3160644" cy="845498"/>
          </a:xfrm>
          <a:prstGeom prst="wedgeRoundRectCallout">
            <a:avLst>
              <a:gd name="adj1" fmla="val 43140"/>
              <a:gd name="adj2" fmla="val 132335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Everything we need to restore  T</a:t>
            </a:r>
            <a:r>
              <a:rPr lang="en-US" altLang="zh-CN" b="1" i="1" baseline="-25000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in the log!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565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WAL Example – Group Commit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E4DF-1A73-42A6-BEA0-3CBAE8B6C604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604506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88968" y="2545400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流程图: 磁盘 18">
            <a:extLst>
              <a:ext uri="{FF2B5EF4-FFF2-40B4-BE49-F238E27FC236}">
                <a16:creationId xmlns:a16="http://schemas.microsoft.com/office/drawing/2014/main" id="{125F989A-A24C-44DA-A898-97523D6CD2A6}"/>
              </a:ext>
            </a:extLst>
          </p:cNvPr>
          <p:cNvSpPr/>
          <p:nvPr/>
        </p:nvSpPr>
        <p:spPr>
          <a:xfrm>
            <a:off x="8160684" y="1810254"/>
            <a:ext cx="3020494" cy="4595862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1DA1460-941D-4827-BA6B-BEFAFF8BC7FB}"/>
              </a:ext>
            </a:extLst>
          </p:cNvPr>
          <p:cNvSpPr/>
          <p:nvPr/>
        </p:nvSpPr>
        <p:spPr>
          <a:xfrm>
            <a:off x="4549970" y="1817050"/>
            <a:ext cx="2716695" cy="4424262"/>
          </a:xfrm>
          <a:prstGeom prst="roundRect">
            <a:avLst>
              <a:gd name="adj" fmla="val 7155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65D4754-9D87-476E-881E-7E402924A763}"/>
              </a:ext>
            </a:extLst>
          </p:cNvPr>
          <p:cNvSpPr txBox="1"/>
          <p:nvPr/>
        </p:nvSpPr>
        <p:spPr>
          <a:xfrm>
            <a:off x="5156744" y="1810254"/>
            <a:ext cx="143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WAL Buffer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2B6304-195C-4288-9BEE-6FCE09D21795}"/>
              </a:ext>
            </a:extLst>
          </p:cNvPr>
          <p:cNvSpPr txBox="1"/>
          <p:nvPr/>
        </p:nvSpPr>
        <p:spPr>
          <a:xfrm>
            <a:off x="9174641" y="192982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73F4440-D1B2-47E5-B739-05248459368C}"/>
              </a:ext>
            </a:extLst>
          </p:cNvPr>
          <p:cNvGrpSpPr/>
          <p:nvPr/>
        </p:nvGrpSpPr>
        <p:grpSpPr>
          <a:xfrm>
            <a:off x="5183470" y="2186382"/>
            <a:ext cx="1383863" cy="1439480"/>
            <a:chOff x="5272974" y="2272605"/>
            <a:chExt cx="1383863" cy="1439480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65D9FDF9-1F2B-4E17-BFC1-38E70EBA4F13}"/>
                </a:ext>
              </a:extLst>
            </p:cNvPr>
            <p:cNvSpPr/>
            <p:nvPr/>
          </p:nvSpPr>
          <p:spPr>
            <a:xfrm>
              <a:off x="5272974" y="2272605"/>
              <a:ext cx="1383863" cy="143948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C940A7BA-0439-4137-94BF-ED05423D7F0D}"/>
                </a:ext>
              </a:extLst>
            </p:cNvPr>
            <p:cNvSpPr txBox="1"/>
            <p:nvPr/>
          </p:nvSpPr>
          <p:spPr>
            <a:xfrm>
              <a:off x="5333716" y="2324044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36" name="内容占位符 6">
            <a:extLst>
              <a:ext uri="{FF2B5EF4-FFF2-40B4-BE49-F238E27FC236}">
                <a16:creationId xmlns:a16="http://schemas.microsoft.com/office/drawing/2014/main" id="{510ADC53-8363-4BFA-9504-D5100704F9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3709927"/>
              </p:ext>
            </p:extLst>
          </p:nvPr>
        </p:nvGraphicFramePr>
        <p:xfrm>
          <a:off x="942751" y="2179479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W(C)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W(D)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cxnSp>
        <p:nvCxnSpPr>
          <p:cNvPr id="37" name="直接箭头连接符 18">
            <a:extLst>
              <a:ext uri="{FF2B5EF4-FFF2-40B4-BE49-F238E27FC236}">
                <a16:creationId xmlns:a16="http://schemas.microsoft.com/office/drawing/2014/main" id="{FDB3B9D3-6CDE-456D-BAE6-515104545FF8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2046767" y="2364779"/>
            <a:ext cx="3197445" cy="37842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1230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WAL Example – Group Commit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0256-255F-4F0C-9851-3BDD6EF02D5E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604506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88968" y="2832476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流程图: 磁盘 18">
            <a:extLst>
              <a:ext uri="{FF2B5EF4-FFF2-40B4-BE49-F238E27FC236}">
                <a16:creationId xmlns:a16="http://schemas.microsoft.com/office/drawing/2014/main" id="{125F989A-A24C-44DA-A898-97523D6CD2A6}"/>
              </a:ext>
            </a:extLst>
          </p:cNvPr>
          <p:cNvSpPr/>
          <p:nvPr/>
        </p:nvSpPr>
        <p:spPr>
          <a:xfrm>
            <a:off x="8160684" y="1810254"/>
            <a:ext cx="3020494" cy="4595862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1DA1460-941D-4827-BA6B-BEFAFF8BC7FB}"/>
              </a:ext>
            </a:extLst>
          </p:cNvPr>
          <p:cNvSpPr/>
          <p:nvPr/>
        </p:nvSpPr>
        <p:spPr>
          <a:xfrm>
            <a:off x="4549970" y="1817050"/>
            <a:ext cx="2716695" cy="4424262"/>
          </a:xfrm>
          <a:prstGeom prst="roundRect">
            <a:avLst>
              <a:gd name="adj" fmla="val 7155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65D4754-9D87-476E-881E-7E402924A763}"/>
              </a:ext>
            </a:extLst>
          </p:cNvPr>
          <p:cNvSpPr txBox="1"/>
          <p:nvPr/>
        </p:nvSpPr>
        <p:spPr>
          <a:xfrm>
            <a:off x="5156744" y="1810254"/>
            <a:ext cx="143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WAL Buffer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2B6304-195C-4288-9BEE-6FCE09D21795}"/>
              </a:ext>
            </a:extLst>
          </p:cNvPr>
          <p:cNvSpPr txBox="1"/>
          <p:nvPr/>
        </p:nvSpPr>
        <p:spPr>
          <a:xfrm>
            <a:off x="9174641" y="192982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73F4440-D1B2-47E5-B739-05248459368C}"/>
              </a:ext>
            </a:extLst>
          </p:cNvPr>
          <p:cNvGrpSpPr/>
          <p:nvPr/>
        </p:nvGrpSpPr>
        <p:grpSpPr>
          <a:xfrm>
            <a:off x="5183470" y="2186382"/>
            <a:ext cx="1383863" cy="1439480"/>
            <a:chOff x="5272974" y="2272605"/>
            <a:chExt cx="1383863" cy="1439480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65D9FDF9-1F2B-4E17-BFC1-38E70EBA4F13}"/>
                </a:ext>
              </a:extLst>
            </p:cNvPr>
            <p:cNvSpPr/>
            <p:nvPr/>
          </p:nvSpPr>
          <p:spPr>
            <a:xfrm>
              <a:off x="5272974" y="2272605"/>
              <a:ext cx="1383863" cy="143948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C940A7BA-0439-4137-94BF-ED05423D7F0D}"/>
                </a:ext>
              </a:extLst>
            </p:cNvPr>
            <p:cNvSpPr txBox="1"/>
            <p:nvPr/>
          </p:nvSpPr>
          <p:spPr>
            <a:xfrm>
              <a:off x="5333716" y="2324044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36" name="内容占位符 6">
            <a:extLst>
              <a:ext uri="{FF2B5EF4-FFF2-40B4-BE49-F238E27FC236}">
                <a16:creationId xmlns:a16="http://schemas.microsoft.com/office/drawing/2014/main" id="{510ADC53-8363-4BFA-9504-D5100704F9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2887995"/>
              </p:ext>
            </p:extLst>
          </p:nvPr>
        </p:nvGraphicFramePr>
        <p:xfrm>
          <a:off x="942751" y="2179479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W(C)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W(D)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cxnSp>
        <p:nvCxnSpPr>
          <p:cNvPr id="37" name="直接箭头连接符 18">
            <a:extLst>
              <a:ext uri="{FF2B5EF4-FFF2-40B4-BE49-F238E27FC236}">
                <a16:creationId xmlns:a16="http://schemas.microsoft.com/office/drawing/2014/main" id="{FDB3B9D3-6CDE-456D-BAE6-515104545FF8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1988288" y="2625491"/>
            <a:ext cx="3253771" cy="37445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175F8D62-E343-41D5-B23F-A5E956306149}"/>
              </a:ext>
            </a:extLst>
          </p:cNvPr>
          <p:cNvSpPr txBox="1"/>
          <p:nvPr/>
        </p:nvSpPr>
        <p:spPr>
          <a:xfrm>
            <a:off x="5242059" y="2498533"/>
            <a:ext cx="1257966" cy="2539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A, 1, 8&gt;</a:t>
            </a:r>
            <a:endParaRPr lang="zh-CN" altLang="en-US" sz="1050" b="1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7687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WAL Example – Group Commit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99264-DDDE-45D1-AD2F-C94D329F632A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604506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88968" y="3209932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流程图: 磁盘 18">
            <a:extLst>
              <a:ext uri="{FF2B5EF4-FFF2-40B4-BE49-F238E27FC236}">
                <a16:creationId xmlns:a16="http://schemas.microsoft.com/office/drawing/2014/main" id="{125F989A-A24C-44DA-A898-97523D6CD2A6}"/>
              </a:ext>
            </a:extLst>
          </p:cNvPr>
          <p:cNvSpPr/>
          <p:nvPr/>
        </p:nvSpPr>
        <p:spPr>
          <a:xfrm>
            <a:off x="8160684" y="1810254"/>
            <a:ext cx="3020494" cy="4595862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1DA1460-941D-4827-BA6B-BEFAFF8BC7FB}"/>
              </a:ext>
            </a:extLst>
          </p:cNvPr>
          <p:cNvSpPr/>
          <p:nvPr/>
        </p:nvSpPr>
        <p:spPr>
          <a:xfrm>
            <a:off x="4549970" y="1817050"/>
            <a:ext cx="2716695" cy="4424262"/>
          </a:xfrm>
          <a:prstGeom prst="roundRect">
            <a:avLst>
              <a:gd name="adj" fmla="val 7155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65D4754-9D87-476E-881E-7E402924A763}"/>
              </a:ext>
            </a:extLst>
          </p:cNvPr>
          <p:cNvSpPr txBox="1"/>
          <p:nvPr/>
        </p:nvSpPr>
        <p:spPr>
          <a:xfrm>
            <a:off x="5156744" y="1810254"/>
            <a:ext cx="143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WAL Buffer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2B6304-195C-4288-9BEE-6FCE09D21795}"/>
              </a:ext>
            </a:extLst>
          </p:cNvPr>
          <p:cNvSpPr txBox="1"/>
          <p:nvPr/>
        </p:nvSpPr>
        <p:spPr>
          <a:xfrm>
            <a:off x="9174641" y="192982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73F4440-D1B2-47E5-B739-05248459368C}"/>
              </a:ext>
            </a:extLst>
          </p:cNvPr>
          <p:cNvGrpSpPr/>
          <p:nvPr/>
        </p:nvGrpSpPr>
        <p:grpSpPr>
          <a:xfrm>
            <a:off x="5183470" y="2186382"/>
            <a:ext cx="1383863" cy="1439480"/>
            <a:chOff x="5272974" y="2272605"/>
            <a:chExt cx="1383863" cy="1439480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65D9FDF9-1F2B-4E17-BFC1-38E70EBA4F13}"/>
                </a:ext>
              </a:extLst>
            </p:cNvPr>
            <p:cNvSpPr/>
            <p:nvPr/>
          </p:nvSpPr>
          <p:spPr>
            <a:xfrm>
              <a:off x="5272974" y="2272605"/>
              <a:ext cx="1383863" cy="143948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C940A7BA-0439-4137-94BF-ED05423D7F0D}"/>
                </a:ext>
              </a:extLst>
            </p:cNvPr>
            <p:cNvSpPr txBox="1"/>
            <p:nvPr/>
          </p:nvSpPr>
          <p:spPr>
            <a:xfrm>
              <a:off x="5333716" y="2324044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36" name="内容占位符 6">
            <a:extLst>
              <a:ext uri="{FF2B5EF4-FFF2-40B4-BE49-F238E27FC236}">
                <a16:creationId xmlns:a16="http://schemas.microsoft.com/office/drawing/2014/main" id="{510ADC53-8363-4BFA-9504-D5100704F9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118675"/>
              </p:ext>
            </p:extLst>
          </p:nvPr>
        </p:nvGraphicFramePr>
        <p:xfrm>
          <a:off x="942751" y="2179479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W(C)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W(D)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cxnSp>
        <p:nvCxnSpPr>
          <p:cNvPr id="37" name="直接箭头连接符 18">
            <a:extLst>
              <a:ext uri="{FF2B5EF4-FFF2-40B4-BE49-F238E27FC236}">
                <a16:creationId xmlns:a16="http://schemas.microsoft.com/office/drawing/2014/main" id="{FDB3B9D3-6CDE-456D-BAE6-515104545FF8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1972340" y="2886203"/>
            <a:ext cx="3269719" cy="44178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175F8D62-E343-41D5-B23F-A5E956306149}"/>
              </a:ext>
            </a:extLst>
          </p:cNvPr>
          <p:cNvSpPr txBox="1"/>
          <p:nvPr/>
        </p:nvSpPr>
        <p:spPr>
          <a:xfrm>
            <a:off x="5242059" y="2498533"/>
            <a:ext cx="1257966" cy="2539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A, 1, 8&gt;</a:t>
            </a:r>
            <a:endParaRPr lang="zh-CN" altLang="en-US" sz="1050" b="1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3731D9C-FF0F-4A6B-92E7-7F27683BD664}"/>
              </a:ext>
            </a:extLst>
          </p:cNvPr>
          <p:cNvSpPr txBox="1"/>
          <p:nvPr/>
        </p:nvSpPr>
        <p:spPr>
          <a:xfrm>
            <a:off x="5242059" y="2759245"/>
            <a:ext cx="1257966" cy="2539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B, 5, 9&gt;</a:t>
            </a:r>
            <a:endParaRPr lang="zh-CN" altLang="en-US" sz="1050" b="1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005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WAL Example – Group Commit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D4C99-8CF4-4710-93B1-6CD45E3BA969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604506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88968" y="3512957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流程图: 磁盘 18">
            <a:extLst>
              <a:ext uri="{FF2B5EF4-FFF2-40B4-BE49-F238E27FC236}">
                <a16:creationId xmlns:a16="http://schemas.microsoft.com/office/drawing/2014/main" id="{125F989A-A24C-44DA-A898-97523D6CD2A6}"/>
              </a:ext>
            </a:extLst>
          </p:cNvPr>
          <p:cNvSpPr/>
          <p:nvPr/>
        </p:nvSpPr>
        <p:spPr>
          <a:xfrm>
            <a:off x="8160684" y="1810254"/>
            <a:ext cx="3020494" cy="4595862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1DA1460-941D-4827-BA6B-BEFAFF8BC7FB}"/>
              </a:ext>
            </a:extLst>
          </p:cNvPr>
          <p:cNvSpPr/>
          <p:nvPr/>
        </p:nvSpPr>
        <p:spPr>
          <a:xfrm>
            <a:off x="4549970" y="1817050"/>
            <a:ext cx="2716695" cy="4424262"/>
          </a:xfrm>
          <a:prstGeom prst="roundRect">
            <a:avLst>
              <a:gd name="adj" fmla="val 7155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65D4754-9D87-476E-881E-7E402924A763}"/>
              </a:ext>
            </a:extLst>
          </p:cNvPr>
          <p:cNvSpPr txBox="1"/>
          <p:nvPr/>
        </p:nvSpPr>
        <p:spPr>
          <a:xfrm>
            <a:off x="5156744" y="1810254"/>
            <a:ext cx="143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WAL Buffer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2B6304-195C-4288-9BEE-6FCE09D21795}"/>
              </a:ext>
            </a:extLst>
          </p:cNvPr>
          <p:cNvSpPr txBox="1"/>
          <p:nvPr/>
        </p:nvSpPr>
        <p:spPr>
          <a:xfrm>
            <a:off x="9174641" y="192982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73F4440-D1B2-47E5-B739-05248459368C}"/>
              </a:ext>
            </a:extLst>
          </p:cNvPr>
          <p:cNvGrpSpPr/>
          <p:nvPr/>
        </p:nvGrpSpPr>
        <p:grpSpPr>
          <a:xfrm>
            <a:off x="5183470" y="2186382"/>
            <a:ext cx="1383863" cy="1439480"/>
            <a:chOff x="5272974" y="2272605"/>
            <a:chExt cx="1383863" cy="1439480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65D9FDF9-1F2B-4E17-BFC1-38E70EBA4F13}"/>
                </a:ext>
              </a:extLst>
            </p:cNvPr>
            <p:cNvSpPr/>
            <p:nvPr/>
          </p:nvSpPr>
          <p:spPr>
            <a:xfrm>
              <a:off x="5272974" y="2272605"/>
              <a:ext cx="1383863" cy="143948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C940A7BA-0439-4137-94BF-ED05423D7F0D}"/>
                </a:ext>
              </a:extLst>
            </p:cNvPr>
            <p:cNvSpPr txBox="1"/>
            <p:nvPr/>
          </p:nvSpPr>
          <p:spPr>
            <a:xfrm>
              <a:off x="5333716" y="2324044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36" name="内容占位符 6">
            <a:extLst>
              <a:ext uri="{FF2B5EF4-FFF2-40B4-BE49-F238E27FC236}">
                <a16:creationId xmlns:a16="http://schemas.microsoft.com/office/drawing/2014/main" id="{510ADC53-8363-4BFA-9504-D5100704F9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8844973"/>
              </p:ext>
            </p:extLst>
          </p:nvPr>
        </p:nvGraphicFramePr>
        <p:xfrm>
          <a:off x="942751" y="2179479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W(C)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W(D)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cxnSp>
        <p:nvCxnSpPr>
          <p:cNvPr id="37" name="直接箭头连接符 18">
            <a:extLst>
              <a:ext uri="{FF2B5EF4-FFF2-40B4-BE49-F238E27FC236}">
                <a16:creationId xmlns:a16="http://schemas.microsoft.com/office/drawing/2014/main" id="{FDB3B9D3-6CDE-456D-BAE6-515104545FF8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3327991" y="3146915"/>
            <a:ext cx="1921352" cy="53038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175F8D62-E343-41D5-B23F-A5E956306149}"/>
              </a:ext>
            </a:extLst>
          </p:cNvPr>
          <p:cNvSpPr txBox="1"/>
          <p:nvPr/>
        </p:nvSpPr>
        <p:spPr>
          <a:xfrm>
            <a:off x="5242059" y="2498533"/>
            <a:ext cx="1257966" cy="2539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A, 1, 8&gt;</a:t>
            </a:r>
            <a:endParaRPr lang="zh-CN" altLang="en-US" sz="1050" b="1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3731D9C-FF0F-4A6B-92E7-7F27683BD664}"/>
              </a:ext>
            </a:extLst>
          </p:cNvPr>
          <p:cNvSpPr txBox="1"/>
          <p:nvPr/>
        </p:nvSpPr>
        <p:spPr>
          <a:xfrm>
            <a:off x="5242059" y="2759245"/>
            <a:ext cx="1257966" cy="2539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B, 5, 9&gt;</a:t>
            </a:r>
            <a:endParaRPr lang="zh-CN" altLang="en-US" sz="1050" b="1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52D9C9F-F866-4086-973C-4334A85AFAB2}"/>
              </a:ext>
            </a:extLst>
          </p:cNvPr>
          <p:cNvSpPr txBox="1"/>
          <p:nvPr/>
        </p:nvSpPr>
        <p:spPr>
          <a:xfrm>
            <a:off x="5249343" y="3019957"/>
            <a:ext cx="1257966" cy="2539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BEGIN&gt;</a:t>
            </a:r>
            <a:endParaRPr lang="zh-CN" altLang="en-US" sz="1050" b="1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5301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WAL Example – Group Commit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274CB-E794-4F3F-8BD2-157F0066A7A7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604506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88968" y="3853199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流程图: 磁盘 18">
            <a:extLst>
              <a:ext uri="{FF2B5EF4-FFF2-40B4-BE49-F238E27FC236}">
                <a16:creationId xmlns:a16="http://schemas.microsoft.com/office/drawing/2014/main" id="{125F989A-A24C-44DA-A898-97523D6CD2A6}"/>
              </a:ext>
            </a:extLst>
          </p:cNvPr>
          <p:cNvSpPr/>
          <p:nvPr/>
        </p:nvSpPr>
        <p:spPr>
          <a:xfrm>
            <a:off x="8160684" y="1810254"/>
            <a:ext cx="3020494" cy="4595862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1DA1460-941D-4827-BA6B-BEFAFF8BC7FB}"/>
              </a:ext>
            </a:extLst>
          </p:cNvPr>
          <p:cNvSpPr/>
          <p:nvPr/>
        </p:nvSpPr>
        <p:spPr>
          <a:xfrm>
            <a:off x="4549970" y="1817050"/>
            <a:ext cx="2716695" cy="4424262"/>
          </a:xfrm>
          <a:prstGeom prst="roundRect">
            <a:avLst>
              <a:gd name="adj" fmla="val 7155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65D4754-9D87-476E-881E-7E402924A763}"/>
              </a:ext>
            </a:extLst>
          </p:cNvPr>
          <p:cNvSpPr txBox="1"/>
          <p:nvPr/>
        </p:nvSpPr>
        <p:spPr>
          <a:xfrm>
            <a:off x="5156744" y="1810254"/>
            <a:ext cx="143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WAL Buffer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2B6304-195C-4288-9BEE-6FCE09D21795}"/>
              </a:ext>
            </a:extLst>
          </p:cNvPr>
          <p:cNvSpPr txBox="1"/>
          <p:nvPr/>
        </p:nvSpPr>
        <p:spPr>
          <a:xfrm>
            <a:off x="9174641" y="192982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6" name="内容占位符 6">
            <a:extLst>
              <a:ext uri="{FF2B5EF4-FFF2-40B4-BE49-F238E27FC236}">
                <a16:creationId xmlns:a16="http://schemas.microsoft.com/office/drawing/2014/main" id="{510ADC53-8363-4BFA-9504-D5100704F9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2022876"/>
              </p:ext>
            </p:extLst>
          </p:nvPr>
        </p:nvGraphicFramePr>
        <p:xfrm>
          <a:off x="942751" y="2179479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W(C)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W(D)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DA4742E9-4235-4796-A3EB-BC31D592D39D}"/>
              </a:ext>
            </a:extLst>
          </p:cNvPr>
          <p:cNvGrpSpPr/>
          <p:nvPr/>
        </p:nvGrpSpPr>
        <p:grpSpPr>
          <a:xfrm>
            <a:off x="5183470" y="2181066"/>
            <a:ext cx="1383863" cy="1439480"/>
            <a:chOff x="5183470" y="2181066"/>
            <a:chExt cx="1383863" cy="1439480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65D9FDF9-1F2B-4E17-BFC1-38E70EBA4F13}"/>
                </a:ext>
              </a:extLst>
            </p:cNvPr>
            <p:cNvSpPr/>
            <p:nvPr/>
          </p:nvSpPr>
          <p:spPr>
            <a:xfrm>
              <a:off x="5183470" y="2181066"/>
              <a:ext cx="1383863" cy="143948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C940A7BA-0439-4137-94BF-ED05423D7F0D}"/>
                </a:ext>
              </a:extLst>
            </p:cNvPr>
            <p:cNvSpPr txBox="1"/>
            <p:nvPr/>
          </p:nvSpPr>
          <p:spPr>
            <a:xfrm>
              <a:off x="5244212" y="2237821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75F8D62-E343-41D5-B23F-A5E956306149}"/>
                </a:ext>
              </a:extLst>
            </p:cNvPr>
            <p:cNvSpPr txBox="1"/>
            <p:nvPr/>
          </p:nvSpPr>
          <p:spPr>
            <a:xfrm>
              <a:off x="5242059" y="2498533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A, 1, 8&gt;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3731D9C-FF0F-4A6B-92E7-7F27683BD664}"/>
                </a:ext>
              </a:extLst>
            </p:cNvPr>
            <p:cNvSpPr txBox="1"/>
            <p:nvPr/>
          </p:nvSpPr>
          <p:spPr>
            <a:xfrm>
              <a:off x="5242059" y="2759245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B, 5, 9&gt;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C52D9C9F-F866-4086-973C-4334A85AFAB2}"/>
                </a:ext>
              </a:extLst>
            </p:cNvPr>
            <p:cNvSpPr txBox="1"/>
            <p:nvPr/>
          </p:nvSpPr>
          <p:spPr>
            <a:xfrm>
              <a:off x="5249343" y="3019957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25E2D7E-BE9C-44EC-A2AD-DD08F8B505F3}"/>
                </a:ext>
              </a:extLst>
            </p:cNvPr>
            <p:cNvSpPr txBox="1"/>
            <p:nvPr/>
          </p:nvSpPr>
          <p:spPr>
            <a:xfrm>
              <a:off x="5249343" y="3285985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C, 1, 2&gt;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6" name="对话气泡: 圆角矩形 25">
            <a:extLst>
              <a:ext uri="{FF2B5EF4-FFF2-40B4-BE49-F238E27FC236}">
                <a16:creationId xmlns:a16="http://schemas.microsoft.com/office/drawing/2014/main" id="{9F75D128-5A30-4E8B-B031-77BA116D190E}"/>
              </a:ext>
            </a:extLst>
          </p:cNvPr>
          <p:cNvSpPr/>
          <p:nvPr/>
        </p:nvSpPr>
        <p:spPr>
          <a:xfrm>
            <a:off x="2932250" y="1784084"/>
            <a:ext cx="2078598" cy="845498"/>
          </a:xfrm>
          <a:prstGeom prst="wedgeRoundRectCallout">
            <a:avLst>
              <a:gd name="adj1" fmla="val 55251"/>
              <a:gd name="adj2" fmla="val 119132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Flush the buffer</a:t>
            </a: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it is full.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25A9F7C-5112-4775-86F0-BD6BCBE915B8}"/>
              </a:ext>
            </a:extLst>
          </p:cNvPr>
          <p:cNvGrpSpPr/>
          <p:nvPr/>
        </p:nvGrpSpPr>
        <p:grpSpPr>
          <a:xfrm>
            <a:off x="9017471" y="2508211"/>
            <a:ext cx="1383863" cy="1439480"/>
            <a:chOff x="5183470" y="2181066"/>
            <a:chExt cx="1383863" cy="1439480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F7AD81A-5BA5-4883-B489-B699A211D8CE}"/>
                </a:ext>
              </a:extLst>
            </p:cNvPr>
            <p:cNvSpPr/>
            <p:nvPr/>
          </p:nvSpPr>
          <p:spPr>
            <a:xfrm>
              <a:off x="5183470" y="2181066"/>
              <a:ext cx="1383863" cy="143948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EF924E6-3428-4A4D-A0A6-FBA908012701}"/>
                </a:ext>
              </a:extLst>
            </p:cNvPr>
            <p:cNvSpPr txBox="1"/>
            <p:nvPr/>
          </p:nvSpPr>
          <p:spPr>
            <a:xfrm>
              <a:off x="5244212" y="2237821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85B1F126-D237-4F5A-AE73-BF06B768C45C}"/>
                </a:ext>
              </a:extLst>
            </p:cNvPr>
            <p:cNvSpPr txBox="1"/>
            <p:nvPr/>
          </p:nvSpPr>
          <p:spPr>
            <a:xfrm>
              <a:off x="5242059" y="2498533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A, 1, 8&gt;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B063CBE-82CE-4B05-AC8C-0ADA0720AB86}"/>
                </a:ext>
              </a:extLst>
            </p:cNvPr>
            <p:cNvSpPr txBox="1"/>
            <p:nvPr/>
          </p:nvSpPr>
          <p:spPr>
            <a:xfrm>
              <a:off x="5242059" y="2759245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B, 5, 9&gt;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EDBE0C-4A90-4056-8680-318230CAC93D}"/>
                </a:ext>
              </a:extLst>
            </p:cNvPr>
            <p:cNvSpPr txBox="1"/>
            <p:nvPr/>
          </p:nvSpPr>
          <p:spPr>
            <a:xfrm>
              <a:off x="5249343" y="3019957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7A5D6AAA-E768-42B8-A955-C465A77FBADE}"/>
                </a:ext>
              </a:extLst>
            </p:cNvPr>
            <p:cNvSpPr txBox="1"/>
            <p:nvPr/>
          </p:nvSpPr>
          <p:spPr>
            <a:xfrm>
              <a:off x="5249343" y="3285985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C, 1, 2&gt;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7" name="直接箭头连接符 18">
            <a:extLst>
              <a:ext uri="{FF2B5EF4-FFF2-40B4-BE49-F238E27FC236}">
                <a16:creationId xmlns:a16="http://schemas.microsoft.com/office/drawing/2014/main" id="{FDB3B9D3-6CDE-456D-BAE6-515104545FF8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3274828" y="3412943"/>
            <a:ext cx="1974515" cy="57682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18">
            <a:extLst>
              <a:ext uri="{FF2B5EF4-FFF2-40B4-BE49-F238E27FC236}">
                <a16:creationId xmlns:a16="http://schemas.microsoft.com/office/drawing/2014/main" id="{BA1EE6D3-F6E1-4AD7-B39E-E5089937C83C}"/>
              </a:ext>
            </a:extLst>
          </p:cNvPr>
          <p:cNvCxnSpPr>
            <a:cxnSpLocks/>
            <a:stCxn id="48" idx="3"/>
            <a:endCxn id="28" idx="1"/>
          </p:cNvCxnSpPr>
          <p:nvPr/>
        </p:nvCxnSpPr>
        <p:spPr>
          <a:xfrm>
            <a:off x="6567333" y="2900806"/>
            <a:ext cx="2450138" cy="32714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形 12" descr="沙漏">
            <a:extLst>
              <a:ext uri="{FF2B5EF4-FFF2-40B4-BE49-F238E27FC236}">
                <a16:creationId xmlns:a16="http://schemas.microsoft.com/office/drawing/2014/main" id="{CB481148-9238-4415-919A-4B1503CC5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3690" y="2445974"/>
            <a:ext cx="612949" cy="61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003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WAL Example – Group Commit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A4A7C-CCB0-409F-A1B3-F328CF200ED4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604506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88968" y="4184503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流程图: 磁盘 18">
            <a:extLst>
              <a:ext uri="{FF2B5EF4-FFF2-40B4-BE49-F238E27FC236}">
                <a16:creationId xmlns:a16="http://schemas.microsoft.com/office/drawing/2014/main" id="{125F989A-A24C-44DA-A898-97523D6CD2A6}"/>
              </a:ext>
            </a:extLst>
          </p:cNvPr>
          <p:cNvSpPr/>
          <p:nvPr/>
        </p:nvSpPr>
        <p:spPr>
          <a:xfrm>
            <a:off x="8160684" y="1810254"/>
            <a:ext cx="3020494" cy="4595862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1DA1460-941D-4827-BA6B-BEFAFF8BC7FB}"/>
              </a:ext>
            </a:extLst>
          </p:cNvPr>
          <p:cNvSpPr/>
          <p:nvPr/>
        </p:nvSpPr>
        <p:spPr>
          <a:xfrm>
            <a:off x="4549970" y="1817050"/>
            <a:ext cx="2716695" cy="4424262"/>
          </a:xfrm>
          <a:prstGeom prst="roundRect">
            <a:avLst>
              <a:gd name="adj" fmla="val 7155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65D4754-9D87-476E-881E-7E402924A763}"/>
              </a:ext>
            </a:extLst>
          </p:cNvPr>
          <p:cNvSpPr txBox="1"/>
          <p:nvPr/>
        </p:nvSpPr>
        <p:spPr>
          <a:xfrm>
            <a:off x="5156744" y="1810254"/>
            <a:ext cx="143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WAL Buffer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2B6304-195C-4288-9BEE-6FCE09D21795}"/>
              </a:ext>
            </a:extLst>
          </p:cNvPr>
          <p:cNvSpPr txBox="1"/>
          <p:nvPr/>
        </p:nvSpPr>
        <p:spPr>
          <a:xfrm>
            <a:off x="9174641" y="192982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6" name="内容占位符 6">
            <a:extLst>
              <a:ext uri="{FF2B5EF4-FFF2-40B4-BE49-F238E27FC236}">
                <a16:creationId xmlns:a16="http://schemas.microsoft.com/office/drawing/2014/main" id="{510ADC53-8363-4BFA-9504-D5100704F9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6185050"/>
              </p:ext>
            </p:extLst>
          </p:nvPr>
        </p:nvGraphicFramePr>
        <p:xfrm>
          <a:off x="942751" y="2179479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W(C)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W(D)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DA4742E9-4235-4796-A3EB-BC31D592D39D}"/>
              </a:ext>
            </a:extLst>
          </p:cNvPr>
          <p:cNvGrpSpPr/>
          <p:nvPr/>
        </p:nvGrpSpPr>
        <p:grpSpPr>
          <a:xfrm>
            <a:off x="5183470" y="2181066"/>
            <a:ext cx="1383863" cy="1439480"/>
            <a:chOff x="5183470" y="2181066"/>
            <a:chExt cx="1383863" cy="1439480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65D9FDF9-1F2B-4E17-BFC1-38E70EBA4F13}"/>
                </a:ext>
              </a:extLst>
            </p:cNvPr>
            <p:cNvSpPr/>
            <p:nvPr/>
          </p:nvSpPr>
          <p:spPr>
            <a:xfrm>
              <a:off x="5183470" y="2181066"/>
              <a:ext cx="1383863" cy="143948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C940A7BA-0439-4137-94BF-ED05423D7F0D}"/>
                </a:ext>
              </a:extLst>
            </p:cNvPr>
            <p:cNvSpPr txBox="1"/>
            <p:nvPr/>
          </p:nvSpPr>
          <p:spPr>
            <a:xfrm>
              <a:off x="5244212" y="2237821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75F8D62-E343-41D5-B23F-A5E956306149}"/>
                </a:ext>
              </a:extLst>
            </p:cNvPr>
            <p:cNvSpPr txBox="1"/>
            <p:nvPr/>
          </p:nvSpPr>
          <p:spPr>
            <a:xfrm>
              <a:off x="5242059" y="2498533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A, 1, 8&gt;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3731D9C-FF0F-4A6B-92E7-7F27683BD664}"/>
                </a:ext>
              </a:extLst>
            </p:cNvPr>
            <p:cNvSpPr txBox="1"/>
            <p:nvPr/>
          </p:nvSpPr>
          <p:spPr>
            <a:xfrm>
              <a:off x="5242059" y="2759245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B, 5, 9&gt;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C52D9C9F-F866-4086-973C-4334A85AFAB2}"/>
                </a:ext>
              </a:extLst>
            </p:cNvPr>
            <p:cNvSpPr txBox="1"/>
            <p:nvPr/>
          </p:nvSpPr>
          <p:spPr>
            <a:xfrm>
              <a:off x="5249343" y="3019957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25E2D7E-BE9C-44EC-A2AD-DD08F8B505F3}"/>
                </a:ext>
              </a:extLst>
            </p:cNvPr>
            <p:cNvSpPr txBox="1"/>
            <p:nvPr/>
          </p:nvSpPr>
          <p:spPr>
            <a:xfrm>
              <a:off x="5249343" y="3285985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C, 1, 2&gt;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25A9F7C-5112-4775-86F0-BD6BCBE915B8}"/>
              </a:ext>
            </a:extLst>
          </p:cNvPr>
          <p:cNvGrpSpPr/>
          <p:nvPr/>
        </p:nvGrpSpPr>
        <p:grpSpPr>
          <a:xfrm>
            <a:off x="9017471" y="2508211"/>
            <a:ext cx="1383863" cy="1439480"/>
            <a:chOff x="5183470" y="2181066"/>
            <a:chExt cx="1383863" cy="1439480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F7AD81A-5BA5-4883-B489-B699A211D8CE}"/>
                </a:ext>
              </a:extLst>
            </p:cNvPr>
            <p:cNvSpPr/>
            <p:nvPr/>
          </p:nvSpPr>
          <p:spPr>
            <a:xfrm>
              <a:off x="5183470" y="2181066"/>
              <a:ext cx="1383863" cy="143948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EF924E6-3428-4A4D-A0A6-FBA908012701}"/>
                </a:ext>
              </a:extLst>
            </p:cNvPr>
            <p:cNvSpPr txBox="1"/>
            <p:nvPr/>
          </p:nvSpPr>
          <p:spPr>
            <a:xfrm>
              <a:off x="5244212" y="2237821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85B1F126-D237-4F5A-AE73-BF06B768C45C}"/>
                </a:ext>
              </a:extLst>
            </p:cNvPr>
            <p:cNvSpPr txBox="1"/>
            <p:nvPr/>
          </p:nvSpPr>
          <p:spPr>
            <a:xfrm>
              <a:off x="5242059" y="2498533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A, 1, 8&gt;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B063CBE-82CE-4B05-AC8C-0ADA0720AB86}"/>
                </a:ext>
              </a:extLst>
            </p:cNvPr>
            <p:cNvSpPr txBox="1"/>
            <p:nvPr/>
          </p:nvSpPr>
          <p:spPr>
            <a:xfrm>
              <a:off x="5242059" y="2759245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B, 5, 9&gt;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EDBE0C-4A90-4056-8680-318230CAC93D}"/>
                </a:ext>
              </a:extLst>
            </p:cNvPr>
            <p:cNvSpPr txBox="1"/>
            <p:nvPr/>
          </p:nvSpPr>
          <p:spPr>
            <a:xfrm>
              <a:off x="5249343" y="3019957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7A5D6AAA-E768-42B8-A955-C465A77FBADE}"/>
                </a:ext>
              </a:extLst>
            </p:cNvPr>
            <p:cNvSpPr txBox="1"/>
            <p:nvPr/>
          </p:nvSpPr>
          <p:spPr>
            <a:xfrm>
              <a:off x="5249343" y="3285985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C, 1, 2&gt;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4" name="直接箭头连接符 18">
            <a:extLst>
              <a:ext uri="{FF2B5EF4-FFF2-40B4-BE49-F238E27FC236}">
                <a16:creationId xmlns:a16="http://schemas.microsoft.com/office/drawing/2014/main" id="{BA1EE6D3-F6E1-4AD7-B39E-E5089937C83C}"/>
              </a:ext>
            </a:extLst>
          </p:cNvPr>
          <p:cNvCxnSpPr>
            <a:cxnSpLocks/>
            <a:stCxn id="48" idx="3"/>
            <a:endCxn id="28" idx="1"/>
          </p:cNvCxnSpPr>
          <p:nvPr/>
        </p:nvCxnSpPr>
        <p:spPr>
          <a:xfrm>
            <a:off x="6567333" y="2900806"/>
            <a:ext cx="2450138" cy="32714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形 12" descr="沙漏">
            <a:extLst>
              <a:ext uri="{FF2B5EF4-FFF2-40B4-BE49-F238E27FC236}">
                <a16:creationId xmlns:a16="http://schemas.microsoft.com/office/drawing/2014/main" id="{CB481148-9238-4415-919A-4B1503CC5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3690" y="2445974"/>
            <a:ext cx="612949" cy="612949"/>
          </a:xfrm>
          <a:prstGeom prst="rect">
            <a:avLst/>
          </a:prstGeom>
        </p:spPr>
      </p:pic>
      <p:grpSp>
        <p:nvGrpSpPr>
          <p:cNvPr id="35" name="组合 34">
            <a:extLst>
              <a:ext uri="{FF2B5EF4-FFF2-40B4-BE49-F238E27FC236}">
                <a16:creationId xmlns:a16="http://schemas.microsoft.com/office/drawing/2014/main" id="{E2DB74B6-2D99-4FB3-8A9B-5F36A3A66343}"/>
              </a:ext>
            </a:extLst>
          </p:cNvPr>
          <p:cNvGrpSpPr/>
          <p:nvPr/>
        </p:nvGrpSpPr>
        <p:grpSpPr>
          <a:xfrm>
            <a:off x="5183470" y="3746908"/>
            <a:ext cx="1383863" cy="1439480"/>
            <a:chOff x="5183470" y="2181066"/>
            <a:chExt cx="1383863" cy="1439480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58AED9E-83F6-4D3F-8E83-9778128720E5}"/>
                </a:ext>
              </a:extLst>
            </p:cNvPr>
            <p:cNvSpPr/>
            <p:nvPr/>
          </p:nvSpPr>
          <p:spPr>
            <a:xfrm>
              <a:off x="5183470" y="2181066"/>
              <a:ext cx="1383863" cy="143948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58FA1009-B1E0-4969-8868-1FA6B68E06B3}"/>
                </a:ext>
              </a:extLst>
            </p:cNvPr>
            <p:cNvSpPr txBox="1"/>
            <p:nvPr/>
          </p:nvSpPr>
          <p:spPr>
            <a:xfrm>
              <a:off x="5244212" y="2237821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D,</a:t>
              </a:r>
              <a:r>
                <a:rPr lang="zh-CN" altLang="en-US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3,</a:t>
              </a:r>
              <a:r>
                <a:rPr lang="zh-CN" altLang="en-US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7" name="直接箭头连接符 18">
            <a:extLst>
              <a:ext uri="{FF2B5EF4-FFF2-40B4-BE49-F238E27FC236}">
                <a16:creationId xmlns:a16="http://schemas.microsoft.com/office/drawing/2014/main" id="{FDB3B9D3-6CDE-456D-BAE6-515104545FF8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3279216" y="3930621"/>
            <a:ext cx="1964996" cy="43564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54899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WAL Example – Group Commit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7B613-D799-48F2-B8D4-B996887661AF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604506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88968" y="4509177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流程图: 磁盘 18">
            <a:extLst>
              <a:ext uri="{FF2B5EF4-FFF2-40B4-BE49-F238E27FC236}">
                <a16:creationId xmlns:a16="http://schemas.microsoft.com/office/drawing/2014/main" id="{125F989A-A24C-44DA-A898-97523D6CD2A6}"/>
              </a:ext>
            </a:extLst>
          </p:cNvPr>
          <p:cNvSpPr/>
          <p:nvPr/>
        </p:nvSpPr>
        <p:spPr>
          <a:xfrm>
            <a:off x="8160684" y="1810254"/>
            <a:ext cx="3020494" cy="4595862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1DA1460-941D-4827-BA6B-BEFAFF8BC7FB}"/>
              </a:ext>
            </a:extLst>
          </p:cNvPr>
          <p:cNvSpPr/>
          <p:nvPr/>
        </p:nvSpPr>
        <p:spPr>
          <a:xfrm>
            <a:off x="4549970" y="1817050"/>
            <a:ext cx="2716695" cy="4424262"/>
          </a:xfrm>
          <a:prstGeom prst="roundRect">
            <a:avLst>
              <a:gd name="adj" fmla="val 7155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65D4754-9D87-476E-881E-7E402924A763}"/>
              </a:ext>
            </a:extLst>
          </p:cNvPr>
          <p:cNvSpPr txBox="1"/>
          <p:nvPr/>
        </p:nvSpPr>
        <p:spPr>
          <a:xfrm>
            <a:off x="5156744" y="1810254"/>
            <a:ext cx="143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WAL Buffer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2B6304-195C-4288-9BEE-6FCE09D21795}"/>
              </a:ext>
            </a:extLst>
          </p:cNvPr>
          <p:cNvSpPr txBox="1"/>
          <p:nvPr/>
        </p:nvSpPr>
        <p:spPr>
          <a:xfrm>
            <a:off x="9174641" y="192982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6" name="内容占位符 6">
            <a:extLst>
              <a:ext uri="{FF2B5EF4-FFF2-40B4-BE49-F238E27FC236}">
                <a16:creationId xmlns:a16="http://schemas.microsoft.com/office/drawing/2014/main" id="{510ADC53-8363-4BFA-9504-D5100704F9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5875530"/>
              </p:ext>
            </p:extLst>
          </p:nvPr>
        </p:nvGraphicFramePr>
        <p:xfrm>
          <a:off x="942751" y="2179479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W(C)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W(D)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DA4742E9-4235-4796-A3EB-BC31D592D39D}"/>
              </a:ext>
            </a:extLst>
          </p:cNvPr>
          <p:cNvGrpSpPr/>
          <p:nvPr/>
        </p:nvGrpSpPr>
        <p:grpSpPr>
          <a:xfrm>
            <a:off x="5183470" y="2181066"/>
            <a:ext cx="1383863" cy="1439480"/>
            <a:chOff x="5183470" y="2181066"/>
            <a:chExt cx="1383863" cy="1439480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65D9FDF9-1F2B-4E17-BFC1-38E70EBA4F13}"/>
                </a:ext>
              </a:extLst>
            </p:cNvPr>
            <p:cNvSpPr/>
            <p:nvPr/>
          </p:nvSpPr>
          <p:spPr>
            <a:xfrm>
              <a:off x="5183470" y="2181066"/>
              <a:ext cx="1383863" cy="143948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C940A7BA-0439-4137-94BF-ED05423D7F0D}"/>
                </a:ext>
              </a:extLst>
            </p:cNvPr>
            <p:cNvSpPr txBox="1"/>
            <p:nvPr/>
          </p:nvSpPr>
          <p:spPr>
            <a:xfrm>
              <a:off x="5244212" y="2237821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75F8D62-E343-41D5-B23F-A5E956306149}"/>
                </a:ext>
              </a:extLst>
            </p:cNvPr>
            <p:cNvSpPr txBox="1"/>
            <p:nvPr/>
          </p:nvSpPr>
          <p:spPr>
            <a:xfrm>
              <a:off x="5242059" y="2498533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A, 1, 8&gt;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3731D9C-FF0F-4A6B-92E7-7F27683BD664}"/>
                </a:ext>
              </a:extLst>
            </p:cNvPr>
            <p:cNvSpPr txBox="1"/>
            <p:nvPr/>
          </p:nvSpPr>
          <p:spPr>
            <a:xfrm>
              <a:off x="5242059" y="2759245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B, 5, 9&gt;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C52D9C9F-F866-4086-973C-4334A85AFAB2}"/>
                </a:ext>
              </a:extLst>
            </p:cNvPr>
            <p:cNvSpPr txBox="1"/>
            <p:nvPr/>
          </p:nvSpPr>
          <p:spPr>
            <a:xfrm>
              <a:off x="5249343" y="3019957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25E2D7E-BE9C-44EC-A2AD-DD08F8B505F3}"/>
                </a:ext>
              </a:extLst>
            </p:cNvPr>
            <p:cNvSpPr txBox="1"/>
            <p:nvPr/>
          </p:nvSpPr>
          <p:spPr>
            <a:xfrm>
              <a:off x="5249343" y="3285985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C, 1, 2&gt;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25A9F7C-5112-4775-86F0-BD6BCBE915B8}"/>
              </a:ext>
            </a:extLst>
          </p:cNvPr>
          <p:cNvGrpSpPr/>
          <p:nvPr/>
        </p:nvGrpSpPr>
        <p:grpSpPr>
          <a:xfrm>
            <a:off x="9017471" y="2508211"/>
            <a:ext cx="1383863" cy="1439480"/>
            <a:chOff x="5183470" y="2181066"/>
            <a:chExt cx="1383863" cy="1439480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F7AD81A-5BA5-4883-B489-B699A211D8CE}"/>
                </a:ext>
              </a:extLst>
            </p:cNvPr>
            <p:cNvSpPr/>
            <p:nvPr/>
          </p:nvSpPr>
          <p:spPr>
            <a:xfrm>
              <a:off x="5183470" y="2181066"/>
              <a:ext cx="1383863" cy="143948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EF924E6-3428-4A4D-A0A6-FBA908012701}"/>
                </a:ext>
              </a:extLst>
            </p:cNvPr>
            <p:cNvSpPr txBox="1"/>
            <p:nvPr/>
          </p:nvSpPr>
          <p:spPr>
            <a:xfrm>
              <a:off x="5244212" y="2237821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85B1F126-D237-4F5A-AE73-BF06B768C45C}"/>
                </a:ext>
              </a:extLst>
            </p:cNvPr>
            <p:cNvSpPr txBox="1"/>
            <p:nvPr/>
          </p:nvSpPr>
          <p:spPr>
            <a:xfrm>
              <a:off x="5242059" y="2498533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A, 1, 8&gt;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B063CBE-82CE-4B05-AC8C-0ADA0720AB86}"/>
                </a:ext>
              </a:extLst>
            </p:cNvPr>
            <p:cNvSpPr txBox="1"/>
            <p:nvPr/>
          </p:nvSpPr>
          <p:spPr>
            <a:xfrm>
              <a:off x="5242059" y="2759245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B, 5, 9&gt;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EDBE0C-4A90-4056-8680-318230CAC93D}"/>
                </a:ext>
              </a:extLst>
            </p:cNvPr>
            <p:cNvSpPr txBox="1"/>
            <p:nvPr/>
          </p:nvSpPr>
          <p:spPr>
            <a:xfrm>
              <a:off x="5249343" y="3019957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7A5D6AAA-E768-42B8-A955-C465A77FBADE}"/>
                </a:ext>
              </a:extLst>
            </p:cNvPr>
            <p:cNvSpPr txBox="1"/>
            <p:nvPr/>
          </p:nvSpPr>
          <p:spPr>
            <a:xfrm>
              <a:off x="5249343" y="3285985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C, 1, 2&gt;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2DB74B6-2D99-4FB3-8A9B-5F36A3A66343}"/>
              </a:ext>
            </a:extLst>
          </p:cNvPr>
          <p:cNvGrpSpPr/>
          <p:nvPr/>
        </p:nvGrpSpPr>
        <p:grpSpPr>
          <a:xfrm>
            <a:off x="5183470" y="3746908"/>
            <a:ext cx="1383863" cy="1439480"/>
            <a:chOff x="5183470" y="2181066"/>
            <a:chExt cx="1383863" cy="1439480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58AED9E-83F6-4D3F-8E83-9778128720E5}"/>
                </a:ext>
              </a:extLst>
            </p:cNvPr>
            <p:cNvSpPr/>
            <p:nvPr/>
          </p:nvSpPr>
          <p:spPr>
            <a:xfrm>
              <a:off x="5183470" y="2181066"/>
              <a:ext cx="1383863" cy="143948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58FA1009-B1E0-4969-8868-1FA6B68E06B3}"/>
                </a:ext>
              </a:extLst>
            </p:cNvPr>
            <p:cNvSpPr txBox="1"/>
            <p:nvPr/>
          </p:nvSpPr>
          <p:spPr>
            <a:xfrm>
              <a:off x="5244212" y="2237821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D,</a:t>
              </a:r>
              <a:r>
                <a:rPr lang="zh-CN" altLang="en-US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3,</a:t>
              </a:r>
              <a:r>
                <a:rPr lang="zh-CN" altLang="en-US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0" name="对话气泡: 圆角矩形 39">
            <a:extLst>
              <a:ext uri="{FF2B5EF4-FFF2-40B4-BE49-F238E27FC236}">
                <a16:creationId xmlns:a16="http://schemas.microsoft.com/office/drawing/2014/main" id="{9530038D-248D-4FA0-B4E7-570615AC5F7A}"/>
              </a:ext>
            </a:extLst>
          </p:cNvPr>
          <p:cNvSpPr/>
          <p:nvPr/>
        </p:nvSpPr>
        <p:spPr>
          <a:xfrm>
            <a:off x="2148468" y="2512248"/>
            <a:ext cx="2865864" cy="845498"/>
          </a:xfrm>
          <a:prstGeom prst="wedgeRoundRectCallout">
            <a:avLst>
              <a:gd name="adj1" fmla="val 55251"/>
              <a:gd name="adj2" fmla="val 119132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Flush after an elapsed</a:t>
            </a: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amount of time.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4F98DCF-E5A1-41E3-9098-100E56865F4A}"/>
              </a:ext>
            </a:extLst>
          </p:cNvPr>
          <p:cNvSpPr txBox="1"/>
          <p:nvPr/>
        </p:nvSpPr>
        <p:spPr>
          <a:xfrm>
            <a:off x="5242059" y="4060211"/>
            <a:ext cx="1257966" cy="2539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COMMIT&gt;</a:t>
            </a:r>
            <a:endParaRPr lang="zh-CN" altLang="en-US" sz="1050" b="1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直接箭头连接符 18">
            <a:extLst>
              <a:ext uri="{FF2B5EF4-FFF2-40B4-BE49-F238E27FC236}">
                <a16:creationId xmlns:a16="http://schemas.microsoft.com/office/drawing/2014/main" id="{6342645B-9EE2-4266-B765-8927C09B89BD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3493869" y="4187169"/>
            <a:ext cx="1748190" cy="50212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图形 42" descr="沙漏">
            <a:extLst>
              <a:ext uri="{FF2B5EF4-FFF2-40B4-BE49-F238E27FC236}">
                <a16:creationId xmlns:a16="http://schemas.microsoft.com/office/drawing/2014/main" id="{266DDB06-12E6-4208-B1A0-B2FEBE385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28743" y="4506729"/>
            <a:ext cx="36512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805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WAL Example – Group Commit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81BA8-23EE-44BB-9B2B-8B985581C41F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604506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88968" y="4873610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流程图: 磁盘 18">
            <a:extLst>
              <a:ext uri="{FF2B5EF4-FFF2-40B4-BE49-F238E27FC236}">
                <a16:creationId xmlns:a16="http://schemas.microsoft.com/office/drawing/2014/main" id="{125F989A-A24C-44DA-A898-97523D6CD2A6}"/>
              </a:ext>
            </a:extLst>
          </p:cNvPr>
          <p:cNvSpPr/>
          <p:nvPr/>
        </p:nvSpPr>
        <p:spPr>
          <a:xfrm>
            <a:off x="8160684" y="1810254"/>
            <a:ext cx="3020494" cy="4595862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1DA1460-941D-4827-BA6B-BEFAFF8BC7FB}"/>
              </a:ext>
            </a:extLst>
          </p:cNvPr>
          <p:cNvSpPr/>
          <p:nvPr/>
        </p:nvSpPr>
        <p:spPr>
          <a:xfrm>
            <a:off x="4549970" y="1817050"/>
            <a:ext cx="2716695" cy="4424262"/>
          </a:xfrm>
          <a:prstGeom prst="roundRect">
            <a:avLst>
              <a:gd name="adj" fmla="val 7155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65D4754-9D87-476E-881E-7E402924A763}"/>
              </a:ext>
            </a:extLst>
          </p:cNvPr>
          <p:cNvSpPr txBox="1"/>
          <p:nvPr/>
        </p:nvSpPr>
        <p:spPr>
          <a:xfrm>
            <a:off x="5156744" y="1810254"/>
            <a:ext cx="143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WAL Buffer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2B6304-195C-4288-9BEE-6FCE09D21795}"/>
              </a:ext>
            </a:extLst>
          </p:cNvPr>
          <p:cNvSpPr txBox="1"/>
          <p:nvPr/>
        </p:nvSpPr>
        <p:spPr>
          <a:xfrm>
            <a:off x="9174641" y="192982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6" name="内容占位符 6">
            <a:extLst>
              <a:ext uri="{FF2B5EF4-FFF2-40B4-BE49-F238E27FC236}">
                <a16:creationId xmlns:a16="http://schemas.microsoft.com/office/drawing/2014/main" id="{510ADC53-8363-4BFA-9504-D5100704F96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42751" y="2179479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W(C)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W(D)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DA4742E9-4235-4796-A3EB-BC31D592D39D}"/>
              </a:ext>
            </a:extLst>
          </p:cNvPr>
          <p:cNvGrpSpPr/>
          <p:nvPr/>
        </p:nvGrpSpPr>
        <p:grpSpPr>
          <a:xfrm>
            <a:off x="5183470" y="2181066"/>
            <a:ext cx="1383863" cy="1439480"/>
            <a:chOff x="5183470" y="2181066"/>
            <a:chExt cx="1383863" cy="1439480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65D9FDF9-1F2B-4E17-BFC1-38E70EBA4F13}"/>
                </a:ext>
              </a:extLst>
            </p:cNvPr>
            <p:cNvSpPr/>
            <p:nvPr/>
          </p:nvSpPr>
          <p:spPr>
            <a:xfrm>
              <a:off x="5183470" y="2181066"/>
              <a:ext cx="1383863" cy="143948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C940A7BA-0439-4137-94BF-ED05423D7F0D}"/>
                </a:ext>
              </a:extLst>
            </p:cNvPr>
            <p:cNvSpPr txBox="1"/>
            <p:nvPr/>
          </p:nvSpPr>
          <p:spPr>
            <a:xfrm>
              <a:off x="5244212" y="2237821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75F8D62-E343-41D5-B23F-A5E956306149}"/>
                </a:ext>
              </a:extLst>
            </p:cNvPr>
            <p:cNvSpPr txBox="1"/>
            <p:nvPr/>
          </p:nvSpPr>
          <p:spPr>
            <a:xfrm>
              <a:off x="5242059" y="2498533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A, 1, 8&gt;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3731D9C-FF0F-4A6B-92E7-7F27683BD664}"/>
                </a:ext>
              </a:extLst>
            </p:cNvPr>
            <p:cNvSpPr txBox="1"/>
            <p:nvPr/>
          </p:nvSpPr>
          <p:spPr>
            <a:xfrm>
              <a:off x="5242059" y="2759245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B, 5, 9&gt;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C52D9C9F-F866-4086-973C-4334A85AFAB2}"/>
                </a:ext>
              </a:extLst>
            </p:cNvPr>
            <p:cNvSpPr txBox="1"/>
            <p:nvPr/>
          </p:nvSpPr>
          <p:spPr>
            <a:xfrm>
              <a:off x="5249343" y="3019957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25E2D7E-BE9C-44EC-A2AD-DD08F8B505F3}"/>
                </a:ext>
              </a:extLst>
            </p:cNvPr>
            <p:cNvSpPr txBox="1"/>
            <p:nvPr/>
          </p:nvSpPr>
          <p:spPr>
            <a:xfrm>
              <a:off x="5249343" y="3285985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C, 1, 2&gt;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25A9F7C-5112-4775-86F0-BD6BCBE915B8}"/>
              </a:ext>
            </a:extLst>
          </p:cNvPr>
          <p:cNvGrpSpPr/>
          <p:nvPr/>
        </p:nvGrpSpPr>
        <p:grpSpPr>
          <a:xfrm>
            <a:off x="9017471" y="2508211"/>
            <a:ext cx="1383863" cy="1439480"/>
            <a:chOff x="5183470" y="2181066"/>
            <a:chExt cx="1383863" cy="1439480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F7AD81A-5BA5-4883-B489-B699A211D8CE}"/>
                </a:ext>
              </a:extLst>
            </p:cNvPr>
            <p:cNvSpPr/>
            <p:nvPr/>
          </p:nvSpPr>
          <p:spPr>
            <a:xfrm>
              <a:off x="5183470" y="2181066"/>
              <a:ext cx="1383863" cy="143948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EF924E6-3428-4A4D-A0A6-FBA908012701}"/>
                </a:ext>
              </a:extLst>
            </p:cNvPr>
            <p:cNvSpPr txBox="1"/>
            <p:nvPr/>
          </p:nvSpPr>
          <p:spPr>
            <a:xfrm>
              <a:off x="5244212" y="2237821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85B1F126-D237-4F5A-AE73-BF06B768C45C}"/>
                </a:ext>
              </a:extLst>
            </p:cNvPr>
            <p:cNvSpPr txBox="1"/>
            <p:nvPr/>
          </p:nvSpPr>
          <p:spPr>
            <a:xfrm>
              <a:off x="5242059" y="2498533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A, 1, 8&gt;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B063CBE-82CE-4B05-AC8C-0ADA0720AB86}"/>
                </a:ext>
              </a:extLst>
            </p:cNvPr>
            <p:cNvSpPr txBox="1"/>
            <p:nvPr/>
          </p:nvSpPr>
          <p:spPr>
            <a:xfrm>
              <a:off x="5242059" y="2759245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B, 5, 9&gt;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EDBE0C-4A90-4056-8680-318230CAC93D}"/>
                </a:ext>
              </a:extLst>
            </p:cNvPr>
            <p:cNvSpPr txBox="1"/>
            <p:nvPr/>
          </p:nvSpPr>
          <p:spPr>
            <a:xfrm>
              <a:off x="5249343" y="3019957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7A5D6AAA-E768-42B8-A955-C465A77FBADE}"/>
                </a:ext>
              </a:extLst>
            </p:cNvPr>
            <p:cNvSpPr txBox="1"/>
            <p:nvPr/>
          </p:nvSpPr>
          <p:spPr>
            <a:xfrm>
              <a:off x="5249343" y="3285985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C, 1, 2&gt;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2DB74B6-2D99-4FB3-8A9B-5F36A3A66343}"/>
              </a:ext>
            </a:extLst>
          </p:cNvPr>
          <p:cNvGrpSpPr/>
          <p:nvPr/>
        </p:nvGrpSpPr>
        <p:grpSpPr>
          <a:xfrm>
            <a:off x="5183470" y="3746908"/>
            <a:ext cx="1383863" cy="1439480"/>
            <a:chOff x="5183470" y="2181066"/>
            <a:chExt cx="1383863" cy="1439480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58AED9E-83F6-4D3F-8E83-9778128720E5}"/>
                </a:ext>
              </a:extLst>
            </p:cNvPr>
            <p:cNvSpPr/>
            <p:nvPr/>
          </p:nvSpPr>
          <p:spPr>
            <a:xfrm>
              <a:off x="5183470" y="2181066"/>
              <a:ext cx="1383863" cy="143948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58FA1009-B1E0-4969-8868-1FA6B68E06B3}"/>
                </a:ext>
              </a:extLst>
            </p:cNvPr>
            <p:cNvSpPr txBox="1"/>
            <p:nvPr/>
          </p:nvSpPr>
          <p:spPr>
            <a:xfrm>
              <a:off x="5244212" y="2237821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D,</a:t>
              </a:r>
              <a:r>
                <a:rPr lang="zh-CN" altLang="en-US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3,</a:t>
              </a:r>
              <a:r>
                <a:rPr lang="zh-CN" altLang="en-US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0" name="对话气泡: 圆角矩形 39">
            <a:extLst>
              <a:ext uri="{FF2B5EF4-FFF2-40B4-BE49-F238E27FC236}">
                <a16:creationId xmlns:a16="http://schemas.microsoft.com/office/drawing/2014/main" id="{9530038D-248D-4FA0-B4E7-570615AC5F7A}"/>
              </a:ext>
            </a:extLst>
          </p:cNvPr>
          <p:cNvSpPr/>
          <p:nvPr/>
        </p:nvSpPr>
        <p:spPr>
          <a:xfrm>
            <a:off x="2148468" y="2512248"/>
            <a:ext cx="2865864" cy="845498"/>
          </a:xfrm>
          <a:prstGeom prst="wedgeRoundRectCallout">
            <a:avLst>
              <a:gd name="adj1" fmla="val 55251"/>
              <a:gd name="adj2" fmla="val 119132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Flush after an elapsed</a:t>
            </a: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amount of time.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4F98DCF-E5A1-41E3-9098-100E56865F4A}"/>
              </a:ext>
            </a:extLst>
          </p:cNvPr>
          <p:cNvSpPr txBox="1"/>
          <p:nvPr/>
        </p:nvSpPr>
        <p:spPr>
          <a:xfrm>
            <a:off x="5242059" y="4060211"/>
            <a:ext cx="1257966" cy="2539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COMMIT&gt;</a:t>
            </a:r>
            <a:endParaRPr lang="zh-CN" altLang="en-US" sz="1050" b="1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直接箭头连接符 18">
            <a:extLst>
              <a:ext uri="{FF2B5EF4-FFF2-40B4-BE49-F238E27FC236}">
                <a16:creationId xmlns:a16="http://schemas.microsoft.com/office/drawing/2014/main" id="{6342645B-9EE2-4266-B765-8927C09B89BD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2226365" y="4466648"/>
            <a:ext cx="2957105" cy="52279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图形 42" descr="沙漏">
            <a:extLst>
              <a:ext uri="{FF2B5EF4-FFF2-40B4-BE49-F238E27FC236}">
                <a16:creationId xmlns:a16="http://schemas.microsoft.com/office/drawing/2014/main" id="{266DDB06-12E6-4208-B1A0-B2FEBE385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28743" y="4506729"/>
            <a:ext cx="365126" cy="365126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678A1CF9-17BC-49E0-B268-15ECC7A05C70}"/>
              </a:ext>
            </a:extLst>
          </p:cNvPr>
          <p:cNvSpPr txBox="1"/>
          <p:nvPr/>
        </p:nvSpPr>
        <p:spPr>
          <a:xfrm>
            <a:off x="5249343" y="4320923"/>
            <a:ext cx="1257966" cy="2539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COMMIT&gt;</a:t>
            </a:r>
            <a:endParaRPr lang="zh-CN" altLang="en-US" sz="1050" b="1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4" name="图形 43" descr="沙漏">
            <a:extLst>
              <a:ext uri="{FF2B5EF4-FFF2-40B4-BE49-F238E27FC236}">
                <a16:creationId xmlns:a16="http://schemas.microsoft.com/office/drawing/2014/main" id="{99C881CA-B9F2-49CB-9D7E-BD992DB5C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57597" y="4843447"/>
            <a:ext cx="36512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8492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WAL Example – Group Commit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7246B-703D-4737-93EF-DD70113B4783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604506" y="181025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8A5E71C-8C18-413C-B1A2-4E380262A0F9}"/>
              </a:ext>
            </a:extLst>
          </p:cNvPr>
          <p:cNvSpPr/>
          <p:nvPr/>
        </p:nvSpPr>
        <p:spPr>
          <a:xfrm>
            <a:off x="488968" y="4873610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流程图: 磁盘 18">
            <a:extLst>
              <a:ext uri="{FF2B5EF4-FFF2-40B4-BE49-F238E27FC236}">
                <a16:creationId xmlns:a16="http://schemas.microsoft.com/office/drawing/2014/main" id="{125F989A-A24C-44DA-A898-97523D6CD2A6}"/>
              </a:ext>
            </a:extLst>
          </p:cNvPr>
          <p:cNvSpPr/>
          <p:nvPr/>
        </p:nvSpPr>
        <p:spPr>
          <a:xfrm>
            <a:off x="8160684" y="1810254"/>
            <a:ext cx="3020494" cy="4595862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1DA1460-941D-4827-BA6B-BEFAFF8BC7FB}"/>
              </a:ext>
            </a:extLst>
          </p:cNvPr>
          <p:cNvSpPr/>
          <p:nvPr/>
        </p:nvSpPr>
        <p:spPr>
          <a:xfrm>
            <a:off x="4549970" y="1817050"/>
            <a:ext cx="2716695" cy="4424262"/>
          </a:xfrm>
          <a:prstGeom prst="roundRect">
            <a:avLst>
              <a:gd name="adj" fmla="val 7155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65D4754-9D87-476E-881E-7E402924A763}"/>
              </a:ext>
            </a:extLst>
          </p:cNvPr>
          <p:cNvSpPr txBox="1"/>
          <p:nvPr/>
        </p:nvSpPr>
        <p:spPr>
          <a:xfrm>
            <a:off x="5156744" y="1810254"/>
            <a:ext cx="1437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WAL Buffer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2B6304-195C-4288-9BEE-6FCE09D21795}"/>
              </a:ext>
            </a:extLst>
          </p:cNvPr>
          <p:cNvSpPr txBox="1"/>
          <p:nvPr/>
        </p:nvSpPr>
        <p:spPr>
          <a:xfrm>
            <a:off x="9174641" y="192982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6" name="内容占位符 6">
            <a:extLst>
              <a:ext uri="{FF2B5EF4-FFF2-40B4-BE49-F238E27FC236}">
                <a16:creationId xmlns:a16="http://schemas.microsoft.com/office/drawing/2014/main" id="{510ADC53-8363-4BFA-9504-D5100704F96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42751" y="2179479"/>
          <a:ext cx="2647370" cy="368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3685">
                  <a:extLst>
                    <a:ext uri="{9D8B030D-6E8A-4147-A177-3AD203B41FA5}">
                      <a16:colId xmlns:a16="http://schemas.microsoft.com/office/drawing/2014/main" val="2718145993"/>
                    </a:ext>
                  </a:extLst>
                </a:gridCol>
                <a:gridCol w="1323685">
                  <a:extLst>
                    <a:ext uri="{9D8B030D-6E8A-4147-A177-3AD203B41FA5}">
                      <a16:colId xmlns:a16="http://schemas.microsoft.com/office/drawing/2014/main" val="1601558611"/>
                    </a:ext>
                  </a:extLst>
                </a:gridCol>
              </a:tblGrid>
              <a:tr h="301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i="1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583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509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92015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W(B)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86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BEGIN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9478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W(C)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7604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W(D)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22199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72477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r>
                        <a:rPr lang="en-US" altLang="zh-CN" sz="1600" b="1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COMMIT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463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76384"/>
                  </a:ext>
                </a:extLst>
              </a:tr>
              <a:tr h="301712">
                <a:tc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973994"/>
                  </a:ext>
                </a:extLst>
              </a:tr>
            </a:tbl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DA4742E9-4235-4796-A3EB-BC31D592D39D}"/>
              </a:ext>
            </a:extLst>
          </p:cNvPr>
          <p:cNvGrpSpPr/>
          <p:nvPr/>
        </p:nvGrpSpPr>
        <p:grpSpPr>
          <a:xfrm>
            <a:off x="5183470" y="2181066"/>
            <a:ext cx="1383863" cy="1439480"/>
            <a:chOff x="5183470" y="2181066"/>
            <a:chExt cx="1383863" cy="1439480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65D9FDF9-1F2B-4E17-BFC1-38E70EBA4F13}"/>
                </a:ext>
              </a:extLst>
            </p:cNvPr>
            <p:cNvSpPr/>
            <p:nvPr/>
          </p:nvSpPr>
          <p:spPr>
            <a:xfrm>
              <a:off x="5183470" y="2181066"/>
              <a:ext cx="1383863" cy="143948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C940A7BA-0439-4137-94BF-ED05423D7F0D}"/>
                </a:ext>
              </a:extLst>
            </p:cNvPr>
            <p:cNvSpPr txBox="1"/>
            <p:nvPr/>
          </p:nvSpPr>
          <p:spPr>
            <a:xfrm>
              <a:off x="5244212" y="2237821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75F8D62-E343-41D5-B23F-A5E956306149}"/>
                </a:ext>
              </a:extLst>
            </p:cNvPr>
            <p:cNvSpPr txBox="1"/>
            <p:nvPr/>
          </p:nvSpPr>
          <p:spPr>
            <a:xfrm>
              <a:off x="5242059" y="2498533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A, 1, 8&gt;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3731D9C-FF0F-4A6B-92E7-7F27683BD664}"/>
                </a:ext>
              </a:extLst>
            </p:cNvPr>
            <p:cNvSpPr txBox="1"/>
            <p:nvPr/>
          </p:nvSpPr>
          <p:spPr>
            <a:xfrm>
              <a:off x="5242059" y="2759245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B, 5, 9&gt;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C52D9C9F-F866-4086-973C-4334A85AFAB2}"/>
                </a:ext>
              </a:extLst>
            </p:cNvPr>
            <p:cNvSpPr txBox="1"/>
            <p:nvPr/>
          </p:nvSpPr>
          <p:spPr>
            <a:xfrm>
              <a:off x="5249343" y="3019957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25E2D7E-BE9C-44EC-A2AD-DD08F8B505F3}"/>
                </a:ext>
              </a:extLst>
            </p:cNvPr>
            <p:cNvSpPr txBox="1"/>
            <p:nvPr/>
          </p:nvSpPr>
          <p:spPr>
            <a:xfrm>
              <a:off x="5249343" y="3285985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C, 1, 2&gt;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25A9F7C-5112-4775-86F0-BD6BCBE915B8}"/>
              </a:ext>
            </a:extLst>
          </p:cNvPr>
          <p:cNvGrpSpPr/>
          <p:nvPr/>
        </p:nvGrpSpPr>
        <p:grpSpPr>
          <a:xfrm>
            <a:off x="9017471" y="2508211"/>
            <a:ext cx="1383863" cy="1439480"/>
            <a:chOff x="5183470" y="2181066"/>
            <a:chExt cx="1383863" cy="1439480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F7AD81A-5BA5-4883-B489-B699A211D8CE}"/>
                </a:ext>
              </a:extLst>
            </p:cNvPr>
            <p:cNvSpPr/>
            <p:nvPr/>
          </p:nvSpPr>
          <p:spPr>
            <a:xfrm>
              <a:off x="5183470" y="2181066"/>
              <a:ext cx="1383863" cy="143948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EF924E6-3428-4A4D-A0A6-FBA908012701}"/>
                </a:ext>
              </a:extLst>
            </p:cNvPr>
            <p:cNvSpPr txBox="1"/>
            <p:nvPr/>
          </p:nvSpPr>
          <p:spPr>
            <a:xfrm>
              <a:off x="5244212" y="2237821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85B1F126-D237-4F5A-AE73-BF06B768C45C}"/>
                </a:ext>
              </a:extLst>
            </p:cNvPr>
            <p:cNvSpPr txBox="1"/>
            <p:nvPr/>
          </p:nvSpPr>
          <p:spPr>
            <a:xfrm>
              <a:off x="5242059" y="2498533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A, 1, 8&gt;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B063CBE-82CE-4B05-AC8C-0ADA0720AB86}"/>
                </a:ext>
              </a:extLst>
            </p:cNvPr>
            <p:cNvSpPr txBox="1"/>
            <p:nvPr/>
          </p:nvSpPr>
          <p:spPr>
            <a:xfrm>
              <a:off x="5242059" y="2759245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B, 5, 9&gt;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EDBE0C-4A90-4056-8680-318230CAC93D}"/>
                </a:ext>
              </a:extLst>
            </p:cNvPr>
            <p:cNvSpPr txBox="1"/>
            <p:nvPr/>
          </p:nvSpPr>
          <p:spPr>
            <a:xfrm>
              <a:off x="5249343" y="3019957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7A5D6AAA-E768-42B8-A955-C465A77FBADE}"/>
                </a:ext>
              </a:extLst>
            </p:cNvPr>
            <p:cNvSpPr txBox="1"/>
            <p:nvPr/>
          </p:nvSpPr>
          <p:spPr>
            <a:xfrm>
              <a:off x="5249343" y="3285985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C, 1, 2&gt;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0" name="对话气泡: 圆角矩形 39">
            <a:extLst>
              <a:ext uri="{FF2B5EF4-FFF2-40B4-BE49-F238E27FC236}">
                <a16:creationId xmlns:a16="http://schemas.microsoft.com/office/drawing/2014/main" id="{9530038D-248D-4FA0-B4E7-570615AC5F7A}"/>
              </a:ext>
            </a:extLst>
          </p:cNvPr>
          <p:cNvSpPr/>
          <p:nvPr/>
        </p:nvSpPr>
        <p:spPr>
          <a:xfrm>
            <a:off x="2148468" y="2512248"/>
            <a:ext cx="2865864" cy="845498"/>
          </a:xfrm>
          <a:prstGeom prst="wedgeRoundRectCallout">
            <a:avLst>
              <a:gd name="adj1" fmla="val 55251"/>
              <a:gd name="adj2" fmla="val 119132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Flush after an elapsed</a:t>
            </a: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amount of time.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直接箭头连接符 18">
            <a:extLst>
              <a:ext uri="{FF2B5EF4-FFF2-40B4-BE49-F238E27FC236}">
                <a16:creationId xmlns:a16="http://schemas.microsoft.com/office/drawing/2014/main" id="{6342645B-9EE2-4266-B765-8927C09B89BD}"/>
              </a:ext>
            </a:extLst>
          </p:cNvPr>
          <p:cNvCxnSpPr>
            <a:cxnSpLocks/>
            <a:stCxn id="38" idx="3"/>
            <a:endCxn id="51" idx="1"/>
          </p:cNvCxnSpPr>
          <p:nvPr/>
        </p:nvCxnSpPr>
        <p:spPr>
          <a:xfrm>
            <a:off x="6567333" y="4466648"/>
            <a:ext cx="2470897" cy="32034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图形 42" descr="沙漏">
            <a:extLst>
              <a:ext uri="{FF2B5EF4-FFF2-40B4-BE49-F238E27FC236}">
                <a16:creationId xmlns:a16="http://schemas.microsoft.com/office/drawing/2014/main" id="{266DDB06-12E6-4208-B1A0-B2FEBE385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28743" y="4506729"/>
            <a:ext cx="365126" cy="365126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B4ABCCBC-0D20-4A35-A4F5-D77A3EC7B42A}"/>
              </a:ext>
            </a:extLst>
          </p:cNvPr>
          <p:cNvGrpSpPr/>
          <p:nvPr/>
        </p:nvGrpSpPr>
        <p:grpSpPr>
          <a:xfrm>
            <a:off x="5183470" y="3746908"/>
            <a:ext cx="1383863" cy="1439480"/>
            <a:chOff x="5183470" y="3746908"/>
            <a:chExt cx="1383863" cy="1439480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E2DB74B6-2D99-4FB3-8A9B-5F36A3A66343}"/>
                </a:ext>
              </a:extLst>
            </p:cNvPr>
            <p:cNvGrpSpPr/>
            <p:nvPr/>
          </p:nvGrpSpPr>
          <p:grpSpPr>
            <a:xfrm>
              <a:off x="5183470" y="3746908"/>
              <a:ext cx="1383863" cy="1439480"/>
              <a:chOff x="5183470" y="2181066"/>
              <a:chExt cx="1383863" cy="1439480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E58AED9E-83F6-4D3F-8E83-9778128720E5}"/>
                  </a:ext>
                </a:extLst>
              </p:cNvPr>
              <p:cNvSpPr/>
              <p:nvPr/>
            </p:nvSpPr>
            <p:spPr>
              <a:xfrm>
                <a:off x="5183470" y="2181066"/>
                <a:ext cx="1383863" cy="1439480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58FA1009-B1E0-4969-8868-1FA6B68E06B3}"/>
                  </a:ext>
                </a:extLst>
              </p:cNvPr>
              <p:cNvSpPr txBox="1"/>
              <p:nvPr/>
            </p:nvSpPr>
            <p:spPr>
              <a:xfrm>
                <a:off x="5244212" y="2237821"/>
                <a:ext cx="1257966" cy="25391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zh-CN" sz="105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&lt;T</a:t>
                </a:r>
                <a:r>
                  <a:rPr lang="en-US" altLang="zh-CN" sz="1050" b="1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altLang="zh-CN" sz="105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D,</a:t>
                </a:r>
                <a:r>
                  <a:rPr lang="zh-CN" altLang="en-US" sz="105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105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3,</a:t>
                </a:r>
                <a:r>
                  <a:rPr lang="zh-CN" altLang="en-US" sz="105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105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4&gt;</a:t>
                </a:r>
                <a:endParaRPr lang="zh-CN" altLang="en-US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54F98DCF-E5A1-41E3-9098-100E56865F4A}"/>
                </a:ext>
              </a:extLst>
            </p:cNvPr>
            <p:cNvSpPr txBox="1"/>
            <p:nvPr/>
          </p:nvSpPr>
          <p:spPr>
            <a:xfrm>
              <a:off x="5242059" y="4060211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COMMIT&gt;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678A1CF9-17BC-49E0-B268-15ECC7A05C70}"/>
                </a:ext>
              </a:extLst>
            </p:cNvPr>
            <p:cNvSpPr txBox="1"/>
            <p:nvPr/>
          </p:nvSpPr>
          <p:spPr>
            <a:xfrm>
              <a:off x="5249343" y="4320923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COMMIT&gt;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4" name="图形 43" descr="沙漏">
            <a:extLst>
              <a:ext uri="{FF2B5EF4-FFF2-40B4-BE49-F238E27FC236}">
                <a16:creationId xmlns:a16="http://schemas.microsoft.com/office/drawing/2014/main" id="{99C881CA-B9F2-49CB-9D7E-BD992DB5C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57597" y="4843447"/>
            <a:ext cx="365126" cy="365126"/>
          </a:xfrm>
          <a:prstGeom prst="rect">
            <a:avLst/>
          </a:prstGeom>
        </p:spPr>
      </p:pic>
      <p:grpSp>
        <p:nvGrpSpPr>
          <p:cNvPr id="45" name="组合 44">
            <a:extLst>
              <a:ext uri="{FF2B5EF4-FFF2-40B4-BE49-F238E27FC236}">
                <a16:creationId xmlns:a16="http://schemas.microsoft.com/office/drawing/2014/main" id="{18AD9CF0-B454-4F3E-AB5A-5944BE3E8453}"/>
              </a:ext>
            </a:extLst>
          </p:cNvPr>
          <p:cNvGrpSpPr/>
          <p:nvPr/>
        </p:nvGrpSpPr>
        <p:grpSpPr>
          <a:xfrm>
            <a:off x="9038230" y="4067257"/>
            <a:ext cx="1383863" cy="1439480"/>
            <a:chOff x="5183470" y="3746908"/>
            <a:chExt cx="1383863" cy="1439480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A2122F36-90AC-4B96-8330-8F65BB756BB9}"/>
                </a:ext>
              </a:extLst>
            </p:cNvPr>
            <p:cNvGrpSpPr/>
            <p:nvPr/>
          </p:nvGrpSpPr>
          <p:grpSpPr>
            <a:xfrm>
              <a:off x="5183470" y="3746908"/>
              <a:ext cx="1383863" cy="1439480"/>
              <a:chOff x="5183470" y="2181066"/>
              <a:chExt cx="1383863" cy="1439480"/>
            </a:xfrm>
          </p:grpSpPr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B3E88189-64B2-45F9-80AC-28CBDC6E95D4}"/>
                  </a:ext>
                </a:extLst>
              </p:cNvPr>
              <p:cNvSpPr/>
              <p:nvPr/>
            </p:nvSpPr>
            <p:spPr>
              <a:xfrm>
                <a:off x="5183470" y="2181066"/>
                <a:ext cx="1383863" cy="1439480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E81771D0-B135-462A-9153-3AD3562486A1}"/>
                  </a:ext>
                </a:extLst>
              </p:cNvPr>
              <p:cNvSpPr txBox="1"/>
              <p:nvPr/>
            </p:nvSpPr>
            <p:spPr>
              <a:xfrm>
                <a:off x="5244212" y="2237821"/>
                <a:ext cx="1257966" cy="25391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zh-CN" sz="105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&lt;T</a:t>
                </a:r>
                <a:r>
                  <a:rPr lang="en-US" altLang="zh-CN" sz="1050" b="1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altLang="zh-CN" sz="105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D,</a:t>
                </a:r>
                <a:r>
                  <a:rPr lang="zh-CN" altLang="en-US" sz="105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105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3,</a:t>
                </a:r>
                <a:r>
                  <a:rPr lang="zh-CN" altLang="en-US" sz="105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105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4&gt;</a:t>
                </a:r>
                <a:endParaRPr lang="zh-CN" altLang="en-US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B898DE5C-5262-4E2D-880F-FB265AFB9E48}"/>
                </a:ext>
              </a:extLst>
            </p:cNvPr>
            <p:cNvSpPr txBox="1"/>
            <p:nvPr/>
          </p:nvSpPr>
          <p:spPr>
            <a:xfrm>
              <a:off x="5242059" y="4060211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COMMIT&gt;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DE06C0D6-F958-43F6-879A-ECC4C3DB8EB1}"/>
                </a:ext>
              </a:extLst>
            </p:cNvPr>
            <p:cNvSpPr txBox="1"/>
            <p:nvPr/>
          </p:nvSpPr>
          <p:spPr>
            <a:xfrm>
              <a:off x="5249343" y="4320923"/>
              <a:ext cx="1257966" cy="25391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&lt;T</a:t>
              </a:r>
              <a:r>
                <a:rPr lang="en-US" altLang="zh-CN" sz="105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COMMIT&gt;</a:t>
              </a:r>
              <a:endParaRPr lang="zh-CN" altLang="en-US" sz="105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3455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WAL - Implementation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/>
              <a:t>When should the DBMS write log entries to disk?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When the transaction commits.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Can use </a:t>
            </a:r>
            <a:r>
              <a:rPr lang="en-US" altLang="zh-CN" b="1" dirty="0">
                <a:solidFill>
                  <a:srgbClr val="0066FF"/>
                </a:solidFill>
              </a:rPr>
              <a:t>group commit </a:t>
            </a:r>
            <a:r>
              <a:rPr lang="en-US" altLang="zh-CN" dirty="0"/>
              <a:t>to batch multiple log flushes together to amortize overhead.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/>
              <a:t>When should the DBMS write dirty records to disk?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Every time the </a:t>
            </a:r>
            <a:r>
              <a:rPr lang="en-US" altLang="zh-CN" dirty="0" err="1"/>
              <a:t>txn</a:t>
            </a:r>
            <a:r>
              <a:rPr lang="en-US" altLang="zh-CN" dirty="0"/>
              <a:t> executes an update?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Once when the </a:t>
            </a:r>
            <a:r>
              <a:rPr lang="en-US" altLang="zh-CN" dirty="0" err="1"/>
              <a:t>txn</a:t>
            </a:r>
            <a:r>
              <a:rPr lang="en-US" altLang="zh-CN" dirty="0"/>
              <a:t> commits?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47CE8-5980-435D-BC8C-023680B7CEE6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7584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Buffer Pool Policies</a:t>
            </a:r>
            <a:endParaRPr lang="zh-CN" altLang="en-US" dirty="0"/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721366DE-B230-4257-8546-60AF44A869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4222832"/>
              </p:ext>
            </p:extLst>
          </p:nvPr>
        </p:nvGraphicFramePr>
        <p:xfrm>
          <a:off x="983972" y="3585748"/>
          <a:ext cx="4336773" cy="17383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5591">
                  <a:extLst>
                    <a:ext uri="{9D8B030D-6E8A-4147-A177-3AD203B41FA5}">
                      <a16:colId xmlns:a16="http://schemas.microsoft.com/office/drawing/2014/main" val="1534322953"/>
                    </a:ext>
                  </a:extLst>
                </a:gridCol>
                <a:gridCol w="1445591">
                  <a:extLst>
                    <a:ext uri="{9D8B030D-6E8A-4147-A177-3AD203B41FA5}">
                      <a16:colId xmlns:a16="http://schemas.microsoft.com/office/drawing/2014/main" val="787325285"/>
                    </a:ext>
                  </a:extLst>
                </a:gridCol>
                <a:gridCol w="1445591">
                  <a:extLst>
                    <a:ext uri="{9D8B030D-6E8A-4147-A177-3AD203B41FA5}">
                      <a16:colId xmlns:a16="http://schemas.microsoft.com/office/drawing/2014/main" val="3673843592"/>
                    </a:ext>
                  </a:extLst>
                </a:gridCol>
              </a:tblGrid>
              <a:tr h="579437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NO-STEAL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STEAL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83700"/>
                  </a:ext>
                </a:extLst>
              </a:tr>
              <a:tr h="57943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NO-FORCE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Fastest</a:t>
                      </a:r>
                      <a:endParaRPr lang="zh-CN" altLang="en-US" b="1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5852814"/>
                  </a:ext>
                </a:extLst>
              </a:tr>
              <a:tr h="57943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FORCE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Slowest</a:t>
                      </a:r>
                      <a:endParaRPr lang="zh-CN" altLang="en-US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462126"/>
                  </a:ext>
                </a:extLst>
              </a:tr>
            </a:tbl>
          </a:graphicData>
        </a:graphic>
      </p:graphicFrame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AA417-B87E-4292-9D51-3ADE0D7FF3C5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8037D2-57F3-421D-87CA-68BC27D99671}"/>
              </a:ext>
            </a:extLst>
          </p:cNvPr>
          <p:cNvSpPr/>
          <p:nvPr/>
        </p:nvSpPr>
        <p:spPr>
          <a:xfrm>
            <a:off x="1056858" y="2973442"/>
            <a:ext cx="42638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i="1" dirty="0">
                <a:solidFill>
                  <a:srgbClr val="0066FF"/>
                </a:solidFill>
                <a:latin typeface="Crimson Text"/>
              </a:rPr>
              <a:t>Runtime Performance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graphicFrame>
        <p:nvGraphicFramePr>
          <p:cNvPr id="9" name="内容占位符 6">
            <a:extLst>
              <a:ext uri="{FF2B5EF4-FFF2-40B4-BE49-F238E27FC236}">
                <a16:creationId xmlns:a16="http://schemas.microsoft.com/office/drawing/2014/main" id="{42490591-9E4F-446E-8B1F-F44987289A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1842072"/>
              </p:ext>
            </p:extLst>
          </p:nvPr>
        </p:nvGraphicFramePr>
        <p:xfrm>
          <a:off x="6556512" y="3582509"/>
          <a:ext cx="4336773" cy="17383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5591">
                  <a:extLst>
                    <a:ext uri="{9D8B030D-6E8A-4147-A177-3AD203B41FA5}">
                      <a16:colId xmlns:a16="http://schemas.microsoft.com/office/drawing/2014/main" val="1534322953"/>
                    </a:ext>
                  </a:extLst>
                </a:gridCol>
                <a:gridCol w="1445591">
                  <a:extLst>
                    <a:ext uri="{9D8B030D-6E8A-4147-A177-3AD203B41FA5}">
                      <a16:colId xmlns:a16="http://schemas.microsoft.com/office/drawing/2014/main" val="787325285"/>
                    </a:ext>
                  </a:extLst>
                </a:gridCol>
                <a:gridCol w="1445591">
                  <a:extLst>
                    <a:ext uri="{9D8B030D-6E8A-4147-A177-3AD203B41FA5}">
                      <a16:colId xmlns:a16="http://schemas.microsoft.com/office/drawing/2014/main" val="3673843592"/>
                    </a:ext>
                  </a:extLst>
                </a:gridCol>
              </a:tblGrid>
              <a:tr h="579437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NO-STEAL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STEAL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83700"/>
                  </a:ext>
                </a:extLst>
              </a:tr>
              <a:tr h="57943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NO-FORCE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Slowest</a:t>
                      </a:r>
                      <a:endParaRPr lang="zh-CN" altLang="en-US" b="1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5852814"/>
                  </a:ext>
                </a:extLst>
              </a:tr>
              <a:tr h="57943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FORCE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Fastest</a:t>
                      </a:r>
                      <a:endParaRPr lang="zh-CN" altLang="en-US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zh-CN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462126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5B3B1DC6-6D17-4DA0-981F-DDC865B17384}"/>
              </a:ext>
            </a:extLst>
          </p:cNvPr>
          <p:cNvSpPr/>
          <p:nvPr/>
        </p:nvSpPr>
        <p:spPr>
          <a:xfrm>
            <a:off x="6556513" y="3023656"/>
            <a:ext cx="43367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i="1" dirty="0">
                <a:solidFill>
                  <a:srgbClr val="0066FF"/>
                </a:solidFill>
                <a:latin typeface="Crimson Text"/>
              </a:rPr>
              <a:t>Recovery Performance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C574C07-F224-4F9D-849A-F2090231F58A}"/>
              </a:ext>
            </a:extLst>
          </p:cNvPr>
          <p:cNvSpPr/>
          <p:nvPr/>
        </p:nvSpPr>
        <p:spPr>
          <a:xfrm>
            <a:off x="836540" y="3485321"/>
            <a:ext cx="4704522" cy="2080591"/>
          </a:xfrm>
          <a:prstGeom prst="roundRect">
            <a:avLst>
              <a:gd name="adj" fmla="val 10298"/>
            </a:avLst>
          </a:prstGeom>
          <a:noFill/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AC029A1-6CAC-4F27-AB4C-073C7C49FA8F}"/>
              </a:ext>
            </a:extLst>
          </p:cNvPr>
          <p:cNvSpPr/>
          <p:nvPr/>
        </p:nvSpPr>
        <p:spPr>
          <a:xfrm>
            <a:off x="6372637" y="3485321"/>
            <a:ext cx="4704522" cy="2080591"/>
          </a:xfrm>
          <a:prstGeom prst="roundRect">
            <a:avLst>
              <a:gd name="adj" fmla="val 10298"/>
            </a:avLst>
          </a:prstGeom>
          <a:noFill/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25DD905-E082-4D8C-96CA-A86E1864538D}"/>
              </a:ext>
            </a:extLst>
          </p:cNvPr>
          <p:cNvSpPr/>
          <p:nvPr/>
        </p:nvSpPr>
        <p:spPr>
          <a:xfrm>
            <a:off x="1368283" y="1962849"/>
            <a:ext cx="87431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Almost every DBMS uses </a:t>
            </a:r>
            <a:r>
              <a:rPr lang="en-US" altLang="zh-CN" sz="2400" b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NO-FORCE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altLang="zh-CN" sz="2400" b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STEAL</a:t>
            </a:r>
            <a:endParaRPr lang="zh-CN" altLang="en-US" sz="2400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D44FFC42-6325-4EF0-B5E8-32A5AE73AFD8}"/>
              </a:ext>
            </a:extLst>
          </p:cNvPr>
          <p:cNvSpPr/>
          <p:nvPr/>
        </p:nvSpPr>
        <p:spPr>
          <a:xfrm>
            <a:off x="8786191" y="3135314"/>
            <a:ext cx="2290968" cy="700302"/>
          </a:xfrm>
          <a:prstGeom prst="wedgeRoundRectCallout">
            <a:avLst>
              <a:gd name="adj1" fmla="val 23807"/>
              <a:gd name="adj2" fmla="val 120699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Undo + Redo</a:t>
            </a:r>
            <a:endParaRPr lang="en-US" altLang="en-US" sz="2400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C8C47949-BD2C-4DDA-87A2-30B60BBA4A41}"/>
              </a:ext>
            </a:extLst>
          </p:cNvPr>
          <p:cNvSpPr/>
          <p:nvPr/>
        </p:nvSpPr>
        <p:spPr>
          <a:xfrm>
            <a:off x="5050742" y="5465435"/>
            <a:ext cx="3200395" cy="721308"/>
          </a:xfrm>
          <a:prstGeom prst="wedgeRoundRectCallout">
            <a:avLst>
              <a:gd name="adj1" fmla="val 44749"/>
              <a:gd name="adj2" fmla="val -99430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Undo + No Redo</a:t>
            </a:r>
            <a:endParaRPr lang="en-US" altLang="en-US" sz="2400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48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Logging Schemes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/>
              <a:t>Physical Logging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Record the changes made to a specific location in the database.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Example: </a:t>
            </a:r>
            <a:r>
              <a:rPr lang="en-US" altLang="zh-CN" dirty="0">
                <a:solidFill>
                  <a:srgbClr val="0066FF"/>
                </a:solidFill>
              </a:rPr>
              <a:t>git diff, MySQL redo log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/>
              <a:t>Logical Logging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Record the high-level operations executed by </a:t>
            </a:r>
            <a:r>
              <a:rPr lang="en-US" altLang="zh-CN" dirty="0" err="1"/>
              <a:t>txns</a:t>
            </a:r>
            <a:r>
              <a:rPr lang="en-US" altLang="zh-CN" dirty="0"/>
              <a:t>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Not necessarily restricted to single page.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Example: </a:t>
            </a:r>
            <a:r>
              <a:rPr lang="en-US" altLang="zh-CN" dirty="0">
                <a:solidFill>
                  <a:srgbClr val="0066FF"/>
                </a:solidFill>
              </a:rPr>
              <a:t>MySQL </a:t>
            </a:r>
            <a:r>
              <a:rPr lang="en-US" altLang="zh-CN" dirty="0" err="1">
                <a:solidFill>
                  <a:srgbClr val="0066FF"/>
                </a:solidFill>
              </a:rPr>
              <a:t>binlog</a:t>
            </a:r>
            <a:endParaRPr lang="en-US" altLang="zh-CN" dirty="0">
              <a:solidFill>
                <a:srgbClr val="0066FF"/>
              </a:solidFill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ABC3D-0D6B-4BB2-B21A-046BED03286D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0FB7A643-1551-453F-B2A0-CDF02B9887AE}"/>
              </a:ext>
            </a:extLst>
          </p:cNvPr>
          <p:cNvSpPr/>
          <p:nvPr/>
        </p:nvSpPr>
        <p:spPr>
          <a:xfrm>
            <a:off x="6464577" y="3167270"/>
            <a:ext cx="4448589" cy="973146"/>
          </a:xfrm>
          <a:prstGeom prst="wedgeRoundRectCallout">
            <a:avLst>
              <a:gd name="adj1" fmla="val -78227"/>
              <a:gd name="adj2" fmla="val 29701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Smaller log record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en-US" sz="2000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Difficult to implement recovery</a:t>
            </a:r>
            <a:endParaRPr lang="en-US" altLang="en-US" sz="2000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469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Physiological Logging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1200"/>
            <a:ext cx="10515600" cy="437515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Hybrid approach where log records target a </a:t>
            </a:r>
            <a:r>
              <a:rPr lang="en-US" altLang="zh-CN" b="1" u="sng" dirty="0"/>
              <a:t>single page but do not specify organization of the page</a:t>
            </a:r>
            <a:r>
              <a:rPr lang="en-US" altLang="zh-CN" dirty="0"/>
              <a:t>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Identify tuples based on their slot number.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Allows DBMS to </a:t>
            </a:r>
            <a:r>
              <a:rPr lang="en-US" altLang="zh-CN" b="1" dirty="0">
                <a:solidFill>
                  <a:srgbClr val="0066FF"/>
                </a:solidFill>
              </a:rPr>
              <a:t>reorganize</a:t>
            </a:r>
            <a:r>
              <a:rPr lang="en-US" altLang="zh-CN" dirty="0"/>
              <a:t> pages after a log record has been written to disk.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This is the most popular approach.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D865-A5DD-46C9-B129-9BE61C46ED54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0241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Logging Schemes - Example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4EB0-DA6F-43BA-91A6-E95CD271F30F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AF5841-D0A1-4406-A482-7FA4A6388415}"/>
              </a:ext>
            </a:extLst>
          </p:cNvPr>
          <p:cNvSpPr/>
          <p:nvPr/>
        </p:nvSpPr>
        <p:spPr>
          <a:xfrm>
            <a:off x="2948607" y="1806905"/>
            <a:ext cx="6460435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UPDATE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foo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SET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=  XYZ 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id = 1;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8CA6045-E429-481C-97A6-1B14001E31A1}"/>
              </a:ext>
            </a:extLst>
          </p:cNvPr>
          <p:cNvGrpSpPr/>
          <p:nvPr/>
        </p:nvGrpSpPr>
        <p:grpSpPr>
          <a:xfrm>
            <a:off x="8153400" y="2586768"/>
            <a:ext cx="2163418" cy="3635993"/>
            <a:chOff x="9014792" y="2586767"/>
            <a:chExt cx="2163418" cy="3635993"/>
          </a:xfrm>
        </p:grpSpPr>
        <p:sp>
          <p:nvSpPr>
            <p:cNvPr id="11" name="矩形: 折角 10">
              <a:extLst>
                <a:ext uri="{FF2B5EF4-FFF2-40B4-BE49-F238E27FC236}">
                  <a16:creationId xmlns:a16="http://schemas.microsoft.com/office/drawing/2014/main" id="{F10BD7FC-ADFF-41B5-B579-171E56D34A22}"/>
                </a:ext>
              </a:extLst>
            </p:cNvPr>
            <p:cNvSpPr/>
            <p:nvPr/>
          </p:nvSpPr>
          <p:spPr>
            <a:xfrm>
              <a:off x="9014792" y="2956099"/>
              <a:ext cx="2163418" cy="3266661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 anchorCtr="0"/>
            <a:lstStyle/>
            <a:p>
              <a:r>
                <a:rPr lang="en-US" altLang="zh-CN" dirty="0">
                  <a:latin typeface="Inconsolata"/>
                </a:rPr>
                <a:t>&lt;T</a:t>
              </a:r>
              <a:r>
                <a:rPr lang="en-US" altLang="zh-CN" sz="1050" dirty="0">
                  <a:latin typeface="Inconsolata"/>
                </a:rPr>
                <a:t>1</a:t>
              </a:r>
              <a:r>
                <a:rPr lang="en-US" altLang="zh-CN" dirty="0">
                  <a:latin typeface="Inconsolata"/>
                </a:rPr>
                <a:t>,</a:t>
              </a:r>
            </a:p>
            <a:p>
              <a:r>
                <a:rPr lang="en-US" altLang="zh-CN" b="1" dirty="0">
                  <a:latin typeface="Inconsolata"/>
                </a:rPr>
                <a:t>  Table</a:t>
              </a:r>
              <a:r>
                <a:rPr lang="en-US" altLang="zh-CN" dirty="0">
                  <a:latin typeface="Inconsolata"/>
                </a:rPr>
                <a:t>=X,</a:t>
              </a:r>
            </a:p>
            <a:p>
              <a:r>
                <a:rPr lang="en-US" altLang="zh-CN" b="1" dirty="0">
                  <a:latin typeface="Inconsolata"/>
                </a:rPr>
                <a:t>  Page</a:t>
              </a:r>
              <a:r>
                <a:rPr lang="en-US" altLang="zh-CN" dirty="0">
                  <a:latin typeface="Inconsolata"/>
                </a:rPr>
                <a:t>=99,</a:t>
              </a:r>
            </a:p>
            <a:p>
              <a:r>
                <a:rPr lang="en-US" altLang="zh-CN" b="1" dirty="0">
                  <a:latin typeface="Inconsolata"/>
                </a:rPr>
                <a:t>  </a:t>
              </a:r>
              <a:r>
                <a:rPr lang="en-US" altLang="zh-CN" b="1" dirty="0">
                  <a:solidFill>
                    <a:srgbClr val="0066FF"/>
                  </a:solidFill>
                  <a:latin typeface="Inconsolata"/>
                </a:rPr>
                <a:t>Slot</a:t>
              </a:r>
              <a:r>
                <a:rPr lang="en-US" altLang="zh-CN" dirty="0">
                  <a:solidFill>
                    <a:srgbClr val="0066FF"/>
                  </a:solidFill>
                  <a:latin typeface="Inconsolata"/>
                </a:rPr>
                <a:t>=1,</a:t>
              </a:r>
            </a:p>
            <a:p>
              <a:r>
                <a:rPr lang="en-US" altLang="zh-CN" b="1" dirty="0">
                  <a:latin typeface="Inconsolata"/>
                </a:rPr>
                <a:t>  Before</a:t>
              </a:r>
              <a:r>
                <a:rPr lang="en-US" altLang="zh-CN" dirty="0">
                  <a:latin typeface="Inconsolata"/>
                </a:rPr>
                <a:t>=</a:t>
              </a:r>
              <a:r>
                <a:rPr lang="en-US" altLang="zh-CN" dirty="0">
                  <a:solidFill>
                    <a:srgbClr val="FF0000"/>
                  </a:solidFill>
                  <a:latin typeface="Inconsolata"/>
                </a:rPr>
                <a:t>ABC</a:t>
              </a:r>
              <a:r>
                <a:rPr lang="en-US" altLang="zh-CN" dirty="0">
                  <a:latin typeface="Inconsolata"/>
                </a:rPr>
                <a:t>,</a:t>
              </a:r>
            </a:p>
            <a:p>
              <a:r>
                <a:rPr lang="en-US" altLang="zh-CN" b="1" dirty="0">
                  <a:latin typeface="Inconsolata"/>
                </a:rPr>
                <a:t>  After</a:t>
              </a:r>
              <a:r>
                <a:rPr lang="en-US" altLang="zh-CN" dirty="0">
                  <a:latin typeface="Inconsolata"/>
                </a:rPr>
                <a:t>=</a:t>
              </a:r>
              <a:r>
                <a:rPr lang="en-US" altLang="zh-CN" dirty="0">
                  <a:solidFill>
                    <a:srgbClr val="FF0000"/>
                  </a:solidFill>
                  <a:latin typeface="Inconsolata"/>
                </a:rPr>
                <a:t>XYZ</a:t>
              </a:r>
              <a:r>
                <a:rPr lang="en-US" altLang="zh-CN" dirty="0">
                  <a:latin typeface="Inconsolata"/>
                </a:rPr>
                <a:t> &gt;</a:t>
              </a:r>
            </a:p>
            <a:p>
              <a:r>
                <a:rPr lang="en-US" altLang="zh-CN" dirty="0">
                  <a:latin typeface="Inconsolata"/>
                </a:rPr>
                <a:t>&lt;T</a:t>
              </a:r>
              <a:r>
                <a:rPr lang="en-US" altLang="zh-CN" sz="1050" dirty="0">
                  <a:latin typeface="Inconsolata"/>
                </a:rPr>
                <a:t>1</a:t>
              </a:r>
              <a:r>
                <a:rPr lang="en-US" altLang="zh-CN" dirty="0">
                  <a:latin typeface="Inconsolata"/>
                </a:rPr>
                <a:t>,</a:t>
              </a:r>
            </a:p>
            <a:p>
              <a:r>
                <a:rPr lang="en-US" altLang="zh-CN" b="1" dirty="0">
                  <a:latin typeface="Inconsolata"/>
                </a:rPr>
                <a:t>  Index</a:t>
              </a:r>
              <a:r>
                <a:rPr lang="en-US" altLang="zh-CN" dirty="0">
                  <a:latin typeface="Inconsolata"/>
                </a:rPr>
                <a:t>=X_PKEY,</a:t>
              </a:r>
            </a:p>
            <a:p>
              <a:r>
                <a:rPr lang="en-US" altLang="zh-CN" b="1" dirty="0">
                  <a:latin typeface="Inconsolata"/>
                </a:rPr>
                <a:t>  </a:t>
              </a:r>
              <a:r>
                <a:rPr lang="en-US" altLang="zh-CN" b="1" dirty="0" err="1">
                  <a:latin typeface="Inconsolata"/>
                </a:rPr>
                <a:t>IndexPage</a:t>
              </a:r>
              <a:r>
                <a:rPr lang="en-US" altLang="zh-CN" dirty="0">
                  <a:latin typeface="Inconsolata"/>
                </a:rPr>
                <a:t>=45,</a:t>
              </a:r>
            </a:p>
            <a:p>
              <a:r>
                <a:rPr lang="en-US" altLang="zh-CN" b="1" dirty="0">
                  <a:latin typeface="Inconsolata"/>
                </a:rPr>
                <a:t>  Key</a:t>
              </a:r>
              <a:r>
                <a:rPr lang="en-US" altLang="zh-CN" dirty="0">
                  <a:latin typeface="Inconsolata"/>
                </a:rPr>
                <a:t>=(1,Record1) &gt;</a:t>
              </a:r>
              <a:endParaRPr lang="zh-CN" altLang="en-US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E6426C6-4CA0-4A1B-B3FB-917577C830E3}"/>
                </a:ext>
              </a:extLst>
            </p:cNvPr>
            <p:cNvSpPr/>
            <p:nvPr/>
          </p:nvSpPr>
          <p:spPr>
            <a:xfrm>
              <a:off x="9245049" y="2586767"/>
              <a:ext cx="170290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latin typeface="Proxima Nova"/>
                </a:rPr>
                <a:t>Physiological</a:t>
              </a:r>
              <a:endParaRPr lang="zh-CN" altLang="en-US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83F920A-411A-4EB6-BBA0-051285A1EA52}"/>
              </a:ext>
            </a:extLst>
          </p:cNvPr>
          <p:cNvGrpSpPr/>
          <p:nvPr/>
        </p:nvGrpSpPr>
        <p:grpSpPr>
          <a:xfrm>
            <a:off x="2191578" y="2586767"/>
            <a:ext cx="2163418" cy="3635994"/>
            <a:chOff x="1089992" y="2586767"/>
            <a:chExt cx="2163418" cy="3635994"/>
          </a:xfrm>
        </p:grpSpPr>
        <p:sp>
          <p:nvSpPr>
            <p:cNvPr id="9" name="矩形: 折角 8">
              <a:extLst>
                <a:ext uri="{FF2B5EF4-FFF2-40B4-BE49-F238E27FC236}">
                  <a16:creationId xmlns:a16="http://schemas.microsoft.com/office/drawing/2014/main" id="{9EF26332-9E1E-4D22-BC69-02C35DF21E10}"/>
                </a:ext>
              </a:extLst>
            </p:cNvPr>
            <p:cNvSpPr/>
            <p:nvPr/>
          </p:nvSpPr>
          <p:spPr>
            <a:xfrm>
              <a:off x="1089992" y="2956100"/>
              <a:ext cx="2163418" cy="3266661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altLang="zh-CN" dirty="0">
                <a:latin typeface="Inconsolata"/>
              </a:endParaRPr>
            </a:p>
            <a:p>
              <a:r>
                <a:rPr lang="en-US" altLang="zh-CN" dirty="0">
                  <a:latin typeface="Inconsolata"/>
                </a:rPr>
                <a:t>&lt;T</a:t>
              </a:r>
              <a:r>
                <a:rPr lang="en-US" altLang="zh-CN" sz="1050" dirty="0">
                  <a:latin typeface="Inconsolata"/>
                </a:rPr>
                <a:t>1</a:t>
              </a:r>
              <a:r>
                <a:rPr lang="en-US" altLang="zh-CN" dirty="0">
                  <a:latin typeface="Inconsolata"/>
                </a:rPr>
                <a:t>,</a:t>
              </a:r>
            </a:p>
            <a:p>
              <a:r>
                <a:rPr lang="en-US" altLang="zh-CN" b="1" dirty="0">
                  <a:latin typeface="Inconsolata"/>
                </a:rPr>
                <a:t>  Table</a:t>
              </a:r>
              <a:r>
                <a:rPr lang="en-US" altLang="zh-CN" dirty="0">
                  <a:latin typeface="Inconsolata"/>
                </a:rPr>
                <a:t>=X,</a:t>
              </a:r>
            </a:p>
            <a:p>
              <a:r>
                <a:rPr lang="en-US" altLang="zh-CN" b="1" dirty="0">
                  <a:latin typeface="Inconsolata"/>
                </a:rPr>
                <a:t>  Page</a:t>
              </a:r>
              <a:r>
                <a:rPr lang="en-US" altLang="zh-CN" dirty="0">
                  <a:latin typeface="Inconsolata"/>
                </a:rPr>
                <a:t>=99,</a:t>
              </a:r>
            </a:p>
            <a:p>
              <a:r>
                <a:rPr lang="en-US" altLang="zh-CN" b="1" dirty="0">
                  <a:latin typeface="Inconsolata"/>
                </a:rPr>
                <a:t>  </a:t>
              </a:r>
              <a:r>
                <a:rPr lang="en-US" altLang="zh-CN" b="1" dirty="0">
                  <a:solidFill>
                    <a:srgbClr val="0066FF"/>
                  </a:solidFill>
                  <a:latin typeface="Inconsolata"/>
                </a:rPr>
                <a:t>Offset</a:t>
              </a:r>
              <a:r>
                <a:rPr lang="en-US" altLang="zh-CN" dirty="0">
                  <a:solidFill>
                    <a:srgbClr val="0066FF"/>
                  </a:solidFill>
                  <a:latin typeface="Inconsolata"/>
                </a:rPr>
                <a:t>=4,</a:t>
              </a:r>
            </a:p>
            <a:p>
              <a:r>
                <a:rPr lang="en-US" altLang="zh-CN" b="1" dirty="0">
                  <a:latin typeface="Inconsolata"/>
                </a:rPr>
                <a:t>  Before</a:t>
              </a:r>
              <a:r>
                <a:rPr lang="en-US" altLang="zh-CN" dirty="0">
                  <a:latin typeface="Inconsolata"/>
                </a:rPr>
                <a:t>=</a:t>
              </a:r>
              <a:r>
                <a:rPr lang="en-US" altLang="zh-CN" dirty="0">
                  <a:solidFill>
                    <a:srgbClr val="FF0000"/>
                  </a:solidFill>
                  <a:latin typeface="Inconsolata"/>
                </a:rPr>
                <a:t>ABC</a:t>
              </a:r>
              <a:r>
                <a:rPr lang="en-US" altLang="zh-CN" dirty="0">
                  <a:latin typeface="Inconsolata"/>
                </a:rPr>
                <a:t>,</a:t>
              </a:r>
            </a:p>
            <a:p>
              <a:r>
                <a:rPr lang="en-US" altLang="zh-CN" b="1" dirty="0">
                  <a:latin typeface="Inconsolata"/>
                </a:rPr>
                <a:t>  After</a:t>
              </a:r>
              <a:r>
                <a:rPr lang="en-US" altLang="zh-CN" dirty="0">
                  <a:latin typeface="Inconsolata"/>
                </a:rPr>
                <a:t>=</a:t>
              </a:r>
              <a:r>
                <a:rPr lang="en-US" altLang="zh-CN" dirty="0">
                  <a:solidFill>
                    <a:srgbClr val="FF0000"/>
                  </a:solidFill>
                  <a:latin typeface="Inconsolata"/>
                </a:rPr>
                <a:t>XYZ</a:t>
              </a:r>
              <a:r>
                <a:rPr lang="en-US" altLang="zh-CN" dirty="0">
                  <a:latin typeface="Inconsolata"/>
                </a:rPr>
                <a:t> &gt;</a:t>
              </a:r>
            </a:p>
            <a:p>
              <a:r>
                <a:rPr lang="en-US" altLang="zh-CN" dirty="0">
                  <a:latin typeface="Inconsolata"/>
                </a:rPr>
                <a:t>&lt;T</a:t>
              </a:r>
              <a:r>
                <a:rPr lang="en-US" altLang="zh-CN" sz="1050" dirty="0">
                  <a:latin typeface="Inconsolata"/>
                </a:rPr>
                <a:t>1</a:t>
              </a:r>
              <a:r>
                <a:rPr lang="en-US" altLang="zh-CN" dirty="0">
                  <a:latin typeface="Inconsolata"/>
                </a:rPr>
                <a:t>,</a:t>
              </a:r>
            </a:p>
            <a:p>
              <a:r>
                <a:rPr lang="en-US" altLang="zh-CN" b="1" dirty="0">
                  <a:latin typeface="Inconsolata"/>
                </a:rPr>
                <a:t>  Index</a:t>
              </a:r>
              <a:r>
                <a:rPr lang="en-US" altLang="zh-CN" dirty="0">
                  <a:latin typeface="Inconsolata"/>
                </a:rPr>
                <a:t>=X_PKEY,</a:t>
              </a:r>
            </a:p>
            <a:p>
              <a:r>
                <a:rPr lang="en-US" altLang="zh-CN" b="1" dirty="0">
                  <a:latin typeface="Inconsolata"/>
                </a:rPr>
                <a:t>  Page</a:t>
              </a:r>
              <a:r>
                <a:rPr lang="en-US" altLang="zh-CN" dirty="0">
                  <a:latin typeface="Inconsolata"/>
                </a:rPr>
                <a:t>=45,</a:t>
              </a:r>
            </a:p>
            <a:p>
              <a:r>
                <a:rPr lang="en-US" altLang="zh-CN" b="1" dirty="0">
                  <a:latin typeface="Inconsolata"/>
                </a:rPr>
                <a:t>  </a:t>
              </a:r>
              <a:r>
                <a:rPr lang="en-US" altLang="zh-CN" b="1" dirty="0">
                  <a:solidFill>
                    <a:srgbClr val="0066FF"/>
                  </a:solidFill>
                  <a:latin typeface="Inconsolata"/>
                </a:rPr>
                <a:t>Offset</a:t>
              </a:r>
              <a:r>
                <a:rPr lang="en-US" altLang="zh-CN" dirty="0">
                  <a:solidFill>
                    <a:srgbClr val="0066FF"/>
                  </a:solidFill>
                  <a:latin typeface="Inconsolata"/>
                </a:rPr>
                <a:t>=9,</a:t>
              </a:r>
            </a:p>
            <a:p>
              <a:r>
                <a:rPr lang="en-US" altLang="zh-CN" b="1" dirty="0">
                  <a:latin typeface="Inconsolata"/>
                </a:rPr>
                <a:t>  Key</a:t>
              </a:r>
              <a:r>
                <a:rPr lang="en-US" altLang="zh-CN" dirty="0">
                  <a:latin typeface="Inconsolata"/>
                </a:rPr>
                <a:t>=(1,Record1)&gt;</a:t>
              </a:r>
              <a:endParaRPr lang="zh-CN" altLang="en-US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5B8E75D-4243-4857-A583-53114A08DE3B}"/>
                </a:ext>
              </a:extLst>
            </p:cNvPr>
            <p:cNvSpPr/>
            <p:nvPr/>
          </p:nvSpPr>
          <p:spPr>
            <a:xfrm>
              <a:off x="1320249" y="2586767"/>
              <a:ext cx="170290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latin typeface="Proxima Nova"/>
                </a:rPr>
                <a:t>Physical</a:t>
              </a:r>
              <a:endParaRPr lang="zh-CN" altLang="en-US" dirty="0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78BA331-EC88-4341-A8DC-770EC02540A2}"/>
              </a:ext>
            </a:extLst>
          </p:cNvPr>
          <p:cNvGrpSpPr/>
          <p:nvPr/>
        </p:nvGrpSpPr>
        <p:grpSpPr>
          <a:xfrm>
            <a:off x="5097115" y="2586767"/>
            <a:ext cx="2163418" cy="3635994"/>
            <a:chOff x="5097115" y="2586767"/>
            <a:chExt cx="2163418" cy="3635994"/>
          </a:xfrm>
        </p:grpSpPr>
        <p:sp>
          <p:nvSpPr>
            <p:cNvPr id="10" name="矩形: 折角 9">
              <a:extLst>
                <a:ext uri="{FF2B5EF4-FFF2-40B4-BE49-F238E27FC236}">
                  <a16:creationId xmlns:a16="http://schemas.microsoft.com/office/drawing/2014/main" id="{218D77B3-D399-414E-9F26-E7101AE2D801}"/>
                </a:ext>
              </a:extLst>
            </p:cNvPr>
            <p:cNvSpPr/>
            <p:nvPr/>
          </p:nvSpPr>
          <p:spPr>
            <a:xfrm>
              <a:off x="5097115" y="2956100"/>
              <a:ext cx="2163418" cy="3266661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 anchorCtr="0"/>
            <a:lstStyle/>
            <a:p>
              <a:r>
                <a:rPr lang="en-US" altLang="zh-CN" dirty="0">
                  <a:latin typeface="Inconsolata"/>
                </a:rPr>
                <a:t>&lt;T</a:t>
              </a:r>
              <a:r>
                <a:rPr lang="en-US" altLang="zh-CN" sz="1050" dirty="0">
                  <a:latin typeface="Inconsolata"/>
                </a:rPr>
                <a:t>1</a:t>
              </a:r>
              <a:r>
                <a:rPr lang="en-US" altLang="zh-CN" dirty="0">
                  <a:latin typeface="Inconsolata"/>
                </a:rPr>
                <a:t>,</a:t>
              </a:r>
            </a:p>
            <a:p>
              <a:r>
                <a:rPr lang="en-US" altLang="zh-CN" b="1" dirty="0">
                  <a:latin typeface="Inconsolata"/>
                </a:rPr>
                <a:t>  Query</a:t>
              </a:r>
              <a:r>
                <a:rPr lang="en-US" altLang="zh-CN" dirty="0">
                  <a:latin typeface="Inconsolata"/>
                </a:rPr>
                <a:t>= "</a:t>
              </a:r>
              <a:r>
                <a:rPr lang="en-US" altLang="zh-CN" b="1" dirty="0">
                  <a:solidFill>
                    <a:srgbClr val="FF0000"/>
                  </a:solidFill>
                  <a:latin typeface="Inconsolata"/>
                </a:rPr>
                <a:t>UPDATE</a:t>
              </a:r>
              <a:br>
                <a:rPr lang="en-US" altLang="zh-CN" b="1" dirty="0">
                  <a:solidFill>
                    <a:srgbClr val="FF0000"/>
                  </a:solidFill>
                  <a:latin typeface="Inconsolata"/>
                </a:rPr>
              </a:br>
              <a:r>
                <a:rPr lang="en-US" altLang="zh-CN" b="1" dirty="0">
                  <a:solidFill>
                    <a:srgbClr val="FF0000"/>
                  </a:solidFill>
                  <a:latin typeface="Inconsolata"/>
                </a:rPr>
                <a:t>                    </a:t>
              </a:r>
              <a:r>
                <a:rPr lang="en-US" altLang="zh-CN" dirty="0">
                  <a:solidFill>
                    <a:srgbClr val="FF0000"/>
                  </a:solidFill>
                  <a:latin typeface="Inconsolata"/>
                </a:rPr>
                <a:t>foo </a:t>
              </a:r>
              <a:r>
                <a:rPr lang="en-US" altLang="zh-CN" b="1" dirty="0">
                  <a:solidFill>
                    <a:srgbClr val="FF0000"/>
                  </a:solidFill>
                  <a:latin typeface="Inconsolata"/>
                </a:rPr>
                <a:t>SET</a:t>
              </a:r>
              <a:br>
                <a:rPr lang="en-US" altLang="zh-CN" b="1" dirty="0">
                  <a:solidFill>
                    <a:srgbClr val="FF0000"/>
                  </a:solidFill>
                  <a:latin typeface="Inconsolata"/>
                </a:rPr>
              </a:br>
              <a:r>
                <a:rPr lang="en-US" altLang="zh-CN" b="1" dirty="0">
                  <a:solidFill>
                    <a:srgbClr val="FF0000"/>
                  </a:solidFill>
                  <a:latin typeface="Inconsolata"/>
                </a:rPr>
                <a:t>                  </a:t>
              </a:r>
              <a:r>
                <a:rPr lang="en-US" altLang="zh-CN" dirty="0" err="1">
                  <a:solidFill>
                    <a:srgbClr val="FF0000"/>
                  </a:solidFill>
                  <a:latin typeface="Inconsolata"/>
                </a:rPr>
                <a:t>val</a:t>
              </a:r>
              <a:r>
                <a:rPr lang="en-US" altLang="zh-CN" dirty="0">
                  <a:solidFill>
                    <a:srgbClr val="FF0000"/>
                  </a:solidFill>
                  <a:latin typeface="Inconsolata"/>
                </a:rPr>
                <a:t> = XYZ</a:t>
              </a:r>
              <a:br>
                <a:rPr lang="en-US" altLang="zh-CN" dirty="0">
                  <a:solidFill>
                    <a:srgbClr val="FF0000"/>
                  </a:solidFill>
                  <a:latin typeface="Inconsolata"/>
                </a:rPr>
              </a:br>
              <a:r>
                <a:rPr lang="en-US" altLang="zh-CN" dirty="0">
                  <a:solidFill>
                    <a:srgbClr val="FF0000"/>
                  </a:solidFill>
                  <a:latin typeface="Inconsolata"/>
                </a:rPr>
                <a:t>                    </a:t>
              </a:r>
              <a:r>
                <a:rPr lang="en-US" altLang="zh-CN" b="1" dirty="0">
                  <a:solidFill>
                    <a:srgbClr val="FF0000"/>
                  </a:solidFill>
                  <a:latin typeface="Inconsolata"/>
                </a:rPr>
                <a:t>WHERE</a:t>
              </a:r>
              <a:br>
                <a:rPr lang="en-US" altLang="zh-CN" b="1" dirty="0">
                  <a:solidFill>
                    <a:srgbClr val="FF0000"/>
                  </a:solidFill>
                  <a:latin typeface="Inconsolata"/>
                </a:rPr>
              </a:br>
              <a:r>
                <a:rPr lang="en-US" altLang="zh-CN" b="1" dirty="0">
                  <a:solidFill>
                    <a:srgbClr val="FF0000"/>
                  </a:solidFill>
                  <a:latin typeface="Inconsolata"/>
                </a:rPr>
                <a:t>                      </a:t>
              </a:r>
              <a:r>
                <a:rPr lang="en-US" altLang="zh-CN" dirty="0">
                  <a:solidFill>
                    <a:srgbClr val="FF0000"/>
                  </a:solidFill>
                  <a:latin typeface="Inconsolata"/>
                </a:rPr>
                <a:t>id = 1</a:t>
              </a:r>
              <a:r>
                <a:rPr lang="en-US" altLang="zh-CN" dirty="0">
                  <a:latin typeface="Inconsolata"/>
                </a:rPr>
                <a:t>"&gt;</a:t>
              </a:r>
              <a:endParaRPr lang="zh-CN" altLang="en-US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C665C32-3E69-4181-9A9E-3AABDF52A102}"/>
                </a:ext>
              </a:extLst>
            </p:cNvPr>
            <p:cNvSpPr/>
            <p:nvPr/>
          </p:nvSpPr>
          <p:spPr>
            <a:xfrm>
              <a:off x="5327372" y="2586767"/>
              <a:ext cx="170290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latin typeface="Proxima Nova"/>
                </a:rPr>
                <a:t>Logical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493529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Checkpoints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52755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 WAL will grow forever.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After a crash, the DBMS must </a:t>
            </a:r>
            <a:r>
              <a:rPr lang="en-US" altLang="zh-CN" b="1" u="sng" dirty="0"/>
              <a:t>replay the entire log</a:t>
            </a:r>
            <a:r>
              <a:rPr lang="en-US" altLang="zh-CN" dirty="0"/>
              <a:t>, which will take a </a:t>
            </a:r>
            <a:r>
              <a:rPr lang="en-US" altLang="zh-CN" b="1" dirty="0">
                <a:solidFill>
                  <a:srgbClr val="FF0000"/>
                </a:solidFill>
              </a:rPr>
              <a:t>long</a:t>
            </a:r>
            <a:r>
              <a:rPr lang="en-US" altLang="zh-CN" dirty="0"/>
              <a:t> time.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 DBMS periodically takes a </a:t>
            </a:r>
            <a:r>
              <a:rPr lang="en-US" altLang="zh-CN" b="1" dirty="0">
                <a:solidFill>
                  <a:srgbClr val="0066FF"/>
                </a:solidFill>
              </a:rPr>
              <a:t>checkpoint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Output onto stable storage </a:t>
            </a:r>
            <a:r>
              <a:rPr lang="en-US" altLang="zh-CN" b="1" u="sng" dirty="0"/>
              <a:t>all log records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Output to the disk </a:t>
            </a:r>
            <a:r>
              <a:rPr lang="en-US" altLang="zh-CN" b="1" u="sng" dirty="0"/>
              <a:t>all modified data blocks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Write a </a:t>
            </a:r>
            <a:r>
              <a:rPr lang="en-US" altLang="zh-CN" b="1" dirty="0"/>
              <a:t>&lt;CHECKPOINT&gt; </a:t>
            </a:r>
            <a:r>
              <a:rPr lang="en-US" altLang="zh-CN" dirty="0"/>
              <a:t>entry to the log and flush to stable storage.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3B233-E53D-4E0C-8551-642050A1D861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9953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Checkpoints - Recovery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7894"/>
            <a:ext cx="7610062" cy="44984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Any </a:t>
            </a:r>
            <a:r>
              <a:rPr lang="en-US" altLang="zh-CN" dirty="0" err="1"/>
              <a:t>txn</a:t>
            </a:r>
            <a:r>
              <a:rPr lang="en-US" altLang="zh-CN" dirty="0"/>
              <a:t> that committed before the checkpoint is ignored (</a:t>
            </a:r>
            <a:r>
              <a:rPr lang="en-US" altLang="zh-CN" b="1" dirty="0">
                <a:solidFill>
                  <a:srgbClr val="FF0000"/>
                </a:solidFill>
              </a:rPr>
              <a:t>T1</a:t>
            </a:r>
            <a:r>
              <a:rPr lang="en-US" altLang="zh-CN" dirty="0"/>
              <a:t>).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>
                <a:solidFill>
                  <a:srgbClr val="FF0000"/>
                </a:solidFill>
              </a:rPr>
              <a:t>T2</a:t>
            </a:r>
            <a:r>
              <a:rPr lang="en-US" altLang="zh-CN" dirty="0"/>
              <a:t> + </a:t>
            </a:r>
            <a:r>
              <a:rPr lang="en-US" altLang="zh-CN" b="1" dirty="0">
                <a:solidFill>
                  <a:srgbClr val="FF0000"/>
                </a:solidFill>
              </a:rPr>
              <a:t>T3</a:t>
            </a:r>
            <a:r>
              <a:rPr lang="en-US" altLang="zh-CN" dirty="0"/>
              <a:t> did not commit before the last checkpoint.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Need to </a:t>
            </a:r>
            <a:r>
              <a:rPr lang="en-US" altLang="zh-CN" b="1" u="sng" dirty="0"/>
              <a:t>redo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T2</a:t>
            </a:r>
            <a:r>
              <a:rPr lang="en-US" altLang="zh-CN" dirty="0"/>
              <a:t> because it committed after checkpoint.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Need to </a:t>
            </a:r>
            <a:r>
              <a:rPr lang="en-US" altLang="zh-CN" b="1" u="sng" dirty="0"/>
              <a:t>undo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T3</a:t>
            </a:r>
            <a:r>
              <a:rPr lang="en-US" altLang="zh-CN" dirty="0"/>
              <a:t> because it did not commit before the crash.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4F709-121A-4A33-BABC-AF6BDD293CAB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64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93BD7D7-FC83-4CEB-A6B9-F4BC1AD7500A}"/>
              </a:ext>
            </a:extLst>
          </p:cNvPr>
          <p:cNvGrpSpPr/>
          <p:nvPr/>
        </p:nvGrpSpPr>
        <p:grpSpPr>
          <a:xfrm>
            <a:off x="9015619" y="1857895"/>
            <a:ext cx="1933161" cy="4634980"/>
            <a:chOff x="1089992" y="2586767"/>
            <a:chExt cx="1933161" cy="4098227"/>
          </a:xfrm>
        </p:grpSpPr>
        <p:sp>
          <p:nvSpPr>
            <p:cNvPr id="8" name="矩形: 折角 7">
              <a:extLst>
                <a:ext uri="{FF2B5EF4-FFF2-40B4-BE49-F238E27FC236}">
                  <a16:creationId xmlns:a16="http://schemas.microsoft.com/office/drawing/2014/main" id="{E93083DA-3CB1-4C06-B680-2B7B95ADF56B}"/>
                </a:ext>
              </a:extLst>
            </p:cNvPr>
            <p:cNvSpPr/>
            <p:nvPr/>
          </p:nvSpPr>
          <p:spPr>
            <a:xfrm>
              <a:off x="1089992" y="2956100"/>
              <a:ext cx="1933161" cy="3728894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spcBef>
                  <a:spcPts val="600"/>
                </a:spcBef>
              </a:pPr>
              <a:r>
                <a:rPr lang="en-US" altLang="zh-CN" dirty="0">
                  <a:latin typeface="Inconsolata"/>
                </a:rPr>
                <a:t>&lt;T1 </a:t>
              </a:r>
              <a:r>
                <a:rPr lang="en-US" altLang="zh-CN" b="1" dirty="0">
                  <a:solidFill>
                    <a:srgbClr val="0066FF"/>
                  </a:solidFill>
                  <a:latin typeface="Inconsolata"/>
                </a:rPr>
                <a:t>BEGIN</a:t>
              </a:r>
              <a:r>
                <a:rPr lang="en-US" altLang="zh-CN" dirty="0">
                  <a:latin typeface="Inconsolata"/>
                </a:rPr>
                <a:t>&gt;</a:t>
              </a:r>
            </a:p>
            <a:p>
              <a:pPr>
                <a:spcBef>
                  <a:spcPts val="600"/>
                </a:spcBef>
              </a:pPr>
              <a:r>
                <a:rPr lang="en-US" altLang="zh-CN" dirty="0">
                  <a:latin typeface="Inconsolata"/>
                </a:rPr>
                <a:t>&lt;T1, A, 1, 2&gt;</a:t>
              </a:r>
            </a:p>
            <a:p>
              <a:pPr>
                <a:spcBef>
                  <a:spcPts val="600"/>
                </a:spcBef>
              </a:pPr>
              <a:r>
                <a:rPr lang="en-US" altLang="zh-CN" dirty="0">
                  <a:latin typeface="Inconsolata"/>
                </a:rPr>
                <a:t>&lt;T1 </a:t>
              </a:r>
              <a:r>
                <a:rPr lang="en-US" altLang="zh-CN" b="1" dirty="0">
                  <a:solidFill>
                    <a:srgbClr val="0066FF"/>
                  </a:solidFill>
                  <a:latin typeface="Inconsolata"/>
                </a:rPr>
                <a:t>COMMIT</a:t>
              </a:r>
              <a:r>
                <a:rPr lang="en-US" altLang="zh-CN" dirty="0">
                  <a:latin typeface="Inconsolata"/>
                </a:rPr>
                <a:t>&gt;</a:t>
              </a:r>
            </a:p>
            <a:p>
              <a:pPr>
                <a:spcBef>
                  <a:spcPts val="600"/>
                </a:spcBef>
              </a:pPr>
              <a:r>
                <a:rPr lang="en-US" altLang="zh-CN" dirty="0">
                  <a:latin typeface="Inconsolata"/>
                </a:rPr>
                <a:t>&lt;T2 </a:t>
              </a:r>
              <a:r>
                <a:rPr lang="en-US" altLang="zh-CN" b="1" dirty="0">
                  <a:solidFill>
                    <a:srgbClr val="0066FF"/>
                  </a:solidFill>
                  <a:latin typeface="Inconsolata"/>
                </a:rPr>
                <a:t>BEGIN</a:t>
              </a:r>
              <a:r>
                <a:rPr lang="en-US" altLang="zh-CN" dirty="0">
                  <a:latin typeface="Inconsolata"/>
                </a:rPr>
                <a:t>&gt;</a:t>
              </a:r>
            </a:p>
            <a:p>
              <a:pPr>
                <a:spcBef>
                  <a:spcPts val="600"/>
                </a:spcBef>
              </a:pPr>
              <a:r>
                <a:rPr lang="en-US" altLang="zh-CN" dirty="0">
                  <a:latin typeface="Inconsolata"/>
                </a:rPr>
                <a:t>&lt;T2, A, 2, 3&gt;</a:t>
              </a:r>
            </a:p>
            <a:p>
              <a:pPr>
                <a:spcBef>
                  <a:spcPts val="600"/>
                </a:spcBef>
              </a:pPr>
              <a:r>
                <a:rPr lang="en-US" altLang="zh-CN" dirty="0">
                  <a:latin typeface="Inconsolata"/>
                </a:rPr>
                <a:t>&lt;T3 </a:t>
              </a:r>
              <a:r>
                <a:rPr lang="en-US" altLang="zh-CN" b="1" dirty="0">
                  <a:solidFill>
                    <a:srgbClr val="0066FF"/>
                  </a:solidFill>
                  <a:latin typeface="Inconsolata"/>
                </a:rPr>
                <a:t>BEGIN</a:t>
              </a:r>
              <a:r>
                <a:rPr lang="en-US" altLang="zh-CN" dirty="0">
                  <a:latin typeface="Inconsolata"/>
                </a:rPr>
                <a:t>&gt;</a:t>
              </a:r>
            </a:p>
            <a:p>
              <a:pPr>
                <a:spcBef>
                  <a:spcPts val="600"/>
                </a:spcBef>
              </a:pPr>
              <a:r>
                <a:rPr lang="en-US" altLang="zh-CN" b="1" dirty="0">
                  <a:latin typeface="Inconsolata"/>
                </a:rPr>
                <a:t>&lt;</a:t>
              </a:r>
              <a:r>
                <a:rPr lang="en-US" altLang="zh-CN" b="1" dirty="0">
                  <a:solidFill>
                    <a:srgbClr val="FF0000"/>
                  </a:solidFill>
                  <a:latin typeface="Inconsolata"/>
                </a:rPr>
                <a:t>CHECKPOINT</a:t>
              </a:r>
              <a:r>
                <a:rPr lang="en-US" altLang="zh-CN" b="1" dirty="0">
                  <a:latin typeface="Inconsolata"/>
                </a:rPr>
                <a:t>&gt;</a:t>
              </a:r>
              <a:endParaRPr lang="en-US" altLang="zh-CN" dirty="0">
                <a:latin typeface="Inconsolata"/>
              </a:endParaRPr>
            </a:p>
            <a:p>
              <a:pPr>
                <a:spcBef>
                  <a:spcPts val="600"/>
                </a:spcBef>
              </a:pPr>
              <a:r>
                <a:rPr lang="en-US" altLang="zh-CN" dirty="0">
                  <a:latin typeface="Inconsolata"/>
                </a:rPr>
                <a:t>&lt;T2 </a:t>
              </a:r>
              <a:r>
                <a:rPr lang="en-US" altLang="zh-CN" b="1" dirty="0">
                  <a:solidFill>
                    <a:srgbClr val="0066FF"/>
                  </a:solidFill>
                  <a:latin typeface="Inconsolata"/>
                </a:rPr>
                <a:t>COMMIT</a:t>
              </a:r>
              <a:r>
                <a:rPr lang="en-US" altLang="zh-CN" dirty="0">
                  <a:latin typeface="Inconsolata"/>
                </a:rPr>
                <a:t>&gt;</a:t>
              </a:r>
            </a:p>
            <a:p>
              <a:pPr>
                <a:spcBef>
                  <a:spcPts val="600"/>
                </a:spcBef>
              </a:pPr>
              <a:r>
                <a:rPr lang="en-US" altLang="zh-CN" dirty="0">
                  <a:latin typeface="Inconsolata"/>
                </a:rPr>
                <a:t>&lt;T3, A, 3, 4&gt;</a:t>
              </a:r>
            </a:p>
            <a:p>
              <a:pPr>
                <a:spcBef>
                  <a:spcPts val="600"/>
                </a:spcBef>
              </a:pPr>
              <a:r>
                <a:rPr lang="en-US" altLang="zh-CN" b="1" dirty="0">
                  <a:latin typeface="Inconsolata"/>
                </a:rPr>
                <a:t>CRASH!</a:t>
              </a:r>
              <a:endParaRPr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FFDFE33-3E7C-4B2A-8C58-E1E4FE4B44D9}"/>
                </a:ext>
              </a:extLst>
            </p:cNvPr>
            <p:cNvSpPr/>
            <p:nvPr/>
          </p:nvSpPr>
          <p:spPr>
            <a:xfrm>
              <a:off x="1089992" y="2586767"/>
              <a:ext cx="1933161" cy="3265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latin typeface="Proxima Nova"/>
                </a:rPr>
                <a:t>WAL</a:t>
              </a:r>
              <a:endParaRPr lang="zh-CN" altLang="en-US" dirty="0"/>
            </a:p>
          </p:txBody>
        </p:sp>
      </p:grpSp>
      <p:sp>
        <p:nvSpPr>
          <p:cNvPr id="10" name="箭头: 右 9">
            <a:extLst>
              <a:ext uri="{FF2B5EF4-FFF2-40B4-BE49-F238E27FC236}">
                <a16:creationId xmlns:a16="http://schemas.microsoft.com/office/drawing/2014/main" id="{C88FF437-B22D-4074-A395-59150818B88E}"/>
              </a:ext>
            </a:extLst>
          </p:cNvPr>
          <p:cNvSpPr/>
          <p:nvPr/>
        </p:nvSpPr>
        <p:spPr>
          <a:xfrm rot="10800000">
            <a:off x="10948780" y="2998305"/>
            <a:ext cx="388628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7743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Checkpoints - Challenges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The DBNS must </a:t>
            </a:r>
            <a:r>
              <a:rPr lang="en-US" altLang="zh-CN" b="1" dirty="0">
                <a:solidFill>
                  <a:srgbClr val="FF0000"/>
                </a:solidFill>
              </a:rPr>
              <a:t>stall</a:t>
            </a:r>
            <a:r>
              <a:rPr lang="en-US" altLang="zh-CN" dirty="0"/>
              <a:t> </a:t>
            </a:r>
            <a:r>
              <a:rPr lang="en-US" altLang="zh-CN" dirty="0" err="1"/>
              <a:t>txns</a:t>
            </a:r>
            <a:r>
              <a:rPr lang="en-US" altLang="zh-CN" dirty="0"/>
              <a:t> when it takes a checkpoint to ensure a </a:t>
            </a:r>
            <a:r>
              <a:rPr lang="en-US" altLang="zh-CN" b="1" dirty="0">
                <a:solidFill>
                  <a:srgbClr val="0066FF"/>
                </a:solidFill>
              </a:rPr>
              <a:t>consistent</a:t>
            </a:r>
            <a:r>
              <a:rPr lang="en-US" altLang="zh-CN" dirty="0"/>
              <a:t> snapshot.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b="1" dirty="0">
                <a:solidFill>
                  <a:srgbClr val="FF0000"/>
                </a:solidFill>
              </a:rPr>
              <a:t>Scanning</a:t>
            </a:r>
            <a:r>
              <a:rPr lang="en-US" altLang="zh-CN" dirty="0"/>
              <a:t> the log to find uncommitted </a:t>
            </a:r>
            <a:r>
              <a:rPr lang="en-US" altLang="zh-CN" dirty="0" err="1"/>
              <a:t>txns</a:t>
            </a:r>
            <a:r>
              <a:rPr lang="en-US" altLang="zh-CN" dirty="0"/>
              <a:t> can take a long time.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Not obvious how </a:t>
            </a:r>
            <a:r>
              <a:rPr lang="en-US" altLang="zh-CN" b="1" dirty="0">
                <a:solidFill>
                  <a:srgbClr val="FF0000"/>
                </a:solidFill>
              </a:rPr>
              <a:t>often</a:t>
            </a:r>
            <a:r>
              <a:rPr lang="en-US" altLang="zh-CN" dirty="0"/>
              <a:t> the DBMS should take a checkpoint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Checkpointing too often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en-US" altLang="zh-CN" dirty="0"/>
              <a:t>runtime performance to degrade.</a:t>
            </a:r>
          </a:p>
          <a:p>
            <a:pPr lvl="2"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System spends too much time flushing buffers.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But waiting a long time is just as bad</a:t>
            </a:r>
          </a:p>
          <a:p>
            <a:pPr lvl="2"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The checkpoint will be large and slow.</a:t>
            </a:r>
          </a:p>
          <a:p>
            <a:pPr lvl="2"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Makes recovery time much longer.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33705-7EF0-465B-95CF-0F93FCB0E697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Logging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806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11194</TotalTime>
  <Words>4618</Words>
  <Application>Microsoft Macintosh PowerPoint</Application>
  <PresentationFormat>Widescreen</PresentationFormat>
  <Paragraphs>1398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2" baseType="lpstr">
      <vt:lpstr>Crimson Text</vt:lpstr>
      <vt:lpstr>等线</vt:lpstr>
      <vt:lpstr>Arial</vt:lpstr>
      <vt:lpstr>Inconsolata</vt:lpstr>
      <vt:lpstr>Proxima Nova</vt:lpstr>
      <vt:lpstr>Wingdings</vt:lpstr>
      <vt:lpstr>Office 主题​​</vt:lpstr>
      <vt:lpstr>Database Logging</vt:lpstr>
      <vt:lpstr>Motivation</vt:lpstr>
      <vt:lpstr>Motivation</vt:lpstr>
      <vt:lpstr>Motivation</vt:lpstr>
      <vt:lpstr>Motivation</vt:lpstr>
      <vt:lpstr>Crash Recovery Algorithms</vt:lpstr>
      <vt:lpstr>Failure Classification</vt:lpstr>
      <vt:lpstr>Undo vs. Redo</vt:lpstr>
      <vt:lpstr>Buffer Pool</vt:lpstr>
      <vt:lpstr>Buffer Pool</vt:lpstr>
      <vt:lpstr>Buffer Pool</vt:lpstr>
      <vt:lpstr>Buffer Pool</vt:lpstr>
      <vt:lpstr>Buffer Pool</vt:lpstr>
      <vt:lpstr>Buffer Pool</vt:lpstr>
      <vt:lpstr>Buffer Pool</vt:lpstr>
      <vt:lpstr>Buffer Pool</vt:lpstr>
      <vt:lpstr>Buffer Management Policy</vt:lpstr>
      <vt:lpstr>No-Steal + Force</vt:lpstr>
      <vt:lpstr>No-Steal + Force</vt:lpstr>
      <vt:lpstr>No-Steal + Force</vt:lpstr>
      <vt:lpstr>No-Steal + Force</vt:lpstr>
      <vt:lpstr>No-Steal + Force</vt:lpstr>
      <vt:lpstr>No-Steal + Force</vt:lpstr>
      <vt:lpstr>No-Steal + Force</vt:lpstr>
      <vt:lpstr>Shadow Paging</vt:lpstr>
      <vt:lpstr>Shadow Paging</vt:lpstr>
      <vt:lpstr>Shadow Paging</vt:lpstr>
      <vt:lpstr>Shadow Paging</vt:lpstr>
      <vt:lpstr>Shadow Paging</vt:lpstr>
      <vt:lpstr>Shadow Paging</vt:lpstr>
      <vt:lpstr>Shadow Paging</vt:lpstr>
      <vt:lpstr>Shadow Paging</vt:lpstr>
      <vt:lpstr>SQLite ( Pre-2010 )</vt:lpstr>
      <vt:lpstr>SQLite ( Pre-2010 )</vt:lpstr>
      <vt:lpstr>SQLite ( Pre-2010 )</vt:lpstr>
      <vt:lpstr>SQLite ( Pre-2010 )</vt:lpstr>
      <vt:lpstr>SQLite ( Pre-2010 )</vt:lpstr>
      <vt:lpstr>SQLite ( Pre-2010 )</vt:lpstr>
      <vt:lpstr>SQLite ( Pre-2010 )</vt:lpstr>
      <vt:lpstr>SQLite ( Pre-2010 )</vt:lpstr>
      <vt:lpstr>Log-Based Recovery</vt:lpstr>
      <vt:lpstr>Log Records</vt:lpstr>
      <vt:lpstr>WAL Example</vt:lpstr>
      <vt:lpstr>WAL Example</vt:lpstr>
      <vt:lpstr>WAL Example</vt:lpstr>
      <vt:lpstr>WAL Example</vt:lpstr>
      <vt:lpstr>WAL Example</vt:lpstr>
      <vt:lpstr>WAL Example</vt:lpstr>
      <vt:lpstr>WAL Example – Group Commit</vt:lpstr>
      <vt:lpstr>WAL Example – Group Commit</vt:lpstr>
      <vt:lpstr>WAL Example – Group Commit</vt:lpstr>
      <vt:lpstr>WAL Example – Group Commit</vt:lpstr>
      <vt:lpstr>WAL Example – Group Commit</vt:lpstr>
      <vt:lpstr>WAL Example – Group Commit</vt:lpstr>
      <vt:lpstr>WAL Example – Group Commit</vt:lpstr>
      <vt:lpstr>WAL Example – Group Commit</vt:lpstr>
      <vt:lpstr>WAL Example – Group Commit</vt:lpstr>
      <vt:lpstr>WAL - Implementation</vt:lpstr>
      <vt:lpstr>Buffer Pool Policies</vt:lpstr>
      <vt:lpstr>Logging Schemes</vt:lpstr>
      <vt:lpstr>Physiological Logging</vt:lpstr>
      <vt:lpstr>Logging Schemes - Example</vt:lpstr>
      <vt:lpstr>Checkpoints</vt:lpstr>
      <vt:lpstr>Checkpoints - Recovery</vt:lpstr>
      <vt:lpstr>Checkpoints - Challenges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Xueqing Gong</dc:creator>
  <cp:lastModifiedBy>Junjie Yao</cp:lastModifiedBy>
  <cp:revision>432</cp:revision>
  <dcterms:created xsi:type="dcterms:W3CDTF">2019-10-29T09:57:08Z</dcterms:created>
  <dcterms:modified xsi:type="dcterms:W3CDTF">2024-06-12T14:17:15Z</dcterms:modified>
</cp:coreProperties>
</file>