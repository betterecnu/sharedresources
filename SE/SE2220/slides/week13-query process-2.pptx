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67"/>
  </p:notesMasterIdLst>
  <p:sldIdLst>
    <p:sldId id="256" r:id="rId2"/>
    <p:sldId id="534" r:id="rId3"/>
    <p:sldId id="282" r:id="rId4"/>
    <p:sldId id="535" r:id="rId5"/>
    <p:sldId id="283" r:id="rId6"/>
    <p:sldId id="544" r:id="rId7"/>
    <p:sldId id="545" r:id="rId8"/>
    <p:sldId id="546" r:id="rId9"/>
    <p:sldId id="547" r:id="rId10"/>
    <p:sldId id="284" r:id="rId11"/>
    <p:sldId id="536" r:id="rId12"/>
    <p:sldId id="537" r:id="rId13"/>
    <p:sldId id="538" r:id="rId14"/>
    <p:sldId id="539" r:id="rId15"/>
    <p:sldId id="548" r:id="rId16"/>
    <p:sldId id="549" r:id="rId17"/>
    <p:sldId id="550" r:id="rId18"/>
    <p:sldId id="551" r:id="rId19"/>
    <p:sldId id="552" r:id="rId20"/>
    <p:sldId id="553" r:id="rId21"/>
    <p:sldId id="554" r:id="rId22"/>
    <p:sldId id="540" r:id="rId23"/>
    <p:sldId id="555" r:id="rId24"/>
    <p:sldId id="556" r:id="rId25"/>
    <p:sldId id="557" r:id="rId26"/>
    <p:sldId id="541" r:id="rId27"/>
    <p:sldId id="559" r:id="rId28"/>
    <p:sldId id="560" r:id="rId29"/>
    <p:sldId id="561" r:id="rId30"/>
    <p:sldId id="562" r:id="rId31"/>
    <p:sldId id="563" r:id="rId32"/>
    <p:sldId id="564" r:id="rId33"/>
    <p:sldId id="565" r:id="rId34"/>
    <p:sldId id="566" r:id="rId35"/>
    <p:sldId id="567" r:id="rId36"/>
    <p:sldId id="568" r:id="rId37"/>
    <p:sldId id="569" r:id="rId38"/>
    <p:sldId id="570" r:id="rId39"/>
    <p:sldId id="571" r:id="rId40"/>
    <p:sldId id="572" r:id="rId41"/>
    <p:sldId id="573" r:id="rId42"/>
    <p:sldId id="542" r:id="rId43"/>
    <p:sldId id="574" r:id="rId44"/>
    <p:sldId id="543" r:id="rId45"/>
    <p:sldId id="575" r:id="rId46"/>
    <p:sldId id="578" r:id="rId47"/>
    <p:sldId id="579" r:id="rId48"/>
    <p:sldId id="576" r:id="rId49"/>
    <p:sldId id="577" r:id="rId50"/>
    <p:sldId id="586" r:id="rId51"/>
    <p:sldId id="580" r:id="rId52"/>
    <p:sldId id="581" r:id="rId53"/>
    <p:sldId id="587" r:id="rId54"/>
    <p:sldId id="588" r:id="rId55"/>
    <p:sldId id="589" r:id="rId56"/>
    <p:sldId id="590" r:id="rId57"/>
    <p:sldId id="591" r:id="rId58"/>
    <p:sldId id="592" r:id="rId59"/>
    <p:sldId id="593" r:id="rId60"/>
    <p:sldId id="594" r:id="rId61"/>
    <p:sldId id="582" r:id="rId62"/>
    <p:sldId id="617" r:id="rId63"/>
    <p:sldId id="583" r:id="rId64"/>
    <p:sldId id="584" r:id="rId65"/>
    <p:sldId id="585" r:id="rId6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0755" autoAdjust="0"/>
  </p:normalViewPr>
  <p:slideViewPr>
    <p:cSldViewPr snapToGrid="0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C5D9-4709-438C-8FD3-A69FD404E870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2746-5C5D-4332-BA76-32FA6A10326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90E2-0E63-4E5E-8364-83C00F8F5A3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69FA3-FE23-4374-BC78-477BB616A77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9C7DB-7151-4772-A637-798D7A62B7F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35AD-0766-4934-82AE-3802DAFBDA4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D1AF5-14FB-4E50-9986-587293735F3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4FFC7-110D-4722-B74B-BA9C620EAFD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C3DE-790C-4687-AA71-84B1B999AE5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7A5C-BCEE-41D8-B87C-39EE4EDAAEB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B777B-8AB0-4A2E-8BA6-DE6C1534EA1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C777347-20C2-4DE6-BCEE-710B48E14F2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Query Processing II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/>
              <a:t>SEI.ECNU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DDF7F2B-8943-470C-994B-58DD1A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Algorithms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0460AFE-FB31-4327-A473-5E998AFE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BF72D-6A08-4238-B2F8-9B3223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3B063C-4B39-4538-BA2B-118EBD60286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88591-AAA9-46A6-A530-CC5D535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II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4B3ED-5C5E-4AA4-9CB4-44AEEA48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1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We will focus on performing </a:t>
            </a:r>
            <a:r>
              <a:rPr lang="en-US" altLang="zh-CN" b="1" dirty="0"/>
              <a:t>binary</a:t>
            </a:r>
            <a:r>
              <a:rPr lang="en-US" altLang="zh-CN" dirty="0"/>
              <a:t> joins (two tables) using </a:t>
            </a:r>
            <a:r>
              <a:rPr lang="en-US" altLang="zh-CN" b="1" dirty="0">
                <a:solidFill>
                  <a:srgbClr val="00B050"/>
                </a:solidFill>
              </a:rPr>
              <a:t>inner equijoin </a:t>
            </a:r>
            <a:r>
              <a:rPr lang="en-US" altLang="zh-CN" dirty="0"/>
              <a:t>algorithms.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These algorithms can be tweaked to support other joins.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Multi-way joins exist only in research literature.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In general, we want the </a:t>
            </a:r>
            <a:r>
              <a:rPr lang="en-US" altLang="zh-CN" b="1" dirty="0">
                <a:solidFill>
                  <a:srgbClr val="00B050"/>
                </a:solidFill>
              </a:rPr>
              <a:t>smaller</a:t>
            </a:r>
            <a:r>
              <a:rPr lang="en-US" altLang="zh-CN" dirty="0"/>
              <a:t> table to always be the </a:t>
            </a:r>
            <a:r>
              <a:rPr lang="en-US" altLang="zh-CN" b="1" dirty="0">
                <a:solidFill>
                  <a:srgbClr val="00B050"/>
                </a:solidFill>
              </a:rPr>
              <a:t>left</a:t>
            </a:r>
            <a:r>
              <a:rPr lang="en-US" altLang="zh-CN" dirty="0"/>
              <a:t> table ("outer table") in the query plan.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7A4F1-6C87-4017-8940-7B382515771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30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Operators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343569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Decision #1</a:t>
            </a:r>
            <a:r>
              <a:rPr lang="en-US" altLang="zh-CN" dirty="0"/>
              <a:t>: Output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What data does the join operator emit to its parent operator in the query plan tree?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Decision #2</a:t>
            </a:r>
            <a:r>
              <a:rPr lang="en-US" altLang="zh-CN" dirty="0"/>
              <a:t>: Cost Analysis Criteria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How do we determine whether one join algorithm is better than another?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253F-6DFD-4C5D-8F66-77C5CBA414F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84CA57F-3AA8-4809-8061-A0A9C21C22FB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361DC75-664E-40CC-BAF8-8D7F5C3C07B7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3D4F7EB-8E93-4069-A650-E5EF0C79C967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DDE2F3-6E20-4A48-833B-5DBB87B00D8A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0E84E42-314D-4E3B-B375-59F1A5A5F344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43D713-8990-45AF-8A9B-64D590F324DD}"/>
              </a:ext>
            </a:extLst>
          </p:cNvPr>
          <p:cNvCxnSpPr>
            <a:cxnSpLocks/>
            <a:stCxn id="12" idx="0"/>
            <a:endCxn id="9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9B6FF7-EBE8-470C-8676-B7EED6C2A604}"/>
              </a:ext>
            </a:extLst>
          </p:cNvPr>
          <p:cNvCxnSpPr>
            <a:cxnSpLocks/>
            <a:stCxn id="11" idx="0"/>
            <a:endCxn id="10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4510131-B378-4CA7-AD87-A5E9CF93C686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6EE8E9-7288-4FE4-B014-7D2EE41F4802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DA2AD0A0-9B9D-48A4-BE6A-DEDFA6B1D173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0B646D-FFE0-4B3F-BB6C-7A86543FD05F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3018E0-359F-4783-809F-242C8D1AAA72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84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Output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56515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For tuple </a:t>
            </a:r>
            <a:r>
              <a:rPr lang="en-US" altLang="zh-CN" b="1" dirty="0">
                <a:solidFill>
                  <a:srgbClr val="FF0000"/>
                </a:solidFill>
              </a:rPr>
              <a:t>r ∈ R </a:t>
            </a:r>
            <a:r>
              <a:rPr lang="en-US" altLang="zh-CN" dirty="0"/>
              <a:t>and tuple </a:t>
            </a:r>
            <a:r>
              <a:rPr lang="en-US" altLang="zh-CN" b="1" dirty="0">
                <a:solidFill>
                  <a:srgbClr val="FF0000"/>
                </a:solidFill>
              </a:rPr>
              <a:t>s ∈ S </a:t>
            </a:r>
            <a:r>
              <a:rPr lang="en-US" altLang="zh-CN" dirty="0"/>
              <a:t>that match on join attributes, concatenate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 and 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 together into a new tuple.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Output contents can vary: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Depends on processing model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Depends on storage model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Depends on data requirements in query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B0FF-A7E1-4638-A62D-DE683B72A13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84CA57F-3AA8-4809-8061-A0A9C21C22FB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361DC75-664E-40CC-BAF8-8D7F5C3C07B7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3D4F7EB-8E93-4069-A650-E5EF0C79C967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DDE2F3-6E20-4A48-833B-5DBB87B00D8A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0E84E42-314D-4E3B-B375-59F1A5A5F344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43D713-8990-45AF-8A9B-64D590F324DD}"/>
              </a:ext>
            </a:extLst>
          </p:cNvPr>
          <p:cNvCxnSpPr>
            <a:cxnSpLocks/>
            <a:stCxn id="12" idx="0"/>
            <a:endCxn id="9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9B6FF7-EBE8-470C-8676-B7EED6C2A604}"/>
              </a:ext>
            </a:extLst>
          </p:cNvPr>
          <p:cNvCxnSpPr>
            <a:cxnSpLocks/>
            <a:stCxn id="11" idx="0"/>
            <a:endCxn id="10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4510131-B378-4CA7-AD87-A5E9CF93C686}"/>
              </a:ext>
            </a:extLst>
          </p:cNvPr>
          <p:cNvCxnSpPr>
            <a:cxnSpLocks/>
            <a:stCxn id="10" idx="1"/>
            <a:endCxn id="9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6EE8E9-7288-4FE4-B014-7D2EE41F4802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DA2AD0A0-9B9D-48A4-BE6A-DEDFA6B1D173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0B646D-FFE0-4B3F-BB6C-7A86543FD05F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3018E0-359F-4783-809F-242C8D1AAA72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605E113-341E-465F-BC12-88391093B2D2}"/>
              </a:ext>
            </a:extLst>
          </p:cNvPr>
          <p:cNvSpPr/>
          <p:nvPr/>
        </p:nvSpPr>
        <p:spPr>
          <a:xfrm>
            <a:off x="7734454" y="2273784"/>
            <a:ext cx="3516642" cy="268701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498E013-4DDE-4640-97E6-989827A35D29}"/>
              </a:ext>
            </a:extLst>
          </p:cNvPr>
          <p:cNvSpPr/>
          <p:nvPr/>
        </p:nvSpPr>
        <p:spPr>
          <a:xfrm>
            <a:off x="8530335" y="3975392"/>
            <a:ext cx="2230428" cy="73168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57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Output: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56515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Early Materialization: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Copy the values for the attributes in outer and inner tuples into a new output tuple.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4ED8-39BD-4296-8DD2-2A4646754FCE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79C7E924-20A0-4390-A4BC-B4049578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07036"/>
              </p:ext>
            </p:extLst>
          </p:nvPr>
        </p:nvGraphicFramePr>
        <p:xfrm>
          <a:off x="5188778" y="3700153"/>
          <a:ext cx="181444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722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90722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9B279CD6-578C-414F-8D83-F7D5FD0C6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405972"/>
              </p:ext>
            </p:extLst>
          </p:nvPr>
        </p:nvGraphicFramePr>
        <p:xfrm>
          <a:off x="7961244" y="3593873"/>
          <a:ext cx="352065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CFC09104-D373-4559-B515-58C3067EB8DB}"/>
              </a:ext>
            </a:extLst>
          </p:cNvPr>
          <p:cNvSpPr/>
          <p:nvPr/>
        </p:nvSpPr>
        <p:spPr>
          <a:xfrm>
            <a:off x="6879536" y="3609328"/>
            <a:ext cx="10303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5400" dirty="0">
                <a:latin typeface="Cambria Math" panose="02040503050406030204" pitchFamily="18" charset="0"/>
              </a:rPr>
              <a:t>⨝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A4C12E7-3BF7-4D20-BF29-A48AE6E5E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28265"/>
              </p:ext>
            </p:extLst>
          </p:nvPr>
        </p:nvGraphicFramePr>
        <p:xfrm>
          <a:off x="5390323" y="5219212"/>
          <a:ext cx="5864085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13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1372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763268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1045654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2363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26" name="右大括号 25">
            <a:extLst>
              <a:ext uri="{FF2B5EF4-FFF2-40B4-BE49-F238E27FC236}">
                <a16:creationId xmlns:a16="http://schemas.microsoft.com/office/drawing/2014/main" id="{BA363330-6E74-4A58-B5E5-53CEE5DD5335}"/>
              </a:ext>
            </a:extLst>
          </p:cNvPr>
          <p:cNvSpPr/>
          <p:nvPr/>
        </p:nvSpPr>
        <p:spPr>
          <a:xfrm rot="5400000">
            <a:off x="8179015" y="1742587"/>
            <a:ext cx="312653" cy="6293127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35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Output: Data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56515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Early Materialization: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Copy the values for the attributes in outer and inner tuples into a new output tuple.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85328-0DA9-4217-9DE0-940915F7154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A4C12E7-3BF7-4D20-BF29-A48AE6E5E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39857"/>
              </p:ext>
            </p:extLst>
          </p:nvPr>
        </p:nvGraphicFramePr>
        <p:xfrm>
          <a:off x="2746515" y="3691394"/>
          <a:ext cx="5864085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13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1372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763268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1045654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2363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13" name="椭圆 12">
            <a:extLst>
              <a:ext uri="{FF2B5EF4-FFF2-40B4-BE49-F238E27FC236}">
                <a16:creationId xmlns:a16="http://schemas.microsoft.com/office/drawing/2014/main" id="{5BC38189-408F-475D-ADA6-32C8EF4DDC65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320DB35-7E0C-4BBD-9BC9-EE44E66D816C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3B6B9C5-15E4-48B0-93A7-3FCCF55454FB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5731A37-683A-47A6-8171-B2819B083030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EBB4512-40FB-433D-B07E-C78FE17E2B42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6D88C99-0C52-4701-B0D7-8C0266C3048B}"/>
              </a:ext>
            </a:extLst>
          </p:cNvPr>
          <p:cNvCxnSpPr>
            <a:cxnSpLocks/>
            <a:stCxn id="17" idx="0"/>
            <a:endCxn id="14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ECA715F-C58F-4C7D-8102-B07BE75C2850}"/>
              </a:ext>
            </a:extLst>
          </p:cNvPr>
          <p:cNvCxnSpPr>
            <a:cxnSpLocks/>
            <a:stCxn id="16" idx="0"/>
            <a:endCxn id="15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19863E7-EDDF-44F9-B103-4D77A867E60A}"/>
              </a:ext>
            </a:extLst>
          </p:cNvPr>
          <p:cNvCxnSpPr>
            <a:cxnSpLocks/>
            <a:stCxn id="15" idx="1"/>
            <a:endCxn id="14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D114D40-DAED-4C41-8E88-8E328CCB72DE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A3D93C78-3C78-4393-A7B2-1677BD3D292C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73E342-1E2D-49FD-A93A-359DA458C34E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BFD205-ACBF-4008-9914-69689E7621AF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016C08-9BAA-40C9-BC2F-22DF5D6D9F6B}"/>
              </a:ext>
            </a:extLst>
          </p:cNvPr>
          <p:cNvSpPr/>
          <p:nvPr/>
        </p:nvSpPr>
        <p:spPr>
          <a:xfrm>
            <a:off x="776269" y="5242730"/>
            <a:ext cx="6524661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Subsequent operators in the query plan never need to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back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the base tables to get more data.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83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Output: Record IDs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56515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Late Materialization: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Only copy the joins keys along with the record ids of the matching tuples.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C1C2F-5803-4F45-8709-5A0ACD9DA3B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79C7E924-20A0-4390-A4BC-B40495782E86}"/>
              </a:ext>
            </a:extLst>
          </p:cNvPr>
          <p:cNvGraphicFramePr>
            <a:graphicFrameLocks noGrp="1"/>
          </p:cNvGraphicFramePr>
          <p:nvPr/>
        </p:nvGraphicFramePr>
        <p:xfrm>
          <a:off x="5188778" y="3700153"/>
          <a:ext cx="1814444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722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90722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abc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9B279CD6-578C-414F-8D83-F7D5FD0C6A7F}"/>
              </a:ext>
            </a:extLst>
          </p:cNvPr>
          <p:cNvGraphicFramePr>
            <a:graphicFrameLocks noGrp="1"/>
          </p:cNvGraphicFramePr>
          <p:nvPr/>
        </p:nvGraphicFramePr>
        <p:xfrm>
          <a:off x="7961244" y="3593873"/>
          <a:ext cx="352065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CFC09104-D373-4559-B515-58C3067EB8DB}"/>
              </a:ext>
            </a:extLst>
          </p:cNvPr>
          <p:cNvSpPr/>
          <p:nvPr/>
        </p:nvSpPr>
        <p:spPr>
          <a:xfrm>
            <a:off x="6879536" y="3609328"/>
            <a:ext cx="10303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5400" dirty="0">
                <a:latin typeface="Cambria Math" panose="02040503050406030204" pitchFamily="18" charset="0"/>
              </a:rPr>
              <a:t>⨝</a:t>
            </a:r>
            <a:endParaRPr lang="zh-CN" altLang="en-US" dirty="0"/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A4C12E7-3BF7-4D20-BF29-A48AE6E5E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736615"/>
              </p:ext>
            </p:extLst>
          </p:nvPr>
        </p:nvGraphicFramePr>
        <p:xfrm>
          <a:off x="6410740" y="5270261"/>
          <a:ext cx="3627782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13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1372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763268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1045654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R.RID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S.RID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R.###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S.###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R.###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S.###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26" name="右大括号 25">
            <a:extLst>
              <a:ext uri="{FF2B5EF4-FFF2-40B4-BE49-F238E27FC236}">
                <a16:creationId xmlns:a16="http://schemas.microsoft.com/office/drawing/2014/main" id="{BA363330-6E74-4A58-B5E5-53CEE5DD5335}"/>
              </a:ext>
            </a:extLst>
          </p:cNvPr>
          <p:cNvSpPr/>
          <p:nvPr/>
        </p:nvSpPr>
        <p:spPr>
          <a:xfrm rot="5400000">
            <a:off x="8179015" y="1742587"/>
            <a:ext cx="312653" cy="6293127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37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Operator Output: Record IDs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556515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Late Materialization: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Only copy the joins keys along with the record ids of the matching tuples.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7FA2-FE95-465E-8FD3-AEECF077E62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211ECC-8B68-4894-86A9-B60E78072A23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A4C12E7-3BF7-4D20-BF29-A48AE6E5E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93639"/>
              </p:ext>
            </p:extLst>
          </p:nvPr>
        </p:nvGraphicFramePr>
        <p:xfrm>
          <a:off x="5109457" y="3779204"/>
          <a:ext cx="3627782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132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1372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763268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1045654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R.RID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S.RID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R.###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S.###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R.###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S.###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</a:tbl>
          </a:graphicData>
        </a:graphic>
      </p:graphicFrame>
      <p:sp>
        <p:nvSpPr>
          <p:cNvPr id="13" name="椭圆 12">
            <a:extLst>
              <a:ext uri="{FF2B5EF4-FFF2-40B4-BE49-F238E27FC236}">
                <a16:creationId xmlns:a16="http://schemas.microsoft.com/office/drawing/2014/main" id="{362858F5-40EB-4CCA-981E-5F4E5FA3C17E}"/>
              </a:ext>
            </a:extLst>
          </p:cNvPr>
          <p:cNvSpPr/>
          <p:nvPr/>
        </p:nvSpPr>
        <p:spPr>
          <a:xfrm>
            <a:off x="8926996" y="3210338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π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1AB91D2-145E-4BDD-A90A-893BFCED9E1C}"/>
              </a:ext>
            </a:extLst>
          </p:cNvPr>
          <p:cNvSpPr/>
          <p:nvPr/>
        </p:nvSpPr>
        <p:spPr>
          <a:xfrm>
            <a:off x="8926996" y="4068417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2851ACB-CF58-4EAC-9DEE-59A50D52B15C}"/>
              </a:ext>
            </a:extLst>
          </p:cNvPr>
          <p:cNvSpPr/>
          <p:nvPr/>
        </p:nvSpPr>
        <p:spPr>
          <a:xfrm>
            <a:off x="9614456" y="4745026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EB0FA5-E0F8-4EC2-8857-73BD3DADADA1}"/>
              </a:ext>
            </a:extLst>
          </p:cNvPr>
          <p:cNvSpPr/>
          <p:nvPr/>
        </p:nvSpPr>
        <p:spPr>
          <a:xfrm>
            <a:off x="10177670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9CBD580-0747-42D7-AE98-CCB71F7CD288}"/>
              </a:ext>
            </a:extLst>
          </p:cNvPr>
          <p:cNvSpPr/>
          <p:nvPr/>
        </p:nvSpPr>
        <p:spPr>
          <a:xfrm>
            <a:off x="7944679" y="5580132"/>
            <a:ext cx="583095" cy="58309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BC85AA5-A095-4B70-AB57-99DE80F6D988}"/>
              </a:ext>
            </a:extLst>
          </p:cNvPr>
          <p:cNvCxnSpPr>
            <a:cxnSpLocks/>
            <a:stCxn id="17" idx="0"/>
            <a:endCxn id="14" idx="3"/>
          </p:cNvCxnSpPr>
          <p:nvPr/>
        </p:nvCxnSpPr>
        <p:spPr>
          <a:xfrm flipV="1">
            <a:off x="8236227" y="4566121"/>
            <a:ext cx="776161" cy="10140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78AF02-6664-421B-8BCF-D7CC07674606}"/>
              </a:ext>
            </a:extLst>
          </p:cNvPr>
          <p:cNvCxnSpPr>
            <a:cxnSpLocks/>
            <a:stCxn id="16" idx="0"/>
            <a:endCxn id="15" idx="5"/>
          </p:cNvCxnSpPr>
          <p:nvPr/>
        </p:nvCxnSpPr>
        <p:spPr>
          <a:xfrm flipH="1" flipV="1">
            <a:off x="10112159" y="5242730"/>
            <a:ext cx="357059" cy="337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A79D027-DBA1-4576-BC3A-F88EF1F10B3D}"/>
              </a:ext>
            </a:extLst>
          </p:cNvPr>
          <p:cNvCxnSpPr>
            <a:cxnSpLocks/>
            <a:stCxn id="15" idx="1"/>
            <a:endCxn id="14" idx="5"/>
          </p:cNvCxnSpPr>
          <p:nvPr/>
        </p:nvCxnSpPr>
        <p:spPr>
          <a:xfrm flipH="1" flipV="1">
            <a:off x="9424699" y="4566121"/>
            <a:ext cx="275149" cy="2642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F410852-C1BD-4AF3-B638-3F6831730E50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V="1">
            <a:off x="9218544" y="3793434"/>
            <a:ext cx="0" cy="274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AFC68EE5-843F-4910-ABA1-B06DED61A135}"/>
              </a:ext>
            </a:extLst>
          </p:cNvPr>
          <p:cNvSpPr/>
          <p:nvPr/>
        </p:nvSpPr>
        <p:spPr>
          <a:xfrm>
            <a:off x="9510091" y="3292199"/>
            <a:ext cx="1557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S.cdate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F5C6FB-3DCC-4ED3-8A77-9D172E9B4549}"/>
              </a:ext>
            </a:extLst>
          </p:cNvPr>
          <p:cNvSpPr/>
          <p:nvPr/>
        </p:nvSpPr>
        <p:spPr>
          <a:xfrm>
            <a:off x="10163514" y="4835444"/>
            <a:ext cx="12722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value&gt;100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02A2FBA-4FBA-42FA-8E96-0F9F8E8DBDCA}"/>
              </a:ext>
            </a:extLst>
          </p:cNvPr>
          <p:cNvSpPr/>
          <p:nvPr/>
        </p:nvSpPr>
        <p:spPr>
          <a:xfrm>
            <a:off x="9510091" y="41268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R.id=S.id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A23728C-5CE8-4EED-BAA4-DF7DF84F6EF3}"/>
              </a:ext>
            </a:extLst>
          </p:cNvPr>
          <p:cNvSpPr/>
          <p:nvPr/>
        </p:nvSpPr>
        <p:spPr>
          <a:xfrm>
            <a:off x="10093186" y="3268764"/>
            <a:ext cx="949185" cy="441098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2EF1B4-1EFE-4725-95AF-5FF2689BC69B}"/>
              </a:ext>
            </a:extLst>
          </p:cNvPr>
          <p:cNvSpPr/>
          <p:nvPr/>
        </p:nvSpPr>
        <p:spPr>
          <a:xfrm>
            <a:off x="776269" y="5242730"/>
            <a:ext cx="6524661" cy="7078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Ideal for </a:t>
            </a:r>
            <a:r>
              <a:rPr lang="en-US" altLang="zh-C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stores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because the DBMS does not copy data that is not need for the query.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1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Cost Analysis Criteria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Assume: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 pages in table R, 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 tuples in R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 pages in table S, </a:t>
            </a:r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 tuples in 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Cost Metric: </a:t>
            </a:r>
            <a:r>
              <a:rPr lang="en-US" altLang="zh-CN" b="1" u="sng" dirty="0"/>
              <a:t># of IOs to compute join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We will </a:t>
            </a:r>
            <a:r>
              <a:rPr lang="en-US" altLang="zh-CN" b="1" dirty="0">
                <a:solidFill>
                  <a:srgbClr val="FF0000"/>
                </a:solidFill>
              </a:rPr>
              <a:t>ignore output </a:t>
            </a:r>
            <a:r>
              <a:rPr lang="en-US" altLang="zh-CN" dirty="0"/>
              <a:t>costs since that depends on the data and we cannot compute that yet.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7BA1F-9000-4A93-84CF-AFF002365D7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7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There are many algorithms for reducing join cost, but </a:t>
            </a:r>
            <a:r>
              <a:rPr lang="en-US" altLang="zh-CN" b="1" dirty="0"/>
              <a:t>no algorithm works well in all scenarios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Nested Loop Join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Simple 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Block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Index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Sort-Merge Join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Hash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31E3-7B19-4C76-AC69-9BBA17CA487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618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B1D4-1A40-4682-BD77-4747467D7354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12</a:t>
            </a:fld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D53ABE-965F-4EA5-9230-05B90258DD61}"/>
              </a:ext>
            </a:extLst>
          </p:cNvPr>
          <p:cNvGrpSpPr/>
          <p:nvPr/>
        </p:nvGrpSpPr>
        <p:grpSpPr>
          <a:xfrm>
            <a:off x="8719931" y="2107095"/>
            <a:ext cx="2524538" cy="2094811"/>
            <a:chOff x="7944679" y="4068417"/>
            <a:chExt cx="2524538" cy="2094811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AAE9B99-8076-4A1B-A3A3-CF2DC9A7DF28}"/>
                </a:ext>
              </a:extLst>
            </p:cNvPr>
            <p:cNvSpPr/>
            <p:nvPr/>
          </p:nvSpPr>
          <p:spPr>
            <a:xfrm>
              <a:off x="8926996" y="4068417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⋈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77C1714-0A87-4FCA-9037-0E66BD768047}"/>
                </a:ext>
              </a:extLst>
            </p:cNvPr>
            <p:cNvSpPr/>
            <p:nvPr/>
          </p:nvSpPr>
          <p:spPr>
            <a:xfrm>
              <a:off x="9886122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AB79724-4FC5-4CCF-9BB1-F958A210E3DA}"/>
                </a:ext>
              </a:extLst>
            </p:cNvPr>
            <p:cNvSpPr/>
            <p:nvPr/>
          </p:nvSpPr>
          <p:spPr>
            <a:xfrm>
              <a:off x="7944679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R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3A602F6-1284-4872-8FD9-56F2BDACCF75}"/>
                </a:ext>
              </a:extLst>
            </p:cNvPr>
            <p:cNvCxnSpPr>
              <a:cxnSpLocks/>
              <a:stCxn id="10" idx="0"/>
              <a:endCxn id="7" idx="3"/>
            </p:cNvCxnSpPr>
            <p:nvPr/>
          </p:nvCxnSpPr>
          <p:spPr>
            <a:xfrm flipV="1">
              <a:off x="8236227" y="4566121"/>
              <a:ext cx="77616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E3BD899-0DDB-416F-991E-0772B895C09D}"/>
                </a:ext>
              </a:extLst>
            </p:cNvPr>
            <p:cNvCxnSpPr>
              <a:cxnSpLocks/>
              <a:stCxn id="9" idx="0"/>
              <a:endCxn id="7" idx="5"/>
            </p:cNvCxnSpPr>
            <p:nvPr/>
          </p:nvCxnSpPr>
          <p:spPr>
            <a:xfrm flipH="1" flipV="1">
              <a:off x="9424699" y="4566121"/>
              <a:ext cx="75297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5CECDBAD-9641-418F-8741-190405A796F5}"/>
              </a:ext>
            </a:extLst>
          </p:cNvPr>
          <p:cNvSpPr/>
          <p:nvPr/>
        </p:nvSpPr>
        <p:spPr>
          <a:xfrm>
            <a:off x="838200" y="1781172"/>
            <a:ext cx="6096000" cy="13542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	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 		if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and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match </a:t>
            </a:r>
            <a:r>
              <a:rPr lang="en-US" altLang="zh-CN" sz="2400" b="1" dirty="0">
                <a:latin typeface="Inconsolata"/>
              </a:rPr>
              <a:t>then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emit</a:t>
            </a:r>
            <a:r>
              <a:rPr lang="en-US" altLang="zh-CN" sz="2400" dirty="0">
                <a:latin typeface="Inconsolata"/>
              </a:rPr>
              <a:t>;</a:t>
            </a:r>
            <a:endParaRPr lang="zh-CN" altLang="en-US" sz="2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D3465F-FFB5-4FE5-87D2-A846CF2DD0B8}"/>
              </a:ext>
            </a:extLst>
          </p:cNvPr>
          <p:cNvSpPr/>
          <p:nvPr/>
        </p:nvSpPr>
        <p:spPr>
          <a:xfrm>
            <a:off x="6467061" y="1875185"/>
            <a:ext cx="93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Proxima Nova"/>
              </a:rPr>
              <a:t>Outer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E89E20-8DC4-4D59-AC55-2C832534AEF9}"/>
              </a:ext>
            </a:extLst>
          </p:cNvPr>
          <p:cNvSpPr/>
          <p:nvPr/>
        </p:nvSpPr>
        <p:spPr>
          <a:xfrm>
            <a:off x="6467061" y="2273614"/>
            <a:ext cx="9342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Proxima Nova"/>
              </a:rPr>
              <a:t>Inner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32A4B52-368E-4559-ABFB-EDBF14EE342F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581400" y="2059851"/>
            <a:ext cx="288566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38BE2CD-62E9-434B-A923-548EB72B4F89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419600" y="2458280"/>
            <a:ext cx="204746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AAE3615-C995-457C-AE69-B949E3318671}"/>
              </a:ext>
            </a:extLst>
          </p:cNvPr>
          <p:cNvCxnSpPr>
            <a:cxnSpLocks/>
            <a:stCxn id="20" idx="3"/>
            <a:endCxn id="9" idx="3"/>
          </p:cNvCxnSpPr>
          <p:nvPr/>
        </p:nvCxnSpPr>
        <p:spPr>
          <a:xfrm>
            <a:off x="7401339" y="2458280"/>
            <a:ext cx="3345427" cy="1658234"/>
          </a:xfrm>
          <a:prstGeom prst="curvedConnector4">
            <a:avLst>
              <a:gd name="adj1" fmla="val 13072"/>
              <a:gd name="adj2" fmla="val 11378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27">
            <a:extLst>
              <a:ext uri="{FF2B5EF4-FFF2-40B4-BE49-F238E27FC236}">
                <a16:creationId xmlns:a16="http://schemas.microsoft.com/office/drawing/2014/main" id="{77C367E4-A3D1-4048-9B31-08CE1596BD81}"/>
              </a:ext>
            </a:extLst>
          </p:cNvPr>
          <p:cNvCxnSpPr>
            <a:cxnSpLocks/>
            <a:stCxn id="19" idx="3"/>
            <a:endCxn id="10" idx="2"/>
          </p:cNvCxnSpPr>
          <p:nvPr/>
        </p:nvCxnSpPr>
        <p:spPr>
          <a:xfrm>
            <a:off x="7401339" y="2059851"/>
            <a:ext cx="1318592" cy="1850507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BC753B6F-0BFA-4268-8983-EA708BF4F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39772"/>
              </p:ext>
            </p:extLst>
          </p:nvPr>
        </p:nvGraphicFramePr>
        <p:xfrm>
          <a:off x="1239077" y="3287397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B9F0B329-0194-415C-95CF-788E75ABA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55267"/>
              </p:ext>
            </p:extLst>
          </p:nvPr>
        </p:nvGraphicFramePr>
        <p:xfrm>
          <a:off x="4038600" y="4020834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46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488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Why is this algorithm stupid?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For every tuple in </a:t>
            </a:r>
            <a:r>
              <a:rPr lang="en-US" altLang="zh-CN" sz="2000" b="1" dirty="0">
                <a:solidFill>
                  <a:srgbClr val="FF0000"/>
                </a:solidFill>
              </a:rPr>
              <a:t>R</a:t>
            </a:r>
            <a:r>
              <a:rPr lang="en-US" altLang="zh-CN" sz="2000" dirty="0"/>
              <a:t>, it scans </a:t>
            </a:r>
            <a:r>
              <a:rPr lang="en-US" altLang="zh-CN" sz="2000" b="1" dirty="0">
                <a:solidFill>
                  <a:srgbClr val="FF0000"/>
                </a:solidFill>
              </a:rPr>
              <a:t>S</a:t>
            </a:r>
            <a:r>
              <a:rPr lang="en-US" altLang="zh-CN" sz="2000" dirty="0"/>
              <a:t> once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Cost: </a:t>
            </a:r>
            <a:r>
              <a:rPr lang="en-US" altLang="zh-CN" sz="2400" b="1" dirty="0">
                <a:solidFill>
                  <a:srgbClr val="FF0000"/>
                </a:solidFill>
              </a:rPr>
              <a:t>M + (m ∙ N) </a:t>
            </a:r>
            <a:r>
              <a:rPr lang="en-US" altLang="zh-CN" sz="2400" b="1" dirty="0"/>
              <a:t>block transfers </a:t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en-US" altLang="zh-CN" sz="2400" b="1" dirty="0">
                <a:solidFill>
                  <a:srgbClr val="FF0000"/>
                </a:solidFill>
              </a:rPr>
              <a:t>         M + m </a:t>
            </a:r>
            <a:r>
              <a:rPr lang="en-US" altLang="zh-CN" sz="2400" b="1" dirty="0"/>
              <a:t>seeks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2D7C4-7123-4298-8449-A3F89AA4A52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A58E416-8162-439F-95B2-AC321AAD8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56882"/>
              </p:ext>
            </p:extLst>
          </p:nvPr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B3D863C-A86A-48AE-A127-41815BCFD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67917"/>
              </p:ext>
            </p:extLst>
          </p:nvPr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25BFB0A-745B-4A19-9369-E627DD71A764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E82919B8-6D9E-4471-844D-664EB95B84F5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4E41D947-7C4B-49BF-A0D6-765BDF451371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C98C0C-5AF0-4D55-9343-3CAAA003A220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91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7498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Example database: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R: M = 1000, m = 100,000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S: N = 500, n = 40,000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Cost Analysis: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M+ (m ∙ N) = 1000 + (100000 ∙ 500) = </a:t>
            </a:r>
            <a:r>
              <a:rPr lang="en-US" altLang="zh-CN" b="1" dirty="0"/>
              <a:t>50,001,000 IOs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At 0.1 </a:t>
            </a:r>
            <a:r>
              <a:rPr lang="en-US" altLang="zh-CN" dirty="0" err="1"/>
              <a:t>ms</a:t>
            </a:r>
            <a:r>
              <a:rPr lang="en-US" altLang="zh-CN" dirty="0"/>
              <a:t>/IO, Total time ≈ 1.3 hours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What if smaller table (S) is used as the outer table?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N + (n ∙M) = 500 + (40000 ∙ 1000) = </a:t>
            </a:r>
            <a:r>
              <a:rPr lang="en-US" altLang="zh-CN" b="1" dirty="0"/>
              <a:t>40,000,500 IOs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At 0.1 </a:t>
            </a:r>
            <a:r>
              <a:rPr lang="en-US" altLang="zh-CN" dirty="0" err="1"/>
              <a:t>ms</a:t>
            </a:r>
            <a:r>
              <a:rPr lang="en-US" altLang="zh-CN" dirty="0"/>
              <a:t>/IO, Total time ≈ 1.1 hours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14BE-C967-41E3-B57B-70C7035B0DD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68AED668-7B7D-4626-B7E3-28366AAC1D17}"/>
              </a:ext>
            </a:extLst>
          </p:cNvPr>
          <p:cNvSpPr/>
          <p:nvPr/>
        </p:nvSpPr>
        <p:spPr>
          <a:xfrm>
            <a:off x="6096001" y="2316480"/>
            <a:ext cx="185530" cy="744772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CB908-891F-4129-B8CC-352F68FDE531}"/>
              </a:ext>
            </a:extLst>
          </p:cNvPr>
          <p:cNvSpPr/>
          <p:nvPr/>
        </p:nvSpPr>
        <p:spPr>
          <a:xfrm>
            <a:off x="6447183" y="2488811"/>
            <a:ext cx="23058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2000" b="1" i="1" dirty="0">
                <a:solidFill>
                  <a:srgbClr val="FF0000"/>
                </a:solidFill>
                <a:latin typeface="Crimson Text"/>
              </a:rPr>
              <a:t>4 KB pages → 6 MB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069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81FEE-978E-4047-9910-A1B6EFE7F20B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ECDBAD-9641-418F-8741-190405A796F5}"/>
              </a:ext>
            </a:extLst>
          </p:cNvPr>
          <p:cNvSpPr/>
          <p:nvPr/>
        </p:nvSpPr>
        <p:spPr>
          <a:xfrm>
            <a:off x="838200" y="1690688"/>
            <a:ext cx="10515600" cy="16619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/>
              <a:t>For each </a:t>
            </a:r>
            <a:r>
              <a:rPr lang="en-US" altLang="zh-CN" dirty="0"/>
              <a:t>block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b="1" baseline="-25000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∈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:</a:t>
            </a:r>
          </a:p>
          <a:p>
            <a:r>
              <a:rPr lang="en-US" altLang="zh-CN" b="1" dirty="0"/>
              <a:t>	for each </a:t>
            </a:r>
            <a:r>
              <a:rPr lang="en-US" altLang="zh-CN" dirty="0"/>
              <a:t>block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b="1" baseline="-25000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∈ 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:</a:t>
            </a:r>
          </a:p>
          <a:p>
            <a:r>
              <a:rPr lang="en-US" altLang="zh-CN" b="1" dirty="0"/>
              <a:t>		for each </a:t>
            </a:r>
            <a:r>
              <a:rPr lang="en-US" altLang="zh-CN" dirty="0"/>
              <a:t>tuple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dirty="0"/>
              <a:t> </a:t>
            </a:r>
            <a:r>
              <a:rPr lang="en-US" altLang="zh-CN" dirty="0"/>
              <a:t>∈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b="1" baseline="-25000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: </a:t>
            </a:r>
          </a:p>
          <a:p>
            <a:r>
              <a:rPr lang="en-US" altLang="zh-CN" b="1" dirty="0"/>
              <a:t>			for each </a:t>
            </a:r>
            <a:r>
              <a:rPr lang="en-US" altLang="zh-CN" dirty="0"/>
              <a:t>tuple </a:t>
            </a:r>
            <a:r>
              <a:rPr lang="en-US" altLang="zh-CN" b="1" dirty="0">
                <a:solidFill>
                  <a:srgbClr val="FF0000"/>
                </a:solidFill>
              </a:rPr>
              <a:t>s </a:t>
            </a:r>
            <a:r>
              <a:rPr lang="en-US" altLang="zh-CN" dirty="0"/>
              <a:t>∈ 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en-US" altLang="zh-CN" b="1" baseline="-25000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:</a:t>
            </a:r>
            <a:r>
              <a:rPr lang="en-US" altLang="zh-CN" sz="2400" b="1" dirty="0">
                <a:latin typeface="Inconsolata"/>
              </a:rPr>
              <a:t> 		</a:t>
            </a:r>
          </a:p>
          <a:p>
            <a:r>
              <a:rPr lang="en-US" altLang="zh-CN" sz="2400" b="1" dirty="0">
                <a:latin typeface="Inconsolata"/>
              </a:rPr>
              <a:t>				</a:t>
            </a:r>
            <a:r>
              <a:rPr lang="en-US" altLang="zh-CN" b="1" dirty="0">
                <a:latin typeface="Inconsolata"/>
              </a:rPr>
              <a:t>if</a:t>
            </a:r>
            <a:r>
              <a:rPr lang="en-US" altLang="zh-CN" dirty="0">
                <a:latin typeface="Inconsolat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b="1" dirty="0">
                <a:latin typeface="Inconsolata"/>
              </a:rPr>
              <a:t> </a:t>
            </a:r>
            <a:r>
              <a:rPr lang="en-US" altLang="zh-CN" dirty="0">
                <a:latin typeface="Inconsolata"/>
              </a:rPr>
              <a:t>and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b="1" dirty="0">
                <a:latin typeface="Inconsolata"/>
              </a:rPr>
              <a:t> </a:t>
            </a:r>
            <a:r>
              <a:rPr lang="en-US" altLang="zh-CN" dirty="0">
                <a:latin typeface="Inconsolata"/>
              </a:rPr>
              <a:t>match </a:t>
            </a:r>
            <a:r>
              <a:rPr lang="en-US" altLang="zh-CN" b="1" dirty="0">
                <a:latin typeface="Inconsolata"/>
              </a:rPr>
              <a:t>then</a:t>
            </a:r>
            <a:r>
              <a:rPr lang="en-US" altLang="zh-CN" dirty="0">
                <a:latin typeface="Inconsolat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Inconsolata"/>
              </a:rPr>
              <a:t>emit</a:t>
            </a:r>
            <a:r>
              <a:rPr lang="en-US" altLang="zh-CN" dirty="0">
                <a:latin typeface="Inconsolata"/>
              </a:rPr>
              <a:t>;</a:t>
            </a:r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396334"/>
              </p:ext>
            </p:extLst>
          </p:nvPr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932957"/>
              </p:ext>
            </p:extLst>
          </p:nvPr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790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7F6D4-2895-4CC3-87E8-54786342D08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AECA576-8EC4-4478-861D-4915C6B4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488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This algorithm performs fewer disk accesses.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For every block in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, it scans 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 once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Cost: </a:t>
            </a:r>
            <a:r>
              <a:rPr lang="en-US" altLang="zh-CN" b="1" dirty="0">
                <a:solidFill>
                  <a:srgbClr val="FF0000"/>
                </a:solidFill>
              </a:rPr>
              <a:t>M + (M ∙ N)</a:t>
            </a:r>
          </a:p>
        </p:txBody>
      </p:sp>
    </p:spTree>
    <p:extLst>
      <p:ext uri="{BB962C8B-B14F-4D97-AF65-F5344CB8AC3E}">
        <p14:creationId xmlns:p14="http://schemas.microsoft.com/office/powerpoint/2010/main" val="3490834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74071-2F76-4C50-8B75-C84596AD980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17</a:t>
            </a:fld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AECA576-8EC4-4478-861D-4915C6B4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488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The smaller table should be the outer table.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We determine size based on the number of pages </a:t>
            </a:r>
            <a:r>
              <a:rPr lang="en-US" altLang="zh-CN" b="1" dirty="0">
                <a:solidFill>
                  <a:srgbClr val="FF0000"/>
                </a:solidFill>
              </a:rPr>
              <a:t>not</a:t>
            </a:r>
            <a:r>
              <a:rPr lang="en-US" altLang="zh-CN" dirty="0"/>
              <a:t> the number of tuples.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839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74986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Example database: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R: M = 1000, m = 100,000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S: N = 500, n = 40,000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Cost Analysis: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M+ (M ∙ N) = 1000 + (1000 ∙ 500) = </a:t>
            </a:r>
            <a:r>
              <a:rPr lang="en-US" altLang="zh-CN" b="1" dirty="0"/>
              <a:t>501,000 IOs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At 0.1 </a:t>
            </a:r>
            <a:r>
              <a:rPr lang="en-US" altLang="zh-CN" dirty="0" err="1"/>
              <a:t>ms</a:t>
            </a:r>
            <a:r>
              <a:rPr lang="en-US" altLang="zh-CN" dirty="0"/>
              <a:t>/IO, Total time ≈ 50 seconds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9E931-F86C-4406-9C1B-47F7E3E98DAA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68AED668-7B7D-4626-B7E3-28366AAC1D17}"/>
              </a:ext>
            </a:extLst>
          </p:cNvPr>
          <p:cNvSpPr/>
          <p:nvPr/>
        </p:nvSpPr>
        <p:spPr>
          <a:xfrm>
            <a:off x="6096001" y="2316480"/>
            <a:ext cx="185530" cy="744772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ECB908-891F-4129-B8CC-352F68FDE531}"/>
              </a:ext>
            </a:extLst>
          </p:cNvPr>
          <p:cNvSpPr/>
          <p:nvPr/>
        </p:nvSpPr>
        <p:spPr>
          <a:xfrm>
            <a:off x="6447183" y="2488811"/>
            <a:ext cx="23058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2000" b="1" i="1" dirty="0">
                <a:solidFill>
                  <a:srgbClr val="FF0000"/>
                </a:solidFill>
                <a:latin typeface="Crimson Text"/>
              </a:rPr>
              <a:t>4 KB pages → 6 MB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906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F90D2-C322-45F1-9E00-5C99E961022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AECA576-8EC4-4478-861D-4915C6B4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488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What if we have </a:t>
            </a:r>
            <a:r>
              <a:rPr lang="en-US" altLang="zh-CN" b="1" i="1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buffers available?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Use </a:t>
            </a:r>
            <a:r>
              <a:rPr lang="en-US" altLang="zh-CN" b="1" i="1" dirty="0">
                <a:solidFill>
                  <a:srgbClr val="FF0000"/>
                </a:solidFill>
              </a:rPr>
              <a:t>B-2</a:t>
            </a:r>
            <a:r>
              <a:rPr lang="en-US" altLang="zh-CN" dirty="0"/>
              <a:t> buffers for scanning the outer table.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Use </a:t>
            </a:r>
            <a:r>
              <a:rPr lang="en-US" altLang="zh-CN" b="1" dirty="0">
                <a:solidFill>
                  <a:srgbClr val="FF0000"/>
                </a:solidFill>
              </a:rPr>
              <a:t>one</a:t>
            </a:r>
            <a:r>
              <a:rPr lang="en-US" altLang="zh-CN" dirty="0"/>
              <a:t> buffer for the inner table, </a:t>
            </a:r>
            <a:r>
              <a:rPr lang="en-US" altLang="zh-CN" b="1" dirty="0">
                <a:solidFill>
                  <a:srgbClr val="FF0000"/>
                </a:solidFill>
              </a:rPr>
              <a:t>one</a:t>
            </a:r>
            <a:r>
              <a:rPr lang="en-US" altLang="zh-CN" dirty="0"/>
              <a:t> buffer for storing output.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075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EF02-93E3-44A0-9266-127FB585412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ECDBAD-9641-418F-8741-190405A796F5}"/>
              </a:ext>
            </a:extLst>
          </p:cNvPr>
          <p:cNvSpPr/>
          <p:nvPr/>
        </p:nvSpPr>
        <p:spPr>
          <a:xfrm>
            <a:off x="838200" y="1690688"/>
            <a:ext cx="10515600" cy="16619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/>
              <a:t>For each </a:t>
            </a:r>
            <a:r>
              <a:rPr lang="en-US" altLang="zh-CN" b="1" i="1" dirty="0">
                <a:solidFill>
                  <a:srgbClr val="FF0000"/>
                </a:solidFill>
              </a:rPr>
              <a:t>B-2</a:t>
            </a:r>
            <a:r>
              <a:rPr lang="en-US" altLang="zh-CN" b="1" dirty="0"/>
              <a:t> </a:t>
            </a:r>
            <a:r>
              <a:rPr lang="en-US" altLang="zh-CN" dirty="0"/>
              <a:t>blocks ∈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:</a:t>
            </a:r>
          </a:p>
          <a:p>
            <a:r>
              <a:rPr lang="en-US" altLang="zh-CN" b="1" dirty="0"/>
              <a:t>	for each </a:t>
            </a:r>
            <a:r>
              <a:rPr lang="en-US" altLang="zh-CN" dirty="0"/>
              <a:t>block </a:t>
            </a:r>
            <a:r>
              <a:rPr lang="en-US" altLang="zh-CN" b="1" dirty="0" err="1">
                <a:solidFill>
                  <a:srgbClr val="FF0000"/>
                </a:solidFill>
              </a:rPr>
              <a:t>b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S</a:t>
            </a:r>
            <a:r>
              <a:rPr lang="en-US" altLang="zh-CN" dirty="0"/>
              <a:t>∈ 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:</a:t>
            </a:r>
          </a:p>
          <a:p>
            <a:r>
              <a:rPr lang="en-US" altLang="zh-CN" b="1" dirty="0"/>
              <a:t>		for each </a:t>
            </a:r>
            <a:r>
              <a:rPr lang="en-US" altLang="zh-CN" dirty="0"/>
              <a:t>tuple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dirty="0"/>
              <a:t> </a:t>
            </a:r>
            <a:r>
              <a:rPr lang="en-US" altLang="zh-CN" dirty="0"/>
              <a:t>∈ the</a:t>
            </a:r>
            <a:r>
              <a:rPr lang="en-US" altLang="zh-CN" b="1" i="1" dirty="0">
                <a:solidFill>
                  <a:srgbClr val="FF0000"/>
                </a:solidFill>
              </a:rPr>
              <a:t> B-2</a:t>
            </a:r>
            <a:r>
              <a:rPr lang="en-US" altLang="zh-CN" b="1" dirty="0"/>
              <a:t> </a:t>
            </a:r>
            <a:r>
              <a:rPr lang="en-US" altLang="zh-CN" dirty="0"/>
              <a:t>blocks: </a:t>
            </a:r>
          </a:p>
          <a:p>
            <a:r>
              <a:rPr lang="en-US" altLang="zh-CN" b="1" dirty="0"/>
              <a:t>			for each </a:t>
            </a:r>
            <a:r>
              <a:rPr lang="en-US" altLang="zh-CN" dirty="0"/>
              <a:t>tuple </a:t>
            </a:r>
            <a:r>
              <a:rPr lang="en-US" altLang="zh-CN" b="1" dirty="0">
                <a:solidFill>
                  <a:srgbClr val="FF0000"/>
                </a:solidFill>
              </a:rPr>
              <a:t>s </a:t>
            </a:r>
            <a:r>
              <a:rPr lang="en-US" altLang="zh-CN" dirty="0"/>
              <a:t>∈ </a:t>
            </a:r>
            <a:r>
              <a:rPr lang="en-US" altLang="zh-CN" b="1" dirty="0" err="1">
                <a:solidFill>
                  <a:srgbClr val="FF0000"/>
                </a:solidFill>
              </a:rPr>
              <a:t>b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S</a:t>
            </a:r>
            <a:r>
              <a:rPr lang="en-US" altLang="zh-CN" dirty="0"/>
              <a:t>:</a:t>
            </a:r>
            <a:r>
              <a:rPr lang="en-US" altLang="zh-CN" sz="2400" b="1" dirty="0">
                <a:latin typeface="Inconsolata"/>
              </a:rPr>
              <a:t> 		</a:t>
            </a:r>
          </a:p>
          <a:p>
            <a:r>
              <a:rPr lang="en-US" altLang="zh-CN" sz="2400" b="1" dirty="0">
                <a:latin typeface="Inconsolata"/>
              </a:rPr>
              <a:t>				</a:t>
            </a:r>
            <a:r>
              <a:rPr lang="en-US" altLang="zh-CN" b="1" dirty="0">
                <a:latin typeface="Inconsolata"/>
              </a:rPr>
              <a:t>if</a:t>
            </a:r>
            <a:r>
              <a:rPr lang="en-US" altLang="zh-CN" dirty="0">
                <a:latin typeface="Inconsolat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b="1" dirty="0">
                <a:latin typeface="Inconsolata"/>
              </a:rPr>
              <a:t> </a:t>
            </a:r>
            <a:r>
              <a:rPr lang="en-US" altLang="zh-CN" dirty="0">
                <a:latin typeface="Inconsolata"/>
              </a:rPr>
              <a:t>and </a:t>
            </a:r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b="1" dirty="0">
                <a:latin typeface="Inconsolata"/>
              </a:rPr>
              <a:t> </a:t>
            </a:r>
            <a:r>
              <a:rPr lang="en-US" altLang="zh-CN" dirty="0">
                <a:latin typeface="Inconsolata"/>
              </a:rPr>
              <a:t>match </a:t>
            </a:r>
            <a:r>
              <a:rPr lang="en-US" altLang="zh-CN" b="1" dirty="0">
                <a:latin typeface="Inconsolata"/>
              </a:rPr>
              <a:t>then</a:t>
            </a:r>
            <a:r>
              <a:rPr lang="en-US" altLang="zh-CN" dirty="0">
                <a:latin typeface="Inconsolat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Inconsolata"/>
              </a:rPr>
              <a:t>emit</a:t>
            </a:r>
            <a:r>
              <a:rPr lang="en-US" altLang="zh-CN" dirty="0">
                <a:latin typeface="Inconsolata"/>
              </a:rPr>
              <a:t>;</a:t>
            </a:r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0095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 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7498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This algorithm uses </a:t>
            </a:r>
            <a:r>
              <a:rPr lang="en-US" altLang="zh-CN" b="1" i="1" dirty="0">
                <a:solidFill>
                  <a:srgbClr val="FF0000"/>
                </a:solidFill>
              </a:rPr>
              <a:t>B-2</a:t>
            </a:r>
            <a:r>
              <a:rPr lang="en-US" altLang="zh-CN" dirty="0"/>
              <a:t> buffers for scanning R.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Cost: </a:t>
            </a:r>
            <a:r>
              <a:rPr lang="en-US" altLang="zh-CN" b="1" dirty="0">
                <a:solidFill>
                  <a:srgbClr val="FF0000"/>
                </a:solidFill>
              </a:rPr>
              <a:t>M+ (</a:t>
            </a:r>
            <a:r>
              <a:rPr lang="zh-CN" altLang="en-US" sz="2000" b="1" dirty="0">
                <a:solidFill>
                  <a:srgbClr val="FF0000"/>
                </a:solidFill>
                <a:latin typeface="Symbol" panose="05050102010706020507" pitchFamily="18" charset="2"/>
              </a:rPr>
              <a:t></a:t>
            </a:r>
            <a:r>
              <a:rPr lang="en-US" altLang="zh-CN" b="1" dirty="0">
                <a:solidFill>
                  <a:srgbClr val="FF0000"/>
                </a:solidFill>
              </a:rPr>
              <a:t>M / (B-2)</a:t>
            </a:r>
            <a:r>
              <a:rPr lang="zh-CN" altLang="en-US" sz="2000" b="1" dirty="0">
                <a:solidFill>
                  <a:srgbClr val="FF0000"/>
                </a:solidFill>
                <a:latin typeface="Symbol" panose="05050102010706020507" pitchFamily="18" charset="2"/>
              </a:rPr>
              <a:t></a:t>
            </a:r>
            <a:r>
              <a:rPr lang="en-US" altLang="zh-CN" sz="2000" b="1" dirty="0">
                <a:solidFill>
                  <a:srgbClr val="FF0000"/>
                </a:solidFill>
                <a:latin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∙ N)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M+ (</a:t>
            </a:r>
            <a:r>
              <a:rPr lang="zh-CN" altLang="en-US" sz="2000" dirty="0">
                <a:latin typeface="Symbol" panose="05050102010706020507" pitchFamily="18" charset="2"/>
              </a:rPr>
              <a:t></a:t>
            </a:r>
            <a:r>
              <a:rPr lang="en-US" altLang="zh-CN" dirty="0"/>
              <a:t>M / (B-2)</a:t>
            </a:r>
            <a:r>
              <a:rPr lang="zh-CN" altLang="en-US" sz="2000" dirty="0">
                <a:latin typeface="Symbol" panose="05050102010706020507" pitchFamily="18" charset="2"/>
              </a:rPr>
              <a:t>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dirty="0"/>
              <a:t>∙ N) = 1000 + (</a:t>
            </a:r>
            <a:r>
              <a:rPr lang="zh-CN" altLang="en-US" dirty="0">
                <a:latin typeface="Symbol" panose="05050102010706020507" pitchFamily="18" charset="2"/>
              </a:rPr>
              <a:t></a:t>
            </a:r>
            <a:r>
              <a:rPr lang="en-US" altLang="zh-CN" dirty="0"/>
              <a:t>1000/(</a:t>
            </a:r>
            <a:r>
              <a:rPr lang="en-US" altLang="zh-CN" b="1" dirty="0">
                <a:solidFill>
                  <a:srgbClr val="00B050"/>
                </a:solidFill>
              </a:rPr>
              <a:t>102</a:t>
            </a:r>
            <a:r>
              <a:rPr lang="en-US" altLang="zh-CN" dirty="0"/>
              <a:t>-2)</a:t>
            </a:r>
            <a:r>
              <a:rPr lang="zh-CN" altLang="en-US" dirty="0">
                <a:latin typeface="Symbol" panose="05050102010706020507" pitchFamily="18" charset="2"/>
              </a:rPr>
              <a:t> </a:t>
            </a:r>
            <a:r>
              <a:rPr lang="en-US" altLang="zh-CN" dirty="0"/>
              <a:t>∙ 500) = </a:t>
            </a:r>
            <a:r>
              <a:rPr lang="en-US" altLang="zh-CN" b="1" dirty="0"/>
              <a:t>6,000 IOs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At 0.1 </a:t>
            </a:r>
            <a:r>
              <a:rPr lang="en-US" altLang="zh-CN" dirty="0" err="1"/>
              <a:t>ms</a:t>
            </a:r>
            <a:r>
              <a:rPr lang="en-US" altLang="zh-CN" dirty="0"/>
              <a:t>/IO, Total time ≈ 0.6 seconds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What if the outer relation completely fits in memory (</a:t>
            </a:r>
            <a:r>
              <a:rPr lang="en-US" altLang="zh-CN" b="1" dirty="0">
                <a:solidFill>
                  <a:srgbClr val="FF0000"/>
                </a:solidFill>
              </a:rPr>
              <a:t>B &gt; M+2</a:t>
            </a:r>
            <a:r>
              <a:rPr lang="en-US" altLang="zh-CN" dirty="0"/>
              <a:t>)?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Cost: M+ N = 1000 + 500 = </a:t>
            </a:r>
            <a:r>
              <a:rPr lang="en-US" altLang="zh-CN" b="1" dirty="0"/>
              <a:t>1500 IOs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At 0.1ms/IO, Total time ≈ 0.15 seconds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1BCD9-7A70-43C9-8E86-54AC6B984CC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1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Why does the basic nested loop join suck?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For each tuple in the outer table, we must do a sequential </a:t>
            </a:r>
            <a:r>
              <a:rPr lang="en-US" altLang="zh-CN" b="1" dirty="0">
                <a:solidFill>
                  <a:srgbClr val="FF0000"/>
                </a:solidFill>
              </a:rPr>
              <a:t>scan</a:t>
            </a:r>
            <a:r>
              <a:rPr lang="en-US" altLang="zh-CN" dirty="0"/>
              <a:t> to check for a match in the inner table.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We can avoid sequential scans by using an </a:t>
            </a:r>
            <a:r>
              <a:rPr lang="en-US" altLang="zh-CN" b="1" dirty="0">
                <a:solidFill>
                  <a:srgbClr val="00B050"/>
                </a:solidFill>
              </a:rPr>
              <a:t>index</a:t>
            </a:r>
            <a:r>
              <a:rPr lang="en-US" altLang="zh-CN" dirty="0"/>
              <a:t> to find inner table matches.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Use an existing index for the join.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Build one on the fly (hash table, B</a:t>
            </a:r>
            <a:r>
              <a:rPr lang="en-US" altLang="zh-CN" baseline="30000" dirty="0"/>
              <a:t>+</a:t>
            </a:r>
            <a:r>
              <a:rPr lang="en-US" altLang="zh-CN" dirty="0"/>
              <a:t>-Tree).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B71B-CF03-4080-AA56-851BB057391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0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21D07-EA1F-492B-B65F-E9E0DD542B3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D47A1C-773B-4F1B-8713-05B3A839694E}"/>
              </a:ext>
            </a:extLst>
          </p:cNvPr>
          <p:cNvSpPr/>
          <p:nvPr/>
        </p:nvSpPr>
        <p:spPr>
          <a:xfrm>
            <a:off x="838200" y="1781172"/>
            <a:ext cx="6096000" cy="12772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r>
              <a:rPr lang="en-US" altLang="zh-CN" sz="2400" b="1" dirty="0">
                <a:latin typeface="Inconsolata"/>
              </a:rPr>
              <a:t>	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latin typeface="Inconsolata"/>
              </a:rPr>
              <a:t>Index</a:t>
            </a:r>
            <a:r>
              <a:rPr lang="en-US" altLang="zh-CN" sz="2400" dirty="0">
                <a:latin typeface="Inconsolata"/>
              </a:rPr>
              <a:t>( </a:t>
            </a:r>
            <a:r>
              <a:rPr lang="en-US" altLang="zh-CN" sz="2400" b="1" dirty="0" err="1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Inconsolata"/>
              </a:rPr>
              <a:t>i</a:t>
            </a:r>
            <a:r>
              <a:rPr lang="en-US" altLang="zh-CN" sz="2400" dirty="0">
                <a:latin typeface="Inconsolata"/>
              </a:rPr>
              <a:t>= </a:t>
            </a:r>
            <a:r>
              <a:rPr lang="en-US" altLang="zh-CN" sz="2400" b="1" dirty="0" err="1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b="1" baseline="-25000" dirty="0" err="1">
                <a:solidFill>
                  <a:srgbClr val="FF0000"/>
                </a:solidFill>
                <a:latin typeface="Inconsolata"/>
              </a:rPr>
              <a:t>j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):</a:t>
            </a:r>
          </a:p>
          <a:p>
            <a:pPr>
              <a:spcBef>
                <a:spcPts val="600"/>
              </a:spcBef>
            </a:pPr>
            <a:r>
              <a:rPr lang="en-US" altLang="zh-CN" sz="2400" b="1" dirty="0">
                <a:latin typeface="Inconsolata"/>
              </a:rPr>
              <a:t> 		if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and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match </a:t>
            </a:r>
            <a:r>
              <a:rPr lang="en-US" altLang="zh-CN" sz="2400" b="1" dirty="0">
                <a:latin typeface="Inconsolata"/>
              </a:rPr>
              <a:t>then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emit</a:t>
            </a:r>
            <a:r>
              <a:rPr lang="en-US" altLang="zh-CN" sz="2400" dirty="0">
                <a:latin typeface="Inconsolata"/>
              </a:rPr>
              <a:t>;</a:t>
            </a:r>
            <a:endParaRPr lang="zh-CN" altLang="en-US" sz="2400" dirty="0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926AA8E2-DD43-41D2-B647-8E9C0EA2ECEF}"/>
              </a:ext>
            </a:extLst>
          </p:cNvPr>
          <p:cNvSpPr/>
          <p:nvPr/>
        </p:nvSpPr>
        <p:spPr>
          <a:xfrm>
            <a:off x="9329530" y="2879432"/>
            <a:ext cx="1305340" cy="1048176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2EB8D8-8EB4-4E4A-9038-D7F9FF4FA13F}"/>
              </a:ext>
            </a:extLst>
          </p:cNvPr>
          <p:cNvSpPr/>
          <p:nvPr/>
        </p:nvSpPr>
        <p:spPr>
          <a:xfrm>
            <a:off x="9259957" y="2535727"/>
            <a:ext cx="1444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Index(S.id)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094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Index Nested Loop Join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A52E0-02CB-43E3-ACE6-0D86E70611F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24</a:t>
            </a:fld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DEBBF67-F60A-48BA-8710-57C3B98940B4}"/>
              </a:ext>
            </a:extLst>
          </p:cNvPr>
          <p:cNvGraphicFramePr>
            <a:graphicFrameLocks noGrp="1"/>
          </p:cNvGraphicFramePr>
          <p:nvPr/>
        </p:nvGraphicFramePr>
        <p:xfrm>
          <a:off x="3147390" y="3429000"/>
          <a:ext cx="2385492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DB4E60EA-6818-4522-A9C1-03DD034736B8}"/>
              </a:ext>
            </a:extLst>
          </p:cNvPr>
          <p:cNvGraphicFramePr>
            <a:graphicFrameLocks noGrp="1"/>
          </p:cNvGraphicFramePr>
          <p:nvPr/>
        </p:nvGraphicFramePr>
        <p:xfrm>
          <a:off x="5946913" y="4162437"/>
          <a:ext cx="35206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549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65361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2061749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B1A83E19-BAAA-4A71-B330-57D92718F24C}"/>
              </a:ext>
            </a:extLst>
          </p:cNvPr>
          <p:cNvSpPr/>
          <p:nvPr/>
        </p:nvSpPr>
        <p:spPr>
          <a:xfrm>
            <a:off x="1785731" y="4520981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m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26" name="右大括号 25">
            <a:extLst>
              <a:ext uri="{FF2B5EF4-FFF2-40B4-BE49-F238E27FC236}">
                <a16:creationId xmlns:a16="http://schemas.microsoft.com/office/drawing/2014/main" id="{4909162D-3A09-47A8-A365-077DC2A64AFB}"/>
              </a:ext>
            </a:extLst>
          </p:cNvPr>
          <p:cNvSpPr/>
          <p:nvPr/>
        </p:nvSpPr>
        <p:spPr>
          <a:xfrm rot="10800000">
            <a:off x="2944404" y="3429000"/>
            <a:ext cx="202985" cy="296672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EC1CD366-CA29-4DE9-82A8-ED7957C1C53D}"/>
              </a:ext>
            </a:extLst>
          </p:cNvPr>
          <p:cNvSpPr/>
          <p:nvPr/>
        </p:nvSpPr>
        <p:spPr>
          <a:xfrm>
            <a:off x="9476616" y="4162437"/>
            <a:ext cx="204097" cy="2225040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E326D-0EA5-4499-B34F-8942ADD746E3}"/>
              </a:ext>
            </a:extLst>
          </p:cNvPr>
          <p:cNvSpPr/>
          <p:nvPr/>
        </p:nvSpPr>
        <p:spPr>
          <a:xfrm>
            <a:off x="9854647" y="5024564"/>
            <a:ext cx="1103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pages</a:t>
            </a:r>
          </a:p>
          <a:p>
            <a:r>
              <a:rPr lang="en-US" altLang="zh-CN" b="1" i="1" dirty="0">
                <a:latin typeface="Crimson Text"/>
              </a:rPr>
              <a:t>n </a:t>
            </a:r>
            <a:r>
              <a:rPr lang="en-US" altLang="zh-CN" dirty="0">
                <a:latin typeface="Crimson Text"/>
              </a:rPr>
              <a:t>tuples</a:t>
            </a:r>
            <a:endParaRPr lang="zh-CN" altLang="en-US" dirty="0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926AA8E2-DD43-41D2-B647-8E9C0EA2ECEF}"/>
              </a:ext>
            </a:extLst>
          </p:cNvPr>
          <p:cNvSpPr/>
          <p:nvPr/>
        </p:nvSpPr>
        <p:spPr>
          <a:xfrm>
            <a:off x="9329530" y="2879432"/>
            <a:ext cx="1305340" cy="1048176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2EB8D8-8EB4-4E4A-9038-D7F9FF4FA13F}"/>
              </a:ext>
            </a:extLst>
          </p:cNvPr>
          <p:cNvSpPr/>
          <p:nvPr/>
        </p:nvSpPr>
        <p:spPr>
          <a:xfrm>
            <a:off x="9259957" y="2535727"/>
            <a:ext cx="1444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Index(S.id)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2F466A0-A1B0-4FE9-A049-A6469D1B8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14861" cy="16488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Assume the cost of each index </a:t>
            </a:r>
            <a:r>
              <a:rPr lang="en-US" altLang="zh-CN" b="1" dirty="0"/>
              <a:t>probe</a:t>
            </a:r>
            <a:r>
              <a:rPr lang="en-US" altLang="zh-CN" dirty="0"/>
              <a:t> is some </a:t>
            </a:r>
            <a:r>
              <a:rPr lang="en-US" altLang="zh-CN" b="1" dirty="0"/>
              <a:t>constant</a:t>
            </a:r>
            <a:r>
              <a:rPr lang="en-US" altLang="zh-CN" dirty="0"/>
              <a:t> C per tuple.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Cost: </a:t>
            </a:r>
            <a:r>
              <a:rPr lang="en-US" altLang="zh-CN" b="1" dirty="0">
                <a:solidFill>
                  <a:srgbClr val="FF0000"/>
                </a:solidFill>
              </a:rPr>
              <a:t>M+ (m ∙ C)</a:t>
            </a:r>
          </a:p>
        </p:txBody>
      </p:sp>
    </p:spTree>
    <p:extLst>
      <p:ext uri="{BB962C8B-B14F-4D97-AF65-F5344CB8AC3E}">
        <p14:creationId xmlns:p14="http://schemas.microsoft.com/office/powerpoint/2010/main" val="2263653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Nested Loop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Pick the smaller table as the outer table.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Buffer as much of the outer table in memory as possible.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Loop over the inner table or use an index.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677F-AE60-4187-BD90-B724BAE661EE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626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Phase #1: Sort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Sort both tables on the join key(s).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We can use the external merge sort algorithm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Phase #2: Merge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Step through the two sorted tables with </a:t>
            </a:r>
            <a:r>
              <a:rPr lang="en-US" altLang="zh-CN" b="1" dirty="0">
                <a:solidFill>
                  <a:srgbClr val="00B050"/>
                </a:solidFill>
              </a:rPr>
              <a:t>cursors</a:t>
            </a:r>
            <a:r>
              <a:rPr lang="en-US" altLang="zh-CN" dirty="0"/>
              <a:t> and emit matching tuples.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May need to </a:t>
            </a:r>
            <a:r>
              <a:rPr lang="en-US" altLang="zh-CN" b="1" dirty="0">
                <a:solidFill>
                  <a:srgbClr val="FF0000"/>
                </a:solidFill>
              </a:rPr>
              <a:t>backtrack</a:t>
            </a:r>
            <a:r>
              <a:rPr lang="en-US" altLang="zh-CN" dirty="0"/>
              <a:t> depending on the join type.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C449-5BC1-4E28-A8F9-266F38610CF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88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91A55-D4C3-4BC1-9D19-1406743A1C85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27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013189"/>
              </p:ext>
            </p:extLst>
          </p:nvPr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254566"/>
              </p:ext>
            </p:extLst>
          </p:nvPr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C16F620-A442-45D2-A1D7-CEEF8F7C286D}"/>
              </a:ext>
            </a:extLst>
          </p:cNvPr>
          <p:cNvSpPr/>
          <p:nvPr/>
        </p:nvSpPr>
        <p:spPr>
          <a:xfrm>
            <a:off x="777813" y="2203675"/>
            <a:ext cx="891961" cy="351644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88348E-5EE0-4E0B-980D-229E093EB1BD}"/>
              </a:ext>
            </a:extLst>
          </p:cNvPr>
          <p:cNvSpPr/>
          <p:nvPr/>
        </p:nvSpPr>
        <p:spPr>
          <a:xfrm>
            <a:off x="4146854" y="2203676"/>
            <a:ext cx="657060" cy="244121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A3F874-BC09-4446-B2D2-292922F3971F}"/>
              </a:ext>
            </a:extLst>
          </p:cNvPr>
          <p:cNvSpPr/>
          <p:nvPr/>
        </p:nvSpPr>
        <p:spPr>
          <a:xfrm>
            <a:off x="838200" y="6026774"/>
            <a:ext cx="768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Sort!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0800000">
            <a:off x="1035326" y="575987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24B93B-26F8-4179-969E-D5E5F9F42F7C}"/>
              </a:ext>
            </a:extLst>
          </p:cNvPr>
          <p:cNvSpPr/>
          <p:nvPr/>
        </p:nvSpPr>
        <p:spPr>
          <a:xfrm>
            <a:off x="4078357" y="4973210"/>
            <a:ext cx="768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Sort!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0800000">
            <a:off x="4275483" y="4706311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267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898758"/>
              </p:ext>
            </p:extLst>
          </p:nvPr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195505"/>
              </p:ext>
            </p:extLst>
          </p:nvPr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E1C7-EC37-471F-93C9-95B0B3B731CE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C16F620-A442-45D2-A1D7-CEEF8F7C286D}"/>
              </a:ext>
            </a:extLst>
          </p:cNvPr>
          <p:cNvSpPr/>
          <p:nvPr/>
        </p:nvSpPr>
        <p:spPr>
          <a:xfrm>
            <a:off x="777813" y="2203675"/>
            <a:ext cx="891961" cy="3516444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388348E-5EE0-4E0B-980D-229E093EB1BD}"/>
              </a:ext>
            </a:extLst>
          </p:cNvPr>
          <p:cNvSpPr/>
          <p:nvPr/>
        </p:nvSpPr>
        <p:spPr>
          <a:xfrm>
            <a:off x="4146854" y="2203676"/>
            <a:ext cx="657060" cy="2441212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A3F874-BC09-4446-B2D2-292922F3971F}"/>
              </a:ext>
            </a:extLst>
          </p:cNvPr>
          <p:cNvSpPr/>
          <p:nvPr/>
        </p:nvSpPr>
        <p:spPr>
          <a:xfrm>
            <a:off x="838200" y="6026774"/>
            <a:ext cx="768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Sort!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0800000">
            <a:off x="1035326" y="575987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24B93B-26F8-4179-969E-D5E5F9F42F7C}"/>
              </a:ext>
            </a:extLst>
          </p:cNvPr>
          <p:cNvSpPr/>
          <p:nvPr/>
        </p:nvSpPr>
        <p:spPr>
          <a:xfrm>
            <a:off x="4078357" y="4973210"/>
            <a:ext cx="768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Sort!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0800000">
            <a:off x="4275483" y="4706311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765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8A00-BC50-4F03-A992-84483CADC96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267874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267874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454086"/>
              </p:ext>
            </p:extLst>
          </p:nvPr>
        </p:nvGraphicFramePr>
        <p:xfrm>
          <a:off x="7202557" y="4175701"/>
          <a:ext cx="4742361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2674119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267411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41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D4415-DE82-4945-9BC2-3F51ABFD2D3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267874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04980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32482"/>
              </p:ext>
            </p:extLst>
          </p:nvPr>
        </p:nvGraphicFramePr>
        <p:xfrm>
          <a:off x="7202557" y="4175701"/>
          <a:ext cx="474236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04517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267411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041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5540-26C0-4849-98D9-6F08D8EE72D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267874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44736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44273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267411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97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0E8D-1963-4715-AFAF-60F06960790E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3056427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44736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08198"/>
              </p:ext>
            </p:extLst>
          </p:nvPr>
        </p:nvGraphicFramePr>
        <p:xfrm>
          <a:off x="7202557" y="4175701"/>
          <a:ext cx="474236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44273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3051801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05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FBB6-E3A2-40DC-A780-7F3E394DFB7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3056427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805168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800542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3051801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75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0A30-C63F-4DC7-B01A-266DF97F29C4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3434111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805168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800542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3429485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9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F48C-052B-4F20-8D00-8A8ABAF7C3D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3434111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44736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13339"/>
              </p:ext>
            </p:extLst>
          </p:nvPr>
        </p:nvGraphicFramePr>
        <p:xfrm>
          <a:off x="7202557" y="4175701"/>
          <a:ext cx="4742361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44273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3429485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0880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DF38-6D2F-4C3E-A4F1-4F2B68C13DB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3434111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81179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80716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3429485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206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C43B-5413-4906-9EDA-53128C7415B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417623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381179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60948"/>
              </p:ext>
            </p:extLst>
          </p:nvPr>
        </p:nvGraphicFramePr>
        <p:xfrm>
          <a:off x="7202557" y="4175701"/>
          <a:ext cx="474236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Raekwon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4390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3807168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417160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44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67D7-48D0-4FF4-9F34-F542BDFF85CB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417623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4189478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Raekwon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4390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4184852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417160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219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220D6-5F81-4374-A99C-5305BA15998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454066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4189478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570585"/>
              </p:ext>
            </p:extLst>
          </p:nvPr>
        </p:nvGraphicFramePr>
        <p:xfrm>
          <a:off x="7202557" y="4175701"/>
          <a:ext cx="474236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Raekwon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4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RZA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078747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53B665A-54E8-467F-A1AA-CB4FC0D7D246}"/>
              </a:ext>
            </a:extLst>
          </p:cNvPr>
          <p:cNvSpPr/>
          <p:nvPr/>
        </p:nvSpPr>
        <p:spPr>
          <a:xfrm>
            <a:off x="4171915" y="4184852"/>
            <a:ext cx="583097" cy="365126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453603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737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181D-70C0-4A41-AD59-9F0441697577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4540665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458041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Raekwon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4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RZA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078747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4536039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93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F6FCB10-9F8F-4CE5-9481-BFF3232C24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21501"/>
          <a:ext cx="2385492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880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603612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44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419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ODB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Raekwon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21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RZA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MethodMan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58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Ghostface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9838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7FB97DF-DA68-4583-BB0D-5A074CC52E2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321501"/>
          <a:ext cx="2892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763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778646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543877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6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22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2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155423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D20A-E6AC-497E-8256-02A6282964B3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0A0DE4-04E2-4D3B-9A06-304AE525DF9C}"/>
              </a:ext>
            </a:extLst>
          </p:cNvPr>
          <p:cNvSpPr/>
          <p:nvPr/>
        </p:nvSpPr>
        <p:spPr>
          <a:xfrm>
            <a:off x="7666383" y="1861930"/>
            <a:ext cx="3687417" cy="1073426"/>
          </a:xfrm>
          <a:prstGeom prst="roundRect">
            <a:avLst>
              <a:gd name="adj" fmla="val 7223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SELECT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S.cdate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FROM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JOIN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R.id = S.id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WHERE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S.value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&gt; 100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4281C88E-E554-4D1D-96DA-424EB331DF4B}"/>
              </a:ext>
            </a:extLst>
          </p:cNvPr>
          <p:cNvSpPr/>
          <p:nvPr/>
        </p:nvSpPr>
        <p:spPr>
          <a:xfrm rot="16200000">
            <a:off x="468450" y="492497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A5C7D24-22E1-4A85-BCBB-F4CB42DE717D}"/>
              </a:ext>
            </a:extLst>
          </p:cNvPr>
          <p:cNvSpPr/>
          <p:nvPr/>
        </p:nvSpPr>
        <p:spPr>
          <a:xfrm rot="16200000">
            <a:off x="3802165" y="4580414"/>
            <a:ext cx="374374" cy="36512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CF9BE3-6A7E-4534-9DCA-550E848D7A23}"/>
              </a:ext>
            </a:extLst>
          </p:cNvPr>
          <p:cNvGraphicFramePr>
            <a:graphicFrameLocks noGrp="1"/>
          </p:cNvGraphicFramePr>
          <p:nvPr/>
        </p:nvGraphicFramePr>
        <p:xfrm>
          <a:off x="7202557" y="4175701"/>
          <a:ext cx="4742361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1605069528"/>
                    </a:ext>
                  </a:extLst>
                </a:gridCol>
                <a:gridCol w="1022668">
                  <a:extLst>
                    <a:ext uri="{9D8B030D-6E8A-4147-A177-3AD203B41FA5}">
                      <a16:colId xmlns:a16="http://schemas.microsoft.com/office/drawing/2014/main" val="276990015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961661559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3966827260"/>
                    </a:ext>
                  </a:extLst>
                </a:gridCol>
                <a:gridCol w="1475603">
                  <a:extLst>
                    <a:ext uri="{9D8B030D-6E8A-4147-A177-3AD203B41FA5}">
                      <a16:colId xmlns:a16="http://schemas.microsoft.com/office/drawing/2014/main" val="18273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R.name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S.id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S.cdate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0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Andy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89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67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GZA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8888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89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Raekwon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4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RZA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7777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2021-5-8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078747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8BB9106-061C-4886-8FBD-C61D7B4A6651}"/>
              </a:ext>
            </a:extLst>
          </p:cNvPr>
          <p:cNvSpPr/>
          <p:nvPr/>
        </p:nvSpPr>
        <p:spPr>
          <a:xfrm>
            <a:off x="8571239" y="3805615"/>
            <a:ext cx="1877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nconsolata"/>
              </a:rPr>
              <a:t>Output Buffer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A4E0C12-4902-4B41-8454-E8A4EFCF1B3E}"/>
              </a:ext>
            </a:extLst>
          </p:cNvPr>
          <p:cNvSpPr/>
          <p:nvPr/>
        </p:nvSpPr>
        <p:spPr>
          <a:xfrm>
            <a:off x="819115" y="4920348"/>
            <a:ext cx="824156" cy="3743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576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CEC3-DB83-483B-B912-F6232B120A3D}" type="datetime1">
              <a:rPr lang="zh-CN" altLang="en-US" smtClean="0"/>
              <a:t>2024/5/23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0984F9-C750-4C99-9A22-4D118957415C}"/>
              </a:ext>
            </a:extLst>
          </p:cNvPr>
          <p:cNvSpPr/>
          <p:nvPr/>
        </p:nvSpPr>
        <p:spPr>
          <a:xfrm>
            <a:off x="2527851" y="2151697"/>
            <a:ext cx="8259417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zh-CN" sz="3600" b="1" dirty="0">
                <a:latin typeface="Crimson Text"/>
              </a:rPr>
              <a:t>Sort Cost (R): 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3600" b="1" i="1" dirty="0">
                <a:solidFill>
                  <a:srgbClr val="FF0000"/>
                </a:solidFill>
                <a:latin typeface="Crimson Text"/>
              </a:rPr>
              <a:t>M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∙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(1 + </a:t>
            </a:r>
            <a:r>
              <a:rPr lang="en-US" altLang="zh-CN" sz="3600" dirty="0">
                <a:solidFill>
                  <a:srgbClr val="FF0000"/>
                </a:solidFill>
                <a:latin typeface="Cambria Math" panose="02040503050406030204" pitchFamily="18" charset="0"/>
              </a:rPr>
              <a:t>⌈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log</a:t>
            </a:r>
            <a:r>
              <a:rPr lang="en-US" altLang="zh-CN" sz="3600" b="1" i="1" baseline="-25000" dirty="0">
                <a:solidFill>
                  <a:srgbClr val="FF0000"/>
                </a:solidFill>
                <a:latin typeface="Crimson Text"/>
              </a:rPr>
              <a:t>B</a:t>
            </a:r>
            <a:r>
              <a:rPr lang="en-US" altLang="zh-CN" sz="3600" b="1" baseline="-25000" dirty="0">
                <a:solidFill>
                  <a:srgbClr val="FF0000"/>
                </a:solidFill>
                <a:latin typeface="Crimson Text"/>
              </a:rPr>
              <a:t>-1</a:t>
            </a:r>
            <a:r>
              <a:rPr lang="en-US" altLang="zh-CN" sz="3600" baseline="30000" dirty="0">
                <a:solidFill>
                  <a:srgbClr val="FF0000"/>
                </a:solidFill>
                <a:latin typeface="Cambria Math" panose="02040503050406030204" pitchFamily="18" charset="0"/>
              </a:rPr>
              <a:t>⌈</a:t>
            </a:r>
            <a:r>
              <a:rPr lang="en-US" altLang="zh-CN" sz="3600" b="1" i="1" baseline="30000" dirty="0">
                <a:solidFill>
                  <a:srgbClr val="FF0000"/>
                </a:solidFill>
                <a:latin typeface="Crimson Text"/>
              </a:rPr>
              <a:t>M</a:t>
            </a:r>
            <a:r>
              <a:rPr lang="en-US" altLang="zh-CN" sz="3600" b="1" baseline="30000" dirty="0">
                <a:solidFill>
                  <a:srgbClr val="FF0000"/>
                </a:solidFill>
                <a:latin typeface="Crimson Text"/>
              </a:rPr>
              <a:t>/</a:t>
            </a:r>
            <a:r>
              <a:rPr lang="en-US" altLang="zh-CN" sz="3600" b="1" i="1" baseline="30000" dirty="0">
                <a:solidFill>
                  <a:srgbClr val="FF0000"/>
                </a:solidFill>
                <a:latin typeface="Crimson Text"/>
              </a:rPr>
              <a:t>B</a:t>
            </a:r>
            <a:r>
              <a:rPr lang="en-US" altLang="zh-CN" sz="3600" baseline="30000" dirty="0">
                <a:solidFill>
                  <a:srgbClr val="FF0000"/>
                </a:solidFill>
                <a:latin typeface="Cambria Math" panose="02040503050406030204" pitchFamily="18" charset="0"/>
              </a:rPr>
              <a:t>⌉</a:t>
            </a:r>
            <a:r>
              <a:rPr lang="en-US" altLang="zh-CN" sz="3600" dirty="0">
                <a:solidFill>
                  <a:srgbClr val="FF0000"/>
                </a:solidFill>
                <a:latin typeface="Cambria Math" panose="02040503050406030204" pitchFamily="18" charset="0"/>
              </a:rPr>
              <a:t>⌉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)</a:t>
            </a:r>
            <a:endParaRPr lang="en-US" altLang="zh-CN" sz="3600" dirty="0">
              <a:solidFill>
                <a:srgbClr val="FF0000"/>
              </a:solidFill>
              <a:latin typeface="Crimson Text"/>
            </a:endParaRPr>
          </a:p>
          <a:p>
            <a:pPr>
              <a:spcBef>
                <a:spcPts val="1800"/>
              </a:spcBef>
            </a:pPr>
            <a:r>
              <a:rPr lang="en-US" altLang="zh-CN" sz="3600" b="1" dirty="0">
                <a:latin typeface="Crimson Text"/>
              </a:rPr>
              <a:t>Sort Cost (S): 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2</a:t>
            </a:r>
            <a:r>
              <a:rPr lang="en-US" altLang="zh-CN" sz="3600" b="1" i="1" dirty="0">
                <a:solidFill>
                  <a:srgbClr val="FF0000"/>
                </a:solidFill>
                <a:latin typeface="Crimson Text"/>
              </a:rPr>
              <a:t>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∙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(1 + </a:t>
            </a:r>
            <a:r>
              <a:rPr lang="en-US" altLang="zh-CN" sz="3600" dirty="0">
                <a:solidFill>
                  <a:srgbClr val="FF0000"/>
                </a:solidFill>
                <a:latin typeface="Cambria Math" panose="02040503050406030204" pitchFamily="18" charset="0"/>
              </a:rPr>
              <a:t>⌈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log</a:t>
            </a:r>
            <a:r>
              <a:rPr lang="en-US" altLang="zh-CN" sz="3600" b="1" i="1" baseline="-25000" dirty="0">
                <a:solidFill>
                  <a:srgbClr val="FF0000"/>
                </a:solidFill>
                <a:latin typeface="Crimson Text"/>
              </a:rPr>
              <a:t>B</a:t>
            </a:r>
            <a:r>
              <a:rPr lang="en-US" altLang="zh-CN" sz="3600" b="1" baseline="-25000" dirty="0">
                <a:solidFill>
                  <a:srgbClr val="FF0000"/>
                </a:solidFill>
                <a:latin typeface="Crimson Text"/>
              </a:rPr>
              <a:t>-1</a:t>
            </a:r>
            <a:r>
              <a:rPr lang="en-US" altLang="zh-CN" sz="3600" baseline="30000" dirty="0">
                <a:solidFill>
                  <a:srgbClr val="FF0000"/>
                </a:solidFill>
                <a:latin typeface="Cambria Math" panose="02040503050406030204" pitchFamily="18" charset="0"/>
              </a:rPr>
              <a:t>⌈</a:t>
            </a:r>
            <a:r>
              <a:rPr lang="en-US" altLang="zh-CN" sz="3600" b="1" i="1" baseline="30000" dirty="0">
                <a:solidFill>
                  <a:srgbClr val="FF0000"/>
                </a:solidFill>
                <a:latin typeface="Crimson Text"/>
              </a:rPr>
              <a:t>N</a:t>
            </a:r>
            <a:r>
              <a:rPr lang="en-US" altLang="zh-CN" sz="3600" b="1" baseline="30000" dirty="0">
                <a:solidFill>
                  <a:srgbClr val="FF0000"/>
                </a:solidFill>
                <a:latin typeface="Crimson Text"/>
              </a:rPr>
              <a:t>/</a:t>
            </a:r>
            <a:r>
              <a:rPr lang="en-US" altLang="zh-CN" sz="3600" b="1" i="1" baseline="30000" dirty="0">
                <a:solidFill>
                  <a:srgbClr val="FF0000"/>
                </a:solidFill>
                <a:latin typeface="Crimson Text"/>
              </a:rPr>
              <a:t>B</a:t>
            </a:r>
            <a:r>
              <a:rPr lang="en-US" altLang="zh-CN" sz="3600" baseline="30000" dirty="0">
                <a:solidFill>
                  <a:srgbClr val="FF0000"/>
                </a:solidFill>
                <a:latin typeface="Cambria Math" panose="02040503050406030204" pitchFamily="18" charset="0"/>
              </a:rPr>
              <a:t>⌉</a:t>
            </a:r>
            <a:r>
              <a:rPr lang="en-US" altLang="zh-CN" sz="3600" dirty="0">
                <a:solidFill>
                  <a:srgbClr val="FF0000"/>
                </a:solidFill>
                <a:latin typeface="Cambria Math" panose="02040503050406030204" pitchFamily="18" charset="0"/>
              </a:rPr>
              <a:t>⌉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)</a:t>
            </a:r>
            <a:endParaRPr lang="en-US" altLang="zh-CN" sz="3600" dirty="0">
              <a:solidFill>
                <a:srgbClr val="FF0000"/>
              </a:solidFill>
              <a:latin typeface="Crimson Text"/>
            </a:endParaRPr>
          </a:p>
          <a:p>
            <a:pPr>
              <a:spcBef>
                <a:spcPts val="1800"/>
              </a:spcBef>
            </a:pPr>
            <a:r>
              <a:rPr lang="en-US" altLang="zh-CN" sz="3600" b="1" dirty="0">
                <a:latin typeface="Crimson Text"/>
              </a:rPr>
              <a:t>  Merge Cost: 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(</a:t>
            </a:r>
            <a:r>
              <a:rPr lang="en-US" altLang="zh-CN" sz="3600" b="1" i="1" dirty="0">
                <a:solidFill>
                  <a:srgbClr val="FF0000"/>
                </a:solidFill>
                <a:latin typeface="Crimson Text"/>
              </a:rPr>
              <a:t>M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+ </a:t>
            </a:r>
            <a:r>
              <a:rPr lang="en-US" altLang="zh-CN" sz="3600" b="1" i="1" dirty="0">
                <a:solidFill>
                  <a:srgbClr val="FF0000"/>
                </a:solidFill>
                <a:latin typeface="Crimson Text"/>
              </a:rPr>
              <a:t>N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)</a:t>
            </a:r>
            <a:endParaRPr lang="en-US" altLang="zh-CN" sz="3600" dirty="0">
              <a:solidFill>
                <a:srgbClr val="FF0000"/>
              </a:solidFill>
              <a:latin typeface="Crimson Text"/>
            </a:endParaRPr>
          </a:p>
          <a:p>
            <a:pPr>
              <a:spcBef>
                <a:spcPts val="1800"/>
              </a:spcBef>
            </a:pPr>
            <a:r>
              <a:rPr lang="en-US" altLang="zh-CN" sz="3600" b="1" dirty="0">
                <a:latin typeface="Crimson Text"/>
              </a:rPr>
              <a:t>     Total Cost:  </a:t>
            </a:r>
            <a:r>
              <a:rPr lang="en-US" altLang="zh-CN" sz="3600" b="1" dirty="0">
                <a:solidFill>
                  <a:srgbClr val="FF0000"/>
                </a:solidFill>
                <a:latin typeface="Crimson Text"/>
              </a:rPr>
              <a:t>Sort + Merge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674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Sort-Merge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74986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Example database: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R: M = 1000, m = 100,000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S: N = 500, n = 40,000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With B=</a:t>
            </a:r>
            <a:r>
              <a:rPr lang="en-US" altLang="zh-CN" b="1" dirty="0">
                <a:solidFill>
                  <a:srgbClr val="FF0000"/>
                </a:solidFill>
              </a:rPr>
              <a:t>100</a:t>
            </a:r>
            <a:r>
              <a:rPr lang="en-US" altLang="zh-CN" dirty="0"/>
              <a:t> buffer pages, both R and S can be sorted in two passes: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Sort Cost (R) = 2000 ∙ (1 + ⌈log</a:t>
            </a:r>
            <a:r>
              <a:rPr lang="en-US" altLang="zh-CN" baseline="-25000" dirty="0"/>
              <a:t>99</a:t>
            </a:r>
            <a:r>
              <a:rPr lang="en-US" altLang="zh-CN" baseline="30000" dirty="0"/>
              <a:t>1000/100</a:t>
            </a:r>
            <a:r>
              <a:rPr lang="en-US" altLang="zh-CN" dirty="0"/>
              <a:t>⌉) = </a:t>
            </a:r>
            <a:r>
              <a:rPr lang="en-US" altLang="zh-CN" b="1" dirty="0"/>
              <a:t>4000 IOs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Sort Cost (S) = 1000 ∙ (1 + ⌈ log</a:t>
            </a:r>
            <a:r>
              <a:rPr lang="en-US" altLang="zh-CN" baseline="-25000" dirty="0"/>
              <a:t>99</a:t>
            </a:r>
            <a:r>
              <a:rPr lang="en-US" altLang="zh-CN" baseline="30000" dirty="0"/>
              <a:t>500/100</a:t>
            </a:r>
            <a:r>
              <a:rPr lang="en-US" altLang="zh-CN" dirty="0"/>
              <a:t>⌉) = </a:t>
            </a:r>
            <a:r>
              <a:rPr lang="en-US" altLang="zh-CN" b="1" dirty="0"/>
              <a:t>2000 IOs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Merge Cost = (1000 + 500) = </a:t>
            </a:r>
            <a:r>
              <a:rPr lang="en-US" altLang="zh-CN" b="1" dirty="0"/>
              <a:t>1500 IOs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Total Cost = 4000 + 2000 + 1500 = </a:t>
            </a:r>
            <a:r>
              <a:rPr lang="en-US" altLang="zh-CN" b="1" dirty="0"/>
              <a:t>7500 IOs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altLang="zh-CN" dirty="0"/>
              <a:t>At 0.1 </a:t>
            </a:r>
            <a:r>
              <a:rPr lang="en-US" altLang="zh-CN" dirty="0" err="1"/>
              <a:t>ms</a:t>
            </a:r>
            <a:r>
              <a:rPr lang="en-US" altLang="zh-CN" dirty="0"/>
              <a:t>/IO, Total time ≈ </a:t>
            </a:r>
            <a:r>
              <a:rPr lang="en-US" altLang="zh-CN" b="1" dirty="0"/>
              <a:t>0.75 seconds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B4A0-C538-4871-AC5D-A2253AE95AB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741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is Sort-Merge Join useful?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Worst Case</a:t>
            </a:r>
            <a:r>
              <a:rPr lang="en-US" altLang="zh-CN" dirty="0"/>
              <a:t>: the join attribute of all the tuples in both relations contain the </a:t>
            </a:r>
            <a:r>
              <a:rPr lang="en-US" altLang="zh-CN" b="1" dirty="0">
                <a:solidFill>
                  <a:srgbClr val="FF0000"/>
                </a:solidFill>
              </a:rPr>
              <a:t>same</a:t>
            </a:r>
            <a:r>
              <a:rPr lang="en-US" altLang="zh-CN" dirty="0"/>
              <a:t> value.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One or both tables are </a:t>
            </a:r>
            <a:r>
              <a:rPr lang="en-US" altLang="zh-CN" b="1" dirty="0">
                <a:solidFill>
                  <a:srgbClr val="00B050"/>
                </a:solidFill>
              </a:rPr>
              <a:t>already sorted </a:t>
            </a:r>
            <a:r>
              <a:rPr lang="en-US" altLang="zh-CN" dirty="0"/>
              <a:t>on join key.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input relations may be sorted by either by an </a:t>
            </a:r>
            <a:r>
              <a:rPr lang="en-US" altLang="zh-CN" b="1" dirty="0"/>
              <a:t>explicit</a:t>
            </a:r>
            <a:r>
              <a:rPr lang="en-US" altLang="zh-CN" dirty="0"/>
              <a:t> sort operator, or by scanning the relation using an </a:t>
            </a:r>
            <a:r>
              <a:rPr lang="en-US" altLang="zh-CN" b="1" dirty="0"/>
              <a:t>index</a:t>
            </a:r>
            <a:r>
              <a:rPr lang="en-US" altLang="zh-CN" dirty="0"/>
              <a:t> on the join key.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Output </a:t>
            </a:r>
            <a:r>
              <a:rPr lang="en-US" altLang="zh-CN" b="1" dirty="0">
                <a:solidFill>
                  <a:srgbClr val="00B050"/>
                </a:solidFill>
              </a:rPr>
              <a:t>must be sorted </a:t>
            </a:r>
            <a:r>
              <a:rPr lang="en-US" altLang="zh-CN" dirty="0"/>
              <a:t>on join key.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369F9-C0DD-44C0-99C1-D36A26BFCB42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953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Hash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b="1" dirty="0"/>
              <a:t>Phase #1: Build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Scan the outer relation and populate a </a:t>
            </a:r>
            <a:r>
              <a:rPr lang="en-US" altLang="zh-CN" sz="2800" b="1" dirty="0">
                <a:solidFill>
                  <a:srgbClr val="00B050"/>
                </a:solidFill>
              </a:rPr>
              <a:t>hash table </a:t>
            </a:r>
            <a:r>
              <a:rPr lang="en-US" altLang="zh-CN" sz="2800" dirty="0"/>
              <a:t>using the hash function </a:t>
            </a:r>
            <a:r>
              <a:rPr lang="en-US" altLang="zh-CN" sz="2800" b="1" dirty="0">
                <a:solidFill>
                  <a:srgbClr val="FF0000"/>
                </a:solidFill>
              </a:rPr>
              <a:t>h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dirty="0"/>
              <a:t> on the join attributes.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b="1" dirty="0"/>
              <a:t>Phase #2: Probe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Scan the inner relation and use </a:t>
            </a:r>
            <a:r>
              <a:rPr lang="en-US" altLang="zh-CN" sz="2800" b="1" dirty="0">
                <a:solidFill>
                  <a:srgbClr val="FF0000"/>
                </a:solidFill>
              </a:rPr>
              <a:t>h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dirty="0"/>
              <a:t> on each tuple to jump to a location in the </a:t>
            </a:r>
            <a:r>
              <a:rPr lang="en-US" altLang="zh-CN" sz="2800" b="1" dirty="0">
                <a:solidFill>
                  <a:srgbClr val="00B050"/>
                </a:solidFill>
              </a:rPr>
              <a:t>hash table </a:t>
            </a:r>
            <a:r>
              <a:rPr lang="en-US" altLang="zh-CN" sz="2800" dirty="0"/>
              <a:t>and find a matching tuple.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48C17-A998-4056-A558-6E7A87C81780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987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Hash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CC7A0-644D-4CE7-BA02-E13AA410812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A4DF8D-5395-473B-8F9A-875B51E08098}"/>
              </a:ext>
            </a:extLst>
          </p:cNvPr>
          <p:cNvSpPr/>
          <p:nvPr/>
        </p:nvSpPr>
        <p:spPr>
          <a:xfrm>
            <a:off x="2822714" y="1761361"/>
            <a:ext cx="6096000" cy="15081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Build </a:t>
            </a:r>
            <a:r>
              <a:rPr lang="en-US" altLang="zh-CN" sz="2400" dirty="0">
                <a:latin typeface="Inconsolata"/>
              </a:rPr>
              <a:t>hash table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for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endParaRPr lang="en-US" altLang="zh-CN" sz="2400" dirty="0">
              <a:solidFill>
                <a:srgbClr val="FF0000"/>
              </a:solidFill>
              <a:latin typeface="Inconsolata"/>
            </a:endParaRP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	if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)</a:t>
            </a:r>
            <a:r>
              <a:rPr lang="en-US" altLang="zh-CN" sz="2400" dirty="0">
                <a:latin typeface="Inconsolata"/>
              </a:rPr>
              <a:t> 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baseline="-25000" dirty="0">
                <a:latin typeface="Inconsolata"/>
              </a:rPr>
              <a:t> </a:t>
            </a:r>
            <a:r>
              <a:rPr lang="en-US" altLang="zh-CN" sz="2400" b="1" dirty="0">
                <a:latin typeface="Inconsolata"/>
              </a:rPr>
              <a:t>then </a:t>
            </a:r>
            <a:r>
              <a:rPr lang="en-US" altLang="zh-CN" sz="2400" dirty="0">
                <a:latin typeface="Inconsolata"/>
              </a:rPr>
              <a:t>output</a:t>
            </a:r>
            <a:r>
              <a:rPr lang="en-US" altLang="zh-CN" sz="2400" b="1" dirty="0">
                <a:latin typeface="Inconsolata"/>
              </a:rPr>
              <a:t>;</a:t>
            </a:r>
            <a:endParaRPr lang="zh-CN" altLang="en-US" sz="2400" b="1" baseline="-25000" dirty="0">
              <a:latin typeface="Inconsolat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D3AD4-07E4-4811-88D2-1F9E74A754B0}"/>
              </a:ext>
            </a:extLst>
          </p:cNvPr>
          <p:cNvSpPr/>
          <p:nvPr/>
        </p:nvSpPr>
        <p:spPr>
          <a:xfrm>
            <a:off x="4552121" y="3429000"/>
            <a:ext cx="20673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latin typeface="Crimson Text"/>
              </a:rPr>
              <a:t>Hash Table</a:t>
            </a: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HT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Crimson Text"/>
              </a:rPr>
              <a:t>R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8C9B88-D379-4BDD-A5C1-CEF9C408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08" y="4242125"/>
            <a:ext cx="820601" cy="18703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145" y="414171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162" y="4139430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1823108" y="382346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8063948" y="3776678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017FCA7E-AB0A-40AC-B442-0D7F5E99D07A}"/>
              </a:ext>
            </a:extLst>
          </p:cNvPr>
          <p:cNvSpPr/>
          <p:nvPr/>
        </p:nvSpPr>
        <p:spPr>
          <a:xfrm rot="16200000">
            <a:off x="1231292" y="4200194"/>
            <a:ext cx="294384" cy="34114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3760511" y="4798620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9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Hash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CD3D5-7274-484F-9684-B4FE498213AF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A4DF8D-5395-473B-8F9A-875B51E08098}"/>
              </a:ext>
            </a:extLst>
          </p:cNvPr>
          <p:cNvSpPr/>
          <p:nvPr/>
        </p:nvSpPr>
        <p:spPr>
          <a:xfrm>
            <a:off x="2822714" y="1761361"/>
            <a:ext cx="6096000" cy="15081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Build </a:t>
            </a:r>
            <a:r>
              <a:rPr lang="en-US" altLang="zh-CN" sz="2400" dirty="0">
                <a:latin typeface="Inconsolata"/>
              </a:rPr>
              <a:t>hash table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dirty="0">
                <a:latin typeface="Inconsolata"/>
              </a:rPr>
              <a:t> </a:t>
            </a:r>
            <a:r>
              <a:rPr lang="en-US" altLang="zh-CN" sz="2400" dirty="0">
                <a:latin typeface="Inconsolata"/>
              </a:rPr>
              <a:t>for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R</a:t>
            </a:r>
            <a:endParaRPr lang="en-US" altLang="zh-CN" sz="2400" dirty="0">
              <a:solidFill>
                <a:srgbClr val="FF0000"/>
              </a:solidFill>
              <a:latin typeface="Inconsolata"/>
            </a:endParaRP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latin typeface="Inconsolata"/>
              </a:rPr>
              <a:t>	if</a:t>
            </a:r>
            <a:r>
              <a:rPr lang="en-US" altLang="zh-CN" sz="2400" dirty="0">
                <a:latin typeface="Inconsolat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(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s</a:t>
            </a:r>
            <a:r>
              <a:rPr lang="en-US" altLang="zh-CN" sz="2400" dirty="0">
                <a:solidFill>
                  <a:srgbClr val="FF0000"/>
                </a:solidFill>
                <a:latin typeface="Inconsolata"/>
              </a:rPr>
              <a:t>)</a:t>
            </a:r>
            <a:r>
              <a:rPr lang="en-US" altLang="zh-CN" sz="2400" dirty="0">
                <a:latin typeface="Inconsolata"/>
              </a:rPr>
              <a:t> ∈ </a:t>
            </a:r>
            <a:r>
              <a:rPr lang="en-US" altLang="zh-CN" sz="2400" b="1" dirty="0">
                <a:solidFill>
                  <a:srgbClr val="FF0000"/>
                </a:solidFill>
                <a:latin typeface="Inconsolata"/>
              </a:rPr>
              <a:t>HT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Inconsolata"/>
              </a:rPr>
              <a:t>R</a:t>
            </a:r>
            <a:r>
              <a:rPr lang="en-US" altLang="zh-CN" sz="2400" b="1" baseline="-25000" dirty="0">
                <a:latin typeface="Inconsolata"/>
              </a:rPr>
              <a:t> </a:t>
            </a:r>
            <a:r>
              <a:rPr lang="en-US" altLang="zh-CN" sz="2400" b="1" dirty="0">
                <a:latin typeface="Inconsolata"/>
              </a:rPr>
              <a:t>then </a:t>
            </a:r>
            <a:r>
              <a:rPr lang="en-US" altLang="zh-CN" sz="2400" dirty="0">
                <a:latin typeface="Inconsolata"/>
              </a:rPr>
              <a:t>output</a:t>
            </a:r>
            <a:r>
              <a:rPr lang="en-US" altLang="zh-CN" sz="2400" b="1" dirty="0">
                <a:latin typeface="Inconsolata"/>
              </a:rPr>
              <a:t>;</a:t>
            </a:r>
            <a:endParaRPr lang="zh-CN" altLang="en-US" sz="2400" b="1" baseline="-25000" dirty="0">
              <a:latin typeface="Inconsolat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DD3AD4-07E4-4811-88D2-1F9E74A754B0}"/>
              </a:ext>
            </a:extLst>
          </p:cNvPr>
          <p:cNvSpPr/>
          <p:nvPr/>
        </p:nvSpPr>
        <p:spPr>
          <a:xfrm>
            <a:off x="4552121" y="3429000"/>
            <a:ext cx="20673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latin typeface="Crimson Text"/>
              </a:rPr>
              <a:t>Hash Table</a:t>
            </a: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HT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Crimson Text"/>
              </a:rPr>
              <a:t>R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8C9B88-D379-4BDD-A5C1-CEF9C408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08" y="4242125"/>
            <a:ext cx="820601" cy="18703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145" y="414171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162" y="4139430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1823108" y="382346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8063948" y="3776678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017FCA7E-AB0A-40AC-B442-0D7F5E99D07A}"/>
              </a:ext>
            </a:extLst>
          </p:cNvPr>
          <p:cNvSpPr/>
          <p:nvPr/>
        </p:nvSpPr>
        <p:spPr>
          <a:xfrm rot="16200000">
            <a:off x="1249519" y="5794694"/>
            <a:ext cx="294384" cy="34114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3760511" y="4798620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B5750CF-1169-47E1-ACDD-201392B92885}"/>
              </a:ext>
            </a:extLst>
          </p:cNvPr>
          <p:cNvCxnSpPr>
            <a:stCxn id="17" idx="6"/>
          </p:cNvCxnSpPr>
          <p:nvPr/>
        </p:nvCxnSpPr>
        <p:spPr>
          <a:xfrm flipV="1">
            <a:off x="4316689" y="4452730"/>
            <a:ext cx="859319" cy="6294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229B04-E421-446D-84CB-08AB8AC7B481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4316689" y="4850296"/>
            <a:ext cx="858283" cy="2319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B8AA834-ED32-4A34-A2AA-D0BFB3854FDB}"/>
              </a:ext>
            </a:extLst>
          </p:cNvPr>
          <p:cNvCxnSpPr>
            <a:cxnSpLocks/>
            <a:stCxn id="17" idx="6"/>
            <a:endCxn id="11" idx="1"/>
          </p:cNvCxnSpPr>
          <p:nvPr/>
        </p:nvCxnSpPr>
        <p:spPr>
          <a:xfrm>
            <a:off x="4316689" y="5082220"/>
            <a:ext cx="859319" cy="9507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B1BE493-E862-4619-9DA7-1150E8D36338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4316689" y="5082220"/>
            <a:ext cx="858283" cy="83922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06E148D-78DD-4447-A905-A02494838562}"/>
              </a:ext>
            </a:extLst>
          </p:cNvPr>
          <p:cNvGrpSpPr/>
          <p:nvPr/>
        </p:nvGrpSpPr>
        <p:grpSpPr>
          <a:xfrm>
            <a:off x="5995573" y="4448525"/>
            <a:ext cx="4921424" cy="1433073"/>
            <a:chOff x="5995573" y="4448525"/>
            <a:chExt cx="4921424" cy="143307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2425DAB-0A6F-4D20-B151-9ECCA9A4148D}"/>
                </a:ext>
              </a:extLst>
            </p:cNvPr>
            <p:cNvSpPr/>
            <p:nvPr/>
          </p:nvSpPr>
          <p:spPr>
            <a:xfrm>
              <a:off x="6882222" y="4531489"/>
              <a:ext cx="556178" cy="56719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zh-CN" sz="1600" b="1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 b="1" i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箭头: 下 26">
              <a:extLst>
                <a:ext uri="{FF2B5EF4-FFF2-40B4-BE49-F238E27FC236}">
                  <a16:creationId xmlns:a16="http://schemas.microsoft.com/office/drawing/2014/main" id="{27A0755F-DCDE-4BE5-86F9-90A5307E4CB2}"/>
                </a:ext>
              </a:extLst>
            </p:cNvPr>
            <p:cNvSpPr/>
            <p:nvPr/>
          </p:nvSpPr>
          <p:spPr>
            <a:xfrm rot="5400000">
              <a:off x="10599234" y="5106376"/>
              <a:ext cx="294384" cy="341143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CA50601-58B0-4579-A7C8-0475C8AE3A60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 flipV="1">
              <a:off x="5996609" y="4448525"/>
              <a:ext cx="885613" cy="36656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A67CE49-7DDE-4D78-9055-6AE7D3C6E195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 flipV="1">
              <a:off x="6015968" y="4798620"/>
              <a:ext cx="866254" cy="1646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308C3FA4-D69A-43D0-B892-FDA700F71F74}"/>
                </a:ext>
              </a:extLst>
            </p:cNvPr>
            <p:cNvCxnSpPr>
              <a:cxnSpLocks/>
              <a:stCxn id="26" idx="2"/>
              <a:endCxn id="11" idx="3"/>
            </p:cNvCxnSpPr>
            <p:nvPr/>
          </p:nvCxnSpPr>
          <p:spPr>
            <a:xfrm flipH="1">
              <a:off x="5996609" y="4815089"/>
              <a:ext cx="885613" cy="36220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7452BC4-2660-4844-A455-63683D37E846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flipH="1">
              <a:off x="5995573" y="4815089"/>
              <a:ext cx="886649" cy="106650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277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 Table Values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/>
              <a:t>Key: </a:t>
            </a:r>
            <a:r>
              <a:rPr lang="en-US" altLang="zh-CN" dirty="0"/>
              <a:t>The attribute(s) that the query is joining the tables on.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/>
              <a:t>Value: </a:t>
            </a:r>
            <a:r>
              <a:rPr lang="en-US" altLang="zh-CN" dirty="0"/>
              <a:t>Varies per implementation.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Depends on what the operators above the join in the query plan expect as its input.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/>
              <a:t>Approach #1: Full Tuple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Avoid having to retrieve the outer relation's tuple contents on a match.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Takes up more space in memory.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/>
              <a:t>Approach #2: Tuple Identifier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Could be to either the base tables or the intermediate output from child operators.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Ideal for column stores because the DBMS does not fetch data from disk it does not need.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/>
              <a:t>Also better if join selectivity is low.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E1B55-5FFB-406B-B818-A02F3DA99F4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4930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Probe Phase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3843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Create a </a:t>
            </a:r>
            <a:r>
              <a:rPr lang="en-US" altLang="zh-CN" b="1" dirty="0">
                <a:solidFill>
                  <a:srgbClr val="FF0000"/>
                </a:solidFill>
              </a:rPr>
              <a:t>Bloom Filter </a:t>
            </a:r>
            <a:r>
              <a:rPr lang="en-US" altLang="zh-CN" dirty="0"/>
              <a:t>during the build phase when the key is likely to not exist in the hash table.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Threads check the filter before probing the hash table.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This will be faster since the filter will fit in CPU caches.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Sometimes called </a:t>
            </a:r>
            <a:r>
              <a:rPr lang="en-US" altLang="zh-CN" b="1" dirty="0">
                <a:solidFill>
                  <a:srgbClr val="00B050"/>
                </a:solidFill>
              </a:rPr>
              <a:t>sideways information passing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0F24D-3B0A-45BF-ACA3-C4FE1272EE5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6314A5-23A6-4A9F-A46A-0CFAF8E14E08}"/>
              </a:ext>
            </a:extLst>
          </p:cNvPr>
          <p:cNvGrpSpPr/>
          <p:nvPr/>
        </p:nvGrpSpPr>
        <p:grpSpPr>
          <a:xfrm>
            <a:off x="5105401" y="4261539"/>
            <a:ext cx="2524538" cy="2094811"/>
            <a:chOff x="7944679" y="4068417"/>
            <a:chExt cx="2524538" cy="209481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990CB65-6F8F-463F-B1B3-ABC40D506B97}"/>
                </a:ext>
              </a:extLst>
            </p:cNvPr>
            <p:cNvSpPr/>
            <p:nvPr/>
          </p:nvSpPr>
          <p:spPr>
            <a:xfrm>
              <a:off x="8926996" y="4068417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⋈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7787859-E793-4EA1-B209-8C40F3BD3F32}"/>
                </a:ext>
              </a:extLst>
            </p:cNvPr>
            <p:cNvSpPr/>
            <p:nvPr/>
          </p:nvSpPr>
          <p:spPr>
            <a:xfrm>
              <a:off x="9886122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C2E408C-11DD-4B42-AEC0-2ED5B1B86A62}"/>
                </a:ext>
              </a:extLst>
            </p:cNvPr>
            <p:cNvSpPr/>
            <p:nvPr/>
          </p:nvSpPr>
          <p:spPr>
            <a:xfrm>
              <a:off x="7944679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R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1E1AD7F-2C61-41F5-A925-6C1900A82CDE}"/>
                </a:ext>
              </a:extLst>
            </p:cNvPr>
            <p:cNvCxnSpPr>
              <a:cxnSpLocks/>
              <a:stCxn id="10" idx="0"/>
              <a:endCxn id="8" idx="3"/>
            </p:cNvCxnSpPr>
            <p:nvPr/>
          </p:nvCxnSpPr>
          <p:spPr>
            <a:xfrm flipV="1">
              <a:off x="8236227" y="4566121"/>
              <a:ext cx="77616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2CDC7E3-4B1E-4635-8ED0-31E301E84CDF}"/>
                </a:ext>
              </a:extLst>
            </p:cNvPr>
            <p:cNvCxnSpPr>
              <a:cxnSpLocks/>
              <a:stCxn id="9" idx="0"/>
              <a:endCxn id="8" idx="5"/>
            </p:cNvCxnSpPr>
            <p:nvPr/>
          </p:nvCxnSpPr>
          <p:spPr>
            <a:xfrm flipH="1" flipV="1">
              <a:off x="9424699" y="4566121"/>
              <a:ext cx="75297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106A74F4-3C92-461F-9D1C-F927FA875835}"/>
              </a:ext>
            </a:extLst>
          </p:cNvPr>
          <p:cNvSpPr/>
          <p:nvPr/>
        </p:nvSpPr>
        <p:spPr>
          <a:xfrm>
            <a:off x="2204830" y="3909949"/>
            <a:ext cx="20673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latin typeface="Crimson Text"/>
              </a:rPr>
              <a:t>Hash Table</a:t>
            </a: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HT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Crimson Text"/>
              </a:rPr>
              <a:t>R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EB66CD-9ACE-424B-84E6-B040CBDCB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717" y="4723074"/>
            <a:ext cx="820601" cy="1870331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287661E-6E72-4463-A610-DCC5874BC346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3767305" y="5528835"/>
            <a:ext cx="1338096" cy="5359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8E9ACF4-7AE5-4FCE-A174-6B3AB0A42358}"/>
              </a:ext>
            </a:extLst>
          </p:cNvPr>
          <p:cNvSpPr/>
          <p:nvPr/>
        </p:nvSpPr>
        <p:spPr>
          <a:xfrm>
            <a:off x="4290391" y="4649289"/>
            <a:ext cx="1505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Bloom Filter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0" name="图形 19" descr="筛选">
            <a:extLst>
              <a:ext uri="{FF2B5EF4-FFF2-40B4-BE49-F238E27FC236}">
                <a16:creationId xmlns:a16="http://schemas.microsoft.com/office/drawing/2014/main" id="{545C106A-332B-40B4-9135-9DB134812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5351" y="4564338"/>
            <a:ext cx="602974" cy="602974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B3A554-F4CF-4D10-A6E5-09D850E1F440}"/>
              </a:ext>
            </a:extLst>
          </p:cNvPr>
          <p:cNvCxnSpPr>
            <a:cxnSpLocks/>
            <a:stCxn id="10" idx="2"/>
            <a:endCxn id="20" idx="2"/>
          </p:cNvCxnSpPr>
          <p:nvPr/>
        </p:nvCxnSpPr>
        <p:spPr>
          <a:xfrm flipH="1" flipV="1">
            <a:off x="4176838" y="5167312"/>
            <a:ext cx="928563" cy="8974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88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Probe Phase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3843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Create a </a:t>
            </a:r>
            <a:r>
              <a:rPr lang="en-US" altLang="zh-CN" b="1" dirty="0">
                <a:solidFill>
                  <a:srgbClr val="FF0000"/>
                </a:solidFill>
              </a:rPr>
              <a:t>Bloom Filter </a:t>
            </a:r>
            <a:r>
              <a:rPr lang="en-US" altLang="zh-CN" dirty="0"/>
              <a:t>during the build phase when the key is likely to not exist in the hash table.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Threads check the filter before probing the hash table.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This will be faster since the filter will fit in CPU caches.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Sometimes called </a:t>
            </a:r>
            <a:r>
              <a:rPr lang="en-US" altLang="zh-CN" b="1" dirty="0">
                <a:solidFill>
                  <a:srgbClr val="00B050"/>
                </a:solidFill>
              </a:rPr>
              <a:t>sideways information passing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F7AB9-6BB5-4077-BF7A-152123C167E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50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6314A5-23A6-4A9F-A46A-0CFAF8E14E08}"/>
              </a:ext>
            </a:extLst>
          </p:cNvPr>
          <p:cNvGrpSpPr/>
          <p:nvPr/>
        </p:nvGrpSpPr>
        <p:grpSpPr>
          <a:xfrm>
            <a:off x="5105401" y="4261539"/>
            <a:ext cx="2524538" cy="2094811"/>
            <a:chOff x="7944679" y="4068417"/>
            <a:chExt cx="2524538" cy="209481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990CB65-6F8F-463F-B1B3-ABC40D506B97}"/>
                </a:ext>
              </a:extLst>
            </p:cNvPr>
            <p:cNvSpPr/>
            <p:nvPr/>
          </p:nvSpPr>
          <p:spPr>
            <a:xfrm>
              <a:off x="8926996" y="4068417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⋈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7787859-E793-4EA1-B209-8C40F3BD3F32}"/>
                </a:ext>
              </a:extLst>
            </p:cNvPr>
            <p:cNvSpPr/>
            <p:nvPr/>
          </p:nvSpPr>
          <p:spPr>
            <a:xfrm>
              <a:off x="9886122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S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C2E408C-11DD-4B42-AEC0-2ED5B1B86A62}"/>
                </a:ext>
              </a:extLst>
            </p:cNvPr>
            <p:cNvSpPr/>
            <p:nvPr/>
          </p:nvSpPr>
          <p:spPr>
            <a:xfrm>
              <a:off x="7944679" y="5580132"/>
              <a:ext cx="583095" cy="583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R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1E1AD7F-2C61-41F5-A925-6C1900A82CDE}"/>
                </a:ext>
              </a:extLst>
            </p:cNvPr>
            <p:cNvCxnSpPr>
              <a:cxnSpLocks/>
              <a:stCxn id="10" idx="0"/>
              <a:endCxn id="8" idx="3"/>
            </p:cNvCxnSpPr>
            <p:nvPr/>
          </p:nvCxnSpPr>
          <p:spPr>
            <a:xfrm flipV="1">
              <a:off x="8236227" y="4566121"/>
              <a:ext cx="77616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2CDC7E3-4B1E-4635-8ED0-31E301E84CDF}"/>
                </a:ext>
              </a:extLst>
            </p:cNvPr>
            <p:cNvCxnSpPr>
              <a:cxnSpLocks/>
              <a:stCxn id="9" idx="0"/>
              <a:endCxn id="8" idx="5"/>
            </p:cNvCxnSpPr>
            <p:nvPr/>
          </p:nvCxnSpPr>
          <p:spPr>
            <a:xfrm flipH="1" flipV="1">
              <a:off x="9424699" y="4566121"/>
              <a:ext cx="752971" cy="10140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106A74F4-3C92-461F-9D1C-F927FA875835}"/>
              </a:ext>
            </a:extLst>
          </p:cNvPr>
          <p:cNvSpPr/>
          <p:nvPr/>
        </p:nvSpPr>
        <p:spPr>
          <a:xfrm>
            <a:off x="2204830" y="3909949"/>
            <a:ext cx="20673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latin typeface="Crimson Text"/>
              </a:rPr>
              <a:t>Hash Table</a:t>
            </a: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HT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Crimson Text"/>
              </a:rPr>
              <a:t>R</a:t>
            </a:r>
            <a:endParaRPr lang="zh-CN" altLang="en-US" sz="2400" baseline="-25000" dirty="0">
              <a:solidFill>
                <a:srgbClr val="FF0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EB66CD-9ACE-424B-84E6-B040CBDCB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717" y="4723074"/>
            <a:ext cx="820601" cy="187033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8E9ACF4-7AE5-4FCE-A174-6B3AB0A42358}"/>
              </a:ext>
            </a:extLst>
          </p:cNvPr>
          <p:cNvSpPr/>
          <p:nvPr/>
        </p:nvSpPr>
        <p:spPr>
          <a:xfrm>
            <a:off x="8724153" y="4542707"/>
            <a:ext cx="15057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  <a:latin typeface="Crimson Text"/>
              </a:rPr>
              <a:t>Bloom Filter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0" name="图形 19" descr="筛选">
            <a:extLst>
              <a:ext uri="{FF2B5EF4-FFF2-40B4-BE49-F238E27FC236}">
                <a16:creationId xmlns:a16="http://schemas.microsoft.com/office/drawing/2014/main" id="{545C106A-332B-40B4-9135-9DB134812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9113" y="4457756"/>
            <a:ext cx="602974" cy="602974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B3A554-F4CF-4D10-A6E5-09D850E1F440}"/>
              </a:ext>
            </a:extLst>
          </p:cNvPr>
          <p:cNvCxnSpPr>
            <a:cxnSpLocks/>
            <a:stCxn id="9" idx="6"/>
            <a:endCxn id="20" idx="2"/>
          </p:cNvCxnSpPr>
          <p:nvPr/>
        </p:nvCxnSpPr>
        <p:spPr>
          <a:xfrm flipV="1">
            <a:off x="7629939" y="5060730"/>
            <a:ext cx="980661" cy="10040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40C4364-C8D6-4228-B1F1-E36FAF9E223E}"/>
              </a:ext>
            </a:extLst>
          </p:cNvPr>
          <p:cNvCxnSpPr>
            <a:cxnSpLocks/>
            <a:stCxn id="9" idx="4"/>
            <a:endCxn id="14" idx="3"/>
          </p:cNvCxnSpPr>
          <p:nvPr/>
        </p:nvCxnSpPr>
        <p:spPr>
          <a:xfrm rot="5400000" flipH="1">
            <a:off x="5144800" y="4162758"/>
            <a:ext cx="698110" cy="3689074"/>
          </a:xfrm>
          <a:prstGeom prst="curvedConnector4">
            <a:avLst>
              <a:gd name="adj1" fmla="val -3323"/>
              <a:gd name="adj2" fmla="val 8628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64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Cost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How big of a table can we hash using this approach?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i="1" dirty="0">
                <a:solidFill>
                  <a:srgbClr val="FF0000"/>
                </a:solidFill>
              </a:rPr>
              <a:t>B-1 </a:t>
            </a:r>
            <a:r>
              <a:rPr lang="en-US" altLang="zh-CN" dirty="0"/>
              <a:t>"spill partitions" in Phase #1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Each should be no more than B blocks big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Answer: </a:t>
            </a:r>
            <a:r>
              <a:rPr lang="en-US" altLang="zh-CN" b="1" i="1" dirty="0">
                <a:solidFill>
                  <a:srgbClr val="FF0000"/>
                </a:solidFill>
              </a:rPr>
              <a:t>B∙(B-1)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 table of </a:t>
            </a:r>
            <a:r>
              <a:rPr lang="en-US" altLang="zh-CN" b="1" i="1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 pages needs about </a:t>
            </a:r>
            <a:r>
              <a:rPr lang="en-US" altLang="zh-CN" b="1" i="1" dirty="0">
                <a:solidFill>
                  <a:srgbClr val="FF0000"/>
                </a:solidFill>
              </a:rPr>
              <a:t>sqrt(N)</a:t>
            </a:r>
            <a:r>
              <a:rPr lang="en-US" altLang="zh-CN" dirty="0"/>
              <a:t> buffers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Assumes hash distributes records evenly.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Use a "fudge factor" </a:t>
            </a:r>
            <a:r>
              <a:rPr lang="en-US" altLang="zh-CN" b="1" i="1" dirty="0">
                <a:solidFill>
                  <a:srgbClr val="FF0000"/>
                </a:solidFill>
              </a:rPr>
              <a:t>f &gt; 1</a:t>
            </a:r>
            <a:r>
              <a:rPr lang="en-US" altLang="zh-CN" dirty="0"/>
              <a:t> for that: we need </a:t>
            </a:r>
            <a:r>
              <a:rPr lang="en-US" altLang="zh-CN" b="1" i="1" dirty="0">
                <a:solidFill>
                  <a:srgbClr val="FF0000"/>
                </a:solidFill>
              </a:rPr>
              <a:t>B ∙ sqrt(f ∙ N)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94EE-88C6-454A-909F-816817D9D11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870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Grace Hash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443870" cy="46656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Hash join when tables do not fit in memory.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Build Phase: Hash both tables on the join attribute into partitions.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Probe Phase: Compares tuples in corresponding partitions for each table.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Named after the GRACE database machine from Japan in the 1980s.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0211-E965-4A29-81FB-BF97BDB72CA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1026" name="Picture 2" descr="http://museum.ipsj.or.jp/computer/other/images/0014_01_l.jpg">
            <a:extLst>
              <a:ext uri="{FF2B5EF4-FFF2-40B4-BE49-F238E27FC236}">
                <a16:creationId xmlns:a16="http://schemas.microsoft.com/office/drawing/2014/main" id="{48274C5F-703F-4D98-B6BD-267DD9B6B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216" y="2217462"/>
            <a:ext cx="3943350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7E71E91-135D-4393-959E-601B850A749B}"/>
              </a:ext>
            </a:extLst>
          </p:cNvPr>
          <p:cNvSpPr/>
          <p:nvPr/>
        </p:nvSpPr>
        <p:spPr>
          <a:xfrm>
            <a:off x="7828584" y="5046460"/>
            <a:ext cx="2978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University of Tokyo's GRACE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1177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Grace Hash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6A3F9-8827-42C3-B4DC-6F59120390B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11" y="411456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565" y="4515067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1030974" y="379631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8849351" y="4152315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8B5C0C-D943-426C-A849-43A17BC051A5}"/>
              </a:ext>
            </a:extLst>
          </p:cNvPr>
          <p:cNvSpPr/>
          <p:nvPr/>
        </p:nvSpPr>
        <p:spPr>
          <a:xfrm>
            <a:off x="824011" y="1788935"/>
            <a:ext cx="101391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into (0, 1, ...,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) buckets.</a:t>
            </a:r>
          </a:p>
          <a:p>
            <a:pPr>
              <a:spcBef>
                <a:spcPts val="1200"/>
              </a:spcBef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Hash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into the same # of buckets with the same hash function.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CC5127A-7C4D-4CE7-BFE6-12C90711410D}"/>
              </a:ext>
            </a:extLst>
          </p:cNvPr>
          <p:cNvGrpSpPr/>
          <p:nvPr/>
        </p:nvGrpSpPr>
        <p:grpSpPr>
          <a:xfrm>
            <a:off x="2707482" y="3798872"/>
            <a:ext cx="5724007" cy="2446722"/>
            <a:chOff x="2707482" y="3798872"/>
            <a:chExt cx="5724007" cy="244672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DD3AD4-07E4-4811-88D2-1F9E74A754B0}"/>
                </a:ext>
              </a:extLst>
            </p:cNvPr>
            <p:cNvSpPr/>
            <p:nvPr/>
          </p:nvSpPr>
          <p:spPr>
            <a:xfrm>
              <a:off x="3980000" y="3798872"/>
              <a:ext cx="1106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HT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Crimson Text"/>
                </a:rPr>
                <a:t>R</a:t>
              </a:r>
              <a:endParaRPr lang="zh-CN" altLang="en-US" sz="2400" baseline="-25000" dirty="0">
                <a:solidFill>
                  <a:srgbClr val="FF0000"/>
                </a:solidFill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58C9B88-D379-4BDD-A5C1-CEF9C4082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2979" y="4306602"/>
              <a:ext cx="820601" cy="1870331"/>
            </a:xfrm>
            <a:prstGeom prst="rect">
              <a:avLst/>
            </a:prstGeom>
          </p:spPr>
        </p:pic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D3C1005-83B6-42DF-86D6-D4FD3F26200B}"/>
                </a:ext>
              </a:extLst>
            </p:cNvPr>
            <p:cNvSpPr/>
            <p:nvPr/>
          </p:nvSpPr>
          <p:spPr>
            <a:xfrm>
              <a:off x="2707482" y="4863097"/>
              <a:ext cx="556178" cy="56719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zh-CN" sz="1600" b="1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 b="1" i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B5750CF-1169-47E1-ACDD-201392B92885}"/>
                </a:ext>
              </a:extLst>
            </p:cNvPr>
            <p:cNvCxnSpPr>
              <a:stCxn id="17" idx="6"/>
            </p:cNvCxnSpPr>
            <p:nvPr/>
          </p:nvCxnSpPr>
          <p:spPr>
            <a:xfrm flipV="1">
              <a:off x="3263660" y="4517207"/>
              <a:ext cx="859319" cy="62949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7229B04-E421-446D-84CB-08AB8AC7B481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 flipV="1">
              <a:off x="3263660" y="4914773"/>
              <a:ext cx="858283" cy="2319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B8AA834-ED32-4A34-A2AA-D0BFB3854FDB}"/>
                </a:ext>
              </a:extLst>
            </p:cNvPr>
            <p:cNvCxnSpPr>
              <a:cxnSpLocks/>
              <a:stCxn id="17" idx="6"/>
              <a:endCxn id="11" idx="1"/>
            </p:cNvCxnSpPr>
            <p:nvPr/>
          </p:nvCxnSpPr>
          <p:spPr>
            <a:xfrm>
              <a:off x="3263660" y="5146697"/>
              <a:ext cx="859319" cy="9507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B1BE493-E862-4619-9DA7-1150E8D36338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3263660" y="5146697"/>
              <a:ext cx="858283" cy="83922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8BCC669-DEDE-4AF5-9B1E-A93A4FC685E1}"/>
                </a:ext>
              </a:extLst>
            </p:cNvPr>
            <p:cNvSpPr/>
            <p:nvPr/>
          </p:nvSpPr>
          <p:spPr>
            <a:xfrm>
              <a:off x="6196687" y="3798872"/>
              <a:ext cx="1106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HT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Crimson Text"/>
                </a:rPr>
                <a:t>s</a:t>
              </a:r>
              <a:endParaRPr lang="zh-CN" altLang="en-US" sz="2400" baseline="-25000" dirty="0">
                <a:solidFill>
                  <a:srgbClr val="FF0000"/>
                </a:solidFill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AA67702-FE8C-4D78-BC49-391FD86FA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9666" y="4306602"/>
              <a:ext cx="820601" cy="1870331"/>
            </a:xfrm>
            <a:prstGeom prst="rect">
              <a:avLst/>
            </a:prstGeom>
          </p:spPr>
        </p:pic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A448A08-7DB6-4A6C-AD78-5246522E7BE5}"/>
                </a:ext>
              </a:extLst>
            </p:cNvPr>
            <p:cNvSpPr/>
            <p:nvPr/>
          </p:nvSpPr>
          <p:spPr>
            <a:xfrm>
              <a:off x="7875311" y="4863096"/>
              <a:ext cx="556178" cy="56719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zh-CN" sz="1600" b="1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 b="1" i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ED31B3B-957E-4E20-9A3A-00CDA5BDBECF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 flipV="1">
              <a:off x="7160267" y="4515067"/>
              <a:ext cx="715044" cy="63162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0B880EB-085F-463B-9645-9C91BD93E627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 flipV="1">
              <a:off x="7171163" y="4863098"/>
              <a:ext cx="704148" cy="28359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B299743-EC72-4187-9F19-76A7D5E9A524}"/>
                </a:ext>
              </a:extLst>
            </p:cNvPr>
            <p:cNvCxnSpPr>
              <a:cxnSpLocks/>
              <a:stCxn id="32" idx="2"/>
              <a:endCxn id="30" idx="3"/>
            </p:cNvCxnSpPr>
            <p:nvPr/>
          </p:nvCxnSpPr>
          <p:spPr>
            <a:xfrm flipH="1">
              <a:off x="7160267" y="5146696"/>
              <a:ext cx="715044" cy="9507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308F6B3-7CD9-407E-9C7C-868C1F26B58E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>
              <a:off x="7171163" y="5146696"/>
              <a:ext cx="704148" cy="7933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974F92C-0A64-4255-98D5-83543977332C}"/>
                </a:ext>
              </a:extLst>
            </p:cNvPr>
            <p:cNvSpPr/>
            <p:nvPr/>
          </p:nvSpPr>
          <p:spPr>
            <a:xfrm>
              <a:off x="5188768" y="4306602"/>
              <a:ext cx="820601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0</a:t>
              </a: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1</a:t>
              </a: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2</a:t>
              </a:r>
            </a:p>
            <a:p>
              <a:pPr algn="ctr"/>
              <a:endParaRPr lang="en-US" altLang="zh-CN" sz="2400" b="1" i="1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</a:rPr>
                <a:t>max</a:t>
              </a:r>
              <a:endParaRPr lang="zh-CN" altLang="en-US" sz="2400" b="1" i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643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Grace Hash Join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B5115-6D5D-4987-B99B-87C496B4362D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11" y="411456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565" y="4515067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1030974" y="379631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8849351" y="4152315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8B5C0C-D943-426C-A849-43A17BC051A5}"/>
              </a:ext>
            </a:extLst>
          </p:cNvPr>
          <p:cNvSpPr/>
          <p:nvPr/>
        </p:nvSpPr>
        <p:spPr>
          <a:xfrm>
            <a:off x="759046" y="1972449"/>
            <a:ext cx="543764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Perform nested loop join on each pair of matching buckets in the same level between R and S.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CC5127A-7C4D-4CE7-BFE6-12C90711410D}"/>
              </a:ext>
            </a:extLst>
          </p:cNvPr>
          <p:cNvGrpSpPr/>
          <p:nvPr/>
        </p:nvGrpSpPr>
        <p:grpSpPr>
          <a:xfrm>
            <a:off x="2707482" y="3798872"/>
            <a:ext cx="5724007" cy="2446722"/>
            <a:chOff x="2707482" y="3798872"/>
            <a:chExt cx="5724007" cy="244672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8DD3AD4-07E4-4811-88D2-1F9E74A754B0}"/>
                </a:ext>
              </a:extLst>
            </p:cNvPr>
            <p:cNvSpPr/>
            <p:nvPr/>
          </p:nvSpPr>
          <p:spPr>
            <a:xfrm>
              <a:off x="3980000" y="3798872"/>
              <a:ext cx="1106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HT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Crimson Text"/>
                </a:rPr>
                <a:t>R</a:t>
              </a:r>
              <a:endParaRPr lang="zh-CN" altLang="en-US" sz="2400" baseline="-25000" dirty="0">
                <a:solidFill>
                  <a:srgbClr val="FF0000"/>
                </a:solidFill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58C9B88-D379-4BDD-A5C1-CEF9C4082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2979" y="4306602"/>
              <a:ext cx="820601" cy="1870331"/>
            </a:xfrm>
            <a:prstGeom prst="rect">
              <a:avLst/>
            </a:prstGeom>
          </p:spPr>
        </p:pic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D3C1005-83B6-42DF-86D6-D4FD3F26200B}"/>
                </a:ext>
              </a:extLst>
            </p:cNvPr>
            <p:cNvSpPr/>
            <p:nvPr/>
          </p:nvSpPr>
          <p:spPr>
            <a:xfrm>
              <a:off x="2707482" y="4863097"/>
              <a:ext cx="556178" cy="56719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zh-CN" sz="1600" b="1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 b="1" i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B5750CF-1169-47E1-ACDD-201392B92885}"/>
                </a:ext>
              </a:extLst>
            </p:cNvPr>
            <p:cNvCxnSpPr>
              <a:stCxn id="17" idx="6"/>
            </p:cNvCxnSpPr>
            <p:nvPr/>
          </p:nvCxnSpPr>
          <p:spPr>
            <a:xfrm flipV="1">
              <a:off x="3263660" y="4517207"/>
              <a:ext cx="859319" cy="62949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47229B04-E421-446D-84CB-08AB8AC7B481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 flipV="1">
              <a:off x="3263660" y="4914773"/>
              <a:ext cx="858283" cy="2319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8B8AA834-ED32-4A34-A2AA-D0BFB3854FDB}"/>
                </a:ext>
              </a:extLst>
            </p:cNvPr>
            <p:cNvCxnSpPr>
              <a:cxnSpLocks/>
              <a:stCxn id="17" idx="6"/>
              <a:endCxn id="11" idx="1"/>
            </p:cNvCxnSpPr>
            <p:nvPr/>
          </p:nvCxnSpPr>
          <p:spPr>
            <a:xfrm>
              <a:off x="3263660" y="5146697"/>
              <a:ext cx="859319" cy="9507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0B1BE493-E862-4619-9DA7-1150E8D36338}"/>
                </a:ext>
              </a:extLst>
            </p:cNvPr>
            <p:cNvCxnSpPr>
              <a:cxnSpLocks/>
              <a:stCxn id="17" idx="6"/>
            </p:cNvCxnSpPr>
            <p:nvPr/>
          </p:nvCxnSpPr>
          <p:spPr>
            <a:xfrm>
              <a:off x="3263660" y="5146697"/>
              <a:ext cx="858283" cy="83922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8BCC669-DEDE-4AF5-9B1E-A93A4FC685E1}"/>
                </a:ext>
              </a:extLst>
            </p:cNvPr>
            <p:cNvSpPr/>
            <p:nvPr/>
          </p:nvSpPr>
          <p:spPr>
            <a:xfrm>
              <a:off x="6196687" y="3798872"/>
              <a:ext cx="11065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HT</a:t>
              </a:r>
              <a:r>
                <a:rPr lang="en-US" altLang="zh-CN" sz="2400" b="1" i="1" baseline="-25000" dirty="0">
                  <a:solidFill>
                    <a:srgbClr val="FF0000"/>
                  </a:solidFill>
                  <a:latin typeface="Crimson Text"/>
                </a:rPr>
                <a:t>s</a:t>
              </a:r>
              <a:endParaRPr lang="zh-CN" altLang="en-US" sz="2400" baseline="-25000" dirty="0">
                <a:solidFill>
                  <a:srgbClr val="FF0000"/>
                </a:solidFill>
              </a:endParaRPr>
            </a:p>
          </p:txBody>
        </p:sp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EAA67702-FE8C-4D78-BC49-391FD86FA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9666" y="4306602"/>
              <a:ext cx="820601" cy="1870331"/>
            </a:xfrm>
            <a:prstGeom prst="rect">
              <a:avLst/>
            </a:prstGeom>
          </p:spPr>
        </p:pic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A448A08-7DB6-4A6C-AD78-5246522E7BE5}"/>
                </a:ext>
              </a:extLst>
            </p:cNvPr>
            <p:cNvSpPr/>
            <p:nvPr/>
          </p:nvSpPr>
          <p:spPr>
            <a:xfrm>
              <a:off x="7875311" y="4863096"/>
              <a:ext cx="556178" cy="56719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zh-CN" sz="1600" b="1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 b="1" i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ED31B3B-957E-4E20-9A3A-00CDA5BDBECF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 flipV="1">
              <a:off x="7160267" y="4515067"/>
              <a:ext cx="715044" cy="63162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0B880EB-085F-463B-9645-9C91BD93E627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 flipV="1">
              <a:off x="7171163" y="4863098"/>
              <a:ext cx="704148" cy="28359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EB299743-EC72-4187-9F19-76A7D5E9A524}"/>
                </a:ext>
              </a:extLst>
            </p:cNvPr>
            <p:cNvCxnSpPr>
              <a:cxnSpLocks/>
              <a:stCxn id="32" idx="2"/>
              <a:endCxn id="30" idx="3"/>
            </p:cNvCxnSpPr>
            <p:nvPr/>
          </p:nvCxnSpPr>
          <p:spPr>
            <a:xfrm flipH="1">
              <a:off x="7160267" y="5146696"/>
              <a:ext cx="715044" cy="9507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308F6B3-7CD9-407E-9C7C-868C1F26B58E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>
              <a:off x="7171163" y="5146696"/>
              <a:ext cx="704148" cy="7933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A974F92C-0A64-4255-98D5-83543977332C}"/>
                </a:ext>
              </a:extLst>
            </p:cNvPr>
            <p:cNvSpPr/>
            <p:nvPr/>
          </p:nvSpPr>
          <p:spPr>
            <a:xfrm>
              <a:off x="5188768" y="4306602"/>
              <a:ext cx="820601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0</a:t>
              </a: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1</a:t>
              </a: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  <a:latin typeface="Crimson Text"/>
                </a:rPr>
                <a:t>2</a:t>
              </a:r>
            </a:p>
            <a:p>
              <a:pPr algn="ctr"/>
              <a:endParaRPr lang="en-US" altLang="zh-CN" sz="2400" b="1" i="1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CN" sz="2400" b="1" i="1" dirty="0">
                  <a:solidFill>
                    <a:srgbClr val="FF0000"/>
                  </a:solidFill>
                </a:rPr>
                <a:t>max</a:t>
              </a:r>
              <a:endParaRPr lang="zh-CN" altLang="en-US" sz="2400" b="1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B113603-B0A4-4454-B88D-7BD181CD100B}"/>
              </a:ext>
            </a:extLst>
          </p:cNvPr>
          <p:cNvSpPr/>
          <p:nvPr/>
        </p:nvSpPr>
        <p:spPr>
          <a:xfrm>
            <a:off x="6339667" y="2064781"/>
            <a:ext cx="5014134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b="1" dirty="0">
                <a:latin typeface="Inconsolata"/>
              </a:rPr>
              <a:t>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latin typeface="Inconsolata"/>
              </a:rPr>
              <a:t>bucket</a:t>
            </a:r>
            <a:r>
              <a:rPr lang="en-US" altLang="zh-CN" sz="2400" b="1" baseline="-25000" dirty="0">
                <a:latin typeface="Inconsolata"/>
              </a:rPr>
              <a:t>R,0</a:t>
            </a:r>
            <a:r>
              <a:rPr lang="en-US" altLang="zh-CN" sz="2400" dirty="0">
                <a:latin typeface="Inconsolata"/>
              </a:rPr>
              <a:t>:</a:t>
            </a:r>
          </a:p>
          <a:p>
            <a:r>
              <a:rPr lang="en-US" altLang="zh-CN" sz="2400" b="1" dirty="0">
                <a:latin typeface="Inconsolata"/>
              </a:rPr>
              <a:t>	for each </a:t>
            </a:r>
            <a:r>
              <a:rPr lang="en-US" altLang="zh-CN" sz="2400" dirty="0">
                <a:latin typeface="Inconsolata"/>
              </a:rPr>
              <a:t>tuple </a:t>
            </a:r>
            <a:r>
              <a:rPr lang="en-US" altLang="zh-CN" sz="2400" b="1" dirty="0"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∈ </a:t>
            </a:r>
            <a:r>
              <a:rPr lang="en-US" altLang="zh-CN" sz="2400" b="1" dirty="0">
                <a:latin typeface="Inconsolata"/>
              </a:rPr>
              <a:t>bucket</a:t>
            </a:r>
            <a:r>
              <a:rPr lang="en-US" altLang="zh-CN" sz="2400" b="1" baseline="-25000" dirty="0">
                <a:latin typeface="Inconsolata"/>
              </a:rPr>
              <a:t>S,0</a:t>
            </a:r>
            <a:r>
              <a:rPr lang="en-US" altLang="zh-CN" sz="2400" dirty="0">
                <a:latin typeface="Inconsolata"/>
              </a:rPr>
              <a:t>:  </a:t>
            </a:r>
          </a:p>
          <a:p>
            <a:r>
              <a:rPr lang="en-US" altLang="zh-CN" sz="2400" dirty="0">
                <a:latin typeface="Inconsolata"/>
              </a:rPr>
              <a:t>		</a:t>
            </a:r>
            <a:r>
              <a:rPr lang="en-US" altLang="zh-CN" sz="2400" b="1" dirty="0">
                <a:latin typeface="Inconsolata"/>
              </a:rPr>
              <a:t>if</a:t>
            </a:r>
            <a:r>
              <a:rPr lang="en-US" altLang="zh-CN" sz="2400" dirty="0">
                <a:latin typeface="Inconsolata"/>
              </a:rPr>
              <a:t> match(</a:t>
            </a:r>
            <a:r>
              <a:rPr lang="en-US" altLang="zh-CN" sz="2400" b="1" dirty="0">
                <a:latin typeface="Inconsolata"/>
              </a:rPr>
              <a:t>r</a:t>
            </a:r>
            <a:r>
              <a:rPr lang="en-US" altLang="zh-CN" sz="2400" dirty="0">
                <a:latin typeface="Inconsolata"/>
              </a:rPr>
              <a:t>, </a:t>
            </a:r>
            <a:r>
              <a:rPr lang="en-US" altLang="zh-CN" sz="2400" b="1" dirty="0">
                <a:latin typeface="Inconsolata"/>
              </a:rPr>
              <a:t>s</a:t>
            </a:r>
            <a:r>
              <a:rPr lang="en-US" altLang="zh-CN" sz="2400" dirty="0">
                <a:latin typeface="Inconsolata"/>
              </a:rPr>
              <a:t>) </a:t>
            </a:r>
            <a:r>
              <a:rPr lang="en-US" altLang="zh-CN" sz="2400" b="1" dirty="0">
                <a:latin typeface="Inconsolata"/>
              </a:rPr>
              <a:t>then</a:t>
            </a:r>
            <a:r>
              <a:rPr lang="en-US" altLang="zh-CN" sz="2400" dirty="0">
                <a:latin typeface="Inconsolata"/>
              </a:rPr>
              <a:t> emit;</a:t>
            </a:r>
            <a:endParaRPr lang="zh-CN" altLang="en-US" sz="24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1C9D3D8-8742-4DC7-95A8-89AA0C3710AC}"/>
              </a:ext>
            </a:extLst>
          </p:cNvPr>
          <p:cNvSpPr/>
          <p:nvPr/>
        </p:nvSpPr>
        <p:spPr>
          <a:xfrm>
            <a:off x="4068423" y="4300330"/>
            <a:ext cx="3102740" cy="414999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9FCE161-3C25-4E08-9A50-4B96F3574FF0}"/>
              </a:ext>
            </a:extLst>
          </p:cNvPr>
          <p:cNvCxnSpPr>
            <a:cxnSpLocks/>
          </p:cNvCxnSpPr>
          <p:nvPr/>
        </p:nvCxnSpPr>
        <p:spPr>
          <a:xfrm flipH="1">
            <a:off x="4121944" y="3307501"/>
            <a:ext cx="2217722" cy="992829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9C99A0A-BD75-412A-87C5-1BCEC658FBA4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7171163" y="3265110"/>
            <a:ext cx="4182638" cy="124272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736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Grace Hash Join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870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If the buckets do not fit in memory, then use </a:t>
            </a:r>
            <a:r>
              <a:rPr lang="en-US" altLang="zh-CN" sz="3200" b="1" u="sng" dirty="0"/>
              <a:t>recursive partitioning</a:t>
            </a:r>
            <a:r>
              <a:rPr lang="en-US" altLang="zh-CN" sz="3200" dirty="0"/>
              <a:t> to split the tables into chunks that will fit.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Build another hash table for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bucket</a:t>
            </a:r>
            <a:r>
              <a:rPr lang="en-US" altLang="zh-CN" sz="2800" b="1" i="1" baseline="-25000" dirty="0" err="1">
                <a:solidFill>
                  <a:srgbClr val="FF0000"/>
                </a:solidFill>
              </a:rPr>
              <a:t>R,i</a:t>
            </a:r>
            <a:r>
              <a:rPr lang="en-US" altLang="zh-CN" sz="2800" b="1" i="1" baseline="-250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using hash function </a:t>
            </a:r>
            <a:r>
              <a:rPr lang="en-US" altLang="zh-CN" sz="2800" b="1" i="1" dirty="0">
                <a:solidFill>
                  <a:srgbClr val="FF0000"/>
                </a:solidFill>
              </a:rPr>
              <a:t>h</a:t>
            </a:r>
            <a:r>
              <a:rPr lang="en-US" altLang="zh-CN" sz="2800" b="1" i="1" baseline="-25000" dirty="0">
                <a:solidFill>
                  <a:srgbClr val="FF0000"/>
                </a:solidFill>
              </a:rPr>
              <a:t>2</a:t>
            </a:r>
            <a:r>
              <a:rPr lang="en-US" altLang="zh-CN" sz="2800" dirty="0"/>
              <a:t> (with h2≠h1).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Then probe it for each tuple of the other table's bucket at that level.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59957-368A-4A6F-BAA8-38398B71644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632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Partitioning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0B4E9-1855-498D-A9C8-236AF23031D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17" y="3018559"/>
            <a:ext cx="1772274" cy="203037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744880" y="270030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2312888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B5750CF-1169-47E1-ACDD-201392B92885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869066" y="3282899"/>
            <a:ext cx="542960" cy="7561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B8AA834-ED32-4A34-A2AA-D0BFB3854FDB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6868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B1BE493-E862-4619-9DA7-1150E8D36338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23481" cy="10098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A974F92C-0A64-4255-98D5-83543977332C}"/>
              </a:ext>
            </a:extLst>
          </p:cNvPr>
          <p:cNvSpPr/>
          <p:nvPr/>
        </p:nvSpPr>
        <p:spPr>
          <a:xfrm>
            <a:off x="4612989" y="3018559"/>
            <a:ext cx="820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0</a:t>
            </a:r>
          </a:p>
          <a:p>
            <a:pPr algn="ctr"/>
            <a:endParaRPr lang="en-US" altLang="zh-CN" sz="2400" b="1" i="1" dirty="0">
              <a:solidFill>
                <a:srgbClr val="FF0000"/>
              </a:solidFill>
              <a:latin typeface="Crimson Text"/>
            </a:endParaRP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</a:t>
            </a:r>
          </a:p>
          <a:p>
            <a:pPr algn="ctr"/>
            <a:endParaRPr lang="en-US" altLang="zh-CN" sz="2400" b="1" i="1" dirty="0">
              <a:solidFill>
                <a:srgbClr val="FF0000"/>
              </a:solidFill>
              <a:latin typeface="Crimson Text"/>
            </a:endParaRPr>
          </a:p>
          <a:p>
            <a:pPr algn="ctr"/>
            <a:endParaRPr lang="en-US" altLang="zh-CN" sz="2400" b="1" i="1" dirty="0">
              <a:solidFill>
                <a:srgbClr val="FF0000"/>
              </a:solidFill>
              <a:latin typeface="Crimson Text"/>
            </a:endParaRPr>
          </a:p>
          <a:p>
            <a:pPr algn="ctr"/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n</a:t>
            </a:r>
            <a:endParaRPr lang="zh-CN" alt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38C039-9373-465F-8EDC-8152EE26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53" y="2894816"/>
            <a:ext cx="1160219" cy="25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932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Partitioning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8BBD5-92D2-45A7-BA45-D6E43AAF2F06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17" y="3018559"/>
            <a:ext cx="1772274" cy="203037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744880" y="270030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2312888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B5750CF-1169-47E1-ACDD-201392B92885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869066" y="3282899"/>
            <a:ext cx="542960" cy="7561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B8AA834-ED32-4A34-A2AA-D0BFB3854FDB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6868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B1BE493-E862-4619-9DA7-1150E8D36338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23481" cy="10098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6A448A08-7DB6-4A6C-AD78-5246522E7BE5}"/>
              </a:ext>
            </a:extLst>
          </p:cNvPr>
          <p:cNvSpPr/>
          <p:nvPr/>
        </p:nvSpPr>
        <p:spPr>
          <a:xfrm>
            <a:off x="4849954" y="3878856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974F92C-0A64-4255-98D5-83543977332C}"/>
              </a:ext>
            </a:extLst>
          </p:cNvPr>
          <p:cNvSpPr/>
          <p:nvPr/>
        </p:nvSpPr>
        <p:spPr>
          <a:xfrm>
            <a:off x="6326501" y="3413861"/>
            <a:ext cx="82060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1.1</a:t>
            </a:r>
          </a:p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1.2</a:t>
            </a:r>
          </a:p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1.3</a:t>
            </a:r>
            <a:endParaRPr lang="zh-CN" alt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38C039-9373-465F-8EDC-8152EE26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53" y="2894816"/>
            <a:ext cx="1160219" cy="25354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45A1129-35C1-4AAF-932D-A0812E8EA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191" y="3429000"/>
            <a:ext cx="737981" cy="1475961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DDC9B93-8ADD-4556-A63B-4BF13EF2D810}"/>
              </a:ext>
            </a:extLst>
          </p:cNvPr>
          <p:cNvCxnSpPr>
            <a:cxnSpLocks/>
            <a:stCxn id="9" idx="3"/>
            <a:endCxn id="32" idx="2"/>
          </p:cNvCxnSpPr>
          <p:nvPr/>
        </p:nvCxnSpPr>
        <p:spPr>
          <a:xfrm flipV="1">
            <a:off x="4597972" y="4162456"/>
            <a:ext cx="251982" cy="1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91D54E-E525-4E3D-B7DA-47236B2674F2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5406132" y="3755475"/>
            <a:ext cx="314527" cy="4069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9CB26B8-9CD9-4725-8640-54DE31D5513F}"/>
              </a:ext>
            </a:extLst>
          </p:cNvPr>
          <p:cNvCxnSpPr>
            <a:cxnSpLocks/>
            <a:stCxn id="32" idx="6"/>
            <a:endCxn id="3" idx="1"/>
          </p:cNvCxnSpPr>
          <p:nvPr/>
        </p:nvCxnSpPr>
        <p:spPr>
          <a:xfrm>
            <a:off x="5406132" y="4162456"/>
            <a:ext cx="352059" cy="45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51290A5-EC08-4A59-9643-44222792F18E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406132" y="4162456"/>
            <a:ext cx="314527" cy="4824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7727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Partitioning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9FEB-CCE2-4C6D-981C-F05948EAADE9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58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17" y="301855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744" y="3368752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744880" y="270030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9087890" y="3057496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2312888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B5750CF-1169-47E1-ACDD-201392B92885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869066" y="3282899"/>
            <a:ext cx="542960" cy="7561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B8AA834-ED32-4A34-A2AA-D0BFB3854FDB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6868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B1BE493-E862-4619-9DA7-1150E8D36338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23481" cy="10098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6A448A08-7DB6-4A6C-AD78-5246522E7BE5}"/>
              </a:ext>
            </a:extLst>
          </p:cNvPr>
          <p:cNvSpPr/>
          <p:nvPr/>
        </p:nvSpPr>
        <p:spPr>
          <a:xfrm>
            <a:off x="4849954" y="3878856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974F92C-0A64-4255-98D5-83543977332C}"/>
              </a:ext>
            </a:extLst>
          </p:cNvPr>
          <p:cNvSpPr/>
          <p:nvPr/>
        </p:nvSpPr>
        <p:spPr>
          <a:xfrm>
            <a:off x="6326501" y="3413861"/>
            <a:ext cx="82060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1.1</a:t>
            </a:r>
          </a:p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1.2</a:t>
            </a:r>
          </a:p>
          <a:p>
            <a:pPr algn="ctr">
              <a:spcBef>
                <a:spcPts val="1200"/>
              </a:spcBef>
            </a:pPr>
            <a:r>
              <a:rPr lang="en-US" altLang="zh-CN" sz="2400" b="1" i="1" dirty="0">
                <a:solidFill>
                  <a:srgbClr val="FF0000"/>
                </a:solidFill>
                <a:latin typeface="Crimson Text"/>
              </a:rPr>
              <a:t>1.3</a:t>
            </a:r>
            <a:endParaRPr lang="zh-CN" alt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38C039-9373-465F-8EDC-8152EE26A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753" y="2894816"/>
            <a:ext cx="1160219" cy="25354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45A1129-35C1-4AAF-932D-A0812E8EA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91" y="3429000"/>
            <a:ext cx="737981" cy="1475961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DDC9B93-8ADD-4556-A63B-4BF13EF2D810}"/>
              </a:ext>
            </a:extLst>
          </p:cNvPr>
          <p:cNvCxnSpPr>
            <a:cxnSpLocks/>
            <a:stCxn id="9" idx="3"/>
            <a:endCxn id="32" idx="2"/>
          </p:cNvCxnSpPr>
          <p:nvPr/>
        </p:nvCxnSpPr>
        <p:spPr>
          <a:xfrm flipV="1">
            <a:off x="4597972" y="4162456"/>
            <a:ext cx="251982" cy="1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91D54E-E525-4E3D-B7DA-47236B2674F2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5406132" y="3755475"/>
            <a:ext cx="314527" cy="4069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9CB26B8-9CD9-4725-8640-54DE31D5513F}"/>
              </a:ext>
            </a:extLst>
          </p:cNvPr>
          <p:cNvCxnSpPr>
            <a:cxnSpLocks/>
            <a:stCxn id="32" idx="6"/>
            <a:endCxn id="3" idx="1"/>
          </p:cNvCxnSpPr>
          <p:nvPr/>
        </p:nvCxnSpPr>
        <p:spPr>
          <a:xfrm>
            <a:off x="5406132" y="4162456"/>
            <a:ext cx="352059" cy="45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51290A5-EC08-4A59-9643-44222792F18E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406132" y="4162456"/>
            <a:ext cx="314527" cy="4824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6D9261FE-B7B6-41FB-99F4-CFAB19892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325" y="2894816"/>
            <a:ext cx="772346" cy="2535479"/>
          </a:xfrm>
          <a:prstGeom prst="rect">
            <a:avLst/>
          </a:prstGeom>
        </p:spPr>
      </p:pic>
      <p:sp>
        <p:nvSpPr>
          <p:cNvPr id="24" name="椭圆 23">
            <a:extLst>
              <a:ext uri="{FF2B5EF4-FFF2-40B4-BE49-F238E27FC236}">
                <a16:creationId xmlns:a16="http://schemas.microsoft.com/office/drawing/2014/main" id="{B55D7F43-E0C2-4AD5-BF94-109A07A74E27}"/>
              </a:ext>
            </a:extLst>
          </p:cNvPr>
          <p:cNvSpPr/>
          <p:nvPr/>
        </p:nvSpPr>
        <p:spPr>
          <a:xfrm>
            <a:off x="8479666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E05E49B-108A-4F06-AC85-052C72F0E81C}"/>
              </a:ext>
            </a:extLst>
          </p:cNvPr>
          <p:cNvCxnSpPr>
            <a:cxnSpLocks/>
            <a:stCxn id="24" idx="2"/>
          </p:cNvCxnSpPr>
          <p:nvPr/>
        </p:nvCxnSpPr>
        <p:spPr>
          <a:xfrm flipH="1" flipV="1">
            <a:off x="7927671" y="3149926"/>
            <a:ext cx="551995" cy="8891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5BECB54-DCF5-4E22-9656-8BE6FF92E276}"/>
              </a:ext>
            </a:extLst>
          </p:cNvPr>
          <p:cNvCxnSpPr>
            <a:cxnSpLocks/>
            <a:stCxn id="24" idx="2"/>
          </p:cNvCxnSpPr>
          <p:nvPr/>
        </p:nvCxnSpPr>
        <p:spPr>
          <a:xfrm flipH="1" flipV="1">
            <a:off x="7963486" y="3878857"/>
            <a:ext cx="516180" cy="16021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56C1253-3AA0-491F-A87C-DBEC37890FDE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945578" y="4039075"/>
            <a:ext cx="534088" cy="114026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0B6CDA-A1DF-4FA7-93D0-00525D9E085B}"/>
              </a:ext>
            </a:extLst>
          </p:cNvPr>
          <p:cNvCxnSpPr>
            <a:cxnSpLocks/>
          </p:cNvCxnSpPr>
          <p:nvPr/>
        </p:nvCxnSpPr>
        <p:spPr>
          <a:xfrm flipH="1">
            <a:off x="4520110" y="3142077"/>
            <a:ext cx="2626992" cy="7850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7A0AECA-432A-4224-B8EE-AA50B3513FAD}"/>
              </a:ext>
            </a:extLst>
          </p:cNvPr>
          <p:cNvCxnSpPr>
            <a:cxnSpLocks/>
          </p:cNvCxnSpPr>
          <p:nvPr/>
        </p:nvCxnSpPr>
        <p:spPr>
          <a:xfrm flipH="1">
            <a:off x="4407163" y="5184034"/>
            <a:ext cx="2626992" cy="7850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05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Recursive Partitioning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9EA93-8458-4AA2-A01F-553AC0E8034E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4005693-D31D-4A44-9C6C-8BDAFA3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17" y="3018559"/>
            <a:ext cx="1772274" cy="203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23F9FBE-A133-4A27-B857-752DE870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4744" y="3368752"/>
            <a:ext cx="2785235" cy="132444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C516ED-0032-4174-88C6-5C46FD9E43D8}"/>
              </a:ext>
            </a:extLst>
          </p:cNvPr>
          <p:cNvSpPr/>
          <p:nvPr/>
        </p:nvSpPr>
        <p:spPr>
          <a:xfrm>
            <a:off x="744880" y="2700304"/>
            <a:ext cx="13583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R(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id,name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D59B9-FCD4-4244-A6D2-3C22B8663E44}"/>
              </a:ext>
            </a:extLst>
          </p:cNvPr>
          <p:cNvSpPr/>
          <p:nvPr/>
        </p:nvSpPr>
        <p:spPr>
          <a:xfrm>
            <a:off x="9087890" y="3057496"/>
            <a:ext cx="21280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S(</a:t>
            </a:r>
            <a:r>
              <a:rPr lang="en-US" altLang="zh-CN" sz="2000" b="1" i="1" dirty="0" err="1">
                <a:solidFill>
                  <a:srgbClr val="FF0000"/>
                </a:solidFill>
                <a:latin typeface="Inconsolata"/>
              </a:rPr>
              <a:t>id,value,cdate</a:t>
            </a:r>
            <a:r>
              <a:rPr lang="en-US" altLang="zh-CN" sz="2000" b="1" i="1" dirty="0">
                <a:solidFill>
                  <a:srgbClr val="FF0000"/>
                </a:solidFill>
                <a:latin typeface="Inconsolata"/>
              </a:rPr>
              <a:t>)</a:t>
            </a:r>
            <a:endParaRPr lang="zh-CN" altLang="en-US" sz="2000" i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D3C1005-83B6-42DF-86D6-D4FD3F26200B}"/>
              </a:ext>
            </a:extLst>
          </p:cNvPr>
          <p:cNvSpPr/>
          <p:nvPr/>
        </p:nvSpPr>
        <p:spPr>
          <a:xfrm>
            <a:off x="2312888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B5750CF-1169-47E1-ACDD-201392B92885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2869066" y="3282899"/>
            <a:ext cx="542960" cy="7561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B8AA834-ED32-4A34-A2AA-D0BFB3854FDB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6868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B1BE493-E862-4619-9DA7-1150E8D36338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2869066" y="4039075"/>
            <a:ext cx="523481" cy="10098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6A448A08-7DB6-4A6C-AD78-5246522E7BE5}"/>
              </a:ext>
            </a:extLst>
          </p:cNvPr>
          <p:cNvSpPr/>
          <p:nvPr/>
        </p:nvSpPr>
        <p:spPr>
          <a:xfrm>
            <a:off x="4849954" y="3878856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38C039-9373-465F-8EDC-8152EE26A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753" y="2894816"/>
            <a:ext cx="1160219" cy="25354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45A1129-35C1-4AAF-932D-A0812E8EA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91" y="3429000"/>
            <a:ext cx="737981" cy="1475961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DDC9B93-8ADD-4556-A63B-4BF13EF2D810}"/>
              </a:ext>
            </a:extLst>
          </p:cNvPr>
          <p:cNvCxnSpPr>
            <a:cxnSpLocks/>
            <a:stCxn id="9" idx="3"/>
            <a:endCxn id="32" idx="2"/>
          </p:cNvCxnSpPr>
          <p:nvPr/>
        </p:nvCxnSpPr>
        <p:spPr>
          <a:xfrm flipV="1">
            <a:off x="4597972" y="4162456"/>
            <a:ext cx="251982" cy="1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B91D54E-E525-4E3D-B7DA-47236B2674F2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5406132" y="3755475"/>
            <a:ext cx="314527" cy="4069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9CB26B8-9CD9-4725-8640-54DE31D5513F}"/>
              </a:ext>
            </a:extLst>
          </p:cNvPr>
          <p:cNvCxnSpPr>
            <a:cxnSpLocks/>
            <a:stCxn id="32" idx="6"/>
            <a:endCxn id="3" idx="1"/>
          </p:cNvCxnSpPr>
          <p:nvPr/>
        </p:nvCxnSpPr>
        <p:spPr>
          <a:xfrm>
            <a:off x="5406132" y="4162456"/>
            <a:ext cx="352059" cy="45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51290A5-EC08-4A59-9643-44222792F18E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406132" y="4162456"/>
            <a:ext cx="314527" cy="4824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B55D7F43-E0C2-4AD5-BF94-109A07A74E27}"/>
              </a:ext>
            </a:extLst>
          </p:cNvPr>
          <p:cNvSpPr/>
          <p:nvPr/>
        </p:nvSpPr>
        <p:spPr>
          <a:xfrm>
            <a:off x="8479666" y="37554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E05E49B-108A-4F06-AC85-052C72F0E81C}"/>
              </a:ext>
            </a:extLst>
          </p:cNvPr>
          <p:cNvCxnSpPr>
            <a:cxnSpLocks/>
            <a:stCxn id="24" idx="2"/>
          </p:cNvCxnSpPr>
          <p:nvPr/>
        </p:nvCxnSpPr>
        <p:spPr>
          <a:xfrm flipH="1" flipV="1">
            <a:off x="7927671" y="3149926"/>
            <a:ext cx="551995" cy="8891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5BECB54-DCF5-4E22-9656-8BE6FF92E276}"/>
              </a:ext>
            </a:extLst>
          </p:cNvPr>
          <p:cNvCxnSpPr>
            <a:cxnSpLocks/>
            <a:stCxn id="24" idx="2"/>
            <a:endCxn id="31" idx="6"/>
          </p:cNvCxnSpPr>
          <p:nvPr/>
        </p:nvCxnSpPr>
        <p:spPr>
          <a:xfrm flipH="1" flipV="1">
            <a:off x="8108349" y="3897275"/>
            <a:ext cx="371317" cy="1418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56C1253-3AA0-491F-A87C-DBEC37890FDE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945578" y="4039075"/>
            <a:ext cx="534088" cy="114026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D531296-47C2-4CD5-A507-B1375475A9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037" y="2894816"/>
            <a:ext cx="764213" cy="2537484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FC415F8B-DB01-4334-A3FF-E8C9EF048390}"/>
              </a:ext>
            </a:extLst>
          </p:cNvPr>
          <p:cNvSpPr/>
          <p:nvPr/>
        </p:nvSpPr>
        <p:spPr>
          <a:xfrm>
            <a:off x="7552171" y="3613675"/>
            <a:ext cx="556178" cy="5671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16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60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15F4D2E-4938-4940-A73C-2533F38547F4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7662180" y="4180874"/>
            <a:ext cx="168080" cy="22279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48122E9-7942-4F57-B364-588C7FF4F89B}"/>
              </a:ext>
            </a:extLst>
          </p:cNvPr>
          <p:cNvCxnSpPr>
            <a:cxnSpLocks/>
          </p:cNvCxnSpPr>
          <p:nvPr/>
        </p:nvCxnSpPr>
        <p:spPr>
          <a:xfrm flipH="1">
            <a:off x="6546575" y="4693199"/>
            <a:ext cx="583095" cy="1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15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Cost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Assume that we have </a:t>
            </a:r>
            <a:r>
              <a:rPr lang="en-US" altLang="zh-CN" b="1" dirty="0">
                <a:solidFill>
                  <a:srgbClr val="00B050"/>
                </a:solidFill>
              </a:rPr>
              <a:t>enough</a:t>
            </a:r>
            <a:r>
              <a:rPr lang="en-US" altLang="zh-CN" dirty="0"/>
              <a:t> buffers.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Cost: </a:t>
            </a:r>
            <a:r>
              <a:rPr lang="en-US" altLang="zh-CN" b="1" i="1" dirty="0">
                <a:solidFill>
                  <a:srgbClr val="FF0000"/>
                </a:solidFill>
              </a:rPr>
              <a:t>3(M+ N)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Partitioning Phase: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Read + Write both tables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b="1" i="1" dirty="0">
                <a:solidFill>
                  <a:srgbClr val="FF0000"/>
                </a:solidFill>
              </a:rPr>
              <a:t>2(M+N) </a:t>
            </a:r>
            <a:r>
              <a:rPr lang="en-US" altLang="zh-CN" dirty="0"/>
              <a:t>IOs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Probing Phase: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Read both tables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altLang="zh-CN" b="1" i="1" dirty="0">
                <a:solidFill>
                  <a:srgbClr val="FF0000"/>
                </a:solidFill>
              </a:rPr>
              <a:t>M+N</a:t>
            </a:r>
            <a:r>
              <a:rPr lang="en-US" altLang="zh-CN" dirty="0"/>
              <a:t> IOs</a:t>
            </a:r>
            <a:endParaRPr lang="en-US" altLang="zh-CN" b="1" i="1" dirty="0">
              <a:solidFill>
                <a:srgbClr val="FF000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AE6C-F989-4A9C-94A4-4078C24C8E01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F3F592-C203-4388-8C6B-B0638771F672}"/>
              </a:ext>
            </a:extLst>
          </p:cNvPr>
          <p:cNvSpPr/>
          <p:nvPr/>
        </p:nvSpPr>
        <p:spPr>
          <a:xfrm>
            <a:off x="5718313" y="3530374"/>
            <a:ext cx="5546035" cy="26776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>
                <a:latin typeface="Crimson Text"/>
              </a:rPr>
              <a:t>Example database: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→</a:t>
            </a:r>
            <a:r>
              <a:rPr lang="en-US" altLang="zh-CN" sz="2400" b="1" i="1" dirty="0">
                <a:latin typeface="Crimson Text"/>
              </a:rPr>
              <a:t>M</a:t>
            </a:r>
            <a:r>
              <a:rPr lang="en-US" altLang="zh-CN" sz="2400" dirty="0">
                <a:latin typeface="Crimson Text"/>
              </a:rPr>
              <a:t>= 1000,  </a:t>
            </a:r>
            <a:r>
              <a:rPr lang="en-US" altLang="zh-CN" sz="2400" b="1" i="1" dirty="0">
                <a:latin typeface="Crimson Text"/>
              </a:rPr>
              <a:t>m</a:t>
            </a:r>
            <a:r>
              <a:rPr lang="en-US" altLang="zh-CN" sz="2400" dirty="0">
                <a:latin typeface="Crimson Text"/>
              </a:rPr>
              <a:t>= 100,000</a:t>
            </a: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→</a:t>
            </a:r>
            <a:r>
              <a:rPr lang="en-US" altLang="zh-CN" sz="2400" b="1" i="1" dirty="0">
                <a:latin typeface="Crimson Text"/>
              </a:rPr>
              <a:t>N</a:t>
            </a:r>
            <a:r>
              <a:rPr lang="en-US" altLang="zh-CN" sz="2400" dirty="0">
                <a:latin typeface="Crimson Text"/>
              </a:rPr>
              <a:t>= 500, </a:t>
            </a:r>
            <a:r>
              <a:rPr lang="en-US" altLang="zh-CN" sz="2400" b="1" i="1" dirty="0">
                <a:latin typeface="Crimson Text"/>
              </a:rPr>
              <a:t>n</a:t>
            </a:r>
            <a:r>
              <a:rPr lang="en-US" altLang="zh-CN" sz="2400" dirty="0">
                <a:latin typeface="Crimson Text"/>
              </a:rPr>
              <a:t>= 40,000 </a:t>
            </a:r>
          </a:p>
          <a:p>
            <a:endParaRPr lang="zh-CN" altLang="en-US" sz="2400" dirty="0">
              <a:latin typeface="Crimson Text"/>
            </a:endParaRPr>
          </a:p>
          <a:p>
            <a:r>
              <a:rPr lang="en-US" altLang="zh-CN" sz="2400" dirty="0">
                <a:latin typeface="Crimson Text"/>
              </a:rPr>
              <a:t>Cost Analysis:</a:t>
            </a:r>
          </a:p>
          <a:p>
            <a:r>
              <a:rPr lang="pt-BR" altLang="zh-CN" sz="2400" dirty="0">
                <a:latin typeface="Times New Roman" panose="02020603050405020304" pitchFamily="18" charset="0"/>
              </a:rPr>
              <a:t>→</a:t>
            </a:r>
            <a:r>
              <a:rPr lang="pt-BR" altLang="zh-CN" sz="2400" b="1" dirty="0">
                <a:latin typeface="Crimson Text"/>
              </a:rPr>
              <a:t>3 </a:t>
            </a:r>
            <a:r>
              <a:rPr lang="pt-BR" altLang="zh-CN" sz="2400" b="1" dirty="0">
                <a:latin typeface="Times New Roman" panose="02020603050405020304" pitchFamily="18" charset="0"/>
              </a:rPr>
              <a:t>∙</a:t>
            </a:r>
            <a:r>
              <a:rPr lang="pt-BR" altLang="zh-CN" sz="2400" b="1" dirty="0">
                <a:latin typeface="Crimson Text"/>
              </a:rPr>
              <a:t>(</a:t>
            </a:r>
            <a:r>
              <a:rPr lang="pt-BR" altLang="zh-CN" sz="2400" b="1" i="1" dirty="0">
                <a:latin typeface="Crimson Text"/>
              </a:rPr>
              <a:t>M</a:t>
            </a:r>
            <a:r>
              <a:rPr lang="pt-BR" altLang="zh-CN" sz="2400" b="1" dirty="0">
                <a:latin typeface="Crimson Text"/>
              </a:rPr>
              <a:t>+ </a:t>
            </a:r>
            <a:r>
              <a:rPr lang="pt-BR" altLang="zh-CN" sz="2400" b="1" i="1" dirty="0">
                <a:latin typeface="Crimson Text"/>
              </a:rPr>
              <a:t>N</a:t>
            </a:r>
            <a:r>
              <a:rPr lang="pt-BR" altLang="zh-CN" sz="2400" b="1" dirty="0">
                <a:latin typeface="Crimson Text"/>
              </a:rPr>
              <a:t>)</a:t>
            </a:r>
            <a:r>
              <a:rPr lang="pt-BR" altLang="zh-CN" sz="2400" dirty="0">
                <a:latin typeface="Crimson Text"/>
              </a:rPr>
              <a:t>= 3 </a:t>
            </a:r>
            <a:r>
              <a:rPr lang="pt-BR" altLang="zh-CN" sz="2400" dirty="0">
                <a:latin typeface="Times New Roman" panose="02020603050405020304" pitchFamily="18" charset="0"/>
              </a:rPr>
              <a:t>∙</a:t>
            </a:r>
            <a:r>
              <a:rPr lang="pt-BR" altLang="zh-CN" sz="2400" dirty="0">
                <a:latin typeface="Crimson Text"/>
              </a:rPr>
              <a:t>(1000 + 500) = </a:t>
            </a:r>
            <a:r>
              <a:rPr lang="pt-BR" altLang="zh-CN" sz="2400" b="1" dirty="0">
                <a:latin typeface="Crimson Text"/>
              </a:rPr>
              <a:t>4,500 IOs</a:t>
            </a:r>
            <a:endParaRPr lang="pt-BR" altLang="zh-CN" sz="2400" dirty="0">
              <a:latin typeface="Crimson Text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→</a:t>
            </a:r>
            <a:r>
              <a:rPr lang="en-US" altLang="zh-CN" sz="2400" dirty="0">
                <a:latin typeface="Crimson Text"/>
              </a:rPr>
              <a:t>At 0.1 </a:t>
            </a:r>
            <a:r>
              <a:rPr lang="en-US" altLang="zh-CN" sz="2400" dirty="0" err="1">
                <a:latin typeface="Crimson Text"/>
              </a:rPr>
              <a:t>ms</a:t>
            </a:r>
            <a:r>
              <a:rPr lang="en-US" altLang="zh-CN" sz="2400" dirty="0">
                <a:latin typeface="Crimson Text"/>
              </a:rPr>
              <a:t>/IO, Total time </a:t>
            </a:r>
            <a:r>
              <a:rPr lang="en-US" altLang="zh-CN" sz="2400" dirty="0">
                <a:latin typeface="Times New Roman" panose="02020603050405020304" pitchFamily="18" charset="0"/>
              </a:rPr>
              <a:t>≈</a:t>
            </a:r>
            <a:r>
              <a:rPr lang="en-US" altLang="zh-CN" sz="2400" dirty="0">
                <a:latin typeface="Crimson Text"/>
              </a:rPr>
              <a:t>0.45 seconds</a:t>
            </a:r>
          </a:p>
        </p:txBody>
      </p:sp>
    </p:spTree>
    <p:extLst>
      <p:ext uri="{BB962C8B-B14F-4D97-AF65-F5344CB8AC3E}">
        <p14:creationId xmlns:p14="http://schemas.microsoft.com/office/powerpoint/2010/main" val="2678069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C29D0B1E-225E-46D5-9061-C0971AFB3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451007"/>
              </p:ext>
            </p:extLst>
          </p:nvPr>
        </p:nvGraphicFramePr>
        <p:xfrm>
          <a:off x="904461" y="3697358"/>
          <a:ext cx="105156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193576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50160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5175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Algorithm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IO Cost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Example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597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Simple Nested Loop Join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M+ (m ∙ N)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1.3 hours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038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Block Nested Loop Join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M+ (M∙ N)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 seconds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53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Index Nested Loop Join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M+ (M∙ C)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Variable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11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Sort-Merge Join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M+ N + (sort cost)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0.75 seconds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62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Hash Join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3(M+ N)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0.45 seconds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071259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EEF9-F66B-42A2-B0D0-8FB3974D042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D0BF7C1-1EE2-4FC4-9A84-194BABBA2B04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469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47675" indent="-4476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08038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4125" indent="-3397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16075" indent="-2444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030A0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154238" indent="-3254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Example database: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R: M = 1000, m = 100,000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/>
              <a:t>Table S: N = 500, n = 40,000</a:t>
            </a: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92C460F4-7F5D-4AD1-AF42-705ADD4957C7}"/>
              </a:ext>
            </a:extLst>
          </p:cNvPr>
          <p:cNvSpPr/>
          <p:nvPr/>
        </p:nvSpPr>
        <p:spPr>
          <a:xfrm>
            <a:off x="6096001" y="2316480"/>
            <a:ext cx="185530" cy="744772"/>
          </a:xfrm>
          <a:prstGeom prst="rightBrace">
            <a:avLst>
              <a:gd name="adj1" fmla="val 483066"/>
              <a:gd name="adj2" fmla="val 5200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CC40BC-1D6A-4286-8E6D-468D129EC084}"/>
              </a:ext>
            </a:extLst>
          </p:cNvPr>
          <p:cNvSpPr/>
          <p:nvPr/>
        </p:nvSpPr>
        <p:spPr>
          <a:xfrm>
            <a:off x="6447183" y="2488811"/>
            <a:ext cx="23058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2000" b="1" i="1" dirty="0">
                <a:solidFill>
                  <a:srgbClr val="FF0000"/>
                </a:solidFill>
                <a:latin typeface="Crimson Text"/>
              </a:rPr>
              <a:t>4 KB pages → 6 MB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4377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EDDF7F2B-8943-470C-994B-58DD1AB4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Operations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0460AFE-FB31-4327-A473-5E998AFE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BF72D-6A08-4238-B2F8-9B322329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7D054-F0A7-491B-8DE8-AC2F418D114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2024/5/23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88591-AAA9-46A6-A530-CC5D5353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Query Processing II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4B3ED-5C5E-4AA4-9CB4-44AEEA48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5A79-C12E-4282-8451-1BC984B858F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2068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Duplicate Elimination &amp; Projection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Duplicate elimination can be implemented via </a:t>
            </a:r>
            <a:r>
              <a:rPr lang="en-US" altLang="zh-CN" b="1" dirty="0">
                <a:solidFill>
                  <a:srgbClr val="FF0000"/>
                </a:solidFill>
              </a:rPr>
              <a:t>hashing</a:t>
            </a:r>
            <a:r>
              <a:rPr lang="en-US" altLang="zh-CN" dirty="0"/>
              <a:t> or </a:t>
            </a:r>
            <a:r>
              <a:rPr lang="en-US" altLang="zh-CN" b="1" dirty="0">
                <a:solidFill>
                  <a:srgbClr val="FF0000"/>
                </a:solidFill>
              </a:rPr>
              <a:t>sorting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On sorting duplicates will come adjacent to each other, and all but one set of duplicates can be deleted. 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Optimization: duplicates can be deleted during run generation as well as at intermediate merge steps in external sort-merge.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Hashing is similar – duplicates will come into the same bucket.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Projection: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perform projection on each tuple followed by duplicate elimination.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D3A88-41B2-430D-A620-DE2E967E6BE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272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Aggregation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Implemented in a manner similar to duplicate elimination.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Sorting</a:t>
            </a:r>
            <a:r>
              <a:rPr lang="en-US" altLang="zh-CN" dirty="0"/>
              <a:t> or </a:t>
            </a:r>
            <a:r>
              <a:rPr lang="en-US" altLang="zh-CN" b="1" dirty="0">
                <a:solidFill>
                  <a:srgbClr val="FF0000"/>
                </a:solidFill>
              </a:rPr>
              <a:t>hashing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Optimization: </a:t>
            </a:r>
            <a:r>
              <a:rPr lang="en-US" altLang="zh-CN" b="1" dirty="0"/>
              <a:t>partial aggregation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For count, min, max, sum: keep aggregate values on tuples found so far in the group.  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For avg, keep sum and count, and divide sum by count at the end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C6A03-0C20-4015-9C45-213D8C991E28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522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b="1" dirty="0">
                <a:ea typeface="MS PGothic" panose="020B0600070205080204" pitchFamily="34" charset="-128"/>
              </a:rPr>
              <a:t>Set operations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,  and )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Use variant of </a:t>
            </a:r>
            <a:r>
              <a:rPr lang="en-US" altLang="zh-CN" b="1" dirty="0">
                <a:solidFill>
                  <a:srgbClr val="FF0000"/>
                </a:solidFill>
              </a:rPr>
              <a:t>merge-join</a:t>
            </a:r>
            <a:r>
              <a:rPr lang="en-US" altLang="zh-CN" dirty="0"/>
              <a:t> after sorting, or variant of </a:t>
            </a:r>
            <a:r>
              <a:rPr lang="en-US" altLang="zh-CN" b="1" dirty="0">
                <a:solidFill>
                  <a:srgbClr val="FF0000"/>
                </a:solidFill>
              </a:rPr>
              <a:t>hash-join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Keyword Queries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inverted index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/>
              <a:t>Outer Join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A join followed by addition of </a:t>
            </a:r>
            <a:r>
              <a:rPr lang="en-US" altLang="zh-CN" b="1" dirty="0">
                <a:solidFill>
                  <a:srgbClr val="FF0000"/>
                </a:solidFill>
              </a:rPr>
              <a:t>null-padded</a:t>
            </a:r>
            <a:r>
              <a:rPr lang="en-US" altLang="zh-CN" dirty="0"/>
              <a:t> non-participating tuples.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by modifying the join algorithms.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5A775-A9C0-4800-8CB1-B14CAFFAF11C}" type="datetime1">
              <a:rPr lang="zh-CN" altLang="en-US" smtClean="0"/>
              <a:t>2024/5/23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Query Processing II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13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13466</TotalTime>
  <Words>5025</Words>
  <Application>Microsoft Macintosh PowerPoint</Application>
  <PresentationFormat>宽屏</PresentationFormat>
  <Paragraphs>1948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6" baseType="lpstr">
      <vt:lpstr>等线</vt:lpstr>
      <vt:lpstr>Crimson Text</vt:lpstr>
      <vt:lpstr>MS PGothic</vt:lpstr>
      <vt:lpstr>Proxima Nova</vt:lpstr>
      <vt:lpstr>Arial</vt:lpstr>
      <vt:lpstr>Cambria Math</vt:lpstr>
      <vt:lpstr>Inconsolata</vt:lpstr>
      <vt:lpstr>Symbol</vt:lpstr>
      <vt:lpstr>Times New Roman</vt:lpstr>
      <vt:lpstr>Wingdings</vt:lpstr>
      <vt:lpstr>Office 主题​​</vt:lpstr>
      <vt:lpstr>Query Processing II</vt:lpstr>
      <vt:lpstr>Join Algorithms</vt:lpstr>
      <vt:lpstr>Join Algorithms</vt:lpstr>
      <vt:lpstr>Join Operators</vt:lpstr>
      <vt:lpstr>Operator Output</vt:lpstr>
      <vt:lpstr>Operator Output: Data</vt:lpstr>
      <vt:lpstr>Operator Output: Data</vt:lpstr>
      <vt:lpstr>Operator Output: Record IDs</vt:lpstr>
      <vt:lpstr>Operator Output: Record IDs</vt:lpstr>
      <vt:lpstr>Cost Analysis Criteria</vt:lpstr>
      <vt:lpstr>Join Algorithms</vt:lpstr>
      <vt:lpstr>Nested Loop Join</vt:lpstr>
      <vt:lpstr>Simple Nested Loop Join</vt:lpstr>
      <vt:lpstr>Simple Nested Loop Join</vt:lpstr>
      <vt:lpstr>Block Nested Loop Join</vt:lpstr>
      <vt:lpstr>Block Nested Loop Join</vt:lpstr>
      <vt:lpstr>Block Nested Loop Join</vt:lpstr>
      <vt:lpstr>Block Nested Loop Join</vt:lpstr>
      <vt:lpstr>Block Nested Loop Join</vt:lpstr>
      <vt:lpstr>Block Nested Loop Join</vt:lpstr>
      <vt:lpstr>Block Nested Loop Join</vt:lpstr>
      <vt:lpstr>Nested Loop Join</vt:lpstr>
      <vt:lpstr>Index Nested Loop Join</vt:lpstr>
      <vt:lpstr>Index Nested Loop Join</vt:lpstr>
      <vt:lpstr>Nested Loop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Sort-Merge Join</vt:lpstr>
      <vt:lpstr>When is Sort-Merge Join useful?</vt:lpstr>
      <vt:lpstr>Basic Hash Join</vt:lpstr>
      <vt:lpstr>Basic Hash Join</vt:lpstr>
      <vt:lpstr>Basic Hash Join</vt:lpstr>
      <vt:lpstr>Hash Table Values</vt:lpstr>
      <vt:lpstr>Probe Phase Optimization</vt:lpstr>
      <vt:lpstr>Probe Phase Optimization</vt:lpstr>
      <vt:lpstr>Cost Analysis</vt:lpstr>
      <vt:lpstr>Grace Hash Join</vt:lpstr>
      <vt:lpstr>Grace Hash Join</vt:lpstr>
      <vt:lpstr>Grace Hash Join</vt:lpstr>
      <vt:lpstr>Grace Hash Join</vt:lpstr>
      <vt:lpstr>Recursive Partitioning</vt:lpstr>
      <vt:lpstr>Recursive Partitioning</vt:lpstr>
      <vt:lpstr>Recursive Partitioning</vt:lpstr>
      <vt:lpstr>Recursive Partitioning</vt:lpstr>
      <vt:lpstr>Cost Analysis</vt:lpstr>
      <vt:lpstr>Summary</vt:lpstr>
      <vt:lpstr>Other Operations</vt:lpstr>
      <vt:lpstr>Duplicate Elimination &amp; Projection</vt:lpstr>
      <vt:lpstr>Aggregation</vt:lpstr>
      <vt:lpstr>Other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472</cp:revision>
  <dcterms:created xsi:type="dcterms:W3CDTF">2019-10-29T09:57:08Z</dcterms:created>
  <dcterms:modified xsi:type="dcterms:W3CDTF">2024-05-23T01:03:34Z</dcterms:modified>
</cp:coreProperties>
</file>