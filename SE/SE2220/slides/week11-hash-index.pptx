
<file path=[Content_Types].xml><?xml version="1.0" encoding="utf-8"?>
<Types xmlns="http://schemas.openxmlformats.org/package/2006/content-types">
  <Default Extension="emf" ContentType="image/x-emf"/>
  <Default Extension="gif" ContentType="image/gif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779" r:id="rId1"/>
  </p:sldMasterIdLst>
  <p:notesMasterIdLst>
    <p:notesMasterId r:id="rId45"/>
  </p:notesMasterIdLst>
  <p:sldIdLst>
    <p:sldId id="256" r:id="rId2"/>
    <p:sldId id="368" r:id="rId3"/>
    <p:sldId id="370" r:id="rId4"/>
    <p:sldId id="351" r:id="rId5"/>
    <p:sldId id="352" r:id="rId6"/>
    <p:sldId id="353" r:id="rId7"/>
    <p:sldId id="354" r:id="rId8"/>
    <p:sldId id="355" r:id="rId9"/>
    <p:sldId id="356" r:id="rId10"/>
    <p:sldId id="357" r:id="rId11"/>
    <p:sldId id="358" r:id="rId12"/>
    <p:sldId id="359" r:id="rId13"/>
    <p:sldId id="360" r:id="rId14"/>
    <p:sldId id="361" r:id="rId15"/>
    <p:sldId id="362" r:id="rId16"/>
    <p:sldId id="365" r:id="rId17"/>
    <p:sldId id="366" r:id="rId18"/>
    <p:sldId id="367" r:id="rId19"/>
    <p:sldId id="371" r:id="rId20"/>
    <p:sldId id="372" r:id="rId21"/>
    <p:sldId id="392" r:id="rId22"/>
    <p:sldId id="393" r:id="rId23"/>
    <p:sldId id="395" r:id="rId24"/>
    <p:sldId id="396" r:id="rId25"/>
    <p:sldId id="374" r:id="rId26"/>
    <p:sldId id="375" r:id="rId27"/>
    <p:sldId id="380" r:id="rId28"/>
    <p:sldId id="381" r:id="rId29"/>
    <p:sldId id="382" r:id="rId30"/>
    <p:sldId id="383" r:id="rId31"/>
    <p:sldId id="384" r:id="rId32"/>
    <p:sldId id="385" r:id="rId33"/>
    <p:sldId id="386" r:id="rId34"/>
    <p:sldId id="387" r:id="rId35"/>
    <p:sldId id="388" r:id="rId36"/>
    <p:sldId id="376" r:id="rId37"/>
    <p:sldId id="377" r:id="rId38"/>
    <p:sldId id="397" r:id="rId39"/>
    <p:sldId id="398" r:id="rId40"/>
    <p:sldId id="399" r:id="rId41"/>
    <p:sldId id="378" r:id="rId42"/>
    <p:sldId id="400" r:id="rId43"/>
    <p:sldId id="401" r:id="rId44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B97"/>
    <a:srgbClr val="B2053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BC89EF96-8CEA-46FF-86C4-4CE0E7609802}" styleName="浅色样式 3 - 强调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997" autoAdjust="0"/>
    <p:restoredTop sz="90755" autoAdjust="0"/>
  </p:normalViewPr>
  <p:slideViewPr>
    <p:cSldViewPr snapToGrid="0">
      <p:cViewPr varScale="1">
        <p:scale>
          <a:sx n="128" d="100"/>
          <a:sy n="128" d="100"/>
        </p:scale>
        <p:origin x="26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BFC7C27-0E44-4290-A7B1-6D6F9A15BBB6}" type="datetimeFigureOut">
              <a:rPr lang="zh-CN" altLang="en-US" smtClean="0"/>
              <a:t>2024/5/8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A5581F6-8C05-464A-A316-5949FBD1208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634804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gi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图片 11">
            <a:extLst>
              <a:ext uri="{FF2B5EF4-FFF2-40B4-BE49-F238E27FC236}">
                <a16:creationId xmlns:a16="http://schemas.microsoft.com/office/drawing/2014/main" id="{4BF3913C-03C0-4DD1-8A1E-2EA9FC276B2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08500" y="3667967"/>
            <a:ext cx="3175000" cy="2921000"/>
          </a:xfrm>
          <a:prstGeom prst="rect">
            <a:avLst/>
          </a:prstGeom>
        </p:spPr>
      </p:pic>
      <p:sp>
        <p:nvSpPr>
          <p:cNvPr id="2" name="标题 1">
            <a:extLst>
              <a:ext uri="{FF2B5EF4-FFF2-40B4-BE49-F238E27FC236}">
                <a16:creationId xmlns:a16="http://schemas.microsoft.com/office/drawing/2014/main" id="{726640F0-29EB-4D05-984D-60BE6FED0B3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F6ACE81C-946D-4E24-981F-5DE21BD5D51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947B225-EE9E-434E-AD70-00CDCB0147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FACFA7-8F77-4E3F-A280-947152EF66BA}" type="datetime1">
              <a:rPr lang="zh-CN" altLang="en-US" smtClean="0"/>
              <a:t>2024/5/8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63649B8-B927-47AF-82EB-5F59ED16B2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Hash Indices</a:t>
            </a: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7B73DF2-AF77-44AD-B985-9A5CFC79E9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5A79-C12E-4282-8451-1BC984B858F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61770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83A7EC1-AE80-4979-A7D6-C87185D6B9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/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31284FD-8087-4D82-8FD3-8F055885E1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>
            <a:lvl1pPr marL="447675" indent="-447675">
              <a:buClr>
                <a:srgbClr val="FF0000"/>
              </a:buClr>
              <a:buFont typeface="Wingdings" panose="05000000000000000000" pitchFamily="2" charset="2"/>
              <a:buChar char="p"/>
              <a:defRPr/>
            </a:lvl1pPr>
            <a:lvl2pPr marL="808038" indent="-350838">
              <a:buClr>
                <a:srgbClr val="0066FF"/>
              </a:buClr>
              <a:buFont typeface="Wingdings" panose="05000000000000000000" pitchFamily="2" charset="2"/>
              <a:buChar char="l"/>
              <a:defRPr/>
            </a:lvl2pPr>
            <a:lvl3pPr marL="1254125" indent="-339725">
              <a:buClr>
                <a:srgbClr val="00B050"/>
              </a:buClr>
              <a:buSzPct val="60000"/>
              <a:buFont typeface="Wingdings" panose="05000000000000000000" pitchFamily="2" charset="2"/>
              <a:buChar char="u"/>
              <a:defRPr/>
            </a:lvl3pPr>
            <a:lvl4pPr marL="1616075" indent="-244475">
              <a:buClr>
                <a:srgbClr val="7030A0"/>
              </a:buClr>
              <a:defRPr/>
            </a:lvl4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B6126D6-36F6-41DF-A825-F1E8FBB9CD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6D94AA-AFB0-4C9F-BEB2-05CD39616BA6}" type="datetime1">
              <a:rPr lang="zh-CN" altLang="en-US" smtClean="0"/>
              <a:t>2024/5/8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076CEFF-0837-4190-9625-9533CCD66B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Hash Indices</a:t>
            </a: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FE5D5BF-5D06-45F3-8ED0-281B61D357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5A79-C12E-4282-8451-1BC984B858F9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7" name="Picture 2" descr="http://old.ecnu.edu.cn/site/identity/images/a4.gif">
            <a:extLst>
              <a:ext uri="{FF2B5EF4-FFF2-40B4-BE49-F238E27FC236}">
                <a16:creationId xmlns:a16="http://schemas.microsoft.com/office/drawing/2014/main" id="{5595DAAA-AB55-4A84-ADB5-02FA029E128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09099" y="371597"/>
            <a:ext cx="1325561" cy="13255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9" name="直接连接符 8">
            <a:extLst>
              <a:ext uri="{FF2B5EF4-FFF2-40B4-BE49-F238E27FC236}">
                <a16:creationId xmlns:a16="http://schemas.microsoft.com/office/drawing/2014/main" id="{DF1F915F-2E6C-4469-BE1B-3DEED6DFAA85}"/>
              </a:ext>
            </a:extLst>
          </p:cNvPr>
          <p:cNvCxnSpPr>
            <a:cxnSpLocks/>
          </p:cNvCxnSpPr>
          <p:nvPr userDrawn="1"/>
        </p:nvCxnSpPr>
        <p:spPr>
          <a:xfrm>
            <a:off x="850640" y="1573762"/>
            <a:ext cx="9680497" cy="0"/>
          </a:xfrm>
          <a:prstGeom prst="line">
            <a:avLst/>
          </a:prstGeom>
          <a:ln w="25400">
            <a:solidFill>
              <a:srgbClr val="B2053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>
            <a:extLst>
              <a:ext uri="{FF2B5EF4-FFF2-40B4-BE49-F238E27FC236}">
                <a16:creationId xmlns:a16="http://schemas.microsoft.com/office/drawing/2014/main" id="{D2D48080-F667-4226-B356-BBC3C92937C4}"/>
              </a:ext>
            </a:extLst>
          </p:cNvPr>
          <p:cNvCxnSpPr>
            <a:cxnSpLocks/>
          </p:cNvCxnSpPr>
          <p:nvPr userDrawn="1"/>
        </p:nvCxnSpPr>
        <p:spPr>
          <a:xfrm>
            <a:off x="5257006" y="1639083"/>
            <a:ext cx="6049352" cy="0"/>
          </a:xfrm>
          <a:prstGeom prst="line">
            <a:avLst/>
          </a:prstGeom>
          <a:ln w="50800">
            <a:solidFill>
              <a:srgbClr val="B20537"/>
            </a:solidFill>
            <a:head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接连接符 14">
            <a:extLst>
              <a:ext uri="{FF2B5EF4-FFF2-40B4-BE49-F238E27FC236}">
                <a16:creationId xmlns:a16="http://schemas.microsoft.com/office/drawing/2014/main" id="{CB1E1CF1-8B7F-4EA2-92C8-2B4817076AEF}"/>
              </a:ext>
            </a:extLst>
          </p:cNvPr>
          <p:cNvCxnSpPr>
            <a:cxnSpLocks/>
          </p:cNvCxnSpPr>
          <p:nvPr userDrawn="1"/>
        </p:nvCxnSpPr>
        <p:spPr>
          <a:xfrm flipV="1">
            <a:off x="10996904" y="1583091"/>
            <a:ext cx="309454" cy="1"/>
          </a:xfrm>
          <a:prstGeom prst="line">
            <a:avLst/>
          </a:prstGeom>
          <a:ln w="25400">
            <a:solidFill>
              <a:srgbClr val="B2053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195900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B454DB1-E92B-4113-82FE-530FDCC68F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3D509C0-436C-468D-B618-A02B7C51D73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B1C0C03-EC12-4489-B7B6-4F2A82314F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0553DC-5968-42F9-BBC0-F5B13EA0F3F1}" type="datetime1">
              <a:rPr lang="zh-CN" altLang="en-US" smtClean="0"/>
              <a:t>2024/5/8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E0DFF40-9B68-4F2F-8CD0-7AAE71E005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Hash Indices</a:t>
            </a: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F3EA13B-154D-4455-B12D-03EFA34993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5A79-C12E-4282-8451-1BC984B858F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491676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64F1D83-F900-45B8-B37E-052B07F323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8C78C22-1F69-43ED-95E7-FF654B3C233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408B764C-5F12-4AC1-B7A8-98C672330C2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8B2E8530-CA80-4659-8EEC-3FAABA2038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F99EDB-7A25-436A-B9DE-C1513D88AF0C}" type="datetime1">
              <a:rPr lang="zh-CN" altLang="en-US" smtClean="0"/>
              <a:t>2024/5/8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0EF6450F-45CB-43FD-8482-8DB8837993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Hash Indices</a:t>
            </a:r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E8CDCE72-5275-43EA-ABE5-F76BFF0669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5A79-C12E-4282-8451-1BC984B858F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564282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AD0A51B-BC75-4FCA-9436-EF78B564E1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89B5BBD-D06F-4A36-B7A2-701789111E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B997B718-9D21-42BC-8681-01DA5D7DC7B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C878318-E4A8-4C85-B659-5222495A751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E7AD809B-D7DF-4155-97EB-8E179A20D8C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FD92687-48A0-4338-800A-C5DFDD783E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7F4FCF-6DC9-4ABD-B804-FE991A559B81}" type="datetime1">
              <a:rPr lang="zh-CN" altLang="en-US" smtClean="0"/>
              <a:t>2024/5/8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63E863C7-5439-4EF1-A21D-5E53501CD3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Hash Indices</a:t>
            </a:r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AD4E9EC9-403E-4D16-B568-9A9A4CB33B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5A79-C12E-4282-8451-1BC984B858F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176709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62F30F9-6409-4212-89F8-11CDA167B8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447F5E84-DD0E-408A-BF4D-15867859FC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042F6D-E64C-4217-A5E9-6CF96E97EEEF}" type="datetime1">
              <a:rPr lang="zh-CN" altLang="en-US" smtClean="0"/>
              <a:t>2024/5/8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461CA323-9181-44B4-85A3-3C2F7D113A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Hash Indices</a:t>
            </a:r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CE3F7471-B90E-467F-910F-52202B7855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5A79-C12E-4282-8451-1BC984B858F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165240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3DA7D63A-5BFD-499F-B3EA-463127E644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7B96D5-B853-4FEE-92CE-2EAEEE61613B}" type="datetime1">
              <a:rPr lang="zh-CN" altLang="en-US" smtClean="0"/>
              <a:t>2024/5/8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5AAE59A3-DD05-4D90-96DC-686CB5174A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Hash Indices</a:t>
            </a:r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FD54B72-0D71-4D0F-BB90-83EAA438B2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5A79-C12E-4282-8451-1BC984B858F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349559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C45C962-3DDF-4D21-8468-6B248102E5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443BD7E-88DC-4D87-BF3D-D55FF0186F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660E8564-7092-4141-AD63-AAC23E8B035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CC893888-8F45-487B-923D-D4472215D9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C38845-EF0D-40D1-B347-CE357960C1A7}" type="datetime1">
              <a:rPr lang="zh-CN" altLang="en-US" smtClean="0"/>
              <a:t>2024/5/8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3A644FAC-6EEA-44B4-A4F1-653CB1CAD1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Hash Indices</a:t>
            </a:r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B53FA2B3-11DB-4BEE-84C8-2311B0A207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5A79-C12E-4282-8451-1BC984B858F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46616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20FA414-D77C-4B82-8529-656C31367D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E4F31F53-4CC4-46DC-8E70-3572E64FBA8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F67C09-3FA3-4589-B78F-DCBEAED52C7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4089F04E-67F4-4F68-B37D-A00A57E947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C97D1A-A1BC-4EAE-A65F-E3C668F6D33D}" type="datetime1">
              <a:rPr lang="zh-CN" altLang="en-US" smtClean="0"/>
              <a:t>2024/5/8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0099ECEA-4528-4530-A522-778BBB9C72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Hash Indices</a:t>
            </a:r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329C5F91-AAED-4F20-AF2C-9D1FF6496D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5A79-C12E-4282-8451-1BC984B858F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054394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D96D1D9-B232-4A42-AB69-863156B1C7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D33A2D74-7775-4D3C-9091-9BAA39C8D01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D32DD2D-FDAC-4A32-B731-E3842FF1C6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01F5A1-1B5A-4135-BA8E-E4BEEDB07617}" type="datetime1">
              <a:rPr lang="zh-CN" altLang="en-US" smtClean="0"/>
              <a:t>2024/5/8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B69388B-1355-49B2-B918-3CEE224704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Hash Indices</a:t>
            </a: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EC7334B-18F2-480F-8F95-682C88AE96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5A79-C12E-4282-8451-1BC984B858F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568445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EAB35CB8-CD11-431D-8FCF-85C153D2E26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C7FEF1E3-5F13-4B29-B438-6C1D20D6BE4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C1A534A-6E71-4D12-AD85-7E28669D1D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CC4273-9DBF-474A-B981-173D40EFB164}" type="datetime1">
              <a:rPr lang="zh-CN" altLang="en-US" smtClean="0"/>
              <a:t>2024/5/8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6FD16A3-5950-48B1-80C7-09517A34D0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Hash Indices</a:t>
            </a: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45AEE19-5033-4C14-A64A-F63DEA781E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5A79-C12E-4282-8451-1BC984B858F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263918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4888034C-A9C2-4DAC-9DB6-29CEC9FAE4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1F32A96-A572-45D8-B504-F225478C5DC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C144EE8-4BFD-44E6-ACC4-C609EAA85F0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CC25EBB5-F9E4-47D1-877D-00DE2082D349}" type="datetime1">
              <a:rPr lang="zh-CN" altLang="en-US" smtClean="0"/>
              <a:t>2024/5/8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0B2F3-D1DF-4CD8-BACC-8EA9D95652A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altLang="zh-CN"/>
              <a:t>Hash Indices</a:t>
            </a: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AF03E20-0C80-4229-8EE6-4E740290419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87E75A79-C12E-4282-8451-1BC984B858F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241661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80" r:id="rId1"/>
    <p:sldLayoutId id="2147483781" r:id="rId2"/>
    <p:sldLayoutId id="2147483782" r:id="rId3"/>
    <p:sldLayoutId id="2147483783" r:id="rId4"/>
    <p:sldLayoutId id="2147483784" r:id="rId5"/>
    <p:sldLayoutId id="2147483785" r:id="rId6"/>
    <p:sldLayoutId id="2147483786" r:id="rId7"/>
    <p:sldLayoutId id="2147483787" r:id="rId8"/>
    <p:sldLayoutId id="2147483788" r:id="rId9"/>
    <p:sldLayoutId id="2147483789" r:id="rId10"/>
    <p:sldLayoutId id="2147483790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447675" indent="-447675" algn="l" defTabSz="914400" rtl="0" eaLnBrk="1" latinLnBrk="0" hangingPunct="1">
        <a:lnSpc>
          <a:spcPct val="90000"/>
        </a:lnSpc>
        <a:spcBef>
          <a:spcPts val="1000"/>
        </a:spcBef>
        <a:buClr>
          <a:srgbClr val="FF0000"/>
        </a:buClr>
        <a:buFont typeface="Wingdings" panose="05000000000000000000" pitchFamily="2" charset="2"/>
        <a:buChar char="p"/>
        <a:defRPr sz="2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808038" indent="-350838" algn="l" defTabSz="914400" rtl="0" eaLnBrk="1" latinLnBrk="0" hangingPunct="1">
        <a:lnSpc>
          <a:spcPct val="90000"/>
        </a:lnSpc>
        <a:spcBef>
          <a:spcPts val="500"/>
        </a:spcBef>
        <a:buClr>
          <a:srgbClr val="0066FF"/>
        </a:buClr>
        <a:buFont typeface="Wingdings" panose="05000000000000000000" pitchFamily="2" charset="2"/>
        <a:buChar char="l"/>
        <a:defRPr sz="24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254125" indent="-339725" algn="l" defTabSz="914400" rtl="0" eaLnBrk="1" latinLnBrk="0" hangingPunct="1">
        <a:lnSpc>
          <a:spcPct val="90000"/>
        </a:lnSpc>
        <a:spcBef>
          <a:spcPts val="500"/>
        </a:spcBef>
        <a:buClr>
          <a:srgbClr val="00B050"/>
        </a:buClr>
        <a:buSzPct val="70000"/>
        <a:buFont typeface="Wingdings" panose="05000000000000000000" pitchFamily="2" charset="2"/>
        <a:buChar char="u"/>
        <a:defRPr sz="20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701800" indent="-330200" algn="l" defTabSz="914400" rtl="0" eaLnBrk="1" latinLnBrk="0" hangingPunct="1">
        <a:lnSpc>
          <a:spcPct val="90000"/>
        </a:lnSpc>
        <a:spcBef>
          <a:spcPts val="500"/>
        </a:spcBef>
        <a:buClr>
          <a:srgbClr val="00B0F0"/>
        </a:buClr>
        <a:buSzPct val="80000"/>
        <a:buFont typeface="Wingdings" panose="05000000000000000000" pitchFamily="2" charset="2"/>
        <a:buChar char="n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154238" indent="-325438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aappleby/smhasher" TargetMode="Externa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aappleby/smhasher" TargetMode="External"/><Relationship Id="rId2" Type="http://schemas.openxmlformats.org/officeDocument/2006/relationships/hyperlink" Target="https://create.stephan-brumme.com/crc32/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github.com/google/farmhash" TargetMode="External"/><Relationship Id="rId5" Type="http://schemas.openxmlformats.org/officeDocument/2006/relationships/hyperlink" Target="http://cyan4973.github.io/xxHash/" TargetMode="External"/><Relationship Id="rId4" Type="http://schemas.openxmlformats.org/officeDocument/2006/relationships/hyperlink" Target="https://github.com/google/cityhash" TargetMode="Externa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apavlo/hash-function-benchmark" TargetMode="External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emf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B791A7B-F351-49FF-9E1D-E0348C33AB6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45289" y="1047719"/>
            <a:ext cx="10152736" cy="1344608"/>
          </a:xfrm>
        </p:spPr>
        <p:txBody>
          <a:bodyPr>
            <a:noAutofit/>
          </a:bodyPr>
          <a:lstStyle/>
          <a:p>
            <a:r>
              <a:rPr lang="en-US" altLang="zh-CN" sz="4800" dirty="0"/>
              <a:t>Hash Indices</a:t>
            </a:r>
            <a:endParaRPr lang="zh-CN" altLang="en-US" sz="4800" b="1" dirty="0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6B5AC91-97D4-4848-9A24-2C940C7DCD4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077644"/>
            <a:ext cx="9144000" cy="1055818"/>
          </a:xfrm>
        </p:spPr>
        <p:txBody>
          <a:bodyPr>
            <a:normAutofit/>
          </a:bodyPr>
          <a:lstStyle/>
          <a:p>
            <a:r>
              <a:rPr lang="en-US" altLang="zh-CN"/>
              <a:t>SEI.ECNU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4143445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9BBCCEF-D42F-420B-9CC2-98A9815DB6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Hash Table</a:t>
            </a:r>
            <a:endParaRPr lang="zh-CN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22BB0D1-6F5E-4E6D-883B-B9B39DCC89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445289"/>
          </a:xfrm>
        </p:spPr>
        <p:txBody>
          <a:bodyPr>
            <a:normAutofit/>
          </a:bodyPr>
          <a:lstStyle/>
          <a:p>
            <a:pPr marL="446088" indent="-446088">
              <a:lnSpc>
                <a:spcPct val="100000"/>
              </a:lnSpc>
              <a:spcBef>
                <a:spcPts val="1200"/>
              </a:spcBef>
            </a:pPr>
            <a:r>
              <a:rPr lang="en-US" altLang="zh-CN" dirty="0"/>
              <a:t>A hash table implements an unordered associative array that </a:t>
            </a:r>
            <a:r>
              <a:rPr lang="en-US" altLang="zh-CN" b="1" dirty="0"/>
              <a:t>maps keys to values</a:t>
            </a:r>
            <a:r>
              <a:rPr lang="en-US" altLang="zh-CN" dirty="0"/>
              <a:t>.</a:t>
            </a:r>
          </a:p>
          <a:p>
            <a:pPr marL="446088" indent="-446088">
              <a:lnSpc>
                <a:spcPct val="100000"/>
              </a:lnSpc>
              <a:spcBef>
                <a:spcPts val="1200"/>
              </a:spcBef>
            </a:pPr>
            <a:r>
              <a:rPr lang="en-US" altLang="zh-CN" dirty="0"/>
              <a:t>It uses a hash function to compute an offset into the array for a given key, from which the desired value can be found.</a:t>
            </a:r>
          </a:p>
          <a:p>
            <a:pPr marL="806451" lvl="1" indent="-446088">
              <a:lnSpc>
                <a:spcPct val="100000"/>
              </a:lnSpc>
              <a:spcBef>
                <a:spcPts val="1200"/>
              </a:spcBef>
            </a:pPr>
            <a:r>
              <a:rPr lang="pt-BR" altLang="zh-CN" dirty="0"/>
              <a:t>Space Complexity: O(n)</a:t>
            </a:r>
          </a:p>
          <a:p>
            <a:pPr marL="806451" lvl="1" indent="-446088">
              <a:lnSpc>
                <a:spcPct val="100000"/>
              </a:lnSpc>
              <a:spcBef>
                <a:spcPts val="1200"/>
              </a:spcBef>
            </a:pPr>
            <a:r>
              <a:rPr lang="pt-BR" altLang="zh-CN" dirty="0"/>
              <a:t>Operation Complexity:</a:t>
            </a:r>
          </a:p>
          <a:p>
            <a:pPr marL="1252538" lvl="2" indent="-446088">
              <a:lnSpc>
                <a:spcPct val="100000"/>
              </a:lnSpc>
              <a:spcBef>
                <a:spcPts val="1200"/>
              </a:spcBef>
            </a:pPr>
            <a:r>
              <a:rPr lang="pt-BR" altLang="zh-CN" dirty="0"/>
              <a:t>Average: O(1)</a:t>
            </a:r>
          </a:p>
          <a:p>
            <a:pPr marL="1252538" lvl="2" indent="-446088">
              <a:lnSpc>
                <a:spcPct val="100000"/>
              </a:lnSpc>
              <a:spcBef>
                <a:spcPts val="1200"/>
              </a:spcBef>
            </a:pPr>
            <a:r>
              <a:rPr lang="pt-BR" altLang="zh-CN" dirty="0"/>
              <a:t>Worst: O(n)</a:t>
            </a:r>
            <a:endParaRPr lang="en-US" altLang="zh-CN" dirty="0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2905825-8EE0-4CF0-A05E-CAFDF944FB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029C95-04C5-4F77-8EBF-252DBB63C5FF}" type="datetime1">
              <a:rPr lang="zh-CN" altLang="en-US" smtClean="0"/>
              <a:t>2024/5/8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ED664A2-5898-4C25-86F3-E969A94A39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Hash Indices</a:t>
            </a: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34B9AF0-AA69-4CFE-BBF2-A55EB4555B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5CA875-76FA-4283-B5BE-070B4D16A27E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765966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9BBCCEF-D42F-420B-9CC2-98A9815DB6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Static Hash Table</a:t>
            </a:r>
            <a:endParaRPr lang="zh-CN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2905825-8EE0-4CF0-A05E-CAFDF944FB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837736-7F80-4AE2-A17E-E1944F4AB156}" type="datetime1">
              <a:rPr lang="zh-CN" altLang="en-US" smtClean="0"/>
              <a:t>2024/5/8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ED664A2-5898-4C25-86F3-E969A94A39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Hash Indices</a:t>
            </a: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34B9AF0-AA69-4CFE-BBF2-A55EB4555B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5CA875-76FA-4283-B5BE-070B4D16A27E}" type="slidenum">
              <a:rPr lang="zh-CN" altLang="en-US" smtClean="0"/>
              <a:t>3</a:t>
            </a:fld>
            <a:endParaRPr lang="zh-CN" altLang="en-US"/>
          </a:p>
        </p:txBody>
      </p:sp>
      <p:sp>
        <p:nvSpPr>
          <p:cNvPr id="10" name="流程图: 磁盘 9">
            <a:extLst>
              <a:ext uri="{FF2B5EF4-FFF2-40B4-BE49-F238E27FC236}">
                <a16:creationId xmlns:a16="http://schemas.microsoft.com/office/drawing/2014/main" id="{E42BBE1B-9BA2-4501-9480-CA4F65F43502}"/>
              </a:ext>
            </a:extLst>
          </p:cNvPr>
          <p:cNvSpPr/>
          <p:nvPr/>
        </p:nvSpPr>
        <p:spPr>
          <a:xfrm>
            <a:off x="838200" y="1741228"/>
            <a:ext cx="10515600" cy="4482714"/>
          </a:xfrm>
          <a:prstGeom prst="flowChartMagneticDisk">
            <a:avLst/>
          </a:prstGeom>
          <a:noFill/>
          <a:ln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1" name="直接箭头连接符 79">
            <a:extLst>
              <a:ext uri="{FF2B5EF4-FFF2-40B4-BE49-F238E27FC236}">
                <a16:creationId xmlns:a16="http://schemas.microsoft.com/office/drawing/2014/main" id="{371C194E-3A73-44AB-86A2-CBEEC3DE169E}"/>
              </a:ext>
            </a:extLst>
          </p:cNvPr>
          <p:cNvCxnSpPr>
            <a:cxnSpLocks/>
            <a:stCxn id="30" idx="2"/>
            <a:endCxn id="20" idx="0"/>
          </p:cNvCxnSpPr>
          <p:nvPr/>
        </p:nvCxnSpPr>
        <p:spPr>
          <a:xfrm rot="16200000" flipH="1">
            <a:off x="3167842" y="4449283"/>
            <a:ext cx="493153" cy="656800"/>
          </a:xfrm>
          <a:prstGeom prst="curvedConnector3">
            <a:avLst>
              <a:gd name="adj1" fmla="val 50000"/>
            </a:avLst>
          </a:prstGeom>
          <a:ln w="12700">
            <a:solidFill>
              <a:schemeClr val="bg1">
                <a:lumMod val="50000"/>
              </a:schemeClr>
            </a:solidFill>
            <a:prstDash val="dash"/>
            <a:headEnd type="oval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接箭头连接符 79">
            <a:extLst>
              <a:ext uri="{FF2B5EF4-FFF2-40B4-BE49-F238E27FC236}">
                <a16:creationId xmlns:a16="http://schemas.microsoft.com/office/drawing/2014/main" id="{9632F629-C8DB-4280-ADAD-EA7EBCC08D83}"/>
              </a:ext>
            </a:extLst>
          </p:cNvPr>
          <p:cNvCxnSpPr>
            <a:cxnSpLocks/>
            <a:stCxn id="32" idx="2"/>
            <a:endCxn id="22" idx="0"/>
          </p:cNvCxnSpPr>
          <p:nvPr/>
        </p:nvCxnSpPr>
        <p:spPr>
          <a:xfrm rot="5400000">
            <a:off x="5345218" y="4502641"/>
            <a:ext cx="493153" cy="550084"/>
          </a:xfrm>
          <a:prstGeom prst="curvedConnector3">
            <a:avLst>
              <a:gd name="adj1" fmla="val 50000"/>
            </a:avLst>
          </a:prstGeom>
          <a:ln w="12700">
            <a:solidFill>
              <a:schemeClr val="bg1">
                <a:lumMod val="50000"/>
              </a:schemeClr>
            </a:solidFill>
            <a:prstDash val="dash"/>
            <a:headEnd type="oval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箭头连接符 79">
            <a:extLst>
              <a:ext uri="{FF2B5EF4-FFF2-40B4-BE49-F238E27FC236}">
                <a16:creationId xmlns:a16="http://schemas.microsoft.com/office/drawing/2014/main" id="{7F6D17A6-FC13-4890-85DF-476A5FAD5C39}"/>
              </a:ext>
            </a:extLst>
          </p:cNvPr>
          <p:cNvCxnSpPr>
            <a:cxnSpLocks/>
            <a:stCxn id="33" idx="2"/>
            <a:endCxn id="23" idx="0"/>
          </p:cNvCxnSpPr>
          <p:nvPr/>
        </p:nvCxnSpPr>
        <p:spPr>
          <a:xfrm rot="5400000">
            <a:off x="6433906" y="4200920"/>
            <a:ext cx="493153" cy="1153526"/>
          </a:xfrm>
          <a:prstGeom prst="curvedConnector3">
            <a:avLst>
              <a:gd name="adj1" fmla="val 50000"/>
            </a:avLst>
          </a:prstGeom>
          <a:ln w="12700">
            <a:solidFill>
              <a:schemeClr val="bg1">
                <a:lumMod val="50000"/>
              </a:schemeClr>
            </a:solidFill>
            <a:prstDash val="dash"/>
            <a:headEnd type="oval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箭头连接符 79">
            <a:extLst>
              <a:ext uri="{FF2B5EF4-FFF2-40B4-BE49-F238E27FC236}">
                <a16:creationId xmlns:a16="http://schemas.microsoft.com/office/drawing/2014/main" id="{7478E8AB-D63D-47F2-AABC-3DB11A5EDAA2}"/>
              </a:ext>
            </a:extLst>
          </p:cNvPr>
          <p:cNvCxnSpPr>
            <a:cxnSpLocks/>
            <a:stCxn id="30" idx="2"/>
            <a:endCxn id="17" idx="0"/>
          </p:cNvCxnSpPr>
          <p:nvPr/>
        </p:nvCxnSpPr>
        <p:spPr>
          <a:xfrm rot="5400000">
            <a:off x="1987392" y="3925633"/>
            <a:ext cx="493153" cy="1704101"/>
          </a:xfrm>
          <a:prstGeom prst="curvedConnector3">
            <a:avLst>
              <a:gd name="adj1" fmla="val 50000"/>
            </a:avLst>
          </a:prstGeom>
          <a:ln w="12700">
            <a:solidFill>
              <a:schemeClr val="bg1">
                <a:lumMod val="50000"/>
              </a:schemeClr>
            </a:solidFill>
            <a:prstDash val="dash"/>
            <a:headEnd type="oval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接箭头连接符 79">
            <a:extLst>
              <a:ext uri="{FF2B5EF4-FFF2-40B4-BE49-F238E27FC236}">
                <a16:creationId xmlns:a16="http://schemas.microsoft.com/office/drawing/2014/main" id="{6F912418-57E4-4C88-9232-C1F90EE2B426}"/>
              </a:ext>
            </a:extLst>
          </p:cNvPr>
          <p:cNvCxnSpPr>
            <a:cxnSpLocks/>
            <a:stCxn id="34" idx="2"/>
            <a:endCxn id="26" idx="0"/>
          </p:cNvCxnSpPr>
          <p:nvPr/>
        </p:nvCxnSpPr>
        <p:spPr>
          <a:xfrm rot="5400000">
            <a:off x="8309561" y="4686166"/>
            <a:ext cx="493153" cy="183034"/>
          </a:xfrm>
          <a:prstGeom prst="curvedConnector3">
            <a:avLst>
              <a:gd name="adj1" fmla="val 50000"/>
            </a:avLst>
          </a:prstGeom>
          <a:ln w="12700">
            <a:solidFill>
              <a:schemeClr val="bg1">
                <a:lumMod val="50000"/>
              </a:schemeClr>
            </a:solidFill>
            <a:prstDash val="dash"/>
            <a:headEnd type="oval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箭头连接符 79">
            <a:extLst>
              <a:ext uri="{FF2B5EF4-FFF2-40B4-BE49-F238E27FC236}">
                <a16:creationId xmlns:a16="http://schemas.microsoft.com/office/drawing/2014/main" id="{AC871D30-587B-4BE5-8D5A-8098F621D65A}"/>
              </a:ext>
            </a:extLst>
          </p:cNvPr>
          <p:cNvCxnSpPr>
            <a:cxnSpLocks/>
            <a:stCxn id="31" idx="2"/>
            <a:endCxn id="19" idx="0"/>
          </p:cNvCxnSpPr>
          <p:nvPr/>
        </p:nvCxnSpPr>
        <p:spPr>
          <a:xfrm rot="5400000">
            <a:off x="3469563" y="4017395"/>
            <a:ext cx="493153" cy="1520576"/>
          </a:xfrm>
          <a:prstGeom prst="curvedConnector3">
            <a:avLst>
              <a:gd name="adj1" fmla="val 50000"/>
            </a:avLst>
          </a:prstGeom>
          <a:ln w="12700">
            <a:solidFill>
              <a:schemeClr val="bg1">
                <a:lumMod val="50000"/>
              </a:schemeClr>
            </a:solidFill>
            <a:prstDash val="dash"/>
            <a:headEnd type="oval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7" name="图片 16">
            <a:extLst>
              <a:ext uri="{FF2B5EF4-FFF2-40B4-BE49-F238E27FC236}">
                <a16:creationId xmlns:a16="http://schemas.microsoft.com/office/drawing/2014/main" id="{7CA93D5F-2E58-4120-A226-0133BB4A85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5438" y="5024260"/>
            <a:ext cx="572958" cy="483932"/>
          </a:xfrm>
          <a:prstGeom prst="rect">
            <a:avLst/>
          </a:prstGeom>
        </p:spPr>
      </p:pic>
      <p:pic>
        <p:nvPicPr>
          <p:cNvPr id="18" name="图片 17">
            <a:extLst>
              <a:ext uri="{FF2B5EF4-FFF2-40B4-BE49-F238E27FC236}">
                <a16:creationId xmlns:a16="http://schemas.microsoft.com/office/drawing/2014/main" id="{0152BF7A-DD6A-492C-9B93-D83132DB3D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82405" y="5024260"/>
            <a:ext cx="572958" cy="483932"/>
          </a:xfrm>
          <a:prstGeom prst="rect">
            <a:avLst/>
          </a:prstGeom>
        </p:spPr>
      </p:pic>
      <p:pic>
        <p:nvPicPr>
          <p:cNvPr id="19" name="图片 18">
            <a:extLst>
              <a:ext uri="{FF2B5EF4-FFF2-40B4-BE49-F238E27FC236}">
                <a16:creationId xmlns:a16="http://schemas.microsoft.com/office/drawing/2014/main" id="{CB89DCF8-395F-4D52-AC14-0EC29270CC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69372" y="5024260"/>
            <a:ext cx="572958" cy="483932"/>
          </a:xfrm>
          <a:prstGeom prst="rect">
            <a:avLst/>
          </a:prstGeom>
        </p:spPr>
      </p:pic>
      <p:pic>
        <p:nvPicPr>
          <p:cNvPr id="20" name="图片 19">
            <a:extLst>
              <a:ext uri="{FF2B5EF4-FFF2-40B4-BE49-F238E27FC236}">
                <a16:creationId xmlns:a16="http://schemas.microsoft.com/office/drawing/2014/main" id="{FA2214EF-6E2E-4D39-8E50-42BE105BDA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56339" y="5024260"/>
            <a:ext cx="572958" cy="483932"/>
          </a:xfrm>
          <a:prstGeom prst="rect">
            <a:avLst/>
          </a:prstGeom>
        </p:spPr>
      </p:pic>
      <p:pic>
        <p:nvPicPr>
          <p:cNvPr id="21" name="图片 20">
            <a:extLst>
              <a:ext uri="{FF2B5EF4-FFF2-40B4-BE49-F238E27FC236}">
                <a16:creationId xmlns:a16="http://schemas.microsoft.com/office/drawing/2014/main" id="{D79E7401-337C-4711-8B0C-FFDFE6453B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43306" y="5024260"/>
            <a:ext cx="572958" cy="483932"/>
          </a:xfrm>
          <a:prstGeom prst="rect">
            <a:avLst/>
          </a:prstGeom>
        </p:spPr>
      </p:pic>
      <p:pic>
        <p:nvPicPr>
          <p:cNvPr id="22" name="图片 21">
            <a:extLst>
              <a:ext uri="{FF2B5EF4-FFF2-40B4-BE49-F238E27FC236}">
                <a16:creationId xmlns:a16="http://schemas.microsoft.com/office/drawing/2014/main" id="{A67AB6F3-D6DB-4BD1-9D6D-E01245B800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30273" y="5024260"/>
            <a:ext cx="572958" cy="483932"/>
          </a:xfrm>
          <a:prstGeom prst="rect">
            <a:avLst/>
          </a:prstGeom>
        </p:spPr>
      </p:pic>
      <p:pic>
        <p:nvPicPr>
          <p:cNvPr id="23" name="图片 22">
            <a:extLst>
              <a:ext uri="{FF2B5EF4-FFF2-40B4-BE49-F238E27FC236}">
                <a16:creationId xmlns:a16="http://schemas.microsoft.com/office/drawing/2014/main" id="{F72F612A-63D2-4773-9A6A-4A05F0B6FB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17240" y="5024260"/>
            <a:ext cx="572958" cy="483932"/>
          </a:xfrm>
          <a:prstGeom prst="rect">
            <a:avLst/>
          </a:prstGeom>
        </p:spPr>
      </p:pic>
      <p:pic>
        <p:nvPicPr>
          <p:cNvPr id="24" name="图片 23">
            <a:extLst>
              <a:ext uri="{FF2B5EF4-FFF2-40B4-BE49-F238E27FC236}">
                <a16:creationId xmlns:a16="http://schemas.microsoft.com/office/drawing/2014/main" id="{1F08433D-E47B-4977-85CC-25EF25C701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4207" y="5024260"/>
            <a:ext cx="572958" cy="483932"/>
          </a:xfrm>
          <a:prstGeom prst="rect">
            <a:avLst/>
          </a:prstGeom>
        </p:spPr>
      </p:pic>
      <p:pic>
        <p:nvPicPr>
          <p:cNvPr id="25" name="图片 24">
            <a:extLst>
              <a:ext uri="{FF2B5EF4-FFF2-40B4-BE49-F238E27FC236}">
                <a16:creationId xmlns:a16="http://schemas.microsoft.com/office/drawing/2014/main" id="{E46C6E25-BEF9-4478-8784-9CB42D8425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91174" y="5024260"/>
            <a:ext cx="572958" cy="483932"/>
          </a:xfrm>
          <a:prstGeom prst="rect">
            <a:avLst/>
          </a:prstGeom>
        </p:spPr>
      </p:pic>
      <p:pic>
        <p:nvPicPr>
          <p:cNvPr id="26" name="图片 25">
            <a:extLst>
              <a:ext uri="{FF2B5EF4-FFF2-40B4-BE49-F238E27FC236}">
                <a16:creationId xmlns:a16="http://schemas.microsoft.com/office/drawing/2014/main" id="{8A216298-7301-4EA8-878A-8324527A48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78141" y="5024260"/>
            <a:ext cx="572958" cy="483932"/>
          </a:xfrm>
          <a:prstGeom prst="rect">
            <a:avLst/>
          </a:prstGeom>
        </p:spPr>
      </p:pic>
      <p:pic>
        <p:nvPicPr>
          <p:cNvPr id="27" name="图片 26">
            <a:extLst>
              <a:ext uri="{FF2B5EF4-FFF2-40B4-BE49-F238E27FC236}">
                <a16:creationId xmlns:a16="http://schemas.microsoft.com/office/drawing/2014/main" id="{D45880FF-0412-4351-A0A1-136B889F8C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65108" y="5024260"/>
            <a:ext cx="572958" cy="483932"/>
          </a:xfrm>
          <a:prstGeom prst="rect">
            <a:avLst/>
          </a:prstGeom>
        </p:spPr>
      </p:pic>
      <p:pic>
        <p:nvPicPr>
          <p:cNvPr id="28" name="图片 27">
            <a:extLst>
              <a:ext uri="{FF2B5EF4-FFF2-40B4-BE49-F238E27FC236}">
                <a16:creationId xmlns:a16="http://schemas.microsoft.com/office/drawing/2014/main" id="{06E9DA82-E5FB-4BFE-80E1-888C8783BA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52075" y="5024260"/>
            <a:ext cx="572958" cy="483932"/>
          </a:xfrm>
          <a:prstGeom prst="rect">
            <a:avLst/>
          </a:prstGeom>
        </p:spPr>
      </p:pic>
      <p:pic>
        <p:nvPicPr>
          <p:cNvPr id="29" name="图片 28">
            <a:extLst>
              <a:ext uri="{FF2B5EF4-FFF2-40B4-BE49-F238E27FC236}">
                <a16:creationId xmlns:a16="http://schemas.microsoft.com/office/drawing/2014/main" id="{043B3D04-5A96-4D69-A3D0-D2E008A935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39044" y="5024260"/>
            <a:ext cx="572958" cy="483932"/>
          </a:xfrm>
          <a:prstGeom prst="rect">
            <a:avLst/>
          </a:prstGeom>
        </p:spPr>
      </p:pic>
      <p:pic>
        <p:nvPicPr>
          <p:cNvPr id="30" name="图片 29">
            <a:extLst>
              <a:ext uri="{FF2B5EF4-FFF2-40B4-BE49-F238E27FC236}">
                <a16:creationId xmlns:a16="http://schemas.microsoft.com/office/drawing/2014/main" id="{0C526FB3-83EB-4B7A-97CD-92646FD28E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68564" y="4085913"/>
            <a:ext cx="634908" cy="445194"/>
          </a:xfrm>
          <a:prstGeom prst="rect">
            <a:avLst/>
          </a:prstGeom>
        </p:spPr>
      </p:pic>
      <p:pic>
        <p:nvPicPr>
          <p:cNvPr id="31" name="图片 30">
            <a:extLst>
              <a:ext uri="{FF2B5EF4-FFF2-40B4-BE49-F238E27FC236}">
                <a16:creationId xmlns:a16="http://schemas.microsoft.com/office/drawing/2014/main" id="{A138A70F-931F-48CA-A4BB-10F4FDDAC13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58973" y="4085913"/>
            <a:ext cx="634908" cy="445194"/>
          </a:xfrm>
          <a:prstGeom prst="rect">
            <a:avLst/>
          </a:prstGeom>
        </p:spPr>
      </p:pic>
      <p:pic>
        <p:nvPicPr>
          <p:cNvPr id="32" name="图片 31">
            <a:extLst>
              <a:ext uri="{FF2B5EF4-FFF2-40B4-BE49-F238E27FC236}">
                <a16:creationId xmlns:a16="http://schemas.microsoft.com/office/drawing/2014/main" id="{51B81C24-D2EC-41E1-BEE2-A05E7FAE19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49382" y="4085913"/>
            <a:ext cx="634908" cy="445194"/>
          </a:xfrm>
          <a:prstGeom prst="rect">
            <a:avLst/>
          </a:prstGeom>
        </p:spPr>
      </p:pic>
      <p:pic>
        <p:nvPicPr>
          <p:cNvPr id="33" name="图片 32">
            <a:extLst>
              <a:ext uri="{FF2B5EF4-FFF2-40B4-BE49-F238E27FC236}">
                <a16:creationId xmlns:a16="http://schemas.microsoft.com/office/drawing/2014/main" id="{BFA31764-EB14-4D29-9576-976EAAFE24D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39791" y="4085913"/>
            <a:ext cx="634908" cy="445194"/>
          </a:xfrm>
          <a:prstGeom prst="rect">
            <a:avLst/>
          </a:prstGeom>
        </p:spPr>
      </p:pic>
      <p:pic>
        <p:nvPicPr>
          <p:cNvPr id="34" name="图片 33">
            <a:extLst>
              <a:ext uri="{FF2B5EF4-FFF2-40B4-BE49-F238E27FC236}">
                <a16:creationId xmlns:a16="http://schemas.microsoft.com/office/drawing/2014/main" id="{7BE17EE1-56A0-4E9D-BA8B-454AA6CD1A7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30200" y="4085913"/>
            <a:ext cx="634908" cy="445194"/>
          </a:xfrm>
          <a:prstGeom prst="rect">
            <a:avLst/>
          </a:prstGeom>
        </p:spPr>
      </p:pic>
      <p:cxnSp>
        <p:nvCxnSpPr>
          <p:cNvPr id="35" name="直接箭头连接符 79">
            <a:extLst>
              <a:ext uri="{FF2B5EF4-FFF2-40B4-BE49-F238E27FC236}">
                <a16:creationId xmlns:a16="http://schemas.microsoft.com/office/drawing/2014/main" id="{AA84FA59-EFA2-436E-A8B1-E3A93F2BBCA1}"/>
              </a:ext>
            </a:extLst>
          </p:cNvPr>
          <p:cNvCxnSpPr>
            <a:cxnSpLocks/>
            <a:stCxn id="33" idx="2"/>
            <a:endCxn id="24" idx="0"/>
          </p:cNvCxnSpPr>
          <p:nvPr/>
        </p:nvCxnSpPr>
        <p:spPr>
          <a:xfrm rot="5400000">
            <a:off x="6827390" y="4594404"/>
            <a:ext cx="493153" cy="366559"/>
          </a:xfrm>
          <a:prstGeom prst="curvedConnector3">
            <a:avLst>
              <a:gd name="adj1" fmla="val 50000"/>
            </a:avLst>
          </a:prstGeom>
          <a:ln w="12700">
            <a:solidFill>
              <a:schemeClr val="bg1">
                <a:lumMod val="50000"/>
              </a:schemeClr>
            </a:solidFill>
            <a:prstDash val="dash"/>
            <a:headEnd type="oval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直接箭头连接符 79">
            <a:extLst>
              <a:ext uri="{FF2B5EF4-FFF2-40B4-BE49-F238E27FC236}">
                <a16:creationId xmlns:a16="http://schemas.microsoft.com/office/drawing/2014/main" id="{80FB827F-A57B-46D9-A2AD-CB8D12B5ABE2}"/>
              </a:ext>
            </a:extLst>
          </p:cNvPr>
          <p:cNvCxnSpPr>
            <a:cxnSpLocks/>
            <a:stCxn id="31" idx="2"/>
            <a:endCxn id="21" idx="0"/>
          </p:cNvCxnSpPr>
          <p:nvPr/>
        </p:nvCxnSpPr>
        <p:spPr>
          <a:xfrm rot="16200000" flipH="1">
            <a:off x="4256530" y="4751004"/>
            <a:ext cx="493153" cy="53358"/>
          </a:xfrm>
          <a:prstGeom prst="curvedConnector3">
            <a:avLst>
              <a:gd name="adj1" fmla="val 50000"/>
            </a:avLst>
          </a:prstGeom>
          <a:ln w="12700">
            <a:solidFill>
              <a:schemeClr val="bg1">
                <a:lumMod val="50000"/>
              </a:schemeClr>
            </a:solidFill>
            <a:prstDash val="dash"/>
            <a:headEnd type="oval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直接箭头连接符 79">
            <a:extLst>
              <a:ext uri="{FF2B5EF4-FFF2-40B4-BE49-F238E27FC236}">
                <a16:creationId xmlns:a16="http://schemas.microsoft.com/office/drawing/2014/main" id="{64789351-9EB9-44C5-A02E-E27E749F9EC7}"/>
              </a:ext>
            </a:extLst>
          </p:cNvPr>
          <p:cNvCxnSpPr>
            <a:cxnSpLocks/>
            <a:stCxn id="33" idx="2"/>
            <a:endCxn id="18" idx="0"/>
          </p:cNvCxnSpPr>
          <p:nvPr/>
        </p:nvCxnSpPr>
        <p:spPr>
          <a:xfrm rot="5400000">
            <a:off x="4466489" y="2233503"/>
            <a:ext cx="493153" cy="5088361"/>
          </a:xfrm>
          <a:prstGeom prst="curvedConnector3">
            <a:avLst>
              <a:gd name="adj1" fmla="val 50000"/>
            </a:avLst>
          </a:prstGeom>
          <a:ln w="12700">
            <a:solidFill>
              <a:schemeClr val="bg1">
                <a:lumMod val="50000"/>
              </a:schemeClr>
            </a:solidFill>
            <a:prstDash val="dash"/>
            <a:headEnd type="oval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直接箭头连接符 79">
            <a:extLst>
              <a:ext uri="{FF2B5EF4-FFF2-40B4-BE49-F238E27FC236}">
                <a16:creationId xmlns:a16="http://schemas.microsoft.com/office/drawing/2014/main" id="{EED77D5C-BE72-4281-BCA8-BE7C7B69C891}"/>
              </a:ext>
            </a:extLst>
          </p:cNvPr>
          <p:cNvCxnSpPr>
            <a:cxnSpLocks/>
            <a:stCxn id="34" idx="2"/>
            <a:endCxn id="25" idx="0"/>
          </p:cNvCxnSpPr>
          <p:nvPr/>
        </p:nvCxnSpPr>
        <p:spPr>
          <a:xfrm rot="5400000">
            <a:off x="7916078" y="4292683"/>
            <a:ext cx="493153" cy="970001"/>
          </a:xfrm>
          <a:prstGeom prst="curvedConnector3">
            <a:avLst>
              <a:gd name="adj1" fmla="val 50000"/>
            </a:avLst>
          </a:prstGeom>
          <a:ln w="12700">
            <a:solidFill>
              <a:schemeClr val="bg1">
                <a:lumMod val="50000"/>
              </a:schemeClr>
            </a:solidFill>
            <a:prstDash val="dash"/>
            <a:headEnd type="oval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直接箭头连接符 79">
            <a:extLst>
              <a:ext uri="{FF2B5EF4-FFF2-40B4-BE49-F238E27FC236}">
                <a16:creationId xmlns:a16="http://schemas.microsoft.com/office/drawing/2014/main" id="{BEAE5FD8-86A9-4C6E-A07E-5D4DFE861426}"/>
              </a:ext>
            </a:extLst>
          </p:cNvPr>
          <p:cNvCxnSpPr>
            <a:cxnSpLocks/>
            <a:stCxn id="34" idx="2"/>
            <a:endCxn id="21" idx="0"/>
          </p:cNvCxnSpPr>
          <p:nvPr/>
        </p:nvCxnSpPr>
        <p:spPr>
          <a:xfrm rot="5400000">
            <a:off x="6342144" y="2718749"/>
            <a:ext cx="493153" cy="4117869"/>
          </a:xfrm>
          <a:prstGeom prst="curvedConnector3">
            <a:avLst>
              <a:gd name="adj1" fmla="val 50000"/>
            </a:avLst>
          </a:prstGeom>
          <a:ln w="12700">
            <a:solidFill>
              <a:schemeClr val="bg1">
                <a:lumMod val="50000"/>
              </a:schemeClr>
            </a:solidFill>
            <a:prstDash val="dash"/>
            <a:headEnd type="oval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直接箭头连接符 79">
            <a:extLst>
              <a:ext uri="{FF2B5EF4-FFF2-40B4-BE49-F238E27FC236}">
                <a16:creationId xmlns:a16="http://schemas.microsoft.com/office/drawing/2014/main" id="{452F7174-77D9-450D-B20F-417C2088CDE6}"/>
              </a:ext>
            </a:extLst>
          </p:cNvPr>
          <p:cNvCxnSpPr>
            <a:cxnSpLocks/>
            <a:stCxn id="34" idx="2"/>
            <a:endCxn id="29" idx="0"/>
          </p:cNvCxnSpPr>
          <p:nvPr/>
        </p:nvCxnSpPr>
        <p:spPr>
          <a:xfrm rot="16200000" flipH="1">
            <a:off x="9490012" y="3688748"/>
            <a:ext cx="493153" cy="2177869"/>
          </a:xfrm>
          <a:prstGeom prst="curvedConnector3">
            <a:avLst>
              <a:gd name="adj1" fmla="val 50000"/>
            </a:avLst>
          </a:prstGeom>
          <a:ln w="12700">
            <a:solidFill>
              <a:schemeClr val="bg1">
                <a:lumMod val="50000"/>
              </a:schemeClr>
            </a:solidFill>
            <a:prstDash val="dash"/>
            <a:headEnd type="oval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直接箭头连接符 79">
            <a:extLst>
              <a:ext uri="{FF2B5EF4-FFF2-40B4-BE49-F238E27FC236}">
                <a16:creationId xmlns:a16="http://schemas.microsoft.com/office/drawing/2014/main" id="{E0EB87FF-DB71-4733-B64D-A481A82E2E75}"/>
              </a:ext>
            </a:extLst>
          </p:cNvPr>
          <p:cNvCxnSpPr>
            <a:cxnSpLocks/>
            <a:stCxn id="32" idx="2"/>
            <a:endCxn id="17" idx="0"/>
          </p:cNvCxnSpPr>
          <p:nvPr/>
        </p:nvCxnSpPr>
        <p:spPr>
          <a:xfrm rot="5400000">
            <a:off x="3377801" y="2535224"/>
            <a:ext cx="493153" cy="4484919"/>
          </a:xfrm>
          <a:prstGeom prst="curvedConnector3">
            <a:avLst>
              <a:gd name="adj1" fmla="val 50000"/>
            </a:avLst>
          </a:prstGeom>
          <a:ln w="12700">
            <a:solidFill>
              <a:schemeClr val="bg1">
                <a:lumMod val="50000"/>
              </a:schemeClr>
            </a:solidFill>
            <a:prstDash val="dash"/>
            <a:headEnd type="oval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直接箭头连接符 79">
            <a:extLst>
              <a:ext uri="{FF2B5EF4-FFF2-40B4-BE49-F238E27FC236}">
                <a16:creationId xmlns:a16="http://schemas.microsoft.com/office/drawing/2014/main" id="{A173F693-9315-4973-898B-9D2C51E72F78}"/>
              </a:ext>
            </a:extLst>
          </p:cNvPr>
          <p:cNvCxnSpPr>
            <a:cxnSpLocks/>
            <a:stCxn id="30" idx="2"/>
            <a:endCxn id="27" idx="0"/>
          </p:cNvCxnSpPr>
          <p:nvPr/>
        </p:nvCxnSpPr>
        <p:spPr>
          <a:xfrm rot="16200000" flipH="1">
            <a:off x="5922226" y="1694898"/>
            <a:ext cx="493153" cy="6165569"/>
          </a:xfrm>
          <a:prstGeom prst="curvedConnector3">
            <a:avLst>
              <a:gd name="adj1" fmla="val 50000"/>
            </a:avLst>
          </a:prstGeom>
          <a:ln w="12700">
            <a:solidFill>
              <a:schemeClr val="bg1">
                <a:lumMod val="50000"/>
              </a:schemeClr>
            </a:solidFill>
            <a:prstDash val="dash"/>
            <a:headEnd type="oval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直接箭头连接符 79">
            <a:extLst>
              <a:ext uri="{FF2B5EF4-FFF2-40B4-BE49-F238E27FC236}">
                <a16:creationId xmlns:a16="http://schemas.microsoft.com/office/drawing/2014/main" id="{255AF2F7-166D-4FC6-8A6F-F1C16466BA51}"/>
              </a:ext>
            </a:extLst>
          </p:cNvPr>
          <p:cNvCxnSpPr>
            <a:cxnSpLocks/>
            <a:stCxn id="31" idx="2"/>
            <a:endCxn id="27" idx="0"/>
          </p:cNvCxnSpPr>
          <p:nvPr/>
        </p:nvCxnSpPr>
        <p:spPr>
          <a:xfrm rot="16200000" flipH="1">
            <a:off x="6617431" y="2390103"/>
            <a:ext cx="493153" cy="4775160"/>
          </a:xfrm>
          <a:prstGeom prst="curvedConnector3">
            <a:avLst>
              <a:gd name="adj1" fmla="val 50000"/>
            </a:avLst>
          </a:prstGeom>
          <a:ln w="12700">
            <a:solidFill>
              <a:schemeClr val="bg1">
                <a:lumMod val="50000"/>
              </a:schemeClr>
            </a:solidFill>
            <a:prstDash val="dash"/>
            <a:headEnd type="oval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直接箭头连接符 79">
            <a:extLst>
              <a:ext uri="{FF2B5EF4-FFF2-40B4-BE49-F238E27FC236}">
                <a16:creationId xmlns:a16="http://schemas.microsoft.com/office/drawing/2014/main" id="{97D2903E-BC68-4202-97D0-CE6ED742637D}"/>
              </a:ext>
            </a:extLst>
          </p:cNvPr>
          <p:cNvCxnSpPr>
            <a:cxnSpLocks/>
            <a:stCxn id="33" idx="2"/>
            <a:endCxn id="26" idx="0"/>
          </p:cNvCxnSpPr>
          <p:nvPr/>
        </p:nvCxnSpPr>
        <p:spPr>
          <a:xfrm rot="16200000" flipH="1">
            <a:off x="7614356" y="4173995"/>
            <a:ext cx="493153" cy="1207375"/>
          </a:xfrm>
          <a:prstGeom prst="curvedConnector3">
            <a:avLst>
              <a:gd name="adj1" fmla="val 50000"/>
            </a:avLst>
          </a:prstGeom>
          <a:ln w="12700">
            <a:solidFill>
              <a:schemeClr val="bg1">
                <a:lumMod val="50000"/>
              </a:schemeClr>
            </a:solidFill>
            <a:prstDash val="dash"/>
            <a:headEnd type="oval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直接箭头连接符 79">
            <a:extLst>
              <a:ext uri="{FF2B5EF4-FFF2-40B4-BE49-F238E27FC236}">
                <a16:creationId xmlns:a16="http://schemas.microsoft.com/office/drawing/2014/main" id="{F1E1AE16-D527-46F9-97FC-4AB2D486DF86}"/>
              </a:ext>
            </a:extLst>
          </p:cNvPr>
          <p:cNvCxnSpPr>
            <a:cxnSpLocks/>
            <a:stCxn id="32" idx="2"/>
            <a:endCxn id="28" idx="0"/>
          </p:cNvCxnSpPr>
          <p:nvPr/>
        </p:nvCxnSpPr>
        <p:spPr>
          <a:xfrm rot="16200000" flipH="1">
            <a:off x="7706119" y="2691824"/>
            <a:ext cx="493153" cy="4171718"/>
          </a:xfrm>
          <a:prstGeom prst="curvedConnector3">
            <a:avLst>
              <a:gd name="adj1" fmla="val 50000"/>
            </a:avLst>
          </a:prstGeom>
          <a:ln w="12700">
            <a:solidFill>
              <a:schemeClr val="bg1">
                <a:lumMod val="50000"/>
              </a:schemeClr>
            </a:solidFill>
            <a:prstDash val="dash"/>
            <a:headEnd type="oval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直接箭头连接符 79">
            <a:extLst>
              <a:ext uri="{FF2B5EF4-FFF2-40B4-BE49-F238E27FC236}">
                <a16:creationId xmlns:a16="http://schemas.microsoft.com/office/drawing/2014/main" id="{1B1B5C92-B248-4C20-8ABF-60261D39484C}"/>
              </a:ext>
            </a:extLst>
          </p:cNvPr>
          <p:cNvCxnSpPr>
            <a:cxnSpLocks/>
            <a:stCxn id="32" idx="2"/>
            <a:endCxn id="25" idx="0"/>
          </p:cNvCxnSpPr>
          <p:nvPr/>
        </p:nvCxnSpPr>
        <p:spPr>
          <a:xfrm rot="16200000" flipH="1">
            <a:off x="6525668" y="3872274"/>
            <a:ext cx="493153" cy="1810817"/>
          </a:xfrm>
          <a:prstGeom prst="curvedConnector3">
            <a:avLst>
              <a:gd name="adj1" fmla="val 50000"/>
            </a:avLst>
          </a:prstGeom>
          <a:ln w="12700">
            <a:solidFill>
              <a:schemeClr val="bg1">
                <a:lumMod val="50000"/>
              </a:schemeClr>
            </a:solidFill>
            <a:prstDash val="dash"/>
            <a:headEnd type="oval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直接箭头连接符 79">
            <a:extLst>
              <a:ext uri="{FF2B5EF4-FFF2-40B4-BE49-F238E27FC236}">
                <a16:creationId xmlns:a16="http://schemas.microsoft.com/office/drawing/2014/main" id="{D6E14D4C-E3C7-41D8-BDF1-327A8B22D9FB}"/>
              </a:ext>
            </a:extLst>
          </p:cNvPr>
          <p:cNvCxnSpPr>
            <a:cxnSpLocks/>
            <a:stCxn id="31" idx="2"/>
            <a:endCxn id="23" idx="0"/>
          </p:cNvCxnSpPr>
          <p:nvPr/>
        </p:nvCxnSpPr>
        <p:spPr>
          <a:xfrm rot="16200000" flipH="1">
            <a:off x="5043497" y="3964037"/>
            <a:ext cx="493153" cy="1627292"/>
          </a:xfrm>
          <a:prstGeom prst="curvedConnector3">
            <a:avLst>
              <a:gd name="adj1" fmla="val 50000"/>
            </a:avLst>
          </a:prstGeom>
          <a:ln w="12700">
            <a:solidFill>
              <a:schemeClr val="bg1">
                <a:lumMod val="50000"/>
              </a:schemeClr>
            </a:solidFill>
            <a:prstDash val="dash"/>
            <a:headEnd type="oval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直接箭头连接符 79">
            <a:extLst>
              <a:ext uri="{FF2B5EF4-FFF2-40B4-BE49-F238E27FC236}">
                <a16:creationId xmlns:a16="http://schemas.microsoft.com/office/drawing/2014/main" id="{198624A5-CA04-45F0-BDC6-9A109C51CDA1}"/>
              </a:ext>
            </a:extLst>
          </p:cNvPr>
          <p:cNvCxnSpPr>
            <a:cxnSpLocks/>
            <a:stCxn id="30" idx="2"/>
            <a:endCxn id="22" idx="0"/>
          </p:cNvCxnSpPr>
          <p:nvPr/>
        </p:nvCxnSpPr>
        <p:spPr>
          <a:xfrm rot="16200000" flipH="1">
            <a:off x="3954809" y="3662316"/>
            <a:ext cx="493153" cy="2230734"/>
          </a:xfrm>
          <a:prstGeom prst="curvedConnector3">
            <a:avLst>
              <a:gd name="adj1" fmla="val 50000"/>
            </a:avLst>
          </a:prstGeom>
          <a:ln w="12700">
            <a:solidFill>
              <a:schemeClr val="bg1">
                <a:lumMod val="50000"/>
              </a:schemeClr>
            </a:solidFill>
            <a:prstDash val="dash"/>
            <a:headEnd type="oval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文本框 58">
            <a:extLst>
              <a:ext uri="{FF2B5EF4-FFF2-40B4-BE49-F238E27FC236}">
                <a16:creationId xmlns:a16="http://schemas.microsoft.com/office/drawing/2014/main" id="{9C61EAAB-98AD-4F89-ACB9-37F2BCFB6C09}"/>
              </a:ext>
            </a:extLst>
          </p:cNvPr>
          <p:cNvSpPr txBox="1"/>
          <p:nvPr/>
        </p:nvSpPr>
        <p:spPr>
          <a:xfrm>
            <a:off x="5434251" y="5554863"/>
            <a:ext cx="15055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latin typeface="Arial" panose="020B0604020202020204" pitchFamily="34" charset="0"/>
                <a:cs typeface="Arial" panose="020B0604020202020204" pitchFamily="34" charset="0"/>
              </a:rPr>
              <a:t>Data Blocks</a:t>
            </a:r>
            <a:endParaRPr lang="zh-CN" alt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0" name="文本框 59">
            <a:extLst>
              <a:ext uri="{FF2B5EF4-FFF2-40B4-BE49-F238E27FC236}">
                <a16:creationId xmlns:a16="http://schemas.microsoft.com/office/drawing/2014/main" id="{2731E44B-960C-4897-A892-DC0A14528032}"/>
              </a:ext>
            </a:extLst>
          </p:cNvPr>
          <p:cNvSpPr txBox="1"/>
          <p:nvPr/>
        </p:nvSpPr>
        <p:spPr>
          <a:xfrm>
            <a:off x="9243745" y="3985344"/>
            <a:ext cx="172354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b="1" dirty="0">
                <a:latin typeface="Arial" panose="020B0604020202020204" pitchFamily="34" charset="0"/>
                <a:cs typeface="Arial" panose="020B0604020202020204" pitchFamily="34" charset="0"/>
              </a:rPr>
              <a:t>Hash Index</a:t>
            </a:r>
          </a:p>
          <a:p>
            <a:pPr algn="ctr"/>
            <a:r>
              <a:rPr lang="en-US" altLang="zh-CN" b="1" dirty="0">
                <a:latin typeface="Arial" panose="020B0604020202020204" pitchFamily="34" charset="0"/>
                <a:cs typeface="Arial" panose="020B0604020202020204" pitchFamily="34" charset="0"/>
              </a:rPr>
              <a:t>Bucket Nodes</a:t>
            </a:r>
            <a:endParaRPr lang="zh-CN" alt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7" name="矩形 66">
            <a:extLst>
              <a:ext uri="{FF2B5EF4-FFF2-40B4-BE49-F238E27FC236}">
                <a16:creationId xmlns:a16="http://schemas.microsoft.com/office/drawing/2014/main" id="{37EC03A5-9038-4B24-86D2-145D162065F0}"/>
              </a:ext>
            </a:extLst>
          </p:cNvPr>
          <p:cNvSpPr/>
          <p:nvPr/>
        </p:nvSpPr>
        <p:spPr>
          <a:xfrm>
            <a:off x="2744211" y="2183841"/>
            <a:ext cx="164634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>
                <a:solidFill>
                  <a:srgbClr val="FF0000"/>
                </a:solidFill>
                <a:latin typeface="NimbusRomDOT-Reg"/>
              </a:rPr>
              <a:t>Hash(‘Einstein’)</a:t>
            </a:r>
            <a:endParaRPr lang="zh-CN" altLang="en-US" dirty="0">
              <a:solidFill>
                <a:srgbClr val="FF0000"/>
              </a:solidFill>
            </a:endParaRPr>
          </a:p>
        </p:txBody>
      </p:sp>
      <p:cxnSp>
        <p:nvCxnSpPr>
          <p:cNvPr id="68" name="直接箭头连接符 79">
            <a:extLst>
              <a:ext uri="{FF2B5EF4-FFF2-40B4-BE49-F238E27FC236}">
                <a16:creationId xmlns:a16="http://schemas.microsoft.com/office/drawing/2014/main" id="{F64F5C62-BE54-43FA-A937-1394C68516AA}"/>
              </a:ext>
            </a:extLst>
          </p:cNvPr>
          <p:cNvCxnSpPr>
            <a:cxnSpLocks/>
            <a:stCxn id="67" idx="2"/>
            <a:endCxn id="31" idx="0"/>
          </p:cNvCxnSpPr>
          <p:nvPr/>
        </p:nvCxnSpPr>
        <p:spPr>
          <a:xfrm rot="16200000" flipH="1">
            <a:off x="3255536" y="2865022"/>
            <a:ext cx="1532740" cy="909042"/>
          </a:xfrm>
          <a:prstGeom prst="curvedConnector3">
            <a:avLst>
              <a:gd name="adj1" fmla="val 50000"/>
            </a:avLst>
          </a:prstGeom>
          <a:ln w="25400">
            <a:solidFill>
              <a:srgbClr val="FF0000"/>
            </a:solidFill>
            <a:prstDash val="dash"/>
            <a:headEnd type="oval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直接箭头连接符 79">
            <a:extLst>
              <a:ext uri="{FF2B5EF4-FFF2-40B4-BE49-F238E27FC236}">
                <a16:creationId xmlns:a16="http://schemas.microsoft.com/office/drawing/2014/main" id="{23A87BDB-E1A7-49F2-96BB-C866DB64E058}"/>
              </a:ext>
            </a:extLst>
          </p:cNvPr>
          <p:cNvCxnSpPr>
            <a:cxnSpLocks/>
            <a:stCxn id="31" idx="2"/>
            <a:endCxn id="24" idx="0"/>
          </p:cNvCxnSpPr>
          <p:nvPr/>
        </p:nvCxnSpPr>
        <p:spPr>
          <a:xfrm rot="16200000" flipH="1">
            <a:off x="5436980" y="3570553"/>
            <a:ext cx="493153" cy="2414259"/>
          </a:xfrm>
          <a:prstGeom prst="curvedConnector3">
            <a:avLst>
              <a:gd name="adj1" fmla="val 50000"/>
            </a:avLst>
          </a:prstGeom>
          <a:ln w="25400">
            <a:solidFill>
              <a:srgbClr val="FF0000"/>
            </a:solidFill>
            <a:prstDash val="dash"/>
            <a:headEnd type="oval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4" name="矩形 73">
            <a:extLst>
              <a:ext uri="{FF2B5EF4-FFF2-40B4-BE49-F238E27FC236}">
                <a16:creationId xmlns:a16="http://schemas.microsoft.com/office/drawing/2014/main" id="{C489C209-4EE6-4F74-A4D9-526411FD2814}"/>
              </a:ext>
            </a:extLst>
          </p:cNvPr>
          <p:cNvSpPr/>
          <p:nvPr/>
        </p:nvSpPr>
        <p:spPr>
          <a:xfrm>
            <a:off x="5745231" y="1954020"/>
            <a:ext cx="5635128" cy="1785104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446088" indent="-446088">
              <a:lnSpc>
                <a:spcPct val="100000"/>
              </a:lnSpc>
              <a:spcBef>
                <a:spcPts val="600"/>
              </a:spcBef>
            </a:pPr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Assumptions:</a:t>
            </a:r>
          </a:p>
          <a:p>
            <a:pPr marL="806451" lvl="1" indent="-446088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l"/>
            </a:pPr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You know the number of tuples ahead of time.</a:t>
            </a:r>
          </a:p>
          <a:p>
            <a:pPr marL="806451" lvl="1" indent="-446088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l"/>
            </a:pPr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Each key is unique.</a:t>
            </a:r>
          </a:p>
          <a:p>
            <a:pPr marL="806451" lvl="1" indent="-446088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l"/>
            </a:pPr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Perfect hash function.</a:t>
            </a:r>
          </a:p>
          <a:p>
            <a:pPr marL="1252538" lvl="2" indent="-446088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If </a:t>
            </a:r>
            <a:r>
              <a:rPr lang="en-US" altLang="zh-CN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key</a:t>
            </a:r>
            <a:r>
              <a:rPr lang="en-US" altLang="zh-CN" baseline="-25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lang="en-US" altLang="zh-CN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≠key</a:t>
            </a:r>
            <a:r>
              <a:rPr lang="en-US" altLang="zh-CN" baseline="-25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, then </a:t>
            </a:r>
            <a:r>
              <a:rPr lang="en-US" altLang="zh-CN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hash(key</a:t>
            </a:r>
            <a:r>
              <a:rPr lang="en-US" altLang="zh-CN" baseline="-25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lang="en-US" altLang="zh-CN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)≠hash(key</a:t>
            </a:r>
            <a:r>
              <a:rPr lang="en-US" altLang="zh-CN" baseline="-25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n-US" altLang="zh-CN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1070282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7" grpId="0"/>
      <p:bldP spid="74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9BBCCEF-D42F-420B-9CC2-98A9815DB6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Hash Table</a:t>
            </a:r>
            <a:endParaRPr lang="zh-CN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22BB0D1-6F5E-4E6D-883B-B9B39DCC89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445289"/>
          </a:xfrm>
        </p:spPr>
        <p:txBody>
          <a:bodyPr>
            <a:normAutofit/>
          </a:bodyPr>
          <a:lstStyle/>
          <a:p>
            <a:pPr marL="446088" indent="-446088">
              <a:lnSpc>
                <a:spcPct val="100000"/>
              </a:lnSpc>
              <a:spcBef>
                <a:spcPts val="1200"/>
              </a:spcBef>
            </a:pPr>
            <a:r>
              <a:rPr lang="en-US" altLang="zh-CN" b="1" dirty="0">
                <a:latin typeface="Arial" panose="020B0604020202020204" pitchFamily="34" charset="0"/>
                <a:cs typeface="Arial" panose="020B0604020202020204" pitchFamily="34" charset="0"/>
              </a:rPr>
              <a:t>Design Decision #1: Hash Function</a:t>
            </a:r>
          </a:p>
          <a:p>
            <a:pPr marL="903288" lvl="1" indent="-446088">
              <a:lnSpc>
                <a:spcPct val="100000"/>
              </a:lnSpc>
              <a:spcBef>
                <a:spcPts val="1200"/>
              </a:spcBef>
            </a:pPr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How to map a large key space into a smaller domain.</a:t>
            </a:r>
          </a:p>
          <a:p>
            <a:pPr marL="903288" lvl="1" indent="-446088">
              <a:lnSpc>
                <a:spcPct val="100000"/>
              </a:lnSpc>
              <a:spcBef>
                <a:spcPts val="1200"/>
              </a:spcBef>
            </a:pPr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Trade-off between being </a:t>
            </a:r>
            <a:r>
              <a:rPr lang="en-US" altLang="zh-CN" b="1" u="sng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fast</a:t>
            </a:r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 vs. </a:t>
            </a:r>
            <a:r>
              <a:rPr lang="en-US" altLang="zh-CN" b="1" u="sng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collision rate</a:t>
            </a:r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446088" indent="-446088">
              <a:lnSpc>
                <a:spcPct val="100000"/>
              </a:lnSpc>
              <a:spcBef>
                <a:spcPts val="1200"/>
              </a:spcBef>
            </a:pPr>
            <a:r>
              <a:rPr lang="en-US" altLang="zh-CN" b="1" dirty="0">
                <a:latin typeface="Arial" panose="020B0604020202020204" pitchFamily="34" charset="0"/>
                <a:cs typeface="Arial" panose="020B0604020202020204" pitchFamily="34" charset="0"/>
              </a:rPr>
              <a:t>Design Decision #2: Hashing Scheme</a:t>
            </a:r>
          </a:p>
          <a:p>
            <a:pPr marL="903288" lvl="1" indent="-446088">
              <a:lnSpc>
                <a:spcPct val="100000"/>
              </a:lnSpc>
              <a:spcBef>
                <a:spcPts val="1200"/>
              </a:spcBef>
            </a:pPr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How to handle key collisions after hashing.</a:t>
            </a:r>
          </a:p>
          <a:p>
            <a:pPr marL="903288" lvl="1" indent="-446088">
              <a:lnSpc>
                <a:spcPct val="100000"/>
              </a:lnSpc>
              <a:spcBef>
                <a:spcPts val="1200"/>
              </a:spcBef>
            </a:pPr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Trade-off between allocating a </a:t>
            </a:r>
            <a:r>
              <a:rPr lang="en-US" altLang="zh-CN" b="1" u="sng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large hash table </a:t>
            </a:r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vs. </a:t>
            </a:r>
            <a:r>
              <a:rPr lang="en-US" altLang="zh-CN" b="1" u="sng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additional instructions </a:t>
            </a:r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to find/insert keys.</a:t>
            </a:r>
            <a:endParaRPr lang="en-US" altLang="zh-CN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2905825-8EE0-4CF0-A05E-CAFDF944FB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034F70-9BB9-49A9-A54D-27A3F0F616E6}" type="datetime1">
              <a:rPr lang="zh-CN" altLang="en-US" smtClean="0"/>
              <a:t>2024/5/8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ED664A2-5898-4C25-86F3-E969A94A39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Hash Indices</a:t>
            </a: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34B9AF0-AA69-4CFE-BBF2-A55EB4555B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5CA875-76FA-4283-B5BE-070B4D16A27E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205595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9BBCCEF-D42F-420B-9CC2-98A9815DB6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Hash Functions</a:t>
            </a:r>
            <a:endParaRPr lang="zh-CN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22BB0D1-6F5E-4E6D-883B-B9B39DCC89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445289"/>
          </a:xfrm>
        </p:spPr>
        <p:txBody>
          <a:bodyPr>
            <a:normAutofit/>
          </a:bodyPr>
          <a:lstStyle/>
          <a:p>
            <a:pPr marL="446088" indent="-446088">
              <a:lnSpc>
                <a:spcPct val="100000"/>
              </a:lnSpc>
              <a:spcBef>
                <a:spcPts val="1200"/>
              </a:spcBef>
            </a:pPr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We do </a:t>
            </a:r>
            <a:r>
              <a:rPr lang="en-US" altLang="zh-CN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not</a:t>
            </a:r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 want to use a cryptographic hash function for our join algorithm.</a:t>
            </a:r>
          </a:p>
          <a:p>
            <a:pPr marL="446088" indent="-446088">
              <a:lnSpc>
                <a:spcPct val="100000"/>
              </a:lnSpc>
              <a:spcBef>
                <a:spcPts val="1200"/>
              </a:spcBef>
            </a:pPr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We want something that is </a:t>
            </a:r>
            <a:r>
              <a:rPr lang="en-US" altLang="zh-CN" b="1" u="sng" dirty="0">
                <a:latin typeface="Arial" panose="020B0604020202020204" pitchFamily="34" charset="0"/>
                <a:cs typeface="Arial" panose="020B0604020202020204" pitchFamily="34" charset="0"/>
              </a:rPr>
              <a:t>fast</a:t>
            </a:r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 and will have a </a:t>
            </a:r>
            <a:r>
              <a:rPr lang="en-US" altLang="zh-CN" b="1" u="sng" dirty="0">
                <a:latin typeface="Arial" panose="020B0604020202020204" pitchFamily="34" charset="0"/>
                <a:cs typeface="Arial" panose="020B0604020202020204" pitchFamily="34" charset="0"/>
              </a:rPr>
              <a:t>low</a:t>
            </a:r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 collision rate.</a:t>
            </a:r>
          </a:p>
          <a:p>
            <a:pPr marL="903288" lvl="1" indent="-446088">
              <a:lnSpc>
                <a:spcPct val="100000"/>
              </a:lnSpc>
              <a:spcBef>
                <a:spcPts val="1200"/>
              </a:spcBef>
            </a:pPr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Best Speed: Always return '1'</a:t>
            </a:r>
          </a:p>
          <a:p>
            <a:pPr marL="903288" lvl="1" indent="-446088">
              <a:lnSpc>
                <a:spcPct val="100000"/>
              </a:lnSpc>
              <a:spcBef>
                <a:spcPts val="1200"/>
              </a:spcBef>
            </a:pPr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Best Collision Rate: Perfect hashing</a:t>
            </a:r>
          </a:p>
          <a:p>
            <a:pPr marL="446088" indent="-446088">
              <a:lnSpc>
                <a:spcPct val="100000"/>
              </a:lnSpc>
              <a:spcBef>
                <a:spcPts val="1200"/>
              </a:spcBef>
            </a:pPr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A comprehensive hash function benchmark suite</a:t>
            </a:r>
          </a:p>
          <a:p>
            <a:pPr marL="903288" lvl="1" indent="-446088">
              <a:lnSpc>
                <a:spcPct val="100000"/>
              </a:lnSpc>
              <a:spcBef>
                <a:spcPts val="1200"/>
              </a:spcBef>
            </a:pPr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  <a:hlinkClick r:id="rId2"/>
              </a:rPr>
              <a:t>https://github.com/aappleby/smhasher</a:t>
            </a:r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2905825-8EE0-4CF0-A05E-CAFDF944FB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0C5099-1B5D-439E-B33C-B7FA776DF7E7}" type="datetime1">
              <a:rPr lang="zh-CN" altLang="en-US" smtClean="0"/>
              <a:t>2024/5/8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ED664A2-5898-4C25-86F3-E969A94A39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Hash Indices</a:t>
            </a: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34B9AF0-AA69-4CFE-BBF2-A55EB4555B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5CA875-76FA-4283-B5BE-070B4D16A27E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37701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9BBCCEF-D42F-420B-9CC2-98A9815DB6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Hash Functions</a:t>
            </a:r>
            <a:endParaRPr lang="zh-CN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22BB0D1-6F5E-4E6D-883B-B9B39DCC89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445289"/>
          </a:xfrm>
        </p:spPr>
        <p:txBody>
          <a:bodyPr>
            <a:normAutofit fontScale="85000" lnSpcReduction="20000"/>
          </a:bodyPr>
          <a:lstStyle/>
          <a:p>
            <a:pPr marL="446088" indent="-446088">
              <a:lnSpc>
                <a:spcPct val="100000"/>
              </a:lnSpc>
              <a:spcBef>
                <a:spcPts val="1200"/>
              </a:spcBef>
            </a:pPr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  <a:hlinkClick r:id="rId2"/>
              </a:rPr>
              <a:t>CRC-64</a:t>
            </a:r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 (1975)</a:t>
            </a:r>
          </a:p>
          <a:p>
            <a:pPr marL="903288" lvl="1" indent="-446088">
              <a:lnSpc>
                <a:spcPct val="100000"/>
              </a:lnSpc>
              <a:spcBef>
                <a:spcPts val="1200"/>
              </a:spcBef>
            </a:pPr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Used in networking for error detection.</a:t>
            </a:r>
          </a:p>
          <a:p>
            <a:pPr marL="446088" indent="-446088">
              <a:lnSpc>
                <a:spcPct val="100000"/>
              </a:lnSpc>
              <a:spcBef>
                <a:spcPts val="1200"/>
              </a:spcBef>
            </a:pPr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  <a:hlinkClick r:id="rId3"/>
              </a:rPr>
              <a:t>MurmurHash</a:t>
            </a:r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 (2008)</a:t>
            </a:r>
          </a:p>
          <a:p>
            <a:pPr marL="903288" lvl="1" indent="-446088">
              <a:lnSpc>
                <a:spcPct val="100000"/>
              </a:lnSpc>
              <a:spcBef>
                <a:spcPts val="1200"/>
              </a:spcBef>
            </a:pPr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Designed to a fast, general purpose hash function.</a:t>
            </a:r>
          </a:p>
          <a:p>
            <a:pPr marL="446088" indent="-446088">
              <a:lnSpc>
                <a:spcPct val="100000"/>
              </a:lnSpc>
              <a:spcBef>
                <a:spcPts val="1200"/>
              </a:spcBef>
            </a:pPr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  <a:hlinkClick r:id="rId4"/>
              </a:rPr>
              <a:t>Google </a:t>
            </a:r>
            <a:r>
              <a:rPr lang="en-US" altLang="zh-CN" dirty="0" err="1">
                <a:latin typeface="Arial" panose="020B0604020202020204" pitchFamily="34" charset="0"/>
                <a:cs typeface="Arial" panose="020B0604020202020204" pitchFamily="34" charset="0"/>
                <a:hlinkClick r:id="rId4"/>
              </a:rPr>
              <a:t>CityHash</a:t>
            </a:r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  <a:hlinkClick r:id="rId4"/>
              </a:rPr>
              <a:t> </a:t>
            </a:r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(2011)</a:t>
            </a:r>
          </a:p>
          <a:p>
            <a:pPr marL="903288" lvl="1" indent="-446088">
              <a:lnSpc>
                <a:spcPct val="100000"/>
              </a:lnSpc>
              <a:spcBef>
                <a:spcPts val="1200"/>
              </a:spcBef>
            </a:pPr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Designed to be faster for short keys (&lt;64 bytes).</a:t>
            </a:r>
          </a:p>
          <a:p>
            <a:pPr marL="446088" indent="-446088">
              <a:lnSpc>
                <a:spcPct val="100000"/>
              </a:lnSpc>
              <a:spcBef>
                <a:spcPts val="1200"/>
              </a:spcBef>
            </a:pPr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  <a:hlinkClick r:id="rId5"/>
              </a:rPr>
              <a:t>Facebook </a:t>
            </a:r>
            <a:r>
              <a:rPr lang="en-US" altLang="zh-CN" dirty="0" err="1">
                <a:latin typeface="Arial" panose="020B0604020202020204" pitchFamily="34" charset="0"/>
                <a:cs typeface="Arial" panose="020B0604020202020204" pitchFamily="34" charset="0"/>
                <a:hlinkClick r:id="rId5"/>
              </a:rPr>
              <a:t>XXHash</a:t>
            </a:r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  <a:hlinkClick r:id="rId5"/>
              </a:rPr>
              <a:t> </a:t>
            </a:r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(2012)</a:t>
            </a:r>
          </a:p>
          <a:p>
            <a:pPr marL="903288" lvl="1" indent="-446088">
              <a:lnSpc>
                <a:spcPct val="100000"/>
              </a:lnSpc>
              <a:spcBef>
                <a:spcPts val="1200"/>
              </a:spcBef>
            </a:pPr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From the creator of </a:t>
            </a:r>
            <a:r>
              <a:rPr lang="en-US" altLang="zh-CN" dirty="0" err="1">
                <a:latin typeface="Arial" panose="020B0604020202020204" pitchFamily="34" charset="0"/>
                <a:cs typeface="Arial" panose="020B0604020202020204" pitchFamily="34" charset="0"/>
              </a:rPr>
              <a:t>zstd</a:t>
            </a:r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 compression.</a:t>
            </a:r>
          </a:p>
          <a:p>
            <a:pPr marL="446088" indent="-446088">
              <a:lnSpc>
                <a:spcPct val="100000"/>
              </a:lnSpc>
              <a:spcBef>
                <a:spcPts val="1200"/>
              </a:spcBef>
            </a:pPr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  <a:hlinkClick r:id="rId6"/>
              </a:rPr>
              <a:t>Google </a:t>
            </a:r>
            <a:r>
              <a:rPr lang="en-US" altLang="zh-CN" dirty="0" err="1">
                <a:latin typeface="Arial" panose="020B0604020202020204" pitchFamily="34" charset="0"/>
                <a:cs typeface="Arial" panose="020B0604020202020204" pitchFamily="34" charset="0"/>
                <a:hlinkClick r:id="rId6"/>
              </a:rPr>
              <a:t>FarmHash</a:t>
            </a:r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  <a:hlinkClick r:id="rId6"/>
              </a:rPr>
              <a:t> </a:t>
            </a:r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(2014)</a:t>
            </a:r>
          </a:p>
          <a:p>
            <a:pPr marL="903288" lvl="1" indent="-446088">
              <a:lnSpc>
                <a:spcPct val="100000"/>
              </a:lnSpc>
              <a:spcBef>
                <a:spcPts val="1200"/>
              </a:spcBef>
            </a:pPr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Newer version of </a:t>
            </a:r>
            <a:r>
              <a:rPr lang="en-US" altLang="zh-CN" dirty="0" err="1">
                <a:latin typeface="Arial" panose="020B0604020202020204" pitchFamily="34" charset="0"/>
                <a:cs typeface="Arial" panose="020B0604020202020204" pitchFamily="34" charset="0"/>
              </a:rPr>
              <a:t>CityHash</a:t>
            </a:r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 with better collision rates.</a:t>
            </a:r>
            <a:endParaRPr lang="en-US" altLang="zh-CN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2905825-8EE0-4CF0-A05E-CAFDF944FB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474086-AF93-49A3-8BEE-F37A475F8E03}" type="datetime1">
              <a:rPr lang="zh-CN" altLang="en-US" smtClean="0"/>
              <a:t>2024/5/8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ED664A2-5898-4C25-86F3-E969A94A39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Hash Indices</a:t>
            </a: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34B9AF0-AA69-4CFE-BBF2-A55EB4555B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5CA875-76FA-4283-B5BE-070B4D16A27E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3270451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https://camo.githubusercontent.com/135002916599a05e7b46db8e4fd1f9a0f133c969b8af3fd82ef1cee9649882e7/68747470733a2f2f6c6f6e65776f6c6665722e66696c65732e776f726470726573732e636f6d2f323031352f30312f686173682d66756e6374696f6e2d62656e63686d61726b2e706e67">
            <a:extLst>
              <a:ext uri="{FF2B5EF4-FFF2-40B4-BE49-F238E27FC236}">
                <a16:creationId xmlns:a16="http://schemas.microsoft.com/office/drawing/2014/main" id="{DB03FB31-1726-4274-8916-65007D55C05C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65011" y="1949142"/>
            <a:ext cx="8734714" cy="43673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标题 1">
            <a:extLst>
              <a:ext uri="{FF2B5EF4-FFF2-40B4-BE49-F238E27FC236}">
                <a16:creationId xmlns:a16="http://schemas.microsoft.com/office/drawing/2014/main" id="{A9BBCCEF-D42F-420B-9CC2-98A9815DB6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Hash Function Benchmark</a:t>
            </a:r>
            <a:endParaRPr lang="zh-CN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2905825-8EE0-4CF0-A05E-CAFDF944FB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48D83E-FD8B-4B66-98D5-D06559BF2708}" type="datetime1">
              <a:rPr lang="zh-CN" altLang="en-US" smtClean="0"/>
              <a:t>2024/5/8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ED664A2-5898-4C25-86F3-E969A94A39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Hash Indices</a:t>
            </a: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34B9AF0-AA69-4CFE-BBF2-A55EB4555B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5CA875-76FA-4283-B5BE-070B4D16A27E}" type="slidenum">
              <a:rPr lang="zh-CN" altLang="en-US" smtClean="0"/>
              <a:t>7</a:t>
            </a:fld>
            <a:endParaRPr lang="zh-CN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0DE8F6C7-BCA0-4F64-BB92-EED295395820}"/>
              </a:ext>
            </a:extLst>
          </p:cNvPr>
          <p:cNvSpPr/>
          <p:nvPr/>
        </p:nvSpPr>
        <p:spPr>
          <a:xfrm>
            <a:off x="3162696" y="2264763"/>
            <a:ext cx="41870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b="1" dirty="0">
                <a:solidFill>
                  <a:srgbClr val="404040"/>
                </a:solidFill>
                <a:latin typeface="CrimsonText-Bold"/>
              </a:rPr>
              <a:t>32</a:t>
            </a:r>
            <a:endParaRPr lang="zh-CN" altLang="en-US" dirty="0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580CCC30-A42B-43FA-B795-E74446830760}"/>
              </a:ext>
            </a:extLst>
          </p:cNvPr>
          <p:cNvSpPr/>
          <p:nvPr/>
        </p:nvSpPr>
        <p:spPr>
          <a:xfrm>
            <a:off x="3867349" y="2291914"/>
            <a:ext cx="41870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b="1" dirty="0">
                <a:solidFill>
                  <a:srgbClr val="404040"/>
                </a:solidFill>
                <a:latin typeface="CrimsonText-Bold"/>
              </a:rPr>
              <a:t>64</a:t>
            </a:r>
            <a:endParaRPr lang="zh-CN" altLang="en-US" dirty="0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9749EF99-D9F0-4ECC-A61B-4871E91C6DB0}"/>
              </a:ext>
            </a:extLst>
          </p:cNvPr>
          <p:cNvSpPr/>
          <p:nvPr/>
        </p:nvSpPr>
        <p:spPr>
          <a:xfrm>
            <a:off x="5292677" y="3143372"/>
            <a:ext cx="53572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b="1" dirty="0">
                <a:solidFill>
                  <a:srgbClr val="404040"/>
                </a:solidFill>
                <a:latin typeface="CrimsonText-Bold"/>
              </a:rPr>
              <a:t>128</a:t>
            </a:r>
            <a:endParaRPr lang="zh-CN" altLang="en-US" dirty="0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C123230E-AAC5-4824-A2CB-978292A51699}"/>
              </a:ext>
            </a:extLst>
          </p:cNvPr>
          <p:cNvSpPr/>
          <p:nvPr/>
        </p:nvSpPr>
        <p:spPr>
          <a:xfrm>
            <a:off x="6754516" y="2558656"/>
            <a:ext cx="53572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b="1" dirty="0">
                <a:solidFill>
                  <a:srgbClr val="404040"/>
                </a:solidFill>
                <a:latin typeface="CrimsonText-Bold"/>
              </a:rPr>
              <a:t>192</a:t>
            </a:r>
            <a:endParaRPr lang="zh-CN" altLang="en-US" dirty="0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0A98D4BD-E6D6-4483-A660-46AD85C41777}"/>
              </a:ext>
            </a:extLst>
          </p:cNvPr>
          <p:cNvSpPr/>
          <p:nvPr/>
        </p:nvSpPr>
        <p:spPr>
          <a:xfrm>
            <a:off x="962891" y="1726729"/>
            <a:ext cx="1026621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dirty="0">
                <a:solidFill>
                  <a:srgbClr val="24292E"/>
                </a:solidFill>
                <a:latin typeface="-apple-system"/>
              </a:rPr>
              <a:t>2.6 GHz Intel Core i7/clang v3.6.0 (throughput in MB/s given byte array input of varying size)</a:t>
            </a:r>
            <a:endParaRPr lang="zh-CN" altLang="en-US" dirty="0"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F433B995-451F-4C89-AE01-518F45BE09A1}"/>
              </a:ext>
            </a:extLst>
          </p:cNvPr>
          <p:cNvSpPr/>
          <p:nvPr/>
        </p:nvSpPr>
        <p:spPr>
          <a:xfrm>
            <a:off x="2973032" y="6131833"/>
            <a:ext cx="553869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>
                <a:hlinkClick r:id="rId3"/>
              </a:rPr>
              <a:t>https://github.com/apavlo/hash-function-benchmark</a:t>
            </a:r>
            <a:r>
              <a:rPr lang="zh-CN" alt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7959968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9BBCCEF-D42F-420B-9CC2-98A9815DB6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Hashing Schemes</a:t>
            </a:r>
            <a:endParaRPr lang="zh-CN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22BB0D1-6F5E-4E6D-883B-B9B39DCC89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445289"/>
          </a:xfrm>
        </p:spPr>
        <p:txBody>
          <a:bodyPr>
            <a:normAutofit/>
          </a:bodyPr>
          <a:lstStyle/>
          <a:p>
            <a:pPr marL="446088" indent="-446088">
              <a:lnSpc>
                <a:spcPct val="100000"/>
              </a:lnSpc>
              <a:spcBef>
                <a:spcPts val="2400"/>
              </a:spcBef>
            </a:pPr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Chained Hashing</a:t>
            </a:r>
          </a:p>
          <a:p>
            <a:pPr marL="446088" indent="-446088">
              <a:lnSpc>
                <a:spcPct val="100000"/>
              </a:lnSpc>
              <a:spcBef>
                <a:spcPts val="2400"/>
              </a:spcBef>
            </a:pPr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Linear Probe Hashing</a:t>
            </a:r>
          </a:p>
          <a:p>
            <a:pPr marL="446088" indent="-446088">
              <a:lnSpc>
                <a:spcPct val="100000"/>
              </a:lnSpc>
              <a:spcBef>
                <a:spcPts val="2400"/>
              </a:spcBef>
            </a:pPr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Robin Hood Hashing</a:t>
            </a:r>
          </a:p>
          <a:p>
            <a:pPr marL="446088" indent="-446088">
              <a:lnSpc>
                <a:spcPct val="100000"/>
              </a:lnSpc>
              <a:spcBef>
                <a:spcPts val="2400"/>
              </a:spcBef>
            </a:pPr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Cuckoo Hashing</a:t>
            </a:r>
          </a:p>
          <a:p>
            <a:pPr marL="446088" indent="-446088">
              <a:lnSpc>
                <a:spcPct val="100000"/>
              </a:lnSpc>
              <a:spcBef>
                <a:spcPts val="2400"/>
              </a:spcBef>
            </a:pPr>
            <a:r>
              <a:rPr lang="en-US" altLang="zh-CN" dirty="0"/>
              <a:t>Extendible Hashing</a:t>
            </a:r>
          </a:p>
          <a:p>
            <a:pPr marL="446088" indent="-446088">
              <a:lnSpc>
                <a:spcPct val="100000"/>
              </a:lnSpc>
              <a:spcBef>
                <a:spcPts val="2400"/>
              </a:spcBef>
            </a:pPr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Linear Hashing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2905825-8EE0-4CF0-A05E-CAFDF944FB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168890-86E4-41E4-B466-3899351B5F01}" type="datetime1">
              <a:rPr lang="zh-CN" altLang="en-US" smtClean="0"/>
              <a:t>2024/5/8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ED664A2-5898-4C25-86F3-E969A94A39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Hash Indices</a:t>
            </a: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34B9AF0-AA69-4CFE-BBF2-A55EB4555B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5CA875-76FA-4283-B5BE-070B4D16A27E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7675280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9BBCCEF-D42F-420B-9CC2-98A9815DB6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Chained Hashing</a:t>
            </a:r>
            <a:endParaRPr lang="zh-CN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22BB0D1-6F5E-4E6D-883B-B9B39DCC89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445289"/>
          </a:xfrm>
        </p:spPr>
        <p:txBody>
          <a:bodyPr>
            <a:normAutofit/>
          </a:bodyPr>
          <a:lstStyle/>
          <a:p>
            <a:pPr marL="446088" indent="-446088">
              <a:lnSpc>
                <a:spcPct val="100000"/>
              </a:lnSpc>
              <a:spcBef>
                <a:spcPts val="1200"/>
              </a:spcBef>
            </a:pPr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Maintain a </a:t>
            </a:r>
            <a:r>
              <a:rPr lang="en-US" altLang="zh-CN" b="1" u="sng" dirty="0">
                <a:latin typeface="Arial" panose="020B0604020202020204" pitchFamily="34" charset="0"/>
                <a:cs typeface="Arial" panose="020B0604020202020204" pitchFamily="34" charset="0"/>
              </a:rPr>
              <a:t>linked list of buckets </a:t>
            </a:r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for each slot in the hash table.</a:t>
            </a:r>
          </a:p>
          <a:p>
            <a:pPr marL="446088" indent="-446088">
              <a:lnSpc>
                <a:spcPct val="100000"/>
              </a:lnSpc>
              <a:spcBef>
                <a:spcPts val="1200"/>
              </a:spcBef>
            </a:pPr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Resolve collisions by placing all elements with the same hash key into the same bucket.</a:t>
            </a:r>
          </a:p>
          <a:p>
            <a:pPr marL="903288" lvl="1" indent="-446088">
              <a:lnSpc>
                <a:spcPct val="100000"/>
              </a:lnSpc>
              <a:spcBef>
                <a:spcPts val="1200"/>
              </a:spcBef>
            </a:pPr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To determine whether an element is present, hash to its bucket and </a:t>
            </a:r>
            <a:r>
              <a:rPr lang="en-US" altLang="zh-CN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scan</a:t>
            </a:r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 for it.</a:t>
            </a:r>
          </a:p>
          <a:p>
            <a:pPr marL="903288" lvl="1" indent="-446088">
              <a:lnSpc>
                <a:spcPct val="100000"/>
              </a:lnSpc>
              <a:spcBef>
                <a:spcPts val="1200"/>
              </a:spcBef>
            </a:pPr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Insertions and deletions are generalizations of lookups.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2905825-8EE0-4CF0-A05E-CAFDF944FB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521575-5D3F-44DE-87EF-1FC82DB79B51}" type="datetime1">
              <a:rPr lang="zh-CN" altLang="en-US" smtClean="0"/>
              <a:t>2024/5/8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ED664A2-5898-4C25-86F3-E969A94A39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Hash Indices</a:t>
            </a: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34B9AF0-AA69-4CFE-BBF2-A55EB4555B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5CA875-76FA-4283-B5BE-070B4D16A27E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6563019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9BBCCEF-D42F-420B-9CC2-98A9815DB6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Chained Hashing</a:t>
            </a:r>
            <a:endParaRPr lang="zh-CN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2905825-8EE0-4CF0-A05E-CAFDF944FB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3F7823-A80C-4E3B-A2C3-54908584DD67}" type="datetime1">
              <a:rPr lang="zh-CN" altLang="en-US" smtClean="0"/>
              <a:t>2024/5/8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ED664A2-5898-4C25-86F3-E969A94A39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Hash Indices</a:t>
            </a: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34B9AF0-AA69-4CFE-BBF2-A55EB4555B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5CA875-76FA-4283-B5BE-070B4D16A27E}" type="slidenum">
              <a:rPr lang="zh-CN" altLang="en-US" smtClean="0"/>
              <a:t>10</a:t>
            </a:fld>
            <a:endParaRPr lang="zh-CN" altLang="en-US"/>
          </a:p>
        </p:txBody>
      </p: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2A7A21B1-C52E-4D69-877F-AB1A0ADF7E94}"/>
              </a:ext>
            </a:extLst>
          </p:cNvPr>
          <p:cNvGrpSpPr/>
          <p:nvPr/>
        </p:nvGrpSpPr>
        <p:grpSpPr>
          <a:xfrm>
            <a:off x="4302587" y="1855559"/>
            <a:ext cx="2150919" cy="1054677"/>
            <a:chOff x="3413412" y="2183482"/>
            <a:chExt cx="2150919" cy="1054677"/>
          </a:xfrm>
        </p:grpSpPr>
        <p:sp>
          <p:nvSpPr>
            <p:cNvPr id="9" name="矩形 8">
              <a:extLst>
                <a:ext uri="{FF2B5EF4-FFF2-40B4-BE49-F238E27FC236}">
                  <a16:creationId xmlns:a16="http://schemas.microsoft.com/office/drawing/2014/main" id="{263B9484-6144-4AC9-AC47-3D1C867C4E06}"/>
                </a:ext>
              </a:extLst>
            </p:cNvPr>
            <p:cNvSpPr/>
            <p:nvPr/>
          </p:nvSpPr>
          <p:spPr>
            <a:xfrm>
              <a:off x="3413412" y="2183482"/>
              <a:ext cx="2150919" cy="1054677"/>
            </a:xfrm>
            <a:prstGeom prst="rect">
              <a:avLst/>
            </a:prstGeom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矩形 9">
              <a:extLst>
                <a:ext uri="{FF2B5EF4-FFF2-40B4-BE49-F238E27FC236}">
                  <a16:creationId xmlns:a16="http://schemas.microsoft.com/office/drawing/2014/main" id="{1D63DD3E-7296-45AB-89A4-3D21A6B0F537}"/>
                </a:ext>
              </a:extLst>
            </p:cNvPr>
            <p:cNvSpPr/>
            <p:nvPr/>
          </p:nvSpPr>
          <p:spPr>
            <a:xfrm>
              <a:off x="3700453" y="2317540"/>
              <a:ext cx="1576839" cy="348883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" name="矩形 10">
              <a:extLst>
                <a:ext uri="{FF2B5EF4-FFF2-40B4-BE49-F238E27FC236}">
                  <a16:creationId xmlns:a16="http://schemas.microsoft.com/office/drawing/2014/main" id="{6293B75C-D131-455C-B003-63CDA2C4B8C6}"/>
                </a:ext>
              </a:extLst>
            </p:cNvPr>
            <p:cNvSpPr/>
            <p:nvPr/>
          </p:nvSpPr>
          <p:spPr>
            <a:xfrm>
              <a:off x="3700453" y="2748657"/>
              <a:ext cx="1576839" cy="348883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C3A83C26-6A7D-4F83-BFA0-E6AB7C57FB09}"/>
              </a:ext>
            </a:extLst>
          </p:cNvPr>
          <p:cNvGrpSpPr/>
          <p:nvPr/>
        </p:nvGrpSpPr>
        <p:grpSpPr>
          <a:xfrm>
            <a:off x="4302586" y="4692199"/>
            <a:ext cx="2150919" cy="1054677"/>
            <a:chOff x="3413412" y="2183482"/>
            <a:chExt cx="2150919" cy="1054677"/>
          </a:xfrm>
        </p:grpSpPr>
        <p:sp>
          <p:nvSpPr>
            <p:cNvPr id="14" name="矩形 13">
              <a:extLst>
                <a:ext uri="{FF2B5EF4-FFF2-40B4-BE49-F238E27FC236}">
                  <a16:creationId xmlns:a16="http://schemas.microsoft.com/office/drawing/2014/main" id="{97EA2258-E377-4A05-97F8-9A5E9BD6D151}"/>
                </a:ext>
              </a:extLst>
            </p:cNvPr>
            <p:cNvSpPr/>
            <p:nvPr/>
          </p:nvSpPr>
          <p:spPr>
            <a:xfrm>
              <a:off x="3413412" y="2183482"/>
              <a:ext cx="2150919" cy="1054677"/>
            </a:xfrm>
            <a:prstGeom prst="rect">
              <a:avLst/>
            </a:prstGeom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矩形 14">
              <a:extLst>
                <a:ext uri="{FF2B5EF4-FFF2-40B4-BE49-F238E27FC236}">
                  <a16:creationId xmlns:a16="http://schemas.microsoft.com/office/drawing/2014/main" id="{D7D28D48-81CC-41F4-840E-D93CA4A2EF3E}"/>
                </a:ext>
              </a:extLst>
            </p:cNvPr>
            <p:cNvSpPr/>
            <p:nvPr/>
          </p:nvSpPr>
          <p:spPr>
            <a:xfrm>
              <a:off x="3700453" y="2317540"/>
              <a:ext cx="1576839" cy="348883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6" name="矩形 15">
              <a:extLst>
                <a:ext uri="{FF2B5EF4-FFF2-40B4-BE49-F238E27FC236}">
                  <a16:creationId xmlns:a16="http://schemas.microsoft.com/office/drawing/2014/main" id="{F570137A-B1B5-411C-B1A1-D6CFBE5FF6B8}"/>
                </a:ext>
              </a:extLst>
            </p:cNvPr>
            <p:cNvSpPr/>
            <p:nvPr/>
          </p:nvSpPr>
          <p:spPr>
            <a:xfrm>
              <a:off x="3700453" y="2748657"/>
              <a:ext cx="1576839" cy="348883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17" name="组合 16">
            <a:extLst>
              <a:ext uri="{FF2B5EF4-FFF2-40B4-BE49-F238E27FC236}">
                <a16:creationId xmlns:a16="http://schemas.microsoft.com/office/drawing/2014/main" id="{02CF7DE4-3347-4E88-93DE-A1D853D18DB8}"/>
              </a:ext>
            </a:extLst>
          </p:cNvPr>
          <p:cNvGrpSpPr/>
          <p:nvPr/>
        </p:nvGrpSpPr>
        <p:grpSpPr>
          <a:xfrm>
            <a:off x="4302587" y="3273879"/>
            <a:ext cx="2150919" cy="1054677"/>
            <a:chOff x="3413412" y="2183482"/>
            <a:chExt cx="2150919" cy="1054677"/>
          </a:xfrm>
        </p:grpSpPr>
        <p:sp>
          <p:nvSpPr>
            <p:cNvPr id="18" name="矩形 17">
              <a:extLst>
                <a:ext uri="{FF2B5EF4-FFF2-40B4-BE49-F238E27FC236}">
                  <a16:creationId xmlns:a16="http://schemas.microsoft.com/office/drawing/2014/main" id="{7DB0A684-84C4-4A89-92C5-9A2C9D31A068}"/>
                </a:ext>
              </a:extLst>
            </p:cNvPr>
            <p:cNvSpPr/>
            <p:nvPr/>
          </p:nvSpPr>
          <p:spPr>
            <a:xfrm>
              <a:off x="3413412" y="2183482"/>
              <a:ext cx="2150919" cy="1054677"/>
            </a:xfrm>
            <a:prstGeom prst="rect">
              <a:avLst/>
            </a:prstGeom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矩形 18">
              <a:extLst>
                <a:ext uri="{FF2B5EF4-FFF2-40B4-BE49-F238E27FC236}">
                  <a16:creationId xmlns:a16="http://schemas.microsoft.com/office/drawing/2014/main" id="{35D52B8D-677E-40E6-A59F-6EFB837FB0DC}"/>
                </a:ext>
              </a:extLst>
            </p:cNvPr>
            <p:cNvSpPr/>
            <p:nvPr/>
          </p:nvSpPr>
          <p:spPr>
            <a:xfrm>
              <a:off x="3700453" y="2317540"/>
              <a:ext cx="1576839" cy="348883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0" name="矩形 19">
              <a:extLst>
                <a:ext uri="{FF2B5EF4-FFF2-40B4-BE49-F238E27FC236}">
                  <a16:creationId xmlns:a16="http://schemas.microsoft.com/office/drawing/2014/main" id="{A638F0CB-8779-4CA4-B276-2CE733167533}"/>
                </a:ext>
              </a:extLst>
            </p:cNvPr>
            <p:cNvSpPr/>
            <p:nvPr/>
          </p:nvSpPr>
          <p:spPr>
            <a:xfrm>
              <a:off x="3700453" y="2748657"/>
              <a:ext cx="1576839" cy="348883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27" name="组合 26">
            <a:extLst>
              <a:ext uri="{FF2B5EF4-FFF2-40B4-BE49-F238E27FC236}">
                <a16:creationId xmlns:a16="http://schemas.microsoft.com/office/drawing/2014/main" id="{2D63FCE3-B857-4D7B-9E58-133C6A26F9BF}"/>
              </a:ext>
            </a:extLst>
          </p:cNvPr>
          <p:cNvGrpSpPr/>
          <p:nvPr/>
        </p:nvGrpSpPr>
        <p:grpSpPr>
          <a:xfrm>
            <a:off x="2181707" y="2761740"/>
            <a:ext cx="479511" cy="2078954"/>
            <a:chOff x="1626762" y="2964260"/>
            <a:chExt cx="479511" cy="2078954"/>
          </a:xfrm>
        </p:grpSpPr>
        <p:sp>
          <p:nvSpPr>
            <p:cNvPr id="21" name="矩形 20">
              <a:extLst>
                <a:ext uri="{FF2B5EF4-FFF2-40B4-BE49-F238E27FC236}">
                  <a16:creationId xmlns:a16="http://schemas.microsoft.com/office/drawing/2014/main" id="{7DEE276F-DFAC-40D4-B408-81A80B542A15}"/>
                </a:ext>
              </a:extLst>
            </p:cNvPr>
            <p:cNvSpPr/>
            <p:nvPr/>
          </p:nvSpPr>
          <p:spPr>
            <a:xfrm>
              <a:off x="1626762" y="2964260"/>
              <a:ext cx="479511" cy="348883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</a:t>
              </a:r>
              <a:endParaRPr lang="zh-CN" alt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2" name="矩形 21">
              <a:extLst>
                <a:ext uri="{FF2B5EF4-FFF2-40B4-BE49-F238E27FC236}">
                  <a16:creationId xmlns:a16="http://schemas.microsoft.com/office/drawing/2014/main" id="{F26CEC36-A0A6-46CE-97CE-688633CECFF7}"/>
                </a:ext>
              </a:extLst>
            </p:cNvPr>
            <p:cNvSpPr/>
            <p:nvPr/>
          </p:nvSpPr>
          <p:spPr>
            <a:xfrm>
              <a:off x="1626762" y="3313143"/>
              <a:ext cx="479511" cy="348883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B</a:t>
              </a:r>
              <a:endParaRPr lang="zh-CN" alt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3" name="矩形 22">
              <a:extLst>
                <a:ext uri="{FF2B5EF4-FFF2-40B4-BE49-F238E27FC236}">
                  <a16:creationId xmlns:a16="http://schemas.microsoft.com/office/drawing/2014/main" id="{0A4A567A-B286-457F-9C2F-A2EDA7F66537}"/>
                </a:ext>
              </a:extLst>
            </p:cNvPr>
            <p:cNvSpPr/>
            <p:nvPr/>
          </p:nvSpPr>
          <p:spPr>
            <a:xfrm>
              <a:off x="1626762" y="3662026"/>
              <a:ext cx="479511" cy="348883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</a:t>
              </a:r>
              <a:endParaRPr lang="zh-CN" alt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4" name="矩形 23">
              <a:extLst>
                <a:ext uri="{FF2B5EF4-FFF2-40B4-BE49-F238E27FC236}">
                  <a16:creationId xmlns:a16="http://schemas.microsoft.com/office/drawing/2014/main" id="{90FDFCC8-271F-4E5D-9E7C-E5E72D7FE5EE}"/>
                </a:ext>
              </a:extLst>
            </p:cNvPr>
            <p:cNvSpPr/>
            <p:nvPr/>
          </p:nvSpPr>
          <p:spPr>
            <a:xfrm>
              <a:off x="1626762" y="4010909"/>
              <a:ext cx="479511" cy="348883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D</a:t>
              </a:r>
              <a:endParaRPr lang="zh-CN" alt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5" name="矩形 24">
              <a:extLst>
                <a:ext uri="{FF2B5EF4-FFF2-40B4-BE49-F238E27FC236}">
                  <a16:creationId xmlns:a16="http://schemas.microsoft.com/office/drawing/2014/main" id="{1466D711-F8CA-4777-AF27-A428D3EE60B1}"/>
                </a:ext>
              </a:extLst>
            </p:cNvPr>
            <p:cNvSpPr/>
            <p:nvPr/>
          </p:nvSpPr>
          <p:spPr>
            <a:xfrm>
              <a:off x="1626762" y="4345448"/>
              <a:ext cx="479511" cy="348883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E</a:t>
              </a:r>
              <a:endParaRPr lang="zh-CN" alt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6" name="矩形 25">
              <a:extLst>
                <a:ext uri="{FF2B5EF4-FFF2-40B4-BE49-F238E27FC236}">
                  <a16:creationId xmlns:a16="http://schemas.microsoft.com/office/drawing/2014/main" id="{A2029ACB-22F1-4AF4-BFF3-5554276E8A53}"/>
                </a:ext>
              </a:extLst>
            </p:cNvPr>
            <p:cNvSpPr/>
            <p:nvPr/>
          </p:nvSpPr>
          <p:spPr>
            <a:xfrm>
              <a:off x="1626762" y="4694331"/>
              <a:ext cx="479511" cy="348883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F</a:t>
              </a:r>
              <a:endParaRPr lang="zh-CN" alt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28" name="矩形 27">
            <a:extLst>
              <a:ext uri="{FF2B5EF4-FFF2-40B4-BE49-F238E27FC236}">
                <a16:creationId xmlns:a16="http://schemas.microsoft.com/office/drawing/2014/main" id="{82B6113C-EEB4-4DCA-85DD-FC209C6FD400}"/>
              </a:ext>
            </a:extLst>
          </p:cNvPr>
          <p:cNvSpPr/>
          <p:nvPr/>
        </p:nvSpPr>
        <p:spPr>
          <a:xfrm>
            <a:off x="1793064" y="2240613"/>
            <a:ext cx="138526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b="1" i="1" dirty="0">
                <a:solidFill>
                  <a:srgbClr val="FF0000"/>
                </a:solidFill>
                <a:latin typeface="Crimson Text"/>
              </a:rPr>
              <a:t>hash(key)</a:t>
            </a:r>
            <a:endParaRPr lang="zh-CN" altLang="en-US" dirty="0">
              <a:solidFill>
                <a:srgbClr val="FF0000"/>
              </a:solidFill>
            </a:endParaRPr>
          </a:p>
        </p:txBody>
      </p:sp>
      <p:cxnSp>
        <p:nvCxnSpPr>
          <p:cNvPr id="30" name="连接符: 曲线 29">
            <a:extLst>
              <a:ext uri="{FF2B5EF4-FFF2-40B4-BE49-F238E27FC236}">
                <a16:creationId xmlns:a16="http://schemas.microsoft.com/office/drawing/2014/main" id="{B5CBE65F-2963-474F-ACAB-1F92A4F5285B}"/>
              </a:ext>
            </a:extLst>
          </p:cNvPr>
          <p:cNvCxnSpPr>
            <a:stCxn id="21" idx="3"/>
            <a:endCxn id="18" idx="1"/>
          </p:cNvCxnSpPr>
          <p:nvPr/>
        </p:nvCxnSpPr>
        <p:spPr>
          <a:xfrm>
            <a:off x="2661218" y="2936182"/>
            <a:ext cx="1641369" cy="865036"/>
          </a:xfrm>
          <a:prstGeom prst="curvedConnector3">
            <a:avLst/>
          </a:prstGeom>
          <a:ln w="38100">
            <a:solidFill>
              <a:srgbClr val="FF0000"/>
            </a:solidFill>
            <a:headEnd type="oval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矩形 30">
            <a:extLst>
              <a:ext uri="{FF2B5EF4-FFF2-40B4-BE49-F238E27FC236}">
                <a16:creationId xmlns:a16="http://schemas.microsoft.com/office/drawing/2014/main" id="{553C1101-9419-4830-99A9-651C3D22E056}"/>
              </a:ext>
            </a:extLst>
          </p:cNvPr>
          <p:cNvSpPr/>
          <p:nvPr/>
        </p:nvSpPr>
        <p:spPr>
          <a:xfrm>
            <a:off x="4589625" y="3406154"/>
            <a:ext cx="1576839" cy="348883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i="1" dirty="0">
                <a:solidFill>
                  <a:srgbClr val="FF0000"/>
                </a:solidFill>
                <a:latin typeface="Crimson Text"/>
              </a:rPr>
              <a:t>hash(A) </a:t>
            </a:r>
            <a:r>
              <a:rPr lang="en-US" altLang="zh-CN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| A</a:t>
            </a:r>
            <a:endParaRPr lang="zh-CN" altLang="en-US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C4F481D0-A501-4A83-A5CA-0281463F2708}"/>
              </a:ext>
            </a:extLst>
          </p:cNvPr>
          <p:cNvSpPr/>
          <p:nvPr/>
        </p:nvSpPr>
        <p:spPr>
          <a:xfrm>
            <a:off x="4589623" y="4819641"/>
            <a:ext cx="1576839" cy="348883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i="1" dirty="0">
                <a:solidFill>
                  <a:srgbClr val="FF0000"/>
                </a:solidFill>
                <a:latin typeface="Crimson Text"/>
              </a:rPr>
              <a:t>hash(F) </a:t>
            </a:r>
            <a:r>
              <a:rPr lang="en-US" altLang="zh-CN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| F</a:t>
            </a:r>
            <a:endParaRPr lang="zh-CN" altLang="en-US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33" name="连接符: 曲线 32">
            <a:extLst>
              <a:ext uri="{FF2B5EF4-FFF2-40B4-BE49-F238E27FC236}">
                <a16:creationId xmlns:a16="http://schemas.microsoft.com/office/drawing/2014/main" id="{E39531E9-D2A0-4854-B153-47AA82C5B9AB}"/>
              </a:ext>
            </a:extLst>
          </p:cNvPr>
          <p:cNvCxnSpPr>
            <a:cxnSpLocks/>
            <a:stCxn id="26" idx="3"/>
            <a:endCxn id="14" idx="1"/>
          </p:cNvCxnSpPr>
          <p:nvPr/>
        </p:nvCxnSpPr>
        <p:spPr>
          <a:xfrm>
            <a:off x="2661218" y="4666253"/>
            <a:ext cx="1641368" cy="553285"/>
          </a:xfrm>
          <a:prstGeom prst="curvedConnector3">
            <a:avLst/>
          </a:prstGeom>
          <a:ln w="38100">
            <a:solidFill>
              <a:srgbClr val="FF0000"/>
            </a:solidFill>
            <a:headEnd type="oval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连接符: 曲线 33">
            <a:extLst>
              <a:ext uri="{FF2B5EF4-FFF2-40B4-BE49-F238E27FC236}">
                <a16:creationId xmlns:a16="http://schemas.microsoft.com/office/drawing/2014/main" id="{1A3F3548-BAEA-438B-9703-C24571B779F4}"/>
              </a:ext>
            </a:extLst>
          </p:cNvPr>
          <p:cNvCxnSpPr>
            <a:cxnSpLocks/>
            <a:stCxn id="22" idx="3"/>
            <a:endCxn id="9" idx="1"/>
          </p:cNvCxnSpPr>
          <p:nvPr/>
        </p:nvCxnSpPr>
        <p:spPr>
          <a:xfrm flipV="1">
            <a:off x="2661218" y="2382898"/>
            <a:ext cx="1641369" cy="902167"/>
          </a:xfrm>
          <a:prstGeom prst="curvedConnector3">
            <a:avLst/>
          </a:prstGeom>
          <a:ln w="38100">
            <a:solidFill>
              <a:srgbClr val="FF0000"/>
            </a:solidFill>
            <a:headEnd type="oval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矩形 37">
            <a:extLst>
              <a:ext uri="{FF2B5EF4-FFF2-40B4-BE49-F238E27FC236}">
                <a16:creationId xmlns:a16="http://schemas.microsoft.com/office/drawing/2014/main" id="{5639DADB-D84A-40F9-AE1D-55423DDBC8F5}"/>
              </a:ext>
            </a:extLst>
          </p:cNvPr>
          <p:cNvSpPr/>
          <p:nvPr/>
        </p:nvSpPr>
        <p:spPr>
          <a:xfrm>
            <a:off x="4589624" y="1989616"/>
            <a:ext cx="1576839" cy="348883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i="1" dirty="0">
                <a:solidFill>
                  <a:srgbClr val="FF0000"/>
                </a:solidFill>
                <a:latin typeface="Crimson Text"/>
              </a:rPr>
              <a:t>hash(B) </a:t>
            </a:r>
            <a:r>
              <a:rPr lang="en-US" altLang="zh-CN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| B</a:t>
            </a:r>
            <a:endParaRPr lang="zh-CN" altLang="en-US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39" name="连接符: 曲线 38">
            <a:extLst>
              <a:ext uri="{FF2B5EF4-FFF2-40B4-BE49-F238E27FC236}">
                <a16:creationId xmlns:a16="http://schemas.microsoft.com/office/drawing/2014/main" id="{637E06B7-A45F-4B2B-9980-413C09152FF0}"/>
              </a:ext>
            </a:extLst>
          </p:cNvPr>
          <p:cNvCxnSpPr>
            <a:cxnSpLocks/>
            <a:stCxn id="23" idx="3"/>
            <a:endCxn id="18" idx="1"/>
          </p:cNvCxnSpPr>
          <p:nvPr/>
        </p:nvCxnSpPr>
        <p:spPr>
          <a:xfrm>
            <a:off x="2661218" y="3633948"/>
            <a:ext cx="1641369" cy="167270"/>
          </a:xfrm>
          <a:prstGeom prst="curvedConnector3">
            <a:avLst/>
          </a:prstGeom>
          <a:ln w="38100">
            <a:solidFill>
              <a:srgbClr val="FF0000"/>
            </a:solidFill>
            <a:headEnd type="oval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矩形 41">
            <a:extLst>
              <a:ext uri="{FF2B5EF4-FFF2-40B4-BE49-F238E27FC236}">
                <a16:creationId xmlns:a16="http://schemas.microsoft.com/office/drawing/2014/main" id="{CECE658A-E98B-44FA-B9DB-2CEACE1142E0}"/>
              </a:ext>
            </a:extLst>
          </p:cNvPr>
          <p:cNvSpPr/>
          <p:nvPr/>
        </p:nvSpPr>
        <p:spPr>
          <a:xfrm>
            <a:off x="4589623" y="3835845"/>
            <a:ext cx="1576839" cy="348883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i="1" dirty="0">
                <a:solidFill>
                  <a:srgbClr val="FF0000"/>
                </a:solidFill>
                <a:latin typeface="Crimson Text"/>
              </a:rPr>
              <a:t>hash(C) </a:t>
            </a:r>
            <a:r>
              <a:rPr lang="en-US" altLang="zh-CN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| C</a:t>
            </a:r>
            <a:endParaRPr lang="zh-CN" altLang="en-US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43" name="连接符: 曲线 42">
            <a:extLst>
              <a:ext uri="{FF2B5EF4-FFF2-40B4-BE49-F238E27FC236}">
                <a16:creationId xmlns:a16="http://schemas.microsoft.com/office/drawing/2014/main" id="{1F33DE0C-F55B-479E-901E-404456BDE065}"/>
              </a:ext>
            </a:extLst>
          </p:cNvPr>
          <p:cNvCxnSpPr>
            <a:cxnSpLocks/>
            <a:stCxn id="24" idx="3"/>
            <a:endCxn id="18" idx="1"/>
          </p:cNvCxnSpPr>
          <p:nvPr/>
        </p:nvCxnSpPr>
        <p:spPr>
          <a:xfrm flipV="1">
            <a:off x="2661218" y="3801218"/>
            <a:ext cx="1641369" cy="181613"/>
          </a:xfrm>
          <a:prstGeom prst="curvedConnector3">
            <a:avLst/>
          </a:prstGeom>
          <a:ln w="38100">
            <a:solidFill>
              <a:srgbClr val="FF0000"/>
            </a:solidFill>
            <a:headEnd type="oval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6" name="组合 45">
            <a:extLst>
              <a:ext uri="{FF2B5EF4-FFF2-40B4-BE49-F238E27FC236}">
                <a16:creationId xmlns:a16="http://schemas.microsoft.com/office/drawing/2014/main" id="{A94C098A-D19F-47A5-A7AB-99FD3EE47CFC}"/>
              </a:ext>
            </a:extLst>
          </p:cNvPr>
          <p:cNvGrpSpPr/>
          <p:nvPr/>
        </p:nvGrpSpPr>
        <p:grpSpPr>
          <a:xfrm>
            <a:off x="7891868" y="3281050"/>
            <a:ext cx="2150919" cy="1054677"/>
            <a:chOff x="3413412" y="2183482"/>
            <a:chExt cx="2150919" cy="1054677"/>
          </a:xfrm>
        </p:grpSpPr>
        <p:sp>
          <p:nvSpPr>
            <p:cNvPr id="47" name="矩形 46">
              <a:extLst>
                <a:ext uri="{FF2B5EF4-FFF2-40B4-BE49-F238E27FC236}">
                  <a16:creationId xmlns:a16="http://schemas.microsoft.com/office/drawing/2014/main" id="{84F07692-683E-4612-B7AC-A169DB24D908}"/>
                </a:ext>
              </a:extLst>
            </p:cNvPr>
            <p:cNvSpPr/>
            <p:nvPr/>
          </p:nvSpPr>
          <p:spPr>
            <a:xfrm>
              <a:off x="3413412" y="2183482"/>
              <a:ext cx="2150919" cy="1054677"/>
            </a:xfrm>
            <a:prstGeom prst="rect">
              <a:avLst/>
            </a:prstGeom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8" name="矩形 47">
              <a:extLst>
                <a:ext uri="{FF2B5EF4-FFF2-40B4-BE49-F238E27FC236}">
                  <a16:creationId xmlns:a16="http://schemas.microsoft.com/office/drawing/2014/main" id="{16508495-3910-450F-80B2-A307EB866E9E}"/>
                </a:ext>
              </a:extLst>
            </p:cNvPr>
            <p:cNvSpPr/>
            <p:nvPr/>
          </p:nvSpPr>
          <p:spPr>
            <a:xfrm>
              <a:off x="3700453" y="2317540"/>
              <a:ext cx="1576839" cy="348883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9" name="矩形 48">
              <a:extLst>
                <a:ext uri="{FF2B5EF4-FFF2-40B4-BE49-F238E27FC236}">
                  <a16:creationId xmlns:a16="http://schemas.microsoft.com/office/drawing/2014/main" id="{6C5F04BD-0A91-4630-9344-E7AD18F89740}"/>
                </a:ext>
              </a:extLst>
            </p:cNvPr>
            <p:cNvSpPr/>
            <p:nvPr/>
          </p:nvSpPr>
          <p:spPr>
            <a:xfrm>
              <a:off x="3700453" y="2748657"/>
              <a:ext cx="1576839" cy="348883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cxnSp>
        <p:nvCxnSpPr>
          <p:cNvPr id="51" name="直接箭头连接符 50">
            <a:extLst>
              <a:ext uri="{FF2B5EF4-FFF2-40B4-BE49-F238E27FC236}">
                <a16:creationId xmlns:a16="http://schemas.microsoft.com/office/drawing/2014/main" id="{BB7041E3-478E-4F68-A0E5-3DE06B6AAD9F}"/>
              </a:ext>
            </a:extLst>
          </p:cNvPr>
          <p:cNvCxnSpPr>
            <a:stCxn id="18" idx="3"/>
            <a:endCxn id="47" idx="1"/>
          </p:cNvCxnSpPr>
          <p:nvPr/>
        </p:nvCxnSpPr>
        <p:spPr>
          <a:xfrm>
            <a:off x="6453506" y="3801218"/>
            <a:ext cx="1438362" cy="7171"/>
          </a:xfrm>
          <a:prstGeom prst="straightConnector1">
            <a:avLst/>
          </a:prstGeom>
          <a:ln w="25400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矩形 51">
            <a:extLst>
              <a:ext uri="{FF2B5EF4-FFF2-40B4-BE49-F238E27FC236}">
                <a16:creationId xmlns:a16="http://schemas.microsoft.com/office/drawing/2014/main" id="{ADF44BD5-61A6-4018-903D-D24C298954E5}"/>
              </a:ext>
            </a:extLst>
          </p:cNvPr>
          <p:cNvSpPr/>
          <p:nvPr/>
        </p:nvSpPr>
        <p:spPr>
          <a:xfrm>
            <a:off x="8178907" y="3415108"/>
            <a:ext cx="1576839" cy="348883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i="1" dirty="0">
                <a:solidFill>
                  <a:srgbClr val="FF0000"/>
                </a:solidFill>
                <a:latin typeface="Crimson Text"/>
              </a:rPr>
              <a:t>hash(D) </a:t>
            </a:r>
            <a:r>
              <a:rPr lang="en-US" altLang="zh-CN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| D</a:t>
            </a:r>
            <a:endParaRPr lang="zh-CN" altLang="en-US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53" name="连接符: 曲线 52">
            <a:extLst>
              <a:ext uri="{FF2B5EF4-FFF2-40B4-BE49-F238E27FC236}">
                <a16:creationId xmlns:a16="http://schemas.microsoft.com/office/drawing/2014/main" id="{6CCD2535-78E7-44F8-9242-92253B3002E0}"/>
              </a:ext>
            </a:extLst>
          </p:cNvPr>
          <p:cNvCxnSpPr>
            <a:cxnSpLocks/>
            <a:stCxn id="25" idx="3"/>
            <a:endCxn id="18" idx="1"/>
          </p:cNvCxnSpPr>
          <p:nvPr/>
        </p:nvCxnSpPr>
        <p:spPr>
          <a:xfrm flipV="1">
            <a:off x="2661218" y="3801218"/>
            <a:ext cx="1641369" cy="516152"/>
          </a:xfrm>
          <a:prstGeom prst="curvedConnector3">
            <a:avLst/>
          </a:prstGeom>
          <a:ln w="38100">
            <a:solidFill>
              <a:srgbClr val="FF0000"/>
            </a:solidFill>
            <a:headEnd type="oval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矩形 55">
            <a:extLst>
              <a:ext uri="{FF2B5EF4-FFF2-40B4-BE49-F238E27FC236}">
                <a16:creationId xmlns:a16="http://schemas.microsoft.com/office/drawing/2014/main" id="{73CA9D17-FFF2-4979-8BB7-66B2DDDDE710}"/>
              </a:ext>
            </a:extLst>
          </p:cNvPr>
          <p:cNvSpPr/>
          <p:nvPr/>
        </p:nvSpPr>
        <p:spPr>
          <a:xfrm>
            <a:off x="8178906" y="3835844"/>
            <a:ext cx="1576839" cy="348883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i="1" dirty="0">
                <a:solidFill>
                  <a:srgbClr val="FF0000"/>
                </a:solidFill>
                <a:latin typeface="Crimson Text"/>
              </a:rPr>
              <a:t>hash(E) </a:t>
            </a:r>
            <a:r>
              <a:rPr lang="en-US" altLang="zh-CN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| E</a:t>
            </a:r>
            <a:endParaRPr lang="zh-CN" altLang="en-US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0" name="矩形 59">
            <a:extLst>
              <a:ext uri="{FF2B5EF4-FFF2-40B4-BE49-F238E27FC236}">
                <a16:creationId xmlns:a16="http://schemas.microsoft.com/office/drawing/2014/main" id="{1CC323F4-91C4-4941-A032-581D1150ABF4}"/>
              </a:ext>
            </a:extLst>
          </p:cNvPr>
          <p:cNvSpPr/>
          <p:nvPr/>
        </p:nvSpPr>
        <p:spPr>
          <a:xfrm>
            <a:off x="7172687" y="4568359"/>
            <a:ext cx="3923761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b="1" i="1" dirty="0">
                <a:latin typeface="Crimson Text"/>
              </a:rPr>
              <a:t>Hyper: 64-bit Bucket Pointers</a:t>
            </a:r>
          </a:p>
          <a:p>
            <a:pPr marL="285750" indent="-285750">
              <a:buFont typeface="Wingdings" panose="05000000000000000000" pitchFamily="2" charset="2"/>
              <a:buChar char="l"/>
            </a:pPr>
            <a:r>
              <a:rPr lang="en-US" altLang="zh-CN" sz="2400" dirty="0"/>
              <a:t>48-bit Pointer</a:t>
            </a:r>
          </a:p>
          <a:p>
            <a:pPr marL="285750" indent="-285750">
              <a:buFont typeface="Wingdings" panose="05000000000000000000" pitchFamily="2" charset="2"/>
              <a:buChar char="l"/>
            </a:pPr>
            <a:r>
              <a:rPr lang="en-US" altLang="zh-CN" sz="2400" dirty="0"/>
              <a:t>16-bit Bloom Filter</a:t>
            </a:r>
            <a:endParaRPr lang="zh-CN" altLang="en-US" sz="2400" dirty="0"/>
          </a:p>
        </p:txBody>
      </p:sp>
    </p:spTree>
    <p:extLst>
      <p:ext uri="{BB962C8B-B14F-4D97-AF65-F5344CB8AC3E}">
        <p14:creationId xmlns:p14="http://schemas.microsoft.com/office/powerpoint/2010/main" val="33629436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 animBg="1"/>
      <p:bldP spid="32" grpId="0" animBg="1"/>
      <p:bldP spid="38" grpId="0" animBg="1"/>
      <p:bldP spid="42" grpId="0" animBg="1"/>
      <p:bldP spid="52" grpId="0" animBg="1"/>
      <p:bldP spid="56" grpId="0" animBg="1"/>
      <p:bldP spid="60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9BBCCEF-D42F-420B-9CC2-98A9815DB6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Linear Probe Hashing</a:t>
            </a:r>
            <a:endParaRPr lang="zh-CN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22BB0D1-6F5E-4E6D-883B-B9B39DCC89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445289"/>
          </a:xfrm>
        </p:spPr>
        <p:txBody>
          <a:bodyPr>
            <a:normAutofit/>
          </a:bodyPr>
          <a:lstStyle/>
          <a:p>
            <a:pPr marL="446088" indent="-446088">
              <a:lnSpc>
                <a:spcPct val="100000"/>
              </a:lnSpc>
              <a:spcBef>
                <a:spcPts val="1200"/>
              </a:spcBef>
            </a:pPr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Single giant table of slots.</a:t>
            </a:r>
          </a:p>
          <a:p>
            <a:pPr marL="446088" indent="-446088">
              <a:lnSpc>
                <a:spcPct val="100000"/>
              </a:lnSpc>
              <a:spcBef>
                <a:spcPts val="1200"/>
              </a:spcBef>
            </a:pPr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Resolve collisions by linearly searching for the </a:t>
            </a:r>
            <a:r>
              <a:rPr lang="en-US" altLang="zh-CN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next</a:t>
            </a:r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 free slot in the table.</a:t>
            </a:r>
          </a:p>
          <a:p>
            <a:pPr marL="903288" lvl="1" indent="-446088">
              <a:lnSpc>
                <a:spcPct val="100000"/>
              </a:lnSpc>
              <a:spcBef>
                <a:spcPts val="1200"/>
              </a:spcBef>
            </a:pPr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To determine whether an element is present, hash to a location in the table and scan for it.</a:t>
            </a:r>
          </a:p>
          <a:p>
            <a:pPr marL="903288" lvl="1" indent="-446088">
              <a:lnSpc>
                <a:spcPct val="100000"/>
              </a:lnSpc>
              <a:spcBef>
                <a:spcPts val="1200"/>
              </a:spcBef>
            </a:pPr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Must store the key in the table to know when to stop scanning.</a:t>
            </a:r>
          </a:p>
          <a:p>
            <a:pPr marL="903288" lvl="1" indent="-446088">
              <a:lnSpc>
                <a:spcPct val="100000"/>
              </a:lnSpc>
              <a:spcBef>
                <a:spcPts val="1200"/>
              </a:spcBef>
            </a:pPr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Insertions and deletions are generalizations of lookups.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2905825-8EE0-4CF0-A05E-CAFDF944FB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A44587-8C96-4D1D-B812-3AA622755974}" type="datetime1">
              <a:rPr lang="zh-CN" altLang="en-US" smtClean="0"/>
              <a:t>2024/5/8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ED664A2-5898-4C25-86F3-E969A94A39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Hash Indices</a:t>
            </a: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34B9AF0-AA69-4CFE-BBF2-A55EB4555B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5CA875-76FA-4283-B5BE-070B4D16A27E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0488224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9BBCCEF-D42F-420B-9CC2-98A9815DB6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Linear Probe Hashing</a:t>
            </a:r>
            <a:endParaRPr lang="zh-CN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2905825-8EE0-4CF0-A05E-CAFDF944FB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0ADFEC-537D-4634-A827-E61F35943165}" type="datetime1">
              <a:rPr lang="zh-CN" altLang="en-US" smtClean="0"/>
              <a:t>2024/5/8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ED664A2-5898-4C25-86F3-E969A94A39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Hash Indices</a:t>
            </a: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34B9AF0-AA69-4CFE-BBF2-A55EB4555B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5CA875-76FA-4283-B5BE-070B4D16A27E}" type="slidenum">
              <a:rPr lang="zh-CN" altLang="en-US" smtClean="0"/>
              <a:t>12</a:t>
            </a:fld>
            <a:endParaRPr lang="zh-CN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18B5510B-F9FE-4636-8DC6-0494DFDA30AA}"/>
              </a:ext>
            </a:extLst>
          </p:cNvPr>
          <p:cNvSpPr/>
          <p:nvPr/>
        </p:nvSpPr>
        <p:spPr>
          <a:xfrm>
            <a:off x="4397183" y="1898985"/>
            <a:ext cx="2150919" cy="4356055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93518398-75F5-4F11-8853-E2A27840AF71}"/>
              </a:ext>
            </a:extLst>
          </p:cNvPr>
          <p:cNvSpPr/>
          <p:nvPr/>
        </p:nvSpPr>
        <p:spPr>
          <a:xfrm>
            <a:off x="4671612" y="2124591"/>
            <a:ext cx="1576839" cy="348883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E5B1A8C-3355-4D86-B84F-389DEA37FE59}"/>
              </a:ext>
            </a:extLst>
          </p:cNvPr>
          <p:cNvSpPr/>
          <p:nvPr/>
        </p:nvSpPr>
        <p:spPr>
          <a:xfrm>
            <a:off x="4671612" y="2555708"/>
            <a:ext cx="1576839" cy="348883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FAF2762F-AC7E-46B1-B5FE-B356695EEBEC}"/>
              </a:ext>
            </a:extLst>
          </p:cNvPr>
          <p:cNvGrpSpPr/>
          <p:nvPr/>
        </p:nvGrpSpPr>
        <p:grpSpPr>
          <a:xfrm>
            <a:off x="1570008" y="2984042"/>
            <a:ext cx="479511" cy="2078954"/>
            <a:chOff x="1626762" y="2964260"/>
            <a:chExt cx="479511" cy="2078954"/>
          </a:xfrm>
        </p:grpSpPr>
        <p:sp>
          <p:nvSpPr>
            <p:cNvPr id="15" name="矩形 14">
              <a:extLst>
                <a:ext uri="{FF2B5EF4-FFF2-40B4-BE49-F238E27FC236}">
                  <a16:creationId xmlns:a16="http://schemas.microsoft.com/office/drawing/2014/main" id="{8D623B01-5A02-49BF-9E11-41C9057BB4EF}"/>
                </a:ext>
              </a:extLst>
            </p:cNvPr>
            <p:cNvSpPr/>
            <p:nvPr/>
          </p:nvSpPr>
          <p:spPr>
            <a:xfrm>
              <a:off x="1626762" y="2964260"/>
              <a:ext cx="479511" cy="348883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</a:t>
              </a:r>
              <a:endParaRPr lang="zh-CN" alt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6" name="矩形 15">
              <a:extLst>
                <a:ext uri="{FF2B5EF4-FFF2-40B4-BE49-F238E27FC236}">
                  <a16:creationId xmlns:a16="http://schemas.microsoft.com/office/drawing/2014/main" id="{D73F444B-A3FA-4509-8C9F-F08FA0320E6F}"/>
                </a:ext>
              </a:extLst>
            </p:cNvPr>
            <p:cNvSpPr/>
            <p:nvPr/>
          </p:nvSpPr>
          <p:spPr>
            <a:xfrm>
              <a:off x="1626762" y="3313143"/>
              <a:ext cx="479511" cy="348883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B</a:t>
              </a:r>
              <a:endParaRPr lang="zh-CN" alt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7" name="矩形 16">
              <a:extLst>
                <a:ext uri="{FF2B5EF4-FFF2-40B4-BE49-F238E27FC236}">
                  <a16:creationId xmlns:a16="http://schemas.microsoft.com/office/drawing/2014/main" id="{C6528756-7EDB-4C32-BAAA-70A1FAE1B1FE}"/>
                </a:ext>
              </a:extLst>
            </p:cNvPr>
            <p:cNvSpPr/>
            <p:nvPr/>
          </p:nvSpPr>
          <p:spPr>
            <a:xfrm>
              <a:off x="1626762" y="3662026"/>
              <a:ext cx="479511" cy="348883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</a:t>
              </a:r>
              <a:endParaRPr lang="zh-CN" alt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8" name="矩形 17">
              <a:extLst>
                <a:ext uri="{FF2B5EF4-FFF2-40B4-BE49-F238E27FC236}">
                  <a16:creationId xmlns:a16="http://schemas.microsoft.com/office/drawing/2014/main" id="{13CC6984-71D3-4CA9-8B6D-3679D91656BE}"/>
                </a:ext>
              </a:extLst>
            </p:cNvPr>
            <p:cNvSpPr/>
            <p:nvPr/>
          </p:nvSpPr>
          <p:spPr>
            <a:xfrm>
              <a:off x="1626762" y="4010909"/>
              <a:ext cx="479511" cy="348883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D</a:t>
              </a:r>
              <a:endParaRPr lang="zh-CN" alt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9" name="矩形 18">
              <a:extLst>
                <a:ext uri="{FF2B5EF4-FFF2-40B4-BE49-F238E27FC236}">
                  <a16:creationId xmlns:a16="http://schemas.microsoft.com/office/drawing/2014/main" id="{6D7435BA-57A0-4D90-A882-0626C23C6328}"/>
                </a:ext>
              </a:extLst>
            </p:cNvPr>
            <p:cNvSpPr/>
            <p:nvPr/>
          </p:nvSpPr>
          <p:spPr>
            <a:xfrm>
              <a:off x="1626762" y="4345448"/>
              <a:ext cx="479511" cy="348883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E</a:t>
              </a:r>
              <a:endParaRPr lang="zh-CN" alt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0" name="矩形 19">
              <a:extLst>
                <a:ext uri="{FF2B5EF4-FFF2-40B4-BE49-F238E27FC236}">
                  <a16:creationId xmlns:a16="http://schemas.microsoft.com/office/drawing/2014/main" id="{4D92A5C0-EEAD-482F-9CA4-FEE8CBC36953}"/>
                </a:ext>
              </a:extLst>
            </p:cNvPr>
            <p:cNvSpPr/>
            <p:nvPr/>
          </p:nvSpPr>
          <p:spPr>
            <a:xfrm>
              <a:off x="1626762" y="4694331"/>
              <a:ext cx="479511" cy="348883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F</a:t>
              </a:r>
              <a:endParaRPr lang="zh-CN" alt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21" name="矩形 20">
            <a:extLst>
              <a:ext uri="{FF2B5EF4-FFF2-40B4-BE49-F238E27FC236}">
                <a16:creationId xmlns:a16="http://schemas.microsoft.com/office/drawing/2014/main" id="{6DD840E3-52F7-4B31-951F-EAAA65C96138}"/>
              </a:ext>
            </a:extLst>
          </p:cNvPr>
          <p:cNvSpPr/>
          <p:nvPr/>
        </p:nvSpPr>
        <p:spPr>
          <a:xfrm>
            <a:off x="1117131" y="2508754"/>
            <a:ext cx="138526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b="1" i="1" dirty="0">
                <a:solidFill>
                  <a:srgbClr val="FF0000"/>
                </a:solidFill>
                <a:latin typeface="Crimson Text"/>
              </a:rPr>
              <a:t>hash(key)</a:t>
            </a:r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EBEE0FE7-9D6B-4D29-BDF3-B9CA93D22A37}"/>
              </a:ext>
            </a:extLst>
          </p:cNvPr>
          <p:cNvSpPr/>
          <p:nvPr/>
        </p:nvSpPr>
        <p:spPr>
          <a:xfrm>
            <a:off x="4671612" y="2992267"/>
            <a:ext cx="1576839" cy="348883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0E14659A-FF36-4453-8718-BED0783632C5}"/>
              </a:ext>
            </a:extLst>
          </p:cNvPr>
          <p:cNvSpPr/>
          <p:nvPr/>
        </p:nvSpPr>
        <p:spPr>
          <a:xfrm>
            <a:off x="4671612" y="3423384"/>
            <a:ext cx="1576839" cy="348883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565DFF02-984A-4389-9B93-32B5BA277C00}"/>
              </a:ext>
            </a:extLst>
          </p:cNvPr>
          <p:cNvSpPr/>
          <p:nvPr/>
        </p:nvSpPr>
        <p:spPr>
          <a:xfrm>
            <a:off x="4671612" y="3865485"/>
            <a:ext cx="1576839" cy="348883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2CBFCFE9-734F-416A-8127-14B0B7529F69}"/>
              </a:ext>
            </a:extLst>
          </p:cNvPr>
          <p:cNvSpPr/>
          <p:nvPr/>
        </p:nvSpPr>
        <p:spPr>
          <a:xfrm>
            <a:off x="4671612" y="4296602"/>
            <a:ext cx="1576839" cy="348883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CC3066AF-4D27-400B-8E01-89B9384B9EC0}"/>
              </a:ext>
            </a:extLst>
          </p:cNvPr>
          <p:cNvSpPr/>
          <p:nvPr/>
        </p:nvSpPr>
        <p:spPr>
          <a:xfrm>
            <a:off x="4671612" y="4765227"/>
            <a:ext cx="1576839" cy="348883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C7DDE335-5BBD-4CF1-B28C-F6384E2014E7}"/>
              </a:ext>
            </a:extLst>
          </p:cNvPr>
          <p:cNvSpPr/>
          <p:nvPr/>
        </p:nvSpPr>
        <p:spPr>
          <a:xfrm>
            <a:off x="4671612" y="5196344"/>
            <a:ext cx="1576839" cy="348883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B22756A1-F97F-49E4-AD70-B9A987FA5999}"/>
              </a:ext>
            </a:extLst>
          </p:cNvPr>
          <p:cNvSpPr/>
          <p:nvPr/>
        </p:nvSpPr>
        <p:spPr>
          <a:xfrm>
            <a:off x="4671612" y="5659806"/>
            <a:ext cx="1576839" cy="348883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A216EC36-24CC-4E8E-9ACB-5E66A90F0A37}"/>
              </a:ext>
            </a:extLst>
          </p:cNvPr>
          <p:cNvSpPr/>
          <p:nvPr/>
        </p:nvSpPr>
        <p:spPr>
          <a:xfrm>
            <a:off x="4671945" y="2988154"/>
            <a:ext cx="1576839" cy="348883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i="1" dirty="0">
                <a:solidFill>
                  <a:srgbClr val="FF0000"/>
                </a:solidFill>
                <a:latin typeface="Crimson Text"/>
              </a:rPr>
              <a:t>hash(A) </a:t>
            </a:r>
            <a:r>
              <a:rPr lang="en-US" altLang="zh-CN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| A</a:t>
            </a:r>
            <a:endParaRPr lang="zh-CN" altLang="en-US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31" name="连接符: 曲线 30">
            <a:extLst>
              <a:ext uri="{FF2B5EF4-FFF2-40B4-BE49-F238E27FC236}">
                <a16:creationId xmlns:a16="http://schemas.microsoft.com/office/drawing/2014/main" id="{E3620E06-0AA4-47EA-A822-6584D61D869D}"/>
              </a:ext>
            </a:extLst>
          </p:cNvPr>
          <p:cNvCxnSpPr>
            <a:cxnSpLocks/>
            <a:stCxn id="20" idx="3"/>
            <a:endCxn id="56" idx="1"/>
          </p:cNvCxnSpPr>
          <p:nvPr/>
        </p:nvCxnSpPr>
        <p:spPr>
          <a:xfrm flipV="1">
            <a:off x="2049519" y="4471043"/>
            <a:ext cx="2622093" cy="417512"/>
          </a:xfrm>
          <a:prstGeom prst="curvedConnector3">
            <a:avLst/>
          </a:prstGeom>
          <a:ln w="38100">
            <a:solidFill>
              <a:srgbClr val="FF0000"/>
            </a:solidFill>
            <a:headEnd type="oval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连接符: 曲线 31">
            <a:extLst>
              <a:ext uri="{FF2B5EF4-FFF2-40B4-BE49-F238E27FC236}">
                <a16:creationId xmlns:a16="http://schemas.microsoft.com/office/drawing/2014/main" id="{CF1924E0-C466-44E5-A565-764DE24C07F7}"/>
              </a:ext>
            </a:extLst>
          </p:cNvPr>
          <p:cNvCxnSpPr>
            <a:cxnSpLocks/>
            <a:stCxn id="15" idx="3"/>
            <a:endCxn id="22" idx="1"/>
          </p:cNvCxnSpPr>
          <p:nvPr/>
        </p:nvCxnSpPr>
        <p:spPr>
          <a:xfrm>
            <a:off x="2049519" y="3158484"/>
            <a:ext cx="2622093" cy="8225"/>
          </a:xfrm>
          <a:prstGeom prst="curvedConnector3">
            <a:avLst/>
          </a:prstGeom>
          <a:ln w="38100">
            <a:solidFill>
              <a:srgbClr val="FF0000"/>
            </a:solidFill>
            <a:headEnd type="oval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连接符: 曲线 34">
            <a:extLst>
              <a:ext uri="{FF2B5EF4-FFF2-40B4-BE49-F238E27FC236}">
                <a16:creationId xmlns:a16="http://schemas.microsoft.com/office/drawing/2014/main" id="{36185462-146F-4D3A-8D23-8CBD3F8DC0AD}"/>
              </a:ext>
            </a:extLst>
          </p:cNvPr>
          <p:cNvCxnSpPr>
            <a:cxnSpLocks/>
            <a:stCxn id="16" idx="3"/>
            <a:endCxn id="11" idx="1"/>
          </p:cNvCxnSpPr>
          <p:nvPr/>
        </p:nvCxnSpPr>
        <p:spPr>
          <a:xfrm flipV="1">
            <a:off x="2049519" y="2299033"/>
            <a:ext cx="2622093" cy="1208334"/>
          </a:xfrm>
          <a:prstGeom prst="curvedConnector3">
            <a:avLst/>
          </a:prstGeom>
          <a:ln w="38100">
            <a:solidFill>
              <a:srgbClr val="FF0000"/>
            </a:solidFill>
            <a:headEnd type="oval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矩形 37">
            <a:extLst>
              <a:ext uri="{FF2B5EF4-FFF2-40B4-BE49-F238E27FC236}">
                <a16:creationId xmlns:a16="http://schemas.microsoft.com/office/drawing/2014/main" id="{04FCD062-97FC-4523-A31E-E8CCB551B546}"/>
              </a:ext>
            </a:extLst>
          </p:cNvPr>
          <p:cNvSpPr/>
          <p:nvPr/>
        </p:nvSpPr>
        <p:spPr>
          <a:xfrm>
            <a:off x="4671612" y="2115861"/>
            <a:ext cx="1576839" cy="348883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i="1" dirty="0">
                <a:solidFill>
                  <a:srgbClr val="FF0000"/>
                </a:solidFill>
                <a:latin typeface="Crimson Text"/>
              </a:rPr>
              <a:t>hash(B) </a:t>
            </a:r>
            <a:r>
              <a:rPr lang="en-US" altLang="zh-CN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| B</a:t>
            </a:r>
            <a:endParaRPr lang="zh-CN" altLang="en-US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39" name="连接符: 曲线 38">
            <a:extLst>
              <a:ext uri="{FF2B5EF4-FFF2-40B4-BE49-F238E27FC236}">
                <a16:creationId xmlns:a16="http://schemas.microsoft.com/office/drawing/2014/main" id="{0E1C5047-58F9-483E-A68B-216D6BA489EE}"/>
              </a:ext>
            </a:extLst>
          </p:cNvPr>
          <p:cNvCxnSpPr>
            <a:cxnSpLocks/>
            <a:stCxn id="17" idx="3"/>
            <a:endCxn id="30" idx="1"/>
          </p:cNvCxnSpPr>
          <p:nvPr/>
        </p:nvCxnSpPr>
        <p:spPr>
          <a:xfrm flipV="1">
            <a:off x="2049519" y="3162596"/>
            <a:ext cx="2622426" cy="693654"/>
          </a:xfrm>
          <a:prstGeom prst="curvedConnector3">
            <a:avLst/>
          </a:prstGeom>
          <a:ln w="38100">
            <a:solidFill>
              <a:srgbClr val="FF0000"/>
            </a:solidFill>
            <a:headEnd type="oval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弧形 44">
            <a:extLst>
              <a:ext uri="{FF2B5EF4-FFF2-40B4-BE49-F238E27FC236}">
                <a16:creationId xmlns:a16="http://schemas.microsoft.com/office/drawing/2014/main" id="{DA15B10F-0869-40FE-AA1A-3A00AE8E322F}"/>
              </a:ext>
            </a:extLst>
          </p:cNvPr>
          <p:cNvSpPr/>
          <p:nvPr/>
        </p:nvSpPr>
        <p:spPr>
          <a:xfrm>
            <a:off x="5997206" y="3158483"/>
            <a:ext cx="453043" cy="460651"/>
          </a:xfrm>
          <a:prstGeom prst="arc">
            <a:avLst>
              <a:gd name="adj1" fmla="val 16360982"/>
              <a:gd name="adj2" fmla="val 5040292"/>
            </a:avLst>
          </a:prstGeom>
          <a:ln w="38100">
            <a:solidFill>
              <a:srgbClr val="FF0000"/>
            </a:solidFill>
            <a:headEnd type="oval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7" name="矩形 46">
            <a:extLst>
              <a:ext uri="{FF2B5EF4-FFF2-40B4-BE49-F238E27FC236}">
                <a16:creationId xmlns:a16="http://schemas.microsoft.com/office/drawing/2014/main" id="{1B417A10-6B23-40D8-A05F-73301AC359DF}"/>
              </a:ext>
            </a:extLst>
          </p:cNvPr>
          <p:cNvSpPr/>
          <p:nvPr/>
        </p:nvSpPr>
        <p:spPr>
          <a:xfrm>
            <a:off x="4671612" y="3430255"/>
            <a:ext cx="1576839" cy="348883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i="1" dirty="0">
                <a:solidFill>
                  <a:srgbClr val="FF0000"/>
                </a:solidFill>
                <a:latin typeface="Crimson Text"/>
              </a:rPr>
              <a:t>hash(C) </a:t>
            </a:r>
            <a:r>
              <a:rPr lang="en-US" altLang="zh-CN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| C</a:t>
            </a:r>
            <a:endParaRPr lang="zh-CN" altLang="en-US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48" name="连接符: 曲线 47">
            <a:extLst>
              <a:ext uri="{FF2B5EF4-FFF2-40B4-BE49-F238E27FC236}">
                <a16:creationId xmlns:a16="http://schemas.microsoft.com/office/drawing/2014/main" id="{4CAB0068-4A08-4509-AECA-706268D4E6EA}"/>
              </a:ext>
            </a:extLst>
          </p:cNvPr>
          <p:cNvCxnSpPr>
            <a:cxnSpLocks/>
            <a:stCxn id="18" idx="3"/>
            <a:endCxn id="47" idx="1"/>
          </p:cNvCxnSpPr>
          <p:nvPr/>
        </p:nvCxnSpPr>
        <p:spPr>
          <a:xfrm flipV="1">
            <a:off x="2049519" y="3604697"/>
            <a:ext cx="2622093" cy="600436"/>
          </a:xfrm>
          <a:prstGeom prst="curvedConnector3">
            <a:avLst/>
          </a:prstGeom>
          <a:ln w="38100">
            <a:solidFill>
              <a:srgbClr val="FF0000"/>
            </a:solidFill>
            <a:headEnd type="oval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弧形 50">
            <a:extLst>
              <a:ext uri="{FF2B5EF4-FFF2-40B4-BE49-F238E27FC236}">
                <a16:creationId xmlns:a16="http://schemas.microsoft.com/office/drawing/2014/main" id="{2810945D-D04A-45A7-BB67-A4AD76A2FC97}"/>
              </a:ext>
            </a:extLst>
          </p:cNvPr>
          <p:cNvSpPr/>
          <p:nvPr/>
        </p:nvSpPr>
        <p:spPr>
          <a:xfrm>
            <a:off x="5997206" y="3604696"/>
            <a:ext cx="453043" cy="460651"/>
          </a:xfrm>
          <a:prstGeom prst="arc">
            <a:avLst>
              <a:gd name="adj1" fmla="val 16360982"/>
              <a:gd name="adj2" fmla="val 5040292"/>
            </a:avLst>
          </a:prstGeom>
          <a:ln w="38100">
            <a:solidFill>
              <a:srgbClr val="FF0000"/>
            </a:solidFill>
            <a:headEnd type="oval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2" name="矩形 51">
            <a:extLst>
              <a:ext uri="{FF2B5EF4-FFF2-40B4-BE49-F238E27FC236}">
                <a16:creationId xmlns:a16="http://schemas.microsoft.com/office/drawing/2014/main" id="{5C5F963D-0BB6-4700-9AC7-71AEC2BF2DEC}"/>
              </a:ext>
            </a:extLst>
          </p:cNvPr>
          <p:cNvSpPr/>
          <p:nvPr/>
        </p:nvSpPr>
        <p:spPr>
          <a:xfrm>
            <a:off x="4671612" y="3858926"/>
            <a:ext cx="1576839" cy="348883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i="1" dirty="0">
                <a:solidFill>
                  <a:srgbClr val="FF0000"/>
                </a:solidFill>
                <a:latin typeface="Crimson Text"/>
              </a:rPr>
              <a:t>hash(D) </a:t>
            </a:r>
            <a:r>
              <a:rPr lang="en-US" altLang="zh-CN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| D</a:t>
            </a:r>
            <a:endParaRPr lang="zh-CN" altLang="en-US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53" name="连接符: 曲线 52">
            <a:extLst>
              <a:ext uri="{FF2B5EF4-FFF2-40B4-BE49-F238E27FC236}">
                <a16:creationId xmlns:a16="http://schemas.microsoft.com/office/drawing/2014/main" id="{38BDE961-9D7B-4CB8-A7B7-246E7B252C98}"/>
              </a:ext>
            </a:extLst>
          </p:cNvPr>
          <p:cNvCxnSpPr>
            <a:cxnSpLocks/>
            <a:stCxn id="19" idx="3"/>
            <a:endCxn id="30" idx="1"/>
          </p:cNvCxnSpPr>
          <p:nvPr/>
        </p:nvCxnSpPr>
        <p:spPr>
          <a:xfrm flipV="1">
            <a:off x="2049519" y="3162596"/>
            <a:ext cx="2622426" cy="1377076"/>
          </a:xfrm>
          <a:prstGeom prst="curvedConnector3">
            <a:avLst/>
          </a:prstGeom>
          <a:ln w="38100">
            <a:solidFill>
              <a:srgbClr val="FF0000"/>
            </a:solidFill>
            <a:headEnd type="oval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矩形 55">
            <a:extLst>
              <a:ext uri="{FF2B5EF4-FFF2-40B4-BE49-F238E27FC236}">
                <a16:creationId xmlns:a16="http://schemas.microsoft.com/office/drawing/2014/main" id="{B79BE5CE-EA31-46B6-B1D4-122FADDBCF17}"/>
              </a:ext>
            </a:extLst>
          </p:cNvPr>
          <p:cNvSpPr/>
          <p:nvPr/>
        </p:nvSpPr>
        <p:spPr>
          <a:xfrm>
            <a:off x="4671612" y="4296601"/>
            <a:ext cx="1576839" cy="348883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i="1" dirty="0">
                <a:solidFill>
                  <a:srgbClr val="FF0000"/>
                </a:solidFill>
                <a:latin typeface="Crimson Text"/>
              </a:rPr>
              <a:t>hash(E) </a:t>
            </a:r>
            <a:r>
              <a:rPr lang="en-US" altLang="zh-CN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| E</a:t>
            </a:r>
            <a:endParaRPr lang="zh-CN" altLang="en-US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6" name="弧形 45">
            <a:extLst>
              <a:ext uri="{FF2B5EF4-FFF2-40B4-BE49-F238E27FC236}">
                <a16:creationId xmlns:a16="http://schemas.microsoft.com/office/drawing/2014/main" id="{8F99A6FC-DDE3-4E46-BB3F-0308A26D8A5C}"/>
              </a:ext>
            </a:extLst>
          </p:cNvPr>
          <p:cNvSpPr/>
          <p:nvPr/>
        </p:nvSpPr>
        <p:spPr>
          <a:xfrm>
            <a:off x="5997206" y="4469676"/>
            <a:ext cx="453043" cy="460651"/>
          </a:xfrm>
          <a:prstGeom prst="arc">
            <a:avLst>
              <a:gd name="adj1" fmla="val 16360982"/>
              <a:gd name="adj2" fmla="val 5040292"/>
            </a:avLst>
          </a:prstGeom>
          <a:ln w="38100">
            <a:solidFill>
              <a:srgbClr val="FF0000"/>
            </a:solidFill>
            <a:headEnd type="oval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8FE51C56-1F9F-4947-BC04-7C847FC4A15B}"/>
              </a:ext>
            </a:extLst>
          </p:cNvPr>
          <p:cNvSpPr/>
          <p:nvPr/>
        </p:nvSpPr>
        <p:spPr>
          <a:xfrm>
            <a:off x="4665760" y="4765227"/>
            <a:ext cx="1576839" cy="348883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i="1" dirty="0">
                <a:solidFill>
                  <a:srgbClr val="FF0000"/>
                </a:solidFill>
                <a:latin typeface="Crimson Text"/>
              </a:rPr>
              <a:t>hash(F) </a:t>
            </a:r>
            <a:r>
              <a:rPr lang="en-US" altLang="zh-CN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| F</a:t>
            </a:r>
            <a:endParaRPr lang="zh-CN" altLang="en-US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9" name="矩形 58">
            <a:extLst>
              <a:ext uri="{FF2B5EF4-FFF2-40B4-BE49-F238E27FC236}">
                <a16:creationId xmlns:a16="http://schemas.microsoft.com/office/drawing/2014/main" id="{BDCB84EF-894D-412E-8DD8-EB276058EDD3}"/>
              </a:ext>
            </a:extLst>
          </p:cNvPr>
          <p:cNvSpPr/>
          <p:nvPr/>
        </p:nvSpPr>
        <p:spPr>
          <a:xfrm>
            <a:off x="6816679" y="1925607"/>
            <a:ext cx="4793502" cy="412420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spcBef>
                <a:spcPts val="1200"/>
              </a:spcBef>
              <a:buFont typeface="Wingdings" panose="05000000000000000000" pitchFamily="2" charset="2"/>
              <a:buChar char="l"/>
            </a:pPr>
            <a:r>
              <a:rPr lang="en-US" altLang="zh-CN" sz="2800" dirty="0">
                <a:latin typeface="Arial" panose="020B0604020202020204" pitchFamily="34" charset="0"/>
                <a:cs typeface="Arial" panose="020B0604020202020204" pitchFamily="34" charset="0"/>
              </a:rPr>
              <a:t>To reduce the # of wasteful comparisons during the join, it is important to avoid </a:t>
            </a:r>
            <a:r>
              <a:rPr lang="en-US" altLang="zh-CN" sz="28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collisions</a:t>
            </a:r>
            <a:r>
              <a:rPr lang="en-US" altLang="zh-CN" sz="2800" dirty="0">
                <a:latin typeface="Arial" panose="020B0604020202020204" pitchFamily="34" charset="0"/>
                <a:cs typeface="Arial" panose="020B0604020202020204" pitchFamily="34" charset="0"/>
              </a:rPr>
              <a:t> of hashed keys.</a:t>
            </a:r>
          </a:p>
          <a:p>
            <a:pPr marL="457200" indent="-457200">
              <a:spcBef>
                <a:spcPts val="1200"/>
              </a:spcBef>
              <a:buFont typeface="Wingdings" panose="05000000000000000000" pitchFamily="2" charset="2"/>
              <a:buChar char="l"/>
            </a:pPr>
            <a:r>
              <a:rPr lang="en-US" altLang="zh-CN" sz="2800" dirty="0">
                <a:latin typeface="Arial" panose="020B0604020202020204" pitchFamily="34" charset="0"/>
                <a:cs typeface="Arial" panose="020B0604020202020204" pitchFamily="34" charset="0"/>
              </a:rPr>
              <a:t>This requires a chained hash table with </a:t>
            </a:r>
            <a:r>
              <a:rPr lang="en-US" altLang="zh-CN" sz="2800" b="1" u="sng" dirty="0">
                <a:latin typeface="Arial" panose="020B0604020202020204" pitchFamily="34" charset="0"/>
                <a:cs typeface="Arial" panose="020B0604020202020204" pitchFamily="34" charset="0"/>
              </a:rPr>
              <a:t>~2×</a:t>
            </a:r>
            <a:r>
              <a:rPr lang="en-US" altLang="zh-CN" sz="2800" dirty="0">
                <a:latin typeface="Arial" panose="020B0604020202020204" pitchFamily="34" charset="0"/>
                <a:cs typeface="Arial" panose="020B0604020202020204" pitchFamily="34" charset="0"/>
              </a:rPr>
              <a:t> the number of slots as the # of elements in </a:t>
            </a:r>
            <a:r>
              <a:rPr lang="en-US" altLang="zh-CN" sz="28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</a:t>
            </a:r>
            <a:r>
              <a:rPr lang="en-US" altLang="zh-CN" sz="28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zh-CN" alt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661240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 animBg="1"/>
      <p:bldP spid="38" grpId="0" animBg="1"/>
      <p:bldP spid="45" grpId="0" animBg="1"/>
      <p:bldP spid="45" grpId="1" animBg="1"/>
      <p:bldP spid="47" grpId="0" animBg="1"/>
      <p:bldP spid="51" grpId="0" animBg="1"/>
      <p:bldP spid="51" grpId="1" animBg="1"/>
      <p:bldP spid="52" grpId="0" animBg="1"/>
      <p:bldP spid="56" grpId="0" animBg="1"/>
      <p:bldP spid="46" grpId="0" animBg="1"/>
      <p:bldP spid="13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9BBCCEF-D42F-420B-9CC2-98A9815DB6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Robin Hood Hashing</a:t>
            </a:r>
            <a:endParaRPr lang="zh-CN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22BB0D1-6F5E-4E6D-883B-B9B39DCC89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445289"/>
          </a:xfrm>
        </p:spPr>
        <p:txBody>
          <a:bodyPr>
            <a:normAutofit/>
          </a:bodyPr>
          <a:lstStyle/>
          <a:p>
            <a:pPr marL="446088" indent="-446088">
              <a:lnSpc>
                <a:spcPct val="100000"/>
              </a:lnSpc>
              <a:spcBef>
                <a:spcPts val="1200"/>
              </a:spcBef>
            </a:pPr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Variant of linear hashing that steals slots from "</a:t>
            </a:r>
            <a:r>
              <a:rPr lang="en-US" altLang="zh-CN" b="1" u="sng" dirty="0">
                <a:latin typeface="Arial" panose="020B0604020202020204" pitchFamily="34" charset="0"/>
                <a:cs typeface="Arial" panose="020B0604020202020204" pitchFamily="34" charset="0"/>
              </a:rPr>
              <a:t>rich</a:t>
            </a:r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" keys and give them to "</a:t>
            </a:r>
            <a:r>
              <a:rPr lang="en-US" altLang="zh-CN" b="1" u="sng" dirty="0">
                <a:latin typeface="Arial" panose="020B0604020202020204" pitchFamily="34" charset="0"/>
                <a:cs typeface="Arial" panose="020B0604020202020204" pitchFamily="34" charset="0"/>
              </a:rPr>
              <a:t>poor</a:t>
            </a:r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" keys.</a:t>
            </a:r>
          </a:p>
          <a:p>
            <a:pPr marL="903288" lvl="1" indent="-446088">
              <a:lnSpc>
                <a:spcPct val="100000"/>
              </a:lnSpc>
              <a:spcBef>
                <a:spcPts val="1200"/>
              </a:spcBef>
            </a:pPr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Each key </a:t>
            </a:r>
            <a:r>
              <a:rPr lang="en-US" altLang="zh-CN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tracks</a:t>
            </a:r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 the number of positions they are from where its optimal position in the table.</a:t>
            </a:r>
          </a:p>
          <a:p>
            <a:pPr marL="903288" lvl="1" indent="-446088">
              <a:lnSpc>
                <a:spcPct val="100000"/>
              </a:lnSpc>
              <a:spcBef>
                <a:spcPts val="1200"/>
              </a:spcBef>
            </a:pPr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On insert, a key </a:t>
            </a:r>
            <a:r>
              <a:rPr lang="en-US" altLang="zh-CN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takes</a:t>
            </a:r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 the slot of another key if the first key is farther away from its optimal position than the second key.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2905825-8EE0-4CF0-A05E-CAFDF944FB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D9172B-A99E-44A8-8ED9-23C786B05089}" type="datetime1">
              <a:rPr lang="zh-CN" altLang="en-US" smtClean="0"/>
              <a:t>2024/5/8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ED664A2-5898-4C25-86F3-E969A94A39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Hash Indices</a:t>
            </a: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34B9AF0-AA69-4CFE-BBF2-A55EB4555B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5CA875-76FA-4283-B5BE-070B4D16A27E}" type="slidenum">
              <a:rPr lang="zh-CN" altLang="en-US" smtClean="0"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339818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9BBCCEF-D42F-420B-9CC2-98A9815DB6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Linear Probe Hashing</a:t>
            </a:r>
            <a:endParaRPr lang="zh-CN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2905825-8EE0-4CF0-A05E-CAFDF944FB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ADF8D4-11A8-49D4-B2CD-57E73ED146E7}" type="datetime1">
              <a:rPr lang="zh-CN" altLang="en-US" smtClean="0"/>
              <a:t>2024/5/8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ED664A2-5898-4C25-86F3-E969A94A39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Hash Indices</a:t>
            </a: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34B9AF0-AA69-4CFE-BBF2-A55EB4555B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5CA875-76FA-4283-B5BE-070B4D16A27E}" type="slidenum">
              <a:rPr lang="zh-CN" altLang="en-US" smtClean="0"/>
              <a:t>14</a:t>
            </a:fld>
            <a:endParaRPr lang="zh-CN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18B5510B-F9FE-4636-8DC6-0494DFDA30AA}"/>
              </a:ext>
            </a:extLst>
          </p:cNvPr>
          <p:cNvSpPr/>
          <p:nvPr/>
        </p:nvSpPr>
        <p:spPr>
          <a:xfrm>
            <a:off x="4397183" y="1898985"/>
            <a:ext cx="2150919" cy="4356055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93518398-75F5-4F11-8853-E2A27840AF71}"/>
              </a:ext>
            </a:extLst>
          </p:cNvPr>
          <p:cNvSpPr/>
          <p:nvPr/>
        </p:nvSpPr>
        <p:spPr>
          <a:xfrm>
            <a:off x="4671612" y="2124591"/>
            <a:ext cx="1576839" cy="348883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E5B1A8C-3355-4D86-B84F-389DEA37FE59}"/>
              </a:ext>
            </a:extLst>
          </p:cNvPr>
          <p:cNvSpPr/>
          <p:nvPr/>
        </p:nvSpPr>
        <p:spPr>
          <a:xfrm>
            <a:off x="4671612" y="2555708"/>
            <a:ext cx="1576839" cy="348883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FAF2762F-AC7E-46B1-B5FE-B356695EEBEC}"/>
              </a:ext>
            </a:extLst>
          </p:cNvPr>
          <p:cNvGrpSpPr/>
          <p:nvPr/>
        </p:nvGrpSpPr>
        <p:grpSpPr>
          <a:xfrm>
            <a:off x="1570008" y="2984042"/>
            <a:ext cx="479511" cy="2078954"/>
            <a:chOff x="1626762" y="2964260"/>
            <a:chExt cx="479511" cy="2078954"/>
          </a:xfrm>
        </p:grpSpPr>
        <p:sp>
          <p:nvSpPr>
            <p:cNvPr id="15" name="矩形 14">
              <a:extLst>
                <a:ext uri="{FF2B5EF4-FFF2-40B4-BE49-F238E27FC236}">
                  <a16:creationId xmlns:a16="http://schemas.microsoft.com/office/drawing/2014/main" id="{8D623B01-5A02-49BF-9E11-41C9057BB4EF}"/>
                </a:ext>
              </a:extLst>
            </p:cNvPr>
            <p:cNvSpPr/>
            <p:nvPr/>
          </p:nvSpPr>
          <p:spPr>
            <a:xfrm>
              <a:off x="1626762" y="2964260"/>
              <a:ext cx="479511" cy="348883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</a:t>
              </a:r>
              <a:endParaRPr lang="zh-CN" alt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6" name="矩形 15">
              <a:extLst>
                <a:ext uri="{FF2B5EF4-FFF2-40B4-BE49-F238E27FC236}">
                  <a16:creationId xmlns:a16="http://schemas.microsoft.com/office/drawing/2014/main" id="{D73F444B-A3FA-4509-8C9F-F08FA0320E6F}"/>
                </a:ext>
              </a:extLst>
            </p:cNvPr>
            <p:cNvSpPr/>
            <p:nvPr/>
          </p:nvSpPr>
          <p:spPr>
            <a:xfrm>
              <a:off x="1626762" y="3313143"/>
              <a:ext cx="479511" cy="348883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B</a:t>
              </a:r>
              <a:endParaRPr lang="zh-CN" alt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7" name="矩形 16">
              <a:extLst>
                <a:ext uri="{FF2B5EF4-FFF2-40B4-BE49-F238E27FC236}">
                  <a16:creationId xmlns:a16="http://schemas.microsoft.com/office/drawing/2014/main" id="{C6528756-7EDB-4C32-BAAA-70A1FAE1B1FE}"/>
                </a:ext>
              </a:extLst>
            </p:cNvPr>
            <p:cNvSpPr/>
            <p:nvPr/>
          </p:nvSpPr>
          <p:spPr>
            <a:xfrm>
              <a:off x="1626762" y="3662026"/>
              <a:ext cx="479511" cy="348883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</a:t>
              </a:r>
              <a:endParaRPr lang="zh-CN" alt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8" name="矩形 17">
              <a:extLst>
                <a:ext uri="{FF2B5EF4-FFF2-40B4-BE49-F238E27FC236}">
                  <a16:creationId xmlns:a16="http://schemas.microsoft.com/office/drawing/2014/main" id="{13CC6984-71D3-4CA9-8B6D-3679D91656BE}"/>
                </a:ext>
              </a:extLst>
            </p:cNvPr>
            <p:cNvSpPr/>
            <p:nvPr/>
          </p:nvSpPr>
          <p:spPr>
            <a:xfrm>
              <a:off x="1626762" y="4010909"/>
              <a:ext cx="479511" cy="348883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D</a:t>
              </a:r>
              <a:endParaRPr lang="zh-CN" alt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9" name="矩形 18">
              <a:extLst>
                <a:ext uri="{FF2B5EF4-FFF2-40B4-BE49-F238E27FC236}">
                  <a16:creationId xmlns:a16="http://schemas.microsoft.com/office/drawing/2014/main" id="{6D7435BA-57A0-4D90-A882-0626C23C6328}"/>
                </a:ext>
              </a:extLst>
            </p:cNvPr>
            <p:cNvSpPr/>
            <p:nvPr/>
          </p:nvSpPr>
          <p:spPr>
            <a:xfrm>
              <a:off x="1626762" y="4345448"/>
              <a:ext cx="479511" cy="348883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E</a:t>
              </a:r>
              <a:endParaRPr lang="zh-CN" alt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0" name="矩形 19">
              <a:extLst>
                <a:ext uri="{FF2B5EF4-FFF2-40B4-BE49-F238E27FC236}">
                  <a16:creationId xmlns:a16="http://schemas.microsoft.com/office/drawing/2014/main" id="{4D92A5C0-EEAD-482F-9CA4-FEE8CBC36953}"/>
                </a:ext>
              </a:extLst>
            </p:cNvPr>
            <p:cNvSpPr/>
            <p:nvPr/>
          </p:nvSpPr>
          <p:spPr>
            <a:xfrm>
              <a:off x="1626762" y="4694331"/>
              <a:ext cx="479511" cy="348883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F</a:t>
              </a:r>
              <a:endParaRPr lang="zh-CN" alt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21" name="矩形 20">
            <a:extLst>
              <a:ext uri="{FF2B5EF4-FFF2-40B4-BE49-F238E27FC236}">
                <a16:creationId xmlns:a16="http://schemas.microsoft.com/office/drawing/2014/main" id="{6DD840E3-52F7-4B31-951F-EAAA65C96138}"/>
              </a:ext>
            </a:extLst>
          </p:cNvPr>
          <p:cNvSpPr/>
          <p:nvPr/>
        </p:nvSpPr>
        <p:spPr>
          <a:xfrm>
            <a:off x="1117131" y="2508754"/>
            <a:ext cx="138526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b="1" i="1" dirty="0">
                <a:solidFill>
                  <a:srgbClr val="FF0000"/>
                </a:solidFill>
                <a:latin typeface="Crimson Text"/>
              </a:rPr>
              <a:t>hash(key)</a:t>
            </a:r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EBEE0FE7-9D6B-4D29-BDF3-B9CA93D22A37}"/>
              </a:ext>
            </a:extLst>
          </p:cNvPr>
          <p:cNvSpPr/>
          <p:nvPr/>
        </p:nvSpPr>
        <p:spPr>
          <a:xfrm>
            <a:off x="4671612" y="2992267"/>
            <a:ext cx="1576839" cy="348883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0E14659A-FF36-4453-8718-BED0783632C5}"/>
              </a:ext>
            </a:extLst>
          </p:cNvPr>
          <p:cNvSpPr/>
          <p:nvPr/>
        </p:nvSpPr>
        <p:spPr>
          <a:xfrm>
            <a:off x="4671612" y="3423384"/>
            <a:ext cx="1576839" cy="348883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565DFF02-984A-4389-9B93-32B5BA277C00}"/>
              </a:ext>
            </a:extLst>
          </p:cNvPr>
          <p:cNvSpPr/>
          <p:nvPr/>
        </p:nvSpPr>
        <p:spPr>
          <a:xfrm>
            <a:off x="4671612" y="3865485"/>
            <a:ext cx="1576839" cy="348883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2CBFCFE9-734F-416A-8127-14B0B7529F69}"/>
              </a:ext>
            </a:extLst>
          </p:cNvPr>
          <p:cNvSpPr/>
          <p:nvPr/>
        </p:nvSpPr>
        <p:spPr>
          <a:xfrm>
            <a:off x="4671612" y="4296602"/>
            <a:ext cx="1576839" cy="348883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CC3066AF-4D27-400B-8E01-89B9384B9EC0}"/>
              </a:ext>
            </a:extLst>
          </p:cNvPr>
          <p:cNvSpPr/>
          <p:nvPr/>
        </p:nvSpPr>
        <p:spPr>
          <a:xfrm>
            <a:off x="4671612" y="4765227"/>
            <a:ext cx="1576839" cy="348883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C7DDE335-5BBD-4CF1-B28C-F6384E2014E7}"/>
              </a:ext>
            </a:extLst>
          </p:cNvPr>
          <p:cNvSpPr/>
          <p:nvPr/>
        </p:nvSpPr>
        <p:spPr>
          <a:xfrm>
            <a:off x="4671612" y="5196344"/>
            <a:ext cx="1576839" cy="348883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B22756A1-F97F-49E4-AD70-B9A987FA5999}"/>
              </a:ext>
            </a:extLst>
          </p:cNvPr>
          <p:cNvSpPr/>
          <p:nvPr/>
        </p:nvSpPr>
        <p:spPr>
          <a:xfrm>
            <a:off x="4671612" y="5659806"/>
            <a:ext cx="1576839" cy="348883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A216EC36-24CC-4E8E-9ACB-5E66A90F0A37}"/>
              </a:ext>
            </a:extLst>
          </p:cNvPr>
          <p:cNvSpPr/>
          <p:nvPr/>
        </p:nvSpPr>
        <p:spPr>
          <a:xfrm>
            <a:off x="4671612" y="2988483"/>
            <a:ext cx="1576839" cy="348883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i="1" dirty="0">
                <a:solidFill>
                  <a:srgbClr val="FF0000"/>
                </a:solidFill>
                <a:latin typeface="Crimson Text"/>
              </a:rPr>
              <a:t>hash(A) </a:t>
            </a:r>
            <a:r>
              <a:rPr lang="en-US" altLang="zh-CN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| A </a:t>
            </a:r>
            <a:r>
              <a:rPr lang="en-US" altLang="zh-CN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[0]</a:t>
            </a:r>
            <a:endParaRPr lang="zh-CN" altLang="en-US" b="1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32" name="连接符: 曲线 31">
            <a:extLst>
              <a:ext uri="{FF2B5EF4-FFF2-40B4-BE49-F238E27FC236}">
                <a16:creationId xmlns:a16="http://schemas.microsoft.com/office/drawing/2014/main" id="{CF1924E0-C466-44E5-A565-764DE24C07F7}"/>
              </a:ext>
            </a:extLst>
          </p:cNvPr>
          <p:cNvCxnSpPr>
            <a:cxnSpLocks/>
            <a:stCxn id="15" idx="3"/>
            <a:endCxn id="22" idx="1"/>
          </p:cNvCxnSpPr>
          <p:nvPr/>
        </p:nvCxnSpPr>
        <p:spPr>
          <a:xfrm>
            <a:off x="2049519" y="3158484"/>
            <a:ext cx="2622093" cy="8225"/>
          </a:xfrm>
          <a:prstGeom prst="curvedConnector3">
            <a:avLst/>
          </a:prstGeom>
          <a:ln w="38100">
            <a:solidFill>
              <a:srgbClr val="FF0000"/>
            </a:solidFill>
            <a:headEnd type="oval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连接符: 曲线 34">
            <a:extLst>
              <a:ext uri="{FF2B5EF4-FFF2-40B4-BE49-F238E27FC236}">
                <a16:creationId xmlns:a16="http://schemas.microsoft.com/office/drawing/2014/main" id="{36185462-146F-4D3A-8D23-8CBD3F8DC0AD}"/>
              </a:ext>
            </a:extLst>
          </p:cNvPr>
          <p:cNvCxnSpPr>
            <a:cxnSpLocks/>
            <a:stCxn id="16" idx="3"/>
            <a:endCxn id="11" idx="1"/>
          </p:cNvCxnSpPr>
          <p:nvPr/>
        </p:nvCxnSpPr>
        <p:spPr>
          <a:xfrm flipV="1">
            <a:off x="2049519" y="2299033"/>
            <a:ext cx="2622093" cy="1208334"/>
          </a:xfrm>
          <a:prstGeom prst="curvedConnector3">
            <a:avLst/>
          </a:prstGeom>
          <a:ln w="38100">
            <a:solidFill>
              <a:srgbClr val="FF0000"/>
            </a:solidFill>
            <a:headEnd type="oval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矩形 37">
            <a:extLst>
              <a:ext uri="{FF2B5EF4-FFF2-40B4-BE49-F238E27FC236}">
                <a16:creationId xmlns:a16="http://schemas.microsoft.com/office/drawing/2014/main" id="{04FCD062-97FC-4523-A31E-E8CCB551B546}"/>
              </a:ext>
            </a:extLst>
          </p:cNvPr>
          <p:cNvSpPr/>
          <p:nvPr/>
        </p:nvSpPr>
        <p:spPr>
          <a:xfrm>
            <a:off x="4671611" y="2120060"/>
            <a:ext cx="1576839" cy="348883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i="1" dirty="0">
                <a:solidFill>
                  <a:srgbClr val="FF0000"/>
                </a:solidFill>
                <a:latin typeface="Crimson Text"/>
              </a:rPr>
              <a:t>hash(B) </a:t>
            </a:r>
            <a:r>
              <a:rPr lang="en-US" altLang="zh-CN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| B </a:t>
            </a:r>
            <a:r>
              <a:rPr lang="en-US" altLang="zh-CN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[0]</a:t>
            </a:r>
            <a:endParaRPr lang="zh-CN" altLang="en-US" b="1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39" name="连接符: 曲线 38">
            <a:extLst>
              <a:ext uri="{FF2B5EF4-FFF2-40B4-BE49-F238E27FC236}">
                <a16:creationId xmlns:a16="http://schemas.microsoft.com/office/drawing/2014/main" id="{0E1C5047-58F9-483E-A68B-216D6BA489EE}"/>
              </a:ext>
            </a:extLst>
          </p:cNvPr>
          <p:cNvCxnSpPr>
            <a:cxnSpLocks/>
            <a:stCxn id="17" idx="3"/>
            <a:endCxn id="30" idx="1"/>
          </p:cNvCxnSpPr>
          <p:nvPr/>
        </p:nvCxnSpPr>
        <p:spPr>
          <a:xfrm flipV="1">
            <a:off x="2049519" y="3162925"/>
            <a:ext cx="2622093" cy="693325"/>
          </a:xfrm>
          <a:prstGeom prst="curvedConnector3">
            <a:avLst/>
          </a:prstGeom>
          <a:ln w="38100">
            <a:solidFill>
              <a:srgbClr val="FF0000"/>
            </a:solidFill>
            <a:headEnd type="oval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弧形 44">
            <a:extLst>
              <a:ext uri="{FF2B5EF4-FFF2-40B4-BE49-F238E27FC236}">
                <a16:creationId xmlns:a16="http://schemas.microsoft.com/office/drawing/2014/main" id="{DA15B10F-0869-40FE-AA1A-3A00AE8E322F}"/>
              </a:ext>
            </a:extLst>
          </p:cNvPr>
          <p:cNvSpPr/>
          <p:nvPr/>
        </p:nvSpPr>
        <p:spPr>
          <a:xfrm>
            <a:off x="6002057" y="3187053"/>
            <a:ext cx="453043" cy="460651"/>
          </a:xfrm>
          <a:prstGeom prst="arc">
            <a:avLst>
              <a:gd name="adj1" fmla="val 16360982"/>
              <a:gd name="adj2" fmla="val 5040292"/>
            </a:avLst>
          </a:prstGeom>
          <a:ln w="38100">
            <a:solidFill>
              <a:srgbClr val="FF0000"/>
            </a:solidFill>
            <a:headEnd type="oval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7" name="矩形 46">
            <a:extLst>
              <a:ext uri="{FF2B5EF4-FFF2-40B4-BE49-F238E27FC236}">
                <a16:creationId xmlns:a16="http://schemas.microsoft.com/office/drawing/2014/main" id="{1B417A10-6B23-40D8-A05F-73301AC359DF}"/>
              </a:ext>
            </a:extLst>
          </p:cNvPr>
          <p:cNvSpPr/>
          <p:nvPr/>
        </p:nvSpPr>
        <p:spPr>
          <a:xfrm>
            <a:off x="4671611" y="3437874"/>
            <a:ext cx="1576839" cy="348883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i="1" dirty="0">
                <a:solidFill>
                  <a:srgbClr val="FF0000"/>
                </a:solidFill>
                <a:latin typeface="Crimson Text"/>
              </a:rPr>
              <a:t>hash(C) </a:t>
            </a:r>
            <a:r>
              <a:rPr lang="en-US" altLang="zh-CN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| C </a:t>
            </a:r>
            <a:r>
              <a:rPr lang="en-US" altLang="zh-CN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[1]</a:t>
            </a:r>
            <a:endParaRPr lang="zh-CN" altLang="en-US" b="1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48" name="连接符: 曲线 47">
            <a:extLst>
              <a:ext uri="{FF2B5EF4-FFF2-40B4-BE49-F238E27FC236}">
                <a16:creationId xmlns:a16="http://schemas.microsoft.com/office/drawing/2014/main" id="{4CAB0068-4A08-4509-AECA-706268D4E6EA}"/>
              </a:ext>
            </a:extLst>
          </p:cNvPr>
          <p:cNvCxnSpPr>
            <a:cxnSpLocks/>
            <a:stCxn id="18" idx="3"/>
            <a:endCxn id="47" idx="1"/>
          </p:cNvCxnSpPr>
          <p:nvPr/>
        </p:nvCxnSpPr>
        <p:spPr>
          <a:xfrm flipV="1">
            <a:off x="2049519" y="3612316"/>
            <a:ext cx="2622092" cy="592817"/>
          </a:xfrm>
          <a:prstGeom prst="curvedConnector3">
            <a:avLst/>
          </a:prstGeom>
          <a:ln w="38100">
            <a:solidFill>
              <a:srgbClr val="FF0000"/>
            </a:solidFill>
            <a:headEnd type="oval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弧形 50">
            <a:extLst>
              <a:ext uri="{FF2B5EF4-FFF2-40B4-BE49-F238E27FC236}">
                <a16:creationId xmlns:a16="http://schemas.microsoft.com/office/drawing/2014/main" id="{2810945D-D04A-45A7-BB67-A4AD76A2FC97}"/>
              </a:ext>
            </a:extLst>
          </p:cNvPr>
          <p:cNvSpPr/>
          <p:nvPr/>
        </p:nvSpPr>
        <p:spPr>
          <a:xfrm>
            <a:off x="6009707" y="3593294"/>
            <a:ext cx="453043" cy="460651"/>
          </a:xfrm>
          <a:prstGeom prst="arc">
            <a:avLst>
              <a:gd name="adj1" fmla="val 16360982"/>
              <a:gd name="adj2" fmla="val 5040292"/>
            </a:avLst>
          </a:prstGeom>
          <a:ln w="38100">
            <a:solidFill>
              <a:srgbClr val="FF0000"/>
            </a:solidFill>
            <a:headEnd type="oval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2" name="矩形 51">
            <a:extLst>
              <a:ext uri="{FF2B5EF4-FFF2-40B4-BE49-F238E27FC236}">
                <a16:creationId xmlns:a16="http://schemas.microsoft.com/office/drawing/2014/main" id="{5C5F963D-0BB6-4700-9AC7-71AEC2BF2DEC}"/>
              </a:ext>
            </a:extLst>
          </p:cNvPr>
          <p:cNvSpPr/>
          <p:nvPr/>
        </p:nvSpPr>
        <p:spPr>
          <a:xfrm>
            <a:off x="4671611" y="3865485"/>
            <a:ext cx="1576839" cy="348883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i="1" dirty="0">
                <a:solidFill>
                  <a:srgbClr val="FF0000"/>
                </a:solidFill>
                <a:latin typeface="Crimson Text"/>
              </a:rPr>
              <a:t>hash(D) </a:t>
            </a:r>
            <a:r>
              <a:rPr lang="en-US" altLang="zh-CN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| D </a:t>
            </a:r>
            <a:r>
              <a:rPr lang="en-US" altLang="zh-CN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[1]</a:t>
            </a:r>
            <a:endParaRPr lang="zh-CN" altLang="en-US" b="1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53" name="连接符: 曲线 52">
            <a:extLst>
              <a:ext uri="{FF2B5EF4-FFF2-40B4-BE49-F238E27FC236}">
                <a16:creationId xmlns:a16="http://schemas.microsoft.com/office/drawing/2014/main" id="{38BDE961-9D7B-4CB8-A7B7-246E7B252C98}"/>
              </a:ext>
            </a:extLst>
          </p:cNvPr>
          <p:cNvCxnSpPr>
            <a:cxnSpLocks/>
            <a:stCxn id="19" idx="3"/>
            <a:endCxn id="30" idx="1"/>
          </p:cNvCxnSpPr>
          <p:nvPr/>
        </p:nvCxnSpPr>
        <p:spPr>
          <a:xfrm flipV="1">
            <a:off x="2049519" y="3162925"/>
            <a:ext cx="2622093" cy="1376747"/>
          </a:xfrm>
          <a:prstGeom prst="curvedConnector3">
            <a:avLst/>
          </a:prstGeom>
          <a:ln w="38100">
            <a:solidFill>
              <a:srgbClr val="FF0000"/>
            </a:solidFill>
            <a:headEnd type="oval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矩形 7">
            <a:extLst>
              <a:ext uri="{FF2B5EF4-FFF2-40B4-BE49-F238E27FC236}">
                <a16:creationId xmlns:a16="http://schemas.microsoft.com/office/drawing/2014/main" id="{16326B57-BE0B-4301-906B-2659587636C4}"/>
              </a:ext>
            </a:extLst>
          </p:cNvPr>
          <p:cNvSpPr/>
          <p:nvPr/>
        </p:nvSpPr>
        <p:spPr>
          <a:xfrm>
            <a:off x="6599342" y="3027964"/>
            <a:ext cx="323338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b="1" i="1" dirty="0">
                <a:solidFill>
                  <a:srgbClr val="F03E42"/>
                </a:solidFill>
                <a:latin typeface="CrimsonText-BoldItalic"/>
              </a:rPr>
              <a:t># of "Jumps" From First Position</a:t>
            </a:r>
            <a:endParaRPr lang="zh-CN" altLang="en-US" dirty="0"/>
          </a:p>
        </p:txBody>
      </p:sp>
      <p:sp>
        <p:nvSpPr>
          <p:cNvPr id="9" name="箭头: 右 8">
            <a:extLst>
              <a:ext uri="{FF2B5EF4-FFF2-40B4-BE49-F238E27FC236}">
                <a16:creationId xmlns:a16="http://schemas.microsoft.com/office/drawing/2014/main" id="{ED3BE593-D617-46D0-8FF9-FCC32B963637}"/>
              </a:ext>
            </a:extLst>
          </p:cNvPr>
          <p:cNvSpPr/>
          <p:nvPr/>
        </p:nvSpPr>
        <p:spPr>
          <a:xfrm rot="10800000">
            <a:off x="6183467" y="3089284"/>
            <a:ext cx="415875" cy="229952"/>
          </a:xfrm>
          <a:prstGeom prst="right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CFDA8FFD-64FD-4E4E-9C19-FF70A253E31B}"/>
              </a:ext>
            </a:extLst>
          </p:cNvPr>
          <p:cNvSpPr/>
          <p:nvPr/>
        </p:nvSpPr>
        <p:spPr>
          <a:xfrm>
            <a:off x="6622222" y="3011056"/>
            <a:ext cx="131638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b="1" i="1" dirty="0">
                <a:solidFill>
                  <a:srgbClr val="F03E42"/>
                </a:solidFill>
                <a:latin typeface="CrimsonText-BoldItalic"/>
              </a:rPr>
              <a:t>A[0] == C[0]</a:t>
            </a:r>
            <a:endParaRPr lang="zh-CN" altLang="en-US" dirty="0"/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C44DB515-FB14-4B49-96D7-6D544C6AD163}"/>
              </a:ext>
            </a:extLst>
          </p:cNvPr>
          <p:cNvSpPr/>
          <p:nvPr/>
        </p:nvSpPr>
        <p:spPr>
          <a:xfrm>
            <a:off x="6599342" y="3454288"/>
            <a:ext cx="120738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b="1" i="1" dirty="0">
                <a:solidFill>
                  <a:srgbClr val="F03E42"/>
                </a:solidFill>
                <a:latin typeface="CrimsonText-BoldItalic"/>
              </a:rPr>
              <a:t>C[1] &gt; D[0]</a:t>
            </a:r>
            <a:endParaRPr lang="zh-CN" altLang="en-US" dirty="0"/>
          </a:p>
        </p:txBody>
      </p:sp>
      <p:sp>
        <p:nvSpPr>
          <p:cNvPr id="49" name="矩形 48">
            <a:extLst>
              <a:ext uri="{FF2B5EF4-FFF2-40B4-BE49-F238E27FC236}">
                <a16:creationId xmlns:a16="http://schemas.microsoft.com/office/drawing/2014/main" id="{AA80D035-654C-460E-90A0-5D5E2CD5378B}"/>
              </a:ext>
            </a:extLst>
          </p:cNvPr>
          <p:cNvSpPr/>
          <p:nvPr/>
        </p:nvSpPr>
        <p:spPr>
          <a:xfrm>
            <a:off x="6626229" y="3011991"/>
            <a:ext cx="130837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b="1" i="1" dirty="0">
                <a:solidFill>
                  <a:srgbClr val="F03E42"/>
                </a:solidFill>
                <a:latin typeface="CrimsonText-BoldItalic"/>
              </a:rPr>
              <a:t>A[0] == E[0]</a:t>
            </a:r>
            <a:endParaRPr lang="zh-CN" altLang="en-US" dirty="0"/>
          </a:p>
        </p:txBody>
      </p:sp>
      <p:sp>
        <p:nvSpPr>
          <p:cNvPr id="50" name="矩形 49">
            <a:extLst>
              <a:ext uri="{FF2B5EF4-FFF2-40B4-BE49-F238E27FC236}">
                <a16:creationId xmlns:a16="http://schemas.microsoft.com/office/drawing/2014/main" id="{0AFA0A94-2AD3-4CB3-B1B8-03300D0ACF50}"/>
              </a:ext>
            </a:extLst>
          </p:cNvPr>
          <p:cNvSpPr/>
          <p:nvPr/>
        </p:nvSpPr>
        <p:spPr>
          <a:xfrm>
            <a:off x="6597062" y="3476041"/>
            <a:ext cx="128913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b="1" i="1" dirty="0">
                <a:solidFill>
                  <a:srgbClr val="F03E42"/>
                </a:solidFill>
                <a:latin typeface="CrimsonText-BoldItalic"/>
              </a:rPr>
              <a:t>C[1] == E[1]</a:t>
            </a:r>
            <a:endParaRPr lang="zh-CN" altLang="en-US" dirty="0"/>
          </a:p>
        </p:txBody>
      </p:sp>
      <p:sp>
        <p:nvSpPr>
          <p:cNvPr id="54" name="矩形 53">
            <a:extLst>
              <a:ext uri="{FF2B5EF4-FFF2-40B4-BE49-F238E27FC236}">
                <a16:creationId xmlns:a16="http://schemas.microsoft.com/office/drawing/2014/main" id="{7021708F-1AF9-4120-BA2E-C07B879DFC2D}"/>
              </a:ext>
            </a:extLst>
          </p:cNvPr>
          <p:cNvSpPr/>
          <p:nvPr/>
        </p:nvSpPr>
        <p:spPr>
          <a:xfrm>
            <a:off x="6603349" y="3892346"/>
            <a:ext cx="119936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b="1" i="1" dirty="0">
                <a:solidFill>
                  <a:srgbClr val="F03E42"/>
                </a:solidFill>
                <a:latin typeface="CrimsonText-BoldItalic"/>
              </a:rPr>
              <a:t>D[1] &lt; E[2]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7803855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 animBg="1"/>
      <p:bldP spid="38" grpId="0" animBg="1"/>
      <p:bldP spid="45" grpId="0" animBg="1"/>
      <p:bldP spid="45" grpId="1" animBg="1"/>
      <p:bldP spid="47" grpId="0" animBg="1"/>
      <p:bldP spid="51" grpId="0" animBg="1"/>
      <p:bldP spid="51" grpId="1" animBg="1"/>
      <p:bldP spid="52" grpId="0" animBg="1"/>
      <p:bldP spid="8" grpId="0"/>
      <p:bldP spid="8" grpId="1"/>
      <p:bldP spid="9" grpId="0" animBg="1"/>
      <p:bldP spid="9" grpId="1" animBg="1"/>
      <p:bldP spid="37" grpId="0"/>
      <p:bldP spid="37" grpId="1"/>
      <p:bldP spid="42" grpId="0"/>
      <p:bldP spid="42" grpId="1"/>
      <p:bldP spid="49" grpId="0"/>
      <p:bldP spid="50" grpId="0"/>
      <p:bldP spid="54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矩形 49">
            <a:extLst>
              <a:ext uri="{FF2B5EF4-FFF2-40B4-BE49-F238E27FC236}">
                <a16:creationId xmlns:a16="http://schemas.microsoft.com/office/drawing/2014/main" id="{0AFA0A94-2AD3-4CB3-B1B8-03300D0ACF50}"/>
              </a:ext>
            </a:extLst>
          </p:cNvPr>
          <p:cNvSpPr/>
          <p:nvPr/>
        </p:nvSpPr>
        <p:spPr>
          <a:xfrm>
            <a:off x="6597062" y="3476041"/>
            <a:ext cx="128913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b="1" i="1" dirty="0">
                <a:solidFill>
                  <a:srgbClr val="F03E42"/>
                </a:solidFill>
                <a:latin typeface="CrimsonText-BoldItalic"/>
              </a:rPr>
              <a:t>C[1] == E[1]</a:t>
            </a:r>
            <a:endParaRPr lang="zh-CN" altLang="en-US" dirty="0"/>
          </a:p>
        </p:txBody>
      </p:sp>
      <p:sp>
        <p:nvSpPr>
          <p:cNvPr id="49" name="矩形 48">
            <a:extLst>
              <a:ext uri="{FF2B5EF4-FFF2-40B4-BE49-F238E27FC236}">
                <a16:creationId xmlns:a16="http://schemas.microsoft.com/office/drawing/2014/main" id="{AA80D035-654C-460E-90A0-5D5E2CD5378B}"/>
              </a:ext>
            </a:extLst>
          </p:cNvPr>
          <p:cNvSpPr/>
          <p:nvPr/>
        </p:nvSpPr>
        <p:spPr>
          <a:xfrm>
            <a:off x="6626229" y="3011991"/>
            <a:ext cx="130837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b="1" i="1" dirty="0">
                <a:solidFill>
                  <a:srgbClr val="F03E42"/>
                </a:solidFill>
                <a:latin typeface="CrimsonText-BoldItalic"/>
              </a:rPr>
              <a:t>A[0] == E[0]</a:t>
            </a:r>
            <a:endParaRPr lang="zh-CN" altLang="en-US" dirty="0"/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A9BBCCEF-D42F-420B-9CC2-98A9815DB6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Linear Probe Hashing</a:t>
            </a:r>
            <a:endParaRPr lang="zh-CN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2905825-8EE0-4CF0-A05E-CAFDF944FB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067BA8-C8F9-4019-A749-EE5F6AD345CC}" type="datetime1">
              <a:rPr lang="zh-CN" altLang="en-US" smtClean="0"/>
              <a:t>2024/5/8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ED664A2-5898-4C25-86F3-E969A94A39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Hash Indices</a:t>
            </a: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34B9AF0-AA69-4CFE-BBF2-A55EB4555B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5CA875-76FA-4283-B5BE-070B4D16A27E}" type="slidenum">
              <a:rPr lang="zh-CN" altLang="en-US" smtClean="0"/>
              <a:t>15</a:t>
            </a:fld>
            <a:endParaRPr lang="zh-CN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18B5510B-F9FE-4636-8DC6-0494DFDA30AA}"/>
              </a:ext>
            </a:extLst>
          </p:cNvPr>
          <p:cNvSpPr/>
          <p:nvPr/>
        </p:nvSpPr>
        <p:spPr>
          <a:xfrm>
            <a:off x="4397183" y="1898985"/>
            <a:ext cx="2150919" cy="4356055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93518398-75F5-4F11-8853-E2A27840AF71}"/>
              </a:ext>
            </a:extLst>
          </p:cNvPr>
          <p:cNvSpPr/>
          <p:nvPr/>
        </p:nvSpPr>
        <p:spPr>
          <a:xfrm>
            <a:off x="4671612" y="2124591"/>
            <a:ext cx="1576839" cy="348883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E5B1A8C-3355-4D86-B84F-389DEA37FE59}"/>
              </a:ext>
            </a:extLst>
          </p:cNvPr>
          <p:cNvSpPr/>
          <p:nvPr/>
        </p:nvSpPr>
        <p:spPr>
          <a:xfrm>
            <a:off x="4671612" y="2555708"/>
            <a:ext cx="1576839" cy="348883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FAF2762F-AC7E-46B1-B5FE-B356695EEBEC}"/>
              </a:ext>
            </a:extLst>
          </p:cNvPr>
          <p:cNvGrpSpPr/>
          <p:nvPr/>
        </p:nvGrpSpPr>
        <p:grpSpPr>
          <a:xfrm>
            <a:off x="1570008" y="2984042"/>
            <a:ext cx="479511" cy="2078954"/>
            <a:chOff x="1626762" y="2964260"/>
            <a:chExt cx="479511" cy="2078954"/>
          </a:xfrm>
        </p:grpSpPr>
        <p:sp>
          <p:nvSpPr>
            <p:cNvPr id="15" name="矩形 14">
              <a:extLst>
                <a:ext uri="{FF2B5EF4-FFF2-40B4-BE49-F238E27FC236}">
                  <a16:creationId xmlns:a16="http://schemas.microsoft.com/office/drawing/2014/main" id="{8D623B01-5A02-49BF-9E11-41C9057BB4EF}"/>
                </a:ext>
              </a:extLst>
            </p:cNvPr>
            <p:cNvSpPr/>
            <p:nvPr/>
          </p:nvSpPr>
          <p:spPr>
            <a:xfrm>
              <a:off x="1626762" y="2964260"/>
              <a:ext cx="479511" cy="348883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</a:t>
              </a:r>
              <a:endParaRPr lang="zh-CN" alt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6" name="矩形 15">
              <a:extLst>
                <a:ext uri="{FF2B5EF4-FFF2-40B4-BE49-F238E27FC236}">
                  <a16:creationId xmlns:a16="http://schemas.microsoft.com/office/drawing/2014/main" id="{D73F444B-A3FA-4509-8C9F-F08FA0320E6F}"/>
                </a:ext>
              </a:extLst>
            </p:cNvPr>
            <p:cNvSpPr/>
            <p:nvPr/>
          </p:nvSpPr>
          <p:spPr>
            <a:xfrm>
              <a:off x="1626762" y="3313143"/>
              <a:ext cx="479511" cy="348883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B</a:t>
              </a:r>
              <a:endParaRPr lang="zh-CN" alt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7" name="矩形 16">
              <a:extLst>
                <a:ext uri="{FF2B5EF4-FFF2-40B4-BE49-F238E27FC236}">
                  <a16:creationId xmlns:a16="http://schemas.microsoft.com/office/drawing/2014/main" id="{C6528756-7EDB-4C32-BAAA-70A1FAE1B1FE}"/>
                </a:ext>
              </a:extLst>
            </p:cNvPr>
            <p:cNvSpPr/>
            <p:nvPr/>
          </p:nvSpPr>
          <p:spPr>
            <a:xfrm>
              <a:off x="1626762" y="3662026"/>
              <a:ext cx="479511" cy="348883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</a:t>
              </a:r>
              <a:endParaRPr lang="zh-CN" alt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8" name="矩形 17">
              <a:extLst>
                <a:ext uri="{FF2B5EF4-FFF2-40B4-BE49-F238E27FC236}">
                  <a16:creationId xmlns:a16="http://schemas.microsoft.com/office/drawing/2014/main" id="{13CC6984-71D3-4CA9-8B6D-3679D91656BE}"/>
                </a:ext>
              </a:extLst>
            </p:cNvPr>
            <p:cNvSpPr/>
            <p:nvPr/>
          </p:nvSpPr>
          <p:spPr>
            <a:xfrm>
              <a:off x="1626762" y="4010909"/>
              <a:ext cx="479511" cy="348883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D</a:t>
              </a:r>
              <a:endParaRPr lang="zh-CN" alt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9" name="矩形 18">
              <a:extLst>
                <a:ext uri="{FF2B5EF4-FFF2-40B4-BE49-F238E27FC236}">
                  <a16:creationId xmlns:a16="http://schemas.microsoft.com/office/drawing/2014/main" id="{6D7435BA-57A0-4D90-A882-0626C23C6328}"/>
                </a:ext>
              </a:extLst>
            </p:cNvPr>
            <p:cNvSpPr/>
            <p:nvPr/>
          </p:nvSpPr>
          <p:spPr>
            <a:xfrm>
              <a:off x="1626762" y="4345448"/>
              <a:ext cx="479511" cy="348883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E</a:t>
              </a:r>
              <a:endParaRPr lang="zh-CN" alt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0" name="矩形 19">
              <a:extLst>
                <a:ext uri="{FF2B5EF4-FFF2-40B4-BE49-F238E27FC236}">
                  <a16:creationId xmlns:a16="http://schemas.microsoft.com/office/drawing/2014/main" id="{4D92A5C0-EEAD-482F-9CA4-FEE8CBC36953}"/>
                </a:ext>
              </a:extLst>
            </p:cNvPr>
            <p:cNvSpPr/>
            <p:nvPr/>
          </p:nvSpPr>
          <p:spPr>
            <a:xfrm>
              <a:off x="1626762" y="4694331"/>
              <a:ext cx="479511" cy="348883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F</a:t>
              </a:r>
              <a:endParaRPr lang="zh-CN" alt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21" name="矩形 20">
            <a:extLst>
              <a:ext uri="{FF2B5EF4-FFF2-40B4-BE49-F238E27FC236}">
                <a16:creationId xmlns:a16="http://schemas.microsoft.com/office/drawing/2014/main" id="{6DD840E3-52F7-4B31-951F-EAAA65C96138}"/>
              </a:ext>
            </a:extLst>
          </p:cNvPr>
          <p:cNvSpPr/>
          <p:nvPr/>
        </p:nvSpPr>
        <p:spPr>
          <a:xfrm>
            <a:off x="1117131" y="2508754"/>
            <a:ext cx="138526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b="1" i="1" dirty="0">
                <a:solidFill>
                  <a:srgbClr val="FF0000"/>
                </a:solidFill>
                <a:latin typeface="Crimson Text"/>
              </a:rPr>
              <a:t>hash(key)</a:t>
            </a:r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EBEE0FE7-9D6B-4D29-BDF3-B9CA93D22A37}"/>
              </a:ext>
            </a:extLst>
          </p:cNvPr>
          <p:cNvSpPr/>
          <p:nvPr/>
        </p:nvSpPr>
        <p:spPr>
          <a:xfrm>
            <a:off x="4671612" y="2992267"/>
            <a:ext cx="1576839" cy="348883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0E14659A-FF36-4453-8718-BED0783632C5}"/>
              </a:ext>
            </a:extLst>
          </p:cNvPr>
          <p:cNvSpPr/>
          <p:nvPr/>
        </p:nvSpPr>
        <p:spPr>
          <a:xfrm>
            <a:off x="4671612" y="3423384"/>
            <a:ext cx="1576839" cy="348883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565DFF02-984A-4389-9B93-32B5BA277C00}"/>
              </a:ext>
            </a:extLst>
          </p:cNvPr>
          <p:cNvSpPr/>
          <p:nvPr/>
        </p:nvSpPr>
        <p:spPr>
          <a:xfrm>
            <a:off x="4671612" y="3865485"/>
            <a:ext cx="1576839" cy="348883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2CBFCFE9-734F-416A-8127-14B0B7529F69}"/>
              </a:ext>
            </a:extLst>
          </p:cNvPr>
          <p:cNvSpPr/>
          <p:nvPr/>
        </p:nvSpPr>
        <p:spPr>
          <a:xfrm>
            <a:off x="4671612" y="4296602"/>
            <a:ext cx="1576839" cy="348883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CC3066AF-4D27-400B-8E01-89B9384B9EC0}"/>
              </a:ext>
            </a:extLst>
          </p:cNvPr>
          <p:cNvSpPr/>
          <p:nvPr/>
        </p:nvSpPr>
        <p:spPr>
          <a:xfrm>
            <a:off x="4671612" y="4765227"/>
            <a:ext cx="1576839" cy="348883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C7DDE335-5BBD-4CF1-B28C-F6384E2014E7}"/>
              </a:ext>
            </a:extLst>
          </p:cNvPr>
          <p:cNvSpPr/>
          <p:nvPr/>
        </p:nvSpPr>
        <p:spPr>
          <a:xfrm>
            <a:off x="4671612" y="5196344"/>
            <a:ext cx="1576839" cy="348883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B22756A1-F97F-49E4-AD70-B9A987FA5999}"/>
              </a:ext>
            </a:extLst>
          </p:cNvPr>
          <p:cNvSpPr/>
          <p:nvPr/>
        </p:nvSpPr>
        <p:spPr>
          <a:xfrm>
            <a:off x="4671612" y="5659806"/>
            <a:ext cx="1576839" cy="348883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A216EC36-24CC-4E8E-9ACB-5E66A90F0A37}"/>
              </a:ext>
            </a:extLst>
          </p:cNvPr>
          <p:cNvSpPr/>
          <p:nvPr/>
        </p:nvSpPr>
        <p:spPr>
          <a:xfrm>
            <a:off x="4671612" y="2988483"/>
            <a:ext cx="1576839" cy="348883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i="1" dirty="0">
                <a:solidFill>
                  <a:srgbClr val="FF0000"/>
                </a:solidFill>
                <a:latin typeface="Crimson Text"/>
              </a:rPr>
              <a:t>hash(A) </a:t>
            </a:r>
            <a:r>
              <a:rPr lang="en-US" altLang="zh-CN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| A </a:t>
            </a:r>
            <a:r>
              <a:rPr lang="en-US" altLang="zh-CN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[0]</a:t>
            </a:r>
            <a:endParaRPr lang="zh-CN" altLang="en-US" b="1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31" name="连接符: 曲线 30">
            <a:extLst>
              <a:ext uri="{FF2B5EF4-FFF2-40B4-BE49-F238E27FC236}">
                <a16:creationId xmlns:a16="http://schemas.microsoft.com/office/drawing/2014/main" id="{E3620E06-0AA4-47EA-A822-6584D61D869D}"/>
              </a:ext>
            </a:extLst>
          </p:cNvPr>
          <p:cNvCxnSpPr>
            <a:cxnSpLocks/>
            <a:stCxn id="20" idx="3"/>
            <a:endCxn id="52" idx="1"/>
          </p:cNvCxnSpPr>
          <p:nvPr/>
        </p:nvCxnSpPr>
        <p:spPr>
          <a:xfrm flipV="1">
            <a:off x="2049519" y="4469627"/>
            <a:ext cx="2622091" cy="418928"/>
          </a:xfrm>
          <a:prstGeom prst="curvedConnector3">
            <a:avLst/>
          </a:prstGeom>
          <a:ln w="38100">
            <a:solidFill>
              <a:srgbClr val="FF0000"/>
            </a:solidFill>
            <a:headEnd type="oval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矩形 37">
            <a:extLst>
              <a:ext uri="{FF2B5EF4-FFF2-40B4-BE49-F238E27FC236}">
                <a16:creationId xmlns:a16="http://schemas.microsoft.com/office/drawing/2014/main" id="{04FCD062-97FC-4523-A31E-E8CCB551B546}"/>
              </a:ext>
            </a:extLst>
          </p:cNvPr>
          <p:cNvSpPr/>
          <p:nvPr/>
        </p:nvSpPr>
        <p:spPr>
          <a:xfrm>
            <a:off x="4671611" y="2120060"/>
            <a:ext cx="1576839" cy="348883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i="1" dirty="0">
                <a:solidFill>
                  <a:srgbClr val="FF0000"/>
                </a:solidFill>
                <a:latin typeface="Crimson Text"/>
              </a:rPr>
              <a:t>hash(B) </a:t>
            </a:r>
            <a:r>
              <a:rPr lang="en-US" altLang="zh-CN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| B </a:t>
            </a:r>
            <a:r>
              <a:rPr lang="en-US" altLang="zh-CN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[0]</a:t>
            </a:r>
            <a:endParaRPr lang="zh-CN" altLang="en-US" b="1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7" name="矩形 46">
            <a:extLst>
              <a:ext uri="{FF2B5EF4-FFF2-40B4-BE49-F238E27FC236}">
                <a16:creationId xmlns:a16="http://schemas.microsoft.com/office/drawing/2014/main" id="{1B417A10-6B23-40D8-A05F-73301AC359DF}"/>
              </a:ext>
            </a:extLst>
          </p:cNvPr>
          <p:cNvSpPr/>
          <p:nvPr/>
        </p:nvSpPr>
        <p:spPr>
          <a:xfrm>
            <a:off x="4671611" y="3437874"/>
            <a:ext cx="1576839" cy="348883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i="1" dirty="0">
                <a:solidFill>
                  <a:srgbClr val="FF0000"/>
                </a:solidFill>
                <a:latin typeface="Crimson Text"/>
              </a:rPr>
              <a:t>hash(C) </a:t>
            </a:r>
            <a:r>
              <a:rPr lang="en-US" altLang="zh-CN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| C </a:t>
            </a:r>
            <a:r>
              <a:rPr lang="en-US" altLang="zh-CN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[1]</a:t>
            </a:r>
            <a:endParaRPr lang="zh-CN" altLang="en-US" b="1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2" name="矩形 51">
            <a:extLst>
              <a:ext uri="{FF2B5EF4-FFF2-40B4-BE49-F238E27FC236}">
                <a16:creationId xmlns:a16="http://schemas.microsoft.com/office/drawing/2014/main" id="{5C5F963D-0BB6-4700-9AC7-71AEC2BF2DEC}"/>
              </a:ext>
            </a:extLst>
          </p:cNvPr>
          <p:cNvSpPr/>
          <p:nvPr/>
        </p:nvSpPr>
        <p:spPr>
          <a:xfrm>
            <a:off x="4671610" y="4295185"/>
            <a:ext cx="1576839" cy="348883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i="1" dirty="0">
                <a:solidFill>
                  <a:srgbClr val="FF0000"/>
                </a:solidFill>
                <a:latin typeface="Crimson Text"/>
              </a:rPr>
              <a:t>hash(D) </a:t>
            </a:r>
            <a:r>
              <a:rPr lang="en-US" altLang="zh-CN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| D </a:t>
            </a:r>
            <a:r>
              <a:rPr lang="en-US" altLang="zh-CN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[2]</a:t>
            </a:r>
            <a:endParaRPr lang="zh-CN" altLang="en-US" b="1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53" name="连接符: 曲线 52">
            <a:extLst>
              <a:ext uri="{FF2B5EF4-FFF2-40B4-BE49-F238E27FC236}">
                <a16:creationId xmlns:a16="http://schemas.microsoft.com/office/drawing/2014/main" id="{38BDE961-9D7B-4CB8-A7B7-246E7B252C98}"/>
              </a:ext>
            </a:extLst>
          </p:cNvPr>
          <p:cNvCxnSpPr>
            <a:cxnSpLocks/>
            <a:stCxn id="19" idx="3"/>
            <a:endCxn id="30" idx="1"/>
          </p:cNvCxnSpPr>
          <p:nvPr/>
        </p:nvCxnSpPr>
        <p:spPr>
          <a:xfrm flipV="1">
            <a:off x="2049519" y="3162925"/>
            <a:ext cx="2622093" cy="1376747"/>
          </a:xfrm>
          <a:prstGeom prst="curvedConnector3">
            <a:avLst/>
          </a:prstGeom>
          <a:ln w="38100">
            <a:solidFill>
              <a:srgbClr val="FF0000"/>
            </a:solidFill>
            <a:headEnd type="oval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矩形 55">
            <a:extLst>
              <a:ext uri="{FF2B5EF4-FFF2-40B4-BE49-F238E27FC236}">
                <a16:creationId xmlns:a16="http://schemas.microsoft.com/office/drawing/2014/main" id="{B79BE5CE-EA31-46B6-B1D4-122FADDBCF17}"/>
              </a:ext>
            </a:extLst>
          </p:cNvPr>
          <p:cNvSpPr/>
          <p:nvPr/>
        </p:nvSpPr>
        <p:spPr>
          <a:xfrm>
            <a:off x="4663483" y="3863193"/>
            <a:ext cx="1576839" cy="348883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i="1" dirty="0">
                <a:solidFill>
                  <a:srgbClr val="FF0000"/>
                </a:solidFill>
                <a:latin typeface="Crimson Text"/>
              </a:rPr>
              <a:t>hash(E) </a:t>
            </a:r>
            <a:r>
              <a:rPr lang="en-US" altLang="zh-CN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| E </a:t>
            </a:r>
            <a:r>
              <a:rPr lang="en-US" altLang="zh-CN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[2]</a:t>
            </a:r>
            <a:endParaRPr lang="zh-CN" altLang="en-US" b="1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6" name="弧形 45">
            <a:extLst>
              <a:ext uri="{FF2B5EF4-FFF2-40B4-BE49-F238E27FC236}">
                <a16:creationId xmlns:a16="http://schemas.microsoft.com/office/drawing/2014/main" id="{8F99A6FC-DDE3-4E46-BB3F-0308A26D8A5C}"/>
              </a:ext>
            </a:extLst>
          </p:cNvPr>
          <p:cNvSpPr/>
          <p:nvPr/>
        </p:nvSpPr>
        <p:spPr>
          <a:xfrm>
            <a:off x="6013800" y="4476264"/>
            <a:ext cx="453043" cy="460651"/>
          </a:xfrm>
          <a:prstGeom prst="arc">
            <a:avLst>
              <a:gd name="adj1" fmla="val 16360982"/>
              <a:gd name="adj2" fmla="val 5040292"/>
            </a:avLst>
          </a:prstGeom>
          <a:ln w="38100">
            <a:solidFill>
              <a:srgbClr val="FF0000"/>
            </a:solidFill>
            <a:headEnd type="oval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8FE51C56-1F9F-4947-BC04-7C847FC4A15B}"/>
              </a:ext>
            </a:extLst>
          </p:cNvPr>
          <p:cNvSpPr/>
          <p:nvPr/>
        </p:nvSpPr>
        <p:spPr>
          <a:xfrm>
            <a:off x="4663482" y="4775036"/>
            <a:ext cx="1576839" cy="348883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i="1" dirty="0">
                <a:solidFill>
                  <a:srgbClr val="FF0000"/>
                </a:solidFill>
                <a:latin typeface="Crimson Text"/>
              </a:rPr>
              <a:t>hash(F) </a:t>
            </a:r>
            <a:r>
              <a:rPr lang="en-US" altLang="zh-CN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| F </a:t>
            </a:r>
            <a:r>
              <a:rPr lang="en-US" altLang="zh-CN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[1]</a:t>
            </a:r>
            <a:endParaRPr lang="zh-CN" altLang="en-US" b="1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4" name="矩形 53">
            <a:extLst>
              <a:ext uri="{FF2B5EF4-FFF2-40B4-BE49-F238E27FC236}">
                <a16:creationId xmlns:a16="http://schemas.microsoft.com/office/drawing/2014/main" id="{7021708F-1AF9-4120-BA2E-C07B879DFC2D}"/>
              </a:ext>
            </a:extLst>
          </p:cNvPr>
          <p:cNvSpPr/>
          <p:nvPr/>
        </p:nvSpPr>
        <p:spPr>
          <a:xfrm>
            <a:off x="6603349" y="3892346"/>
            <a:ext cx="119936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b="1" i="1" dirty="0">
                <a:solidFill>
                  <a:srgbClr val="F03E42"/>
                </a:solidFill>
                <a:latin typeface="CrimsonText-BoldItalic"/>
              </a:rPr>
              <a:t>D[1] &lt; E[2]</a:t>
            </a:r>
            <a:endParaRPr lang="zh-CN" altLang="en-US" dirty="0"/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3E2F17B6-1718-4045-8795-4A9FB2396C7A}"/>
              </a:ext>
            </a:extLst>
          </p:cNvPr>
          <p:cNvSpPr/>
          <p:nvPr/>
        </p:nvSpPr>
        <p:spPr>
          <a:xfrm>
            <a:off x="6592134" y="4267479"/>
            <a:ext cx="119295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b="1" i="1" dirty="0">
                <a:solidFill>
                  <a:srgbClr val="F03E42"/>
                </a:solidFill>
                <a:latin typeface="CrimsonText-BoldItalic"/>
              </a:rPr>
              <a:t>D[2] &gt; F[0]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283125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0" grpId="0"/>
      <p:bldP spid="49" grpId="0"/>
      <p:bldP spid="46" grpId="0" animBg="1"/>
      <p:bldP spid="13" grpId="0" animBg="1"/>
      <p:bldP spid="54" grpId="0"/>
      <p:bldP spid="29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9BBCCEF-D42F-420B-9CC2-98A9815DB6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Cuckoo Hashing</a:t>
            </a:r>
            <a:endParaRPr lang="zh-CN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22BB0D1-6F5E-4E6D-883B-B9B39DCC89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445289"/>
          </a:xfrm>
        </p:spPr>
        <p:txBody>
          <a:bodyPr>
            <a:normAutofit/>
          </a:bodyPr>
          <a:lstStyle/>
          <a:p>
            <a:pPr marL="446088" indent="-446088">
              <a:lnSpc>
                <a:spcPct val="100000"/>
              </a:lnSpc>
              <a:spcBef>
                <a:spcPts val="1200"/>
              </a:spcBef>
            </a:pPr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Use multiple tables with </a:t>
            </a:r>
            <a:r>
              <a:rPr lang="en-US" altLang="zh-CN" b="1" u="sng" dirty="0">
                <a:latin typeface="Arial" panose="020B0604020202020204" pitchFamily="34" charset="0"/>
                <a:cs typeface="Arial" panose="020B0604020202020204" pitchFamily="34" charset="0"/>
              </a:rPr>
              <a:t>different hash functions</a:t>
            </a:r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903288" lvl="1" indent="-446088">
              <a:lnSpc>
                <a:spcPct val="100000"/>
              </a:lnSpc>
              <a:spcBef>
                <a:spcPts val="1200"/>
              </a:spcBef>
            </a:pPr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On insert, check every table and pick anyone that has a free slot.</a:t>
            </a:r>
          </a:p>
          <a:p>
            <a:pPr marL="903288" lvl="1" indent="-446088">
              <a:lnSpc>
                <a:spcPct val="100000"/>
              </a:lnSpc>
              <a:spcBef>
                <a:spcPts val="1200"/>
              </a:spcBef>
            </a:pPr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If no table has a free slot, evict the element from one of them and then re-hash it find a new location.</a:t>
            </a:r>
          </a:p>
          <a:p>
            <a:pPr marL="446088" indent="-446088">
              <a:lnSpc>
                <a:spcPct val="100000"/>
              </a:lnSpc>
              <a:spcBef>
                <a:spcPts val="1200"/>
              </a:spcBef>
            </a:pPr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Look-ups are always </a:t>
            </a:r>
            <a:r>
              <a:rPr lang="en-US" altLang="zh-CN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O(1)</a:t>
            </a:r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 because only one location per hash table is checked.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2905825-8EE0-4CF0-A05E-CAFDF944FB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EB2E1F-6D8D-42F7-9A84-42DE30F25F4C}" type="datetime1">
              <a:rPr lang="zh-CN" altLang="en-US" smtClean="0"/>
              <a:t>2024/5/8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ED664A2-5898-4C25-86F3-E969A94A39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Hash Indices</a:t>
            </a: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34B9AF0-AA69-4CFE-BBF2-A55EB4555B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5CA875-76FA-4283-B5BE-070B4D16A27E}" type="slidenum">
              <a:rPr lang="zh-CN" altLang="en-US" smtClean="0"/>
              <a:t>16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6410645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9BBCCEF-D42F-420B-9CC2-98A9815DB6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Cuckoo Hashing</a:t>
            </a:r>
            <a:endParaRPr lang="zh-CN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2905825-8EE0-4CF0-A05E-CAFDF944FB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5CCB9E-67BA-489E-B4A7-D8A91EC1AD67}" type="datetime1">
              <a:rPr lang="zh-CN" altLang="en-US" smtClean="0"/>
              <a:t>2024/5/8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ED664A2-5898-4C25-86F3-E969A94A39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Hash Indices</a:t>
            </a: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34B9AF0-AA69-4CFE-BBF2-A55EB4555B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5CA875-76FA-4283-B5BE-070B4D16A27E}" type="slidenum">
              <a:rPr lang="zh-CN" altLang="en-US" smtClean="0"/>
              <a:t>17</a:t>
            </a:fld>
            <a:endParaRPr lang="zh-CN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18B5510B-F9FE-4636-8DC6-0494DFDA30AA}"/>
              </a:ext>
            </a:extLst>
          </p:cNvPr>
          <p:cNvSpPr/>
          <p:nvPr/>
        </p:nvSpPr>
        <p:spPr>
          <a:xfrm>
            <a:off x="1885067" y="1992733"/>
            <a:ext cx="2150919" cy="4356055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93518398-75F5-4F11-8853-E2A27840AF71}"/>
              </a:ext>
            </a:extLst>
          </p:cNvPr>
          <p:cNvSpPr/>
          <p:nvPr/>
        </p:nvSpPr>
        <p:spPr>
          <a:xfrm>
            <a:off x="2184718" y="2234796"/>
            <a:ext cx="1576839" cy="348883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E5B1A8C-3355-4D86-B84F-389DEA37FE59}"/>
              </a:ext>
            </a:extLst>
          </p:cNvPr>
          <p:cNvSpPr/>
          <p:nvPr/>
        </p:nvSpPr>
        <p:spPr>
          <a:xfrm>
            <a:off x="2172108" y="2677344"/>
            <a:ext cx="1576839" cy="348883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EBEE0FE7-9D6B-4D29-BDF3-B9CA93D22A37}"/>
              </a:ext>
            </a:extLst>
          </p:cNvPr>
          <p:cNvSpPr/>
          <p:nvPr/>
        </p:nvSpPr>
        <p:spPr>
          <a:xfrm>
            <a:off x="2172108" y="3113903"/>
            <a:ext cx="1576839" cy="348883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0E14659A-FF36-4453-8718-BED0783632C5}"/>
              </a:ext>
            </a:extLst>
          </p:cNvPr>
          <p:cNvSpPr/>
          <p:nvPr/>
        </p:nvSpPr>
        <p:spPr>
          <a:xfrm>
            <a:off x="2172108" y="3545020"/>
            <a:ext cx="1576839" cy="348883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565DFF02-984A-4389-9B93-32B5BA277C00}"/>
              </a:ext>
            </a:extLst>
          </p:cNvPr>
          <p:cNvSpPr/>
          <p:nvPr/>
        </p:nvSpPr>
        <p:spPr>
          <a:xfrm>
            <a:off x="2172108" y="3987121"/>
            <a:ext cx="1576839" cy="348883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2CBFCFE9-734F-416A-8127-14B0B7529F69}"/>
              </a:ext>
            </a:extLst>
          </p:cNvPr>
          <p:cNvSpPr/>
          <p:nvPr/>
        </p:nvSpPr>
        <p:spPr>
          <a:xfrm>
            <a:off x="2172108" y="4418238"/>
            <a:ext cx="1576839" cy="348883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CC3066AF-4D27-400B-8E01-89B9384B9EC0}"/>
              </a:ext>
            </a:extLst>
          </p:cNvPr>
          <p:cNvSpPr/>
          <p:nvPr/>
        </p:nvSpPr>
        <p:spPr>
          <a:xfrm>
            <a:off x="2172108" y="4886863"/>
            <a:ext cx="1576839" cy="348883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C7DDE335-5BBD-4CF1-B28C-F6384E2014E7}"/>
              </a:ext>
            </a:extLst>
          </p:cNvPr>
          <p:cNvSpPr/>
          <p:nvPr/>
        </p:nvSpPr>
        <p:spPr>
          <a:xfrm>
            <a:off x="2172108" y="5317980"/>
            <a:ext cx="1576839" cy="348883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B22756A1-F97F-49E4-AD70-B9A987FA5999}"/>
              </a:ext>
            </a:extLst>
          </p:cNvPr>
          <p:cNvSpPr/>
          <p:nvPr/>
        </p:nvSpPr>
        <p:spPr>
          <a:xfrm>
            <a:off x="2172108" y="5781442"/>
            <a:ext cx="1576839" cy="348883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04FCD062-97FC-4523-A31E-E8CCB551B546}"/>
              </a:ext>
            </a:extLst>
          </p:cNvPr>
          <p:cNvSpPr/>
          <p:nvPr/>
        </p:nvSpPr>
        <p:spPr>
          <a:xfrm>
            <a:off x="2174904" y="2675687"/>
            <a:ext cx="1576839" cy="348883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i="1" dirty="0">
                <a:solidFill>
                  <a:srgbClr val="FF0000"/>
                </a:solidFill>
                <a:latin typeface="Crimson Text"/>
              </a:rPr>
              <a:t>hash</a:t>
            </a:r>
            <a:r>
              <a:rPr lang="en-US" altLang="zh-CN" b="1" i="1" baseline="-25000" dirty="0">
                <a:solidFill>
                  <a:srgbClr val="FF0000"/>
                </a:solidFill>
                <a:latin typeface="Crimson Text"/>
              </a:rPr>
              <a:t>1</a:t>
            </a:r>
            <a:r>
              <a:rPr lang="en-US" altLang="zh-CN" b="1" i="1" dirty="0">
                <a:solidFill>
                  <a:srgbClr val="FF0000"/>
                </a:solidFill>
                <a:latin typeface="Crimson Text"/>
              </a:rPr>
              <a:t>(X) </a:t>
            </a:r>
            <a:r>
              <a:rPr lang="en-US" altLang="zh-CN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| X</a:t>
            </a:r>
            <a:endParaRPr lang="zh-CN" altLang="en-US" b="1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5D56BF08-8814-4C98-B490-9137B7C7BA0D}"/>
              </a:ext>
            </a:extLst>
          </p:cNvPr>
          <p:cNvSpPr/>
          <p:nvPr/>
        </p:nvSpPr>
        <p:spPr>
          <a:xfrm>
            <a:off x="2184718" y="1642895"/>
            <a:ext cx="151394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b="1" i="1" dirty="0">
                <a:solidFill>
                  <a:srgbClr val="7F7F7F"/>
                </a:solidFill>
                <a:latin typeface="CrimsonText-BoldItalic"/>
              </a:rPr>
              <a:t>Hash Table #1</a:t>
            </a:r>
            <a:endParaRPr lang="zh-CN" altLang="en-US" dirty="0"/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B43E784E-6780-437E-8209-3615937B734C}"/>
              </a:ext>
            </a:extLst>
          </p:cNvPr>
          <p:cNvSpPr/>
          <p:nvPr/>
        </p:nvSpPr>
        <p:spPr>
          <a:xfrm>
            <a:off x="7171846" y="1992733"/>
            <a:ext cx="2150919" cy="4356055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12E6B417-4D72-4D86-AF06-4F657D50384D}"/>
              </a:ext>
            </a:extLst>
          </p:cNvPr>
          <p:cNvSpPr/>
          <p:nvPr/>
        </p:nvSpPr>
        <p:spPr>
          <a:xfrm>
            <a:off x="7471497" y="2234796"/>
            <a:ext cx="1576839" cy="348883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8A2B9007-54C1-447B-9A10-A128FD4F270D}"/>
              </a:ext>
            </a:extLst>
          </p:cNvPr>
          <p:cNvSpPr/>
          <p:nvPr/>
        </p:nvSpPr>
        <p:spPr>
          <a:xfrm>
            <a:off x="7458887" y="2677344"/>
            <a:ext cx="1576839" cy="348883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267A614F-6835-422C-B2BF-47922D782545}"/>
              </a:ext>
            </a:extLst>
          </p:cNvPr>
          <p:cNvSpPr/>
          <p:nvPr/>
        </p:nvSpPr>
        <p:spPr>
          <a:xfrm>
            <a:off x="7458887" y="3113903"/>
            <a:ext cx="1576839" cy="348883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E30401E9-BA10-4047-88C4-A5293E20D36F}"/>
              </a:ext>
            </a:extLst>
          </p:cNvPr>
          <p:cNvSpPr/>
          <p:nvPr/>
        </p:nvSpPr>
        <p:spPr>
          <a:xfrm>
            <a:off x="7458887" y="3545020"/>
            <a:ext cx="1576839" cy="348883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8D6FE2B2-B5E1-409E-B24C-07275116BE64}"/>
              </a:ext>
            </a:extLst>
          </p:cNvPr>
          <p:cNvSpPr/>
          <p:nvPr/>
        </p:nvSpPr>
        <p:spPr>
          <a:xfrm>
            <a:off x="7458887" y="3987121"/>
            <a:ext cx="1576839" cy="348883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5" name="矩形 44">
            <a:extLst>
              <a:ext uri="{FF2B5EF4-FFF2-40B4-BE49-F238E27FC236}">
                <a16:creationId xmlns:a16="http://schemas.microsoft.com/office/drawing/2014/main" id="{B55E0C85-C640-4E4D-B148-364C8442531C}"/>
              </a:ext>
            </a:extLst>
          </p:cNvPr>
          <p:cNvSpPr/>
          <p:nvPr/>
        </p:nvSpPr>
        <p:spPr>
          <a:xfrm>
            <a:off x="7458887" y="4418238"/>
            <a:ext cx="1576839" cy="348883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8" name="矩形 47">
            <a:extLst>
              <a:ext uri="{FF2B5EF4-FFF2-40B4-BE49-F238E27FC236}">
                <a16:creationId xmlns:a16="http://schemas.microsoft.com/office/drawing/2014/main" id="{B4A9EB79-EB11-4CDC-B711-B4D3B6F9D52A}"/>
              </a:ext>
            </a:extLst>
          </p:cNvPr>
          <p:cNvSpPr/>
          <p:nvPr/>
        </p:nvSpPr>
        <p:spPr>
          <a:xfrm>
            <a:off x="7458887" y="4886863"/>
            <a:ext cx="1576839" cy="348883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1" name="矩形 50">
            <a:extLst>
              <a:ext uri="{FF2B5EF4-FFF2-40B4-BE49-F238E27FC236}">
                <a16:creationId xmlns:a16="http://schemas.microsoft.com/office/drawing/2014/main" id="{BA243273-5D43-4E33-86F1-89890D0CBC49}"/>
              </a:ext>
            </a:extLst>
          </p:cNvPr>
          <p:cNvSpPr/>
          <p:nvPr/>
        </p:nvSpPr>
        <p:spPr>
          <a:xfrm>
            <a:off x="7458887" y="5317980"/>
            <a:ext cx="1576839" cy="348883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5" name="矩形 54">
            <a:extLst>
              <a:ext uri="{FF2B5EF4-FFF2-40B4-BE49-F238E27FC236}">
                <a16:creationId xmlns:a16="http://schemas.microsoft.com/office/drawing/2014/main" id="{D0FD5CA1-C8D2-4601-BE99-ECEE298F8C79}"/>
              </a:ext>
            </a:extLst>
          </p:cNvPr>
          <p:cNvSpPr/>
          <p:nvPr/>
        </p:nvSpPr>
        <p:spPr>
          <a:xfrm>
            <a:off x="7458887" y="5781442"/>
            <a:ext cx="1576839" cy="348883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7" name="矩形 56">
            <a:extLst>
              <a:ext uri="{FF2B5EF4-FFF2-40B4-BE49-F238E27FC236}">
                <a16:creationId xmlns:a16="http://schemas.microsoft.com/office/drawing/2014/main" id="{F317770F-FADB-4C96-9766-FED636A33385}"/>
              </a:ext>
            </a:extLst>
          </p:cNvPr>
          <p:cNvSpPr/>
          <p:nvPr/>
        </p:nvSpPr>
        <p:spPr>
          <a:xfrm>
            <a:off x="7471497" y="1642895"/>
            <a:ext cx="151394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b="1" i="1" dirty="0">
                <a:solidFill>
                  <a:srgbClr val="7F7F7F"/>
                </a:solidFill>
                <a:latin typeface="CrimsonText-BoldItalic"/>
              </a:rPr>
              <a:t>Hash Table #2</a:t>
            </a:r>
            <a:endParaRPr lang="zh-CN" altLang="en-US" dirty="0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D4180626-742E-4FBF-8F69-A7149A92C28B}"/>
              </a:ext>
            </a:extLst>
          </p:cNvPr>
          <p:cNvSpPr/>
          <p:nvPr/>
        </p:nvSpPr>
        <p:spPr>
          <a:xfrm>
            <a:off x="4422691" y="2012227"/>
            <a:ext cx="2150919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2000" b="1" i="1" dirty="0">
                <a:latin typeface="Crimson Text"/>
              </a:rPr>
              <a:t>Insert X</a:t>
            </a:r>
            <a:endParaRPr lang="en-US" altLang="zh-CN" sz="2000" dirty="0">
              <a:latin typeface="Crimson Text"/>
            </a:endParaRPr>
          </a:p>
          <a:p>
            <a:pPr algn="ctr"/>
            <a:r>
              <a:rPr lang="en-US" altLang="zh-CN" b="1" i="1" dirty="0">
                <a:solidFill>
                  <a:srgbClr val="FF0000"/>
                </a:solidFill>
                <a:latin typeface="Crimson Text"/>
              </a:rPr>
              <a:t>hash</a:t>
            </a:r>
            <a:r>
              <a:rPr lang="en-US" altLang="zh-CN" sz="1200" b="1" i="1" dirty="0">
                <a:solidFill>
                  <a:srgbClr val="FF0000"/>
                </a:solidFill>
                <a:latin typeface="Crimson Text"/>
              </a:rPr>
              <a:t>1</a:t>
            </a:r>
            <a:r>
              <a:rPr lang="en-US" altLang="zh-CN" b="1" i="1" dirty="0">
                <a:solidFill>
                  <a:srgbClr val="FF0000"/>
                </a:solidFill>
                <a:latin typeface="Crimson Text"/>
              </a:rPr>
              <a:t>(X)       hash</a:t>
            </a:r>
            <a:r>
              <a:rPr lang="en-US" altLang="zh-CN" sz="1200" b="1" i="1" dirty="0">
                <a:solidFill>
                  <a:srgbClr val="FF0000"/>
                </a:solidFill>
                <a:latin typeface="Crimson Text"/>
              </a:rPr>
              <a:t>2</a:t>
            </a:r>
            <a:r>
              <a:rPr lang="en-US" altLang="zh-CN" b="1" i="1" dirty="0">
                <a:solidFill>
                  <a:srgbClr val="FF0000"/>
                </a:solidFill>
                <a:latin typeface="Crimson Text"/>
              </a:rPr>
              <a:t>(X)</a:t>
            </a:r>
          </a:p>
          <a:p>
            <a:pPr algn="ctr"/>
            <a:endParaRPr lang="zh-CN" altLang="en-US" dirty="0">
              <a:solidFill>
                <a:srgbClr val="FF0000"/>
              </a:solidFill>
            </a:endParaRPr>
          </a:p>
        </p:txBody>
      </p:sp>
      <p:cxnSp>
        <p:nvCxnSpPr>
          <p:cNvPr id="58" name="连接符: 曲线 57">
            <a:extLst>
              <a:ext uri="{FF2B5EF4-FFF2-40B4-BE49-F238E27FC236}">
                <a16:creationId xmlns:a16="http://schemas.microsoft.com/office/drawing/2014/main" id="{E42BC931-A7F2-472D-A476-82731F3FE96E}"/>
              </a:ext>
            </a:extLst>
          </p:cNvPr>
          <p:cNvCxnSpPr>
            <a:cxnSpLocks/>
            <a:stCxn id="7" idx="1"/>
            <a:endCxn id="12" idx="3"/>
          </p:cNvCxnSpPr>
          <p:nvPr/>
        </p:nvCxnSpPr>
        <p:spPr>
          <a:xfrm rot="10800000" flipV="1">
            <a:off x="3748947" y="2489280"/>
            <a:ext cx="673744" cy="362505"/>
          </a:xfrm>
          <a:prstGeom prst="curvedConnector3">
            <a:avLst>
              <a:gd name="adj1" fmla="val 50000"/>
            </a:avLst>
          </a:prstGeom>
          <a:ln w="38100">
            <a:solidFill>
              <a:srgbClr val="FF0000"/>
            </a:solidFill>
            <a:headEnd type="oval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连接符: 曲线 52">
            <a:extLst>
              <a:ext uri="{FF2B5EF4-FFF2-40B4-BE49-F238E27FC236}">
                <a16:creationId xmlns:a16="http://schemas.microsoft.com/office/drawing/2014/main" id="{38BDE961-9D7B-4CB8-A7B7-246E7B252C98}"/>
              </a:ext>
            </a:extLst>
          </p:cNvPr>
          <p:cNvCxnSpPr>
            <a:cxnSpLocks/>
            <a:stCxn id="7" idx="3"/>
            <a:endCxn id="43" idx="1"/>
          </p:cNvCxnSpPr>
          <p:nvPr/>
        </p:nvCxnSpPr>
        <p:spPr>
          <a:xfrm>
            <a:off x="6573610" y="2489281"/>
            <a:ext cx="885277" cy="1230181"/>
          </a:xfrm>
          <a:prstGeom prst="curvedConnector3">
            <a:avLst>
              <a:gd name="adj1" fmla="val 50000"/>
            </a:avLst>
          </a:prstGeom>
          <a:ln w="38100">
            <a:solidFill>
              <a:srgbClr val="FF0000"/>
            </a:solidFill>
            <a:headEnd type="oval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矩形 58">
            <a:extLst>
              <a:ext uri="{FF2B5EF4-FFF2-40B4-BE49-F238E27FC236}">
                <a16:creationId xmlns:a16="http://schemas.microsoft.com/office/drawing/2014/main" id="{6EF8D17C-8CFC-4DC4-AC4D-F6B65D1430EF}"/>
              </a:ext>
            </a:extLst>
          </p:cNvPr>
          <p:cNvSpPr/>
          <p:nvPr/>
        </p:nvSpPr>
        <p:spPr>
          <a:xfrm>
            <a:off x="4404288" y="2810819"/>
            <a:ext cx="2150919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2000" b="1" i="1" dirty="0">
                <a:latin typeface="Crimson Text"/>
              </a:rPr>
              <a:t>Insert Y</a:t>
            </a:r>
            <a:endParaRPr lang="en-US" altLang="zh-CN" sz="2000" dirty="0">
              <a:latin typeface="Crimson Text"/>
            </a:endParaRPr>
          </a:p>
          <a:p>
            <a:pPr algn="ctr"/>
            <a:r>
              <a:rPr lang="en-US" altLang="zh-CN" b="1" i="1" dirty="0">
                <a:solidFill>
                  <a:srgbClr val="FF0000"/>
                </a:solidFill>
                <a:latin typeface="Crimson Text"/>
              </a:rPr>
              <a:t>hash</a:t>
            </a:r>
            <a:r>
              <a:rPr lang="en-US" altLang="zh-CN" sz="1200" b="1" i="1" dirty="0">
                <a:solidFill>
                  <a:srgbClr val="FF0000"/>
                </a:solidFill>
                <a:latin typeface="Crimson Text"/>
              </a:rPr>
              <a:t>1</a:t>
            </a:r>
            <a:r>
              <a:rPr lang="en-US" altLang="zh-CN" b="1" i="1" dirty="0">
                <a:solidFill>
                  <a:srgbClr val="FF0000"/>
                </a:solidFill>
                <a:latin typeface="Crimson Text"/>
              </a:rPr>
              <a:t>(Y)       hash</a:t>
            </a:r>
            <a:r>
              <a:rPr lang="en-US" altLang="zh-CN" sz="1200" b="1" i="1" dirty="0">
                <a:solidFill>
                  <a:srgbClr val="FF0000"/>
                </a:solidFill>
                <a:latin typeface="Crimson Text"/>
              </a:rPr>
              <a:t>2</a:t>
            </a:r>
            <a:r>
              <a:rPr lang="en-US" altLang="zh-CN" b="1" i="1" dirty="0">
                <a:solidFill>
                  <a:srgbClr val="FF0000"/>
                </a:solidFill>
                <a:latin typeface="Crimson Text"/>
              </a:rPr>
              <a:t>(Y)</a:t>
            </a:r>
          </a:p>
          <a:p>
            <a:pPr algn="ctr"/>
            <a:endParaRPr lang="zh-CN" altLang="en-US" dirty="0">
              <a:solidFill>
                <a:srgbClr val="FF0000"/>
              </a:solidFill>
            </a:endParaRPr>
          </a:p>
        </p:txBody>
      </p:sp>
      <p:cxnSp>
        <p:nvCxnSpPr>
          <p:cNvPr id="60" name="连接符: 曲线 59">
            <a:extLst>
              <a:ext uri="{FF2B5EF4-FFF2-40B4-BE49-F238E27FC236}">
                <a16:creationId xmlns:a16="http://schemas.microsoft.com/office/drawing/2014/main" id="{C73EC43A-887A-450B-8C7A-640F7CC4A094}"/>
              </a:ext>
            </a:extLst>
          </p:cNvPr>
          <p:cNvCxnSpPr>
            <a:cxnSpLocks/>
            <a:stCxn id="59" idx="1"/>
            <a:endCxn id="38" idx="3"/>
          </p:cNvCxnSpPr>
          <p:nvPr/>
        </p:nvCxnSpPr>
        <p:spPr>
          <a:xfrm rot="10800000">
            <a:off x="3751744" y="2850129"/>
            <a:ext cx="652545" cy="437744"/>
          </a:xfrm>
          <a:prstGeom prst="curvedConnector3">
            <a:avLst>
              <a:gd name="adj1" fmla="val 50000"/>
            </a:avLst>
          </a:prstGeom>
          <a:ln w="38100">
            <a:solidFill>
              <a:srgbClr val="FF0000"/>
            </a:solidFill>
            <a:headEnd type="oval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连接符: 曲线 60">
            <a:extLst>
              <a:ext uri="{FF2B5EF4-FFF2-40B4-BE49-F238E27FC236}">
                <a16:creationId xmlns:a16="http://schemas.microsoft.com/office/drawing/2014/main" id="{84D3983D-7D4F-4327-876B-005725491B39}"/>
              </a:ext>
            </a:extLst>
          </p:cNvPr>
          <p:cNvCxnSpPr>
            <a:cxnSpLocks/>
            <a:stCxn id="59" idx="3"/>
            <a:endCxn id="40" idx="1"/>
          </p:cNvCxnSpPr>
          <p:nvPr/>
        </p:nvCxnSpPr>
        <p:spPr>
          <a:xfrm flipV="1">
            <a:off x="6555207" y="2409238"/>
            <a:ext cx="916290" cy="878635"/>
          </a:xfrm>
          <a:prstGeom prst="curvedConnector3">
            <a:avLst>
              <a:gd name="adj1" fmla="val 50000"/>
            </a:avLst>
          </a:prstGeom>
          <a:ln w="38100">
            <a:solidFill>
              <a:srgbClr val="FF0000"/>
            </a:solidFill>
            <a:headEnd type="oval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矩形 61">
            <a:extLst>
              <a:ext uri="{FF2B5EF4-FFF2-40B4-BE49-F238E27FC236}">
                <a16:creationId xmlns:a16="http://schemas.microsoft.com/office/drawing/2014/main" id="{B909F532-2BA5-4491-9FE7-DC4635F05B6C}"/>
              </a:ext>
            </a:extLst>
          </p:cNvPr>
          <p:cNvSpPr/>
          <p:nvPr/>
        </p:nvSpPr>
        <p:spPr>
          <a:xfrm>
            <a:off x="7473717" y="2227147"/>
            <a:ext cx="1576839" cy="348883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i="1" dirty="0">
                <a:solidFill>
                  <a:srgbClr val="FF0000"/>
                </a:solidFill>
                <a:latin typeface="Crimson Text"/>
              </a:rPr>
              <a:t>hash</a:t>
            </a:r>
            <a:r>
              <a:rPr lang="en-US" altLang="zh-CN" b="1" i="1" baseline="-25000" dirty="0">
                <a:solidFill>
                  <a:srgbClr val="FF0000"/>
                </a:solidFill>
                <a:latin typeface="Crimson Text"/>
              </a:rPr>
              <a:t>2</a:t>
            </a:r>
            <a:r>
              <a:rPr lang="en-US" altLang="zh-CN" b="1" i="1" dirty="0">
                <a:solidFill>
                  <a:srgbClr val="FF0000"/>
                </a:solidFill>
                <a:latin typeface="Crimson Text"/>
              </a:rPr>
              <a:t>(Y) </a:t>
            </a:r>
            <a:r>
              <a:rPr lang="en-US" altLang="zh-CN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| Y</a:t>
            </a:r>
            <a:endParaRPr lang="zh-CN" altLang="en-US" b="1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3" name="矩形 62">
            <a:extLst>
              <a:ext uri="{FF2B5EF4-FFF2-40B4-BE49-F238E27FC236}">
                <a16:creationId xmlns:a16="http://schemas.microsoft.com/office/drawing/2014/main" id="{E3152E42-79B1-4200-8319-503194618ABB}"/>
              </a:ext>
            </a:extLst>
          </p:cNvPr>
          <p:cNvSpPr/>
          <p:nvPr/>
        </p:nvSpPr>
        <p:spPr>
          <a:xfrm>
            <a:off x="4413489" y="3566862"/>
            <a:ext cx="2150919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2000" b="1" i="1" dirty="0">
                <a:latin typeface="Crimson Text"/>
              </a:rPr>
              <a:t>Insert Z</a:t>
            </a:r>
            <a:endParaRPr lang="en-US" altLang="zh-CN" sz="2000" dirty="0">
              <a:latin typeface="Crimson Text"/>
            </a:endParaRPr>
          </a:p>
          <a:p>
            <a:pPr algn="ctr"/>
            <a:r>
              <a:rPr lang="en-US" altLang="zh-CN" b="1" i="1" dirty="0">
                <a:solidFill>
                  <a:srgbClr val="FF0000"/>
                </a:solidFill>
                <a:latin typeface="Crimson Text"/>
              </a:rPr>
              <a:t>hash</a:t>
            </a:r>
            <a:r>
              <a:rPr lang="en-US" altLang="zh-CN" sz="1200" b="1" i="1" dirty="0">
                <a:solidFill>
                  <a:srgbClr val="FF0000"/>
                </a:solidFill>
                <a:latin typeface="Crimson Text"/>
              </a:rPr>
              <a:t>1</a:t>
            </a:r>
            <a:r>
              <a:rPr lang="en-US" altLang="zh-CN" b="1" i="1" dirty="0">
                <a:solidFill>
                  <a:srgbClr val="FF0000"/>
                </a:solidFill>
                <a:latin typeface="Crimson Text"/>
              </a:rPr>
              <a:t>(Z)       hash</a:t>
            </a:r>
            <a:r>
              <a:rPr lang="en-US" altLang="zh-CN" sz="1200" b="1" i="1" dirty="0">
                <a:solidFill>
                  <a:srgbClr val="FF0000"/>
                </a:solidFill>
                <a:latin typeface="Crimson Text"/>
              </a:rPr>
              <a:t>2</a:t>
            </a:r>
            <a:r>
              <a:rPr lang="en-US" altLang="zh-CN" b="1" i="1" dirty="0">
                <a:solidFill>
                  <a:srgbClr val="FF0000"/>
                </a:solidFill>
                <a:latin typeface="Crimson Text"/>
              </a:rPr>
              <a:t>(Z)</a:t>
            </a:r>
          </a:p>
          <a:p>
            <a:pPr algn="ctr"/>
            <a:endParaRPr lang="zh-CN" altLang="en-US" dirty="0">
              <a:solidFill>
                <a:srgbClr val="FF0000"/>
              </a:solidFill>
            </a:endParaRPr>
          </a:p>
        </p:txBody>
      </p:sp>
      <p:cxnSp>
        <p:nvCxnSpPr>
          <p:cNvPr id="64" name="连接符: 曲线 63">
            <a:extLst>
              <a:ext uri="{FF2B5EF4-FFF2-40B4-BE49-F238E27FC236}">
                <a16:creationId xmlns:a16="http://schemas.microsoft.com/office/drawing/2014/main" id="{46A99685-BEAE-4C54-BBDD-81FC1E739AF2}"/>
              </a:ext>
            </a:extLst>
          </p:cNvPr>
          <p:cNvCxnSpPr>
            <a:cxnSpLocks/>
            <a:stCxn id="63" idx="1"/>
            <a:endCxn id="38" idx="3"/>
          </p:cNvCxnSpPr>
          <p:nvPr/>
        </p:nvCxnSpPr>
        <p:spPr>
          <a:xfrm rot="10800000">
            <a:off x="3751743" y="2850130"/>
            <a:ext cx="661746" cy="1193787"/>
          </a:xfrm>
          <a:prstGeom prst="curvedConnector3">
            <a:avLst/>
          </a:prstGeom>
          <a:ln w="38100">
            <a:solidFill>
              <a:srgbClr val="FF0000"/>
            </a:solidFill>
            <a:headEnd type="oval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连接符: 曲线 66">
            <a:extLst>
              <a:ext uri="{FF2B5EF4-FFF2-40B4-BE49-F238E27FC236}">
                <a16:creationId xmlns:a16="http://schemas.microsoft.com/office/drawing/2014/main" id="{0652184A-BF04-4446-8229-29D924BD8147}"/>
              </a:ext>
            </a:extLst>
          </p:cNvPr>
          <p:cNvCxnSpPr>
            <a:cxnSpLocks/>
            <a:stCxn id="63" idx="3"/>
            <a:endCxn id="62" idx="1"/>
          </p:cNvCxnSpPr>
          <p:nvPr/>
        </p:nvCxnSpPr>
        <p:spPr>
          <a:xfrm flipV="1">
            <a:off x="6564408" y="2401589"/>
            <a:ext cx="909309" cy="1642327"/>
          </a:xfrm>
          <a:prstGeom prst="curvedConnector3">
            <a:avLst>
              <a:gd name="adj1" fmla="val 50000"/>
            </a:avLst>
          </a:prstGeom>
          <a:ln w="38100">
            <a:solidFill>
              <a:srgbClr val="FF0000"/>
            </a:solidFill>
            <a:headEnd type="oval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矩形 69">
            <a:extLst>
              <a:ext uri="{FF2B5EF4-FFF2-40B4-BE49-F238E27FC236}">
                <a16:creationId xmlns:a16="http://schemas.microsoft.com/office/drawing/2014/main" id="{E70A5A8C-155B-4EF3-84C1-813E9CE25B0A}"/>
              </a:ext>
            </a:extLst>
          </p:cNvPr>
          <p:cNvSpPr/>
          <p:nvPr/>
        </p:nvSpPr>
        <p:spPr>
          <a:xfrm>
            <a:off x="7469277" y="2227147"/>
            <a:ext cx="1576839" cy="348883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i="1" dirty="0">
                <a:solidFill>
                  <a:srgbClr val="FF0000"/>
                </a:solidFill>
                <a:latin typeface="Crimson Text"/>
              </a:rPr>
              <a:t>hash</a:t>
            </a:r>
            <a:r>
              <a:rPr lang="en-US" altLang="zh-CN" b="1" i="1" baseline="-25000" dirty="0">
                <a:solidFill>
                  <a:srgbClr val="FF0000"/>
                </a:solidFill>
                <a:latin typeface="Crimson Text"/>
              </a:rPr>
              <a:t>2</a:t>
            </a:r>
            <a:r>
              <a:rPr lang="en-US" altLang="zh-CN" b="1" i="1" dirty="0">
                <a:solidFill>
                  <a:srgbClr val="FF0000"/>
                </a:solidFill>
                <a:latin typeface="Crimson Text"/>
              </a:rPr>
              <a:t>(Z) </a:t>
            </a:r>
            <a:r>
              <a:rPr lang="en-US" altLang="zh-CN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| Z</a:t>
            </a:r>
            <a:endParaRPr lang="zh-CN" altLang="en-US" b="1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1" name="矩形 70">
            <a:extLst>
              <a:ext uri="{FF2B5EF4-FFF2-40B4-BE49-F238E27FC236}">
                <a16:creationId xmlns:a16="http://schemas.microsoft.com/office/drawing/2014/main" id="{5E6058E1-AD35-41BB-9D6A-AC4CA46652CE}"/>
              </a:ext>
            </a:extLst>
          </p:cNvPr>
          <p:cNvSpPr/>
          <p:nvPr/>
        </p:nvSpPr>
        <p:spPr>
          <a:xfrm>
            <a:off x="4976212" y="4233572"/>
            <a:ext cx="103746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b="1" i="1" dirty="0">
                <a:solidFill>
                  <a:srgbClr val="FF0000"/>
                </a:solidFill>
                <a:latin typeface="Crimson Text"/>
              </a:rPr>
              <a:t>hash</a:t>
            </a:r>
            <a:r>
              <a:rPr lang="en-US" altLang="zh-CN" sz="1200" b="1" i="1" dirty="0">
                <a:solidFill>
                  <a:srgbClr val="FF0000"/>
                </a:solidFill>
                <a:latin typeface="Crimson Text"/>
              </a:rPr>
              <a:t>1</a:t>
            </a:r>
            <a:r>
              <a:rPr lang="en-US" altLang="zh-CN" b="1" i="1" dirty="0">
                <a:solidFill>
                  <a:srgbClr val="FF0000"/>
                </a:solidFill>
                <a:latin typeface="Crimson Text"/>
              </a:rPr>
              <a:t>(Y) </a:t>
            </a:r>
            <a:endParaRPr lang="zh-CN" altLang="en-US" dirty="0"/>
          </a:p>
        </p:txBody>
      </p:sp>
      <p:cxnSp>
        <p:nvCxnSpPr>
          <p:cNvPr id="72" name="连接符: 曲线 71">
            <a:extLst>
              <a:ext uri="{FF2B5EF4-FFF2-40B4-BE49-F238E27FC236}">
                <a16:creationId xmlns:a16="http://schemas.microsoft.com/office/drawing/2014/main" id="{C471410C-5F29-4DE2-AE9D-4433C12E088C}"/>
              </a:ext>
            </a:extLst>
          </p:cNvPr>
          <p:cNvCxnSpPr>
            <a:cxnSpLocks/>
            <a:stCxn id="71" idx="1"/>
            <a:endCxn id="38" idx="3"/>
          </p:cNvCxnSpPr>
          <p:nvPr/>
        </p:nvCxnSpPr>
        <p:spPr>
          <a:xfrm rot="10800000">
            <a:off x="3751744" y="2850130"/>
            <a:ext cx="1224469" cy="1568109"/>
          </a:xfrm>
          <a:prstGeom prst="curvedConnector3">
            <a:avLst/>
          </a:prstGeom>
          <a:ln w="38100">
            <a:solidFill>
              <a:srgbClr val="FF0000"/>
            </a:solidFill>
            <a:headEnd type="oval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5" name="矩形 74">
            <a:extLst>
              <a:ext uri="{FF2B5EF4-FFF2-40B4-BE49-F238E27FC236}">
                <a16:creationId xmlns:a16="http://schemas.microsoft.com/office/drawing/2014/main" id="{F2727718-5206-443E-BA1C-9FAAC7CDEB17}"/>
              </a:ext>
            </a:extLst>
          </p:cNvPr>
          <p:cNvSpPr/>
          <p:nvPr/>
        </p:nvSpPr>
        <p:spPr>
          <a:xfrm>
            <a:off x="2171625" y="2679645"/>
            <a:ext cx="1576839" cy="348883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i="1" dirty="0">
                <a:solidFill>
                  <a:srgbClr val="FF0000"/>
                </a:solidFill>
                <a:latin typeface="Crimson Text"/>
              </a:rPr>
              <a:t>hash</a:t>
            </a:r>
            <a:r>
              <a:rPr lang="en-US" altLang="zh-CN" b="1" i="1" baseline="-25000" dirty="0">
                <a:solidFill>
                  <a:srgbClr val="FF0000"/>
                </a:solidFill>
                <a:latin typeface="Crimson Text"/>
              </a:rPr>
              <a:t>1</a:t>
            </a:r>
            <a:r>
              <a:rPr lang="en-US" altLang="zh-CN" b="1" i="1" dirty="0">
                <a:solidFill>
                  <a:srgbClr val="FF0000"/>
                </a:solidFill>
                <a:latin typeface="Crimson Text"/>
              </a:rPr>
              <a:t>(Y) </a:t>
            </a:r>
            <a:r>
              <a:rPr lang="en-US" altLang="zh-CN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| Y</a:t>
            </a:r>
            <a:endParaRPr lang="zh-CN" altLang="en-US" b="1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6" name="矩形 75">
            <a:extLst>
              <a:ext uri="{FF2B5EF4-FFF2-40B4-BE49-F238E27FC236}">
                <a16:creationId xmlns:a16="http://schemas.microsoft.com/office/drawing/2014/main" id="{86665CB6-57F9-4C3A-8382-AA8D8BF28607}"/>
              </a:ext>
            </a:extLst>
          </p:cNvPr>
          <p:cNvSpPr/>
          <p:nvPr/>
        </p:nvSpPr>
        <p:spPr>
          <a:xfrm>
            <a:off x="4954291" y="4602904"/>
            <a:ext cx="99097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b="1" i="1" dirty="0">
                <a:solidFill>
                  <a:srgbClr val="FF0000"/>
                </a:solidFill>
                <a:latin typeface="Crimson Text"/>
              </a:rPr>
              <a:t>hash</a:t>
            </a:r>
            <a:r>
              <a:rPr lang="en-US" altLang="zh-CN" sz="1200" b="1" i="1" dirty="0">
                <a:solidFill>
                  <a:srgbClr val="FF0000"/>
                </a:solidFill>
                <a:latin typeface="Crimson Text"/>
              </a:rPr>
              <a:t>2</a:t>
            </a:r>
            <a:r>
              <a:rPr lang="en-US" altLang="zh-CN" b="1" i="1" dirty="0">
                <a:solidFill>
                  <a:srgbClr val="FF0000"/>
                </a:solidFill>
                <a:latin typeface="Crimson Text"/>
              </a:rPr>
              <a:t>(X)</a:t>
            </a:r>
            <a:endParaRPr lang="zh-CN" altLang="en-US" dirty="0"/>
          </a:p>
        </p:txBody>
      </p:sp>
      <p:cxnSp>
        <p:nvCxnSpPr>
          <p:cNvPr id="31" name="连接符: 曲线 30">
            <a:extLst>
              <a:ext uri="{FF2B5EF4-FFF2-40B4-BE49-F238E27FC236}">
                <a16:creationId xmlns:a16="http://schemas.microsoft.com/office/drawing/2014/main" id="{E3620E06-0AA4-47EA-A822-6584D61D869D}"/>
              </a:ext>
            </a:extLst>
          </p:cNvPr>
          <p:cNvCxnSpPr>
            <a:cxnSpLocks/>
            <a:stCxn id="76" idx="3"/>
            <a:endCxn id="43" idx="1"/>
          </p:cNvCxnSpPr>
          <p:nvPr/>
        </p:nvCxnSpPr>
        <p:spPr>
          <a:xfrm flipV="1">
            <a:off x="5945268" y="3719462"/>
            <a:ext cx="1513619" cy="1068108"/>
          </a:xfrm>
          <a:prstGeom prst="curvedConnector3">
            <a:avLst>
              <a:gd name="adj1" fmla="val 50000"/>
            </a:avLst>
          </a:prstGeom>
          <a:ln w="38100">
            <a:solidFill>
              <a:srgbClr val="FF0000"/>
            </a:solidFill>
            <a:headEnd type="oval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矩形 29">
            <a:extLst>
              <a:ext uri="{FF2B5EF4-FFF2-40B4-BE49-F238E27FC236}">
                <a16:creationId xmlns:a16="http://schemas.microsoft.com/office/drawing/2014/main" id="{A216EC36-24CC-4E8E-9ACB-5E66A90F0A37}"/>
              </a:ext>
            </a:extLst>
          </p:cNvPr>
          <p:cNvSpPr/>
          <p:nvPr/>
        </p:nvSpPr>
        <p:spPr>
          <a:xfrm>
            <a:off x="7466302" y="3544451"/>
            <a:ext cx="1576839" cy="348883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i="1" dirty="0">
                <a:solidFill>
                  <a:srgbClr val="FF0000"/>
                </a:solidFill>
                <a:latin typeface="Crimson Text"/>
              </a:rPr>
              <a:t>hash</a:t>
            </a:r>
            <a:r>
              <a:rPr lang="en-US" altLang="zh-CN" b="1" i="1" baseline="-25000" dirty="0">
                <a:solidFill>
                  <a:srgbClr val="FF0000"/>
                </a:solidFill>
                <a:latin typeface="Crimson Text"/>
              </a:rPr>
              <a:t>2</a:t>
            </a:r>
            <a:r>
              <a:rPr lang="en-US" altLang="zh-CN" b="1" i="1" dirty="0">
                <a:solidFill>
                  <a:srgbClr val="FF0000"/>
                </a:solidFill>
                <a:latin typeface="Crimson Text"/>
              </a:rPr>
              <a:t>(X) </a:t>
            </a:r>
            <a:r>
              <a:rPr lang="en-US" altLang="zh-CN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| X</a:t>
            </a:r>
            <a:endParaRPr lang="zh-CN" altLang="en-US" b="1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868550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" grpId="0" animBg="1"/>
      <p:bldP spid="7" grpId="0"/>
      <p:bldP spid="59" grpId="0"/>
      <p:bldP spid="62" grpId="0" animBg="1"/>
      <p:bldP spid="63" grpId="0"/>
      <p:bldP spid="70" grpId="0" animBg="1"/>
      <p:bldP spid="71" grpId="0"/>
      <p:bldP spid="75" grpId="0" animBg="1"/>
      <p:bldP spid="76" grpId="0"/>
      <p:bldP spid="30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9BBCCEF-D42F-420B-9CC2-98A9815DB6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Cuckoo Hashing</a:t>
            </a:r>
            <a:endParaRPr lang="zh-CN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22BB0D1-6F5E-4E6D-883B-B9B39DCC89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445289"/>
          </a:xfrm>
        </p:spPr>
        <p:txBody>
          <a:bodyPr>
            <a:normAutofit/>
          </a:bodyPr>
          <a:lstStyle/>
          <a:p>
            <a:pPr marL="446088" indent="-446088">
              <a:lnSpc>
                <a:spcPct val="100000"/>
              </a:lnSpc>
              <a:spcBef>
                <a:spcPts val="1200"/>
              </a:spcBef>
            </a:pPr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Threads have to make sure that they don’t get stuck in an </a:t>
            </a:r>
            <a:r>
              <a:rPr lang="en-US" altLang="zh-CN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infinite loop </a:t>
            </a:r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when moving keys.</a:t>
            </a:r>
          </a:p>
          <a:p>
            <a:pPr marL="446088" indent="-446088">
              <a:lnSpc>
                <a:spcPct val="100000"/>
              </a:lnSpc>
              <a:spcBef>
                <a:spcPts val="1200"/>
              </a:spcBef>
            </a:pPr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If we find a cycle, then we can rebuild the entire hash tables with new hash functions.</a:t>
            </a:r>
          </a:p>
          <a:p>
            <a:pPr marL="903288" lvl="1" indent="-446088">
              <a:lnSpc>
                <a:spcPct val="100000"/>
              </a:lnSpc>
              <a:spcBef>
                <a:spcPts val="1200"/>
              </a:spcBef>
            </a:pPr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With </a:t>
            </a:r>
            <a:r>
              <a:rPr lang="en-US" altLang="zh-CN" b="1" u="sng" dirty="0">
                <a:latin typeface="Arial" panose="020B0604020202020204" pitchFamily="34" charset="0"/>
                <a:cs typeface="Arial" panose="020B0604020202020204" pitchFamily="34" charset="0"/>
              </a:rPr>
              <a:t>two</a:t>
            </a:r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 hash functions, we (probably) won’t need to rebuild the table until it is at about </a:t>
            </a:r>
            <a:r>
              <a:rPr lang="en-US" altLang="zh-CN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50%</a:t>
            </a:r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 full.</a:t>
            </a:r>
          </a:p>
          <a:p>
            <a:pPr marL="903288" lvl="1" indent="-446088">
              <a:lnSpc>
                <a:spcPct val="100000"/>
              </a:lnSpc>
              <a:spcBef>
                <a:spcPts val="1200"/>
              </a:spcBef>
            </a:pPr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With </a:t>
            </a:r>
            <a:r>
              <a:rPr lang="en-US" altLang="zh-CN" b="1" u="sng" dirty="0">
                <a:latin typeface="Arial" panose="020B0604020202020204" pitchFamily="34" charset="0"/>
                <a:cs typeface="Arial" panose="020B0604020202020204" pitchFamily="34" charset="0"/>
              </a:rPr>
              <a:t>three</a:t>
            </a:r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 hash functions, we (probably) won’t need to rebuild the table until it is at about </a:t>
            </a:r>
            <a:r>
              <a:rPr lang="en-US" altLang="zh-CN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90%</a:t>
            </a:r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 full.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2905825-8EE0-4CF0-A05E-CAFDF944FB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27F444-93F6-4438-90C1-AFDF3A39EEF0}" type="datetime1">
              <a:rPr lang="zh-CN" altLang="en-US" smtClean="0"/>
              <a:t>2024/5/8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ED664A2-5898-4C25-86F3-E969A94A39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Hash Indices</a:t>
            </a: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34B9AF0-AA69-4CFE-BBF2-A55EB4555B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5CA875-76FA-4283-B5BE-070B4D16A27E}" type="slidenum">
              <a:rPr lang="zh-CN" altLang="en-US" smtClean="0"/>
              <a:t>18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2367650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9BBCCEF-D42F-420B-9CC2-98A9815DB6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Extendible Hashing</a:t>
            </a:r>
            <a:endParaRPr lang="zh-CN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2905825-8EE0-4CF0-A05E-CAFDF944FB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1D5B42-F45B-40A8-A915-89752E56A323}" type="datetime1">
              <a:rPr lang="zh-CN" altLang="en-US" smtClean="0"/>
              <a:t>2024/5/8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ED664A2-5898-4C25-86F3-E969A94A39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Hash Indices</a:t>
            </a: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34B9AF0-AA69-4CFE-BBF2-A55EB4555B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5CA875-76FA-4283-B5BE-070B4D16A27E}" type="slidenum">
              <a:rPr lang="zh-CN" altLang="en-US" smtClean="0"/>
              <a:t>19</a:t>
            </a:fld>
            <a:endParaRPr lang="zh-CN" altLang="en-US"/>
          </a:p>
        </p:txBody>
      </p:sp>
      <p:sp>
        <p:nvSpPr>
          <p:cNvPr id="8" name="内容占位符 7">
            <a:extLst>
              <a:ext uri="{FF2B5EF4-FFF2-40B4-BE49-F238E27FC236}">
                <a16:creationId xmlns:a16="http://schemas.microsoft.com/office/drawing/2014/main" id="{13D5DB0C-A129-4A7C-89EE-91B1014FC0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00000"/>
              </a:lnSpc>
              <a:spcBef>
                <a:spcPts val="1200"/>
              </a:spcBef>
            </a:pPr>
            <a:r>
              <a:rPr lang="en-US" altLang="zh-CN" dirty="0"/>
              <a:t>Chained-hashing approach where we split buckets instead of letting the linked list grow forever.</a:t>
            </a:r>
          </a:p>
          <a:p>
            <a:pPr>
              <a:lnSpc>
                <a:spcPct val="100000"/>
              </a:lnSpc>
              <a:spcBef>
                <a:spcPts val="1200"/>
              </a:spcBef>
            </a:pPr>
            <a:r>
              <a:rPr lang="en-US" altLang="zh-CN" dirty="0"/>
              <a:t>Multiple slot locations can point to the same bucket chain.</a:t>
            </a:r>
          </a:p>
          <a:p>
            <a:pPr>
              <a:lnSpc>
                <a:spcPct val="100000"/>
              </a:lnSpc>
              <a:spcBef>
                <a:spcPts val="1200"/>
              </a:spcBef>
            </a:pPr>
            <a:r>
              <a:rPr lang="en-US" altLang="zh-CN" dirty="0"/>
              <a:t>Reshuffling bucket entries on split and increase the number of bits to examine.</a:t>
            </a:r>
          </a:p>
          <a:p>
            <a:pPr lvl="1">
              <a:lnSpc>
                <a:spcPct val="100000"/>
              </a:lnSpc>
              <a:spcBef>
                <a:spcPts val="1200"/>
              </a:spcBef>
            </a:pPr>
            <a:r>
              <a:rPr lang="en-US" altLang="zh-CN" dirty="0"/>
              <a:t>Data movement is localized to just the split chain.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29244266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9BBCCEF-D42F-420B-9CC2-98A9815DB6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Extendable Hashing</a:t>
            </a:r>
            <a:endParaRPr lang="zh-CN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2905825-8EE0-4CF0-A05E-CAFDF944FB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901AD5-02B1-43C8-A85B-D1154DB51552}" type="datetime1">
              <a:rPr lang="zh-CN" altLang="en-US" smtClean="0"/>
              <a:t>2024/5/8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ED664A2-5898-4C25-86F3-E969A94A39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Hash Indices</a:t>
            </a: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34B9AF0-AA69-4CFE-BBF2-A55EB4555B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5CA875-76FA-4283-B5BE-070B4D16A27E}" type="slidenum">
              <a:rPr lang="zh-CN" altLang="en-US" smtClean="0"/>
              <a:t>20</a:t>
            </a:fld>
            <a:endParaRPr lang="zh-CN" altLang="en-US"/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3024639C-B3C8-49EE-B83D-8667850CD1D2}"/>
              </a:ext>
            </a:extLst>
          </p:cNvPr>
          <p:cNvGrpSpPr/>
          <p:nvPr/>
        </p:nvGrpSpPr>
        <p:grpSpPr>
          <a:xfrm>
            <a:off x="4954207" y="1779700"/>
            <a:ext cx="1977396" cy="1085593"/>
            <a:chOff x="3967045" y="2222509"/>
            <a:chExt cx="1977396" cy="1085593"/>
          </a:xfrm>
        </p:grpSpPr>
        <p:grpSp>
          <p:nvGrpSpPr>
            <p:cNvPr id="7" name="组合 6">
              <a:extLst>
                <a:ext uri="{FF2B5EF4-FFF2-40B4-BE49-F238E27FC236}">
                  <a16:creationId xmlns:a16="http://schemas.microsoft.com/office/drawing/2014/main" id="{9FDDB302-72EB-4F8B-A501-4F8760FF32D3}"/>
                </a:ext>
              </a:extLst>
            </p:cNvPr>
            <p:cNvGrpSpPr/>
            <p:nvPr/>
          </p:nvGrpSpPr>
          <p:grpSpPr>
            <a:xfrm>
              <a:off x="3967045" y="2222509"/>
              <a:ext cx="1597070" cy="1085593"/>
              <a:chOff x="3120764" y="1928099"/>
              <a:chExt cx="1597070" cy="1085593"/>
            </a:xfrm>
          </p:grpSpPr>
          <p:sp>
            <p:nvSpPr>
              <p:cNvPr id="9" name="矩形 8">
                <a:extLst>
                  <a:ext uri="{FF2B5EF4-FFF2-40B4-BE49-F238E27FC236}">
                    <a16:creationId xmlns:a16="http://schemas.microsoft.com/office/drawing/2014/main" id="{480C920A-90E2-4C5A-8D90-D8A123F63313}"/>
                  </a:ext>
                </a:extLst>
              </p:cNvPr>
              <p:cNvSpPr/>
              <p:nvPr/>
            </p:nvSpPr>
            <p:spPr>
              <a:xfrm>
                <a:off x="3120764" y="1928099"/>
                <a:ext cx="1597070" cy="1085593"/>
              </a:xfrm>
              <a:prstGeom prst="rect">
                <a:avLst/>
              </a:prstGeom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0" name="矩形 9">
                <a:extLst>
                  <a:ext uri="{FF2B5EF4-FFF2-40B4-BE49-F238E27FC236}">
                    <a16:creationId xmlns:a16="http://schemas.microsoft.com/office/drawing/2014/main" id="{2A1D8830-AB19-4806-91CB-AAB5F793E970}"/>
                  </a:ext>
                </a:extLst>
              </p:cNvPr>
              <p:cNvSpPr/>
              <p:nvPr/>
            </p:nvSpPr>
            <p:spPr>
              <a:xfrm>
                <a:off x="3251519" y="2029839"/>
                <a:ext cx="1326466" cy="244586"/>
              </a:xfrm>
              <a:prstGeom prst="rect">
                <a:avLst/>
              </a:prstGeom>
              <a:solidFill>
                <a:schemeClr val="bg1"/>
              </a:solidFill>
              <a:ln w="254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4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00010…</a:t>
                </a:r>
                <a:endParaRPr lang="zh-CN" altLang="en-US" sz="14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1" name="矩形 10">
                <a:extLst>
                  <a:ext uri="{FF2B5EF4-FFF2-40B4-BE49-F238E27FC236}">
                    <a16:creationId xmlns:a16="http://schemas.microsoft.com/office/drawing/2014/main" id="{0D631330-B99C-4419-9D6E-F87CC137DB3C}"/>
                  </a:ext>
                </a:extLst>
              </p:cNvPr>
              <p:cNvSpPr/>
              <p:nvPr/>
            </p:nvSpPr>
            <p:spPr>
              <a:xfrm>
                <a:off x="3251519" y="2677089"/>
                <a:ext cx="1326466" cy="244586"/>
              </a:xfrm>
              <a:prstGeom prst="rect">
                <a:avLst/>
              </a:prstGeom>
              <a:solidFill>
                <a:schemeClr val="bg1"/>
              </a:solidFill>
              <a:ln w="254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4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2" name="矩形 11">
                <a:extLst>
                  <a:ext uri="{FF2B5EF4-FFF2-40B4-BE49-F238E27FC236}">
                    <a16:creationId xmlns:a16="http://schemas.microsoft.com/office/drawing/2014/main" id="{45F3AF6E-313B-4D40-8DF0-9C5C0880DD78}"/>
                  </a:ext>
                </a:extLst>
              </p:cNvPr>
              <p:cNvSpPr/>
              <p:nvPr/>
            </p:nvSpPr>
            <p:spPr>
              <a:xfrm>
                <a:off x="3251519" y="2353464"/>
                <a:ext cx="1326466" cy="244586"/>
              </a:xfrm>
              <a:prstGeom prst="rect">
                <a:avLst/>
              </a:prstGeom>
              <a:solidFill>
                <a:schemeClr val="bg1"/>
              </a:solidFill>
              <a:ln w="254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4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01110…</a:t>
                </a:r>
                <a:endParaRPr lang="zh-CN" altLang="en-US" sz="14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3" name="矩形 2">
              <a:extLst>
                <a:ext uri="{FF2B5EF4-FFF2-40B4-BE49-F238E27FC236}">
                  <a16:creationId xmlns:a16="http://schemas.microsoft.com/office/drawing/2014/main" id="{75D3C92D-6C7D-44F5-ACDC-131FA13D7DF8}"/>
                </a:ext>
              </a:extLst>
            </p:cNvPr>
            <p:cNvSpPr/>
            <p:nvPr/>
          </p:nvSpPr>
          <p:spPr>
            <a:xfrm>
              <a:off x="5564115" y="2222509"/>
              <a:ext cx="380326" cy="346326"/>
            </a:xfrm>
            <a:prstGeom prst="rect">
              <a:avLst/>
            </a:prstGeom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b="1" dirty="0"/>
                <a:t>1</a:t>
              </a:r>
              <a:endParaRPr lang="zh-CN" altLang="en-US" b="1" dirty="0"/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4204676F-8260-4BA4-B0DA-8F832B755E20}"/>
              </a:ext>
            </a:extLst>
          </p:cNvPr>
          <p:cNvGrpSpPr/>
          <p:nvPr/>
        </p:nvGrpSpPr>
        <p:grpSpPr>
          <a:xfrm>
            <a:off x="4954207" y="2932883"/>
            <a:ext cx="1977396" cy="1085593"/>
            <a:chOff x="3967045" y="2222509"/>
            <a:chExt cx="1977396" cy="1085593"/>
          </a:xfrm>
        </p:grpSpPr>
        <p:grpSp>
          <p:nvGrpSpPr>
            <p:cNvPr id="15" name="组合 14">
              <a:extLst>
                <a:ext uri="{FF2B5EF4-FFF2-40B4-BE49-F238E27FC236}">
                  <a16:creationId xmlns:a16="http://schemas.microsoft.com/office/drawing/2014/main" id="{628EAAF6-51AD-491C-A13D-35C54EBAA521}"/>
                </a:ext>
              </a:extLst>
            </p:cNvPr>
            <p:cNvGrpSpPr/>
            <p:nvPr/>
          </p:nvGrpSpPr>
          <p:grpSpPr>
            <a:xfrm>
              <a:off x="3967045" y="2222509"/>
              <a:ext cx="1597070" cy="1085593"/>
              <a:chOff x="3120764" y="1928099"/>
              <a:chExt cx="1597070" cy="1085593"/>
            </a:xfrm>
          </p:grpSpPr>
          <p:sp>
            <p:nvSpPr>
              <p:cNvPr id="17" name="矩形 16">
                <a:extLst>
                  <a:ext uri="{FF2B5EF4-FFF2-40B4-BE49-F238E27FC236}">
                    <a16:creationId xmlns:a16="http://schemas.microsoft.com/office/drawing/2014/main" id="{7E8EC09F-157F-4C94-8EB8-3C3359FBCA94}"/>
                  </a:ext>
                </a:extLst>
              </p:cNvPr>
              <p:cNvSpPr/>
              <p:nvPr/>
            </p:nvSpPr>
            <p:spPr>
              <a:xfrm>
                <a:off x="3120764" y="1928099"/>
                <a:ext cx="1597070" cy="1085593"/>
              </a:xfrm>
              <a:prstGeom prst="rect">
                <a:avLst/>
              </a:prstGeom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8" name="矩形 17">
                <a:extLst>
                  <a:ext uri="{FF2B5EF4-FFF2-40B4-BE49-F238E27FC236}">
                    <a16:creationId xmlns:a16="http://schemas.microsoft.com/office/drawing/2014/main" id="{232E75C7-E75A-40FA-A35D-E4ECD84D6AA1}"/>
                  </a:ext>
                </a:extLst>
              </p:cNvPr>
              <p:cNvSpPr/>
              <p:nvPr/>
            </p:nvSpPr>
            <p:spPr>
              <a:xfrm>
                <a:off x="3251519" y="2029839"/>
                <a:ext cx="1326466" cy="244586"/>
              </a:xfrm>
              <a:prstGeom prst="rect">
                <a:avLst/>
              </a:prstGeom>
              <a:solidFill>
                <a:schemeClr val="bg1"/>
              </a:solidFill>
              <a:ln w="254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4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10101…</a:t>
                </a:r>
                <a:endParaRPr lang="zh-CN" altLang="en-US" sz="14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9" name="矩形 18">
                <a:extLst>
                  <a:ext uri="{FF2B5EF4-FFF2-40B4-BE49-F238E27FC236}">
                    <a16:creationId xmlns:a16="http://schemas.microsoft.com/office/drawing/2014/main" id="{C4B18C4E-73F1-429B-BB98-E36948A520BC}"/>
                  </a:ext>
                </a:extLst>
              </p:cNvPr>
              <p:cNvSpPr/>
              <p:nvPr/>
            </p:nvSpPr>
            <p:spPr>
              <a:xfrm>
                <a:off x="3251519" y="2677089"/>
                <a:ext cx="1326466" cy="244586"/>
              </a:xfrm>
              <a:prstGeom prst="rect">
                <a:avLst/>
              </a:prstGeom>
              <a:solidFill>
                <a:schemeClr val="bg1"/>
              </a:solidFill>
              <a:ln w="254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4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20" name="矩形 19">
                <a:extLst>
                  <a:ext uri="{FF2B5EF4-FFF2-40B4-BE49-F238E27FC236}">
                    <a16:creationId xmlns:a16="http://schemas.microsoft.com/office/drawing/2014/main" id="{8BF02F93-A143-42EF-A240-756FDE2499AB}"/>
                  </a:ext>
                </a:extLst>
              </p:cNvPr>
              <p:cNvSpPr/>
              <p:nvPr/>
            </p:nvSpPr>
            <p:spPr>
              <a:xfrm>
                <a:off x="3251519" y="2353464"/>
                <a:ext cx="1326466" cy="244586"/>
              </a:xfrm>
              <a:prstGeom prst="rect">
                <a:avLst/>
              </a:prstGeom>
              <a:solidFill>
                <a:schemeClr val="bg1"/>
              </a:solidFill>
              <a:ln w="254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4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10011…</a:t>
                </a:r>
                <a:endParaRPr lang="zh-CN" altLang="en-US" sz="14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16" name="矩形 15">
              <a:extLst>
                <a:ext uri="{FF2B5EF4-FFF2-40B4-BE49-F238E27FC236}">
                  <a16:creationId xmlns:a16="http://schemas.microsoft.com/office/drawing/2014/main" id="{FE650D52-5D23-4767-BEAD-7F2514BC522B}"/>
                </a:ext>
              </a:extLst>
            </p:cNvPr>
            <p:cNvSpPr/>
            <p:nvPr/>
          </p:nvSpPr>
          <p:spPr>
            <a:xfrm>
              <a:off x="5564115" y="2222509"/>
              <a:ext cx="380326" cy="346326"/>
            </a:xfrm>
            <a:prstGeom prst="rect">
              <a:avLst/>
            </a:prstGeom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b="1" dirty="0"/>
                <a:t>2</a:t>
              </a:r>
              <a:endParaRPr lang="zh-CN" altLang="en-US" b="1" dirty="0"/>
            </a:p>
          </p:txBody>
        </p:sp>
      </p:grpSp>
      <p:grpSp>
        <p:nvGrpSpPr>
          <p:cNvPr id="21" name="组合 20">
            <a:extLst>
              <a:ext uri="{FF2B5EF4-FFF2-40B4-BE49-F238E27FC236}">
                <a16:creationId xmlns:a16="http://schemas.microsoft.com/office/drawing/2014/main" id="{9EE9FCAD-9A2D-4B8A-B019-0E485FE207E2}"/>
              </a:ext>
            </a:extLst>
          </p:cNvPr>
          <p:cNvGrpSpPr/>
          <p:nvPr/>
        </p:nvGrpSpPr>
        <p:grpSpPr>
          <a:xfrm>
            <a:off x="4954207" y="4084519"/>
            <a:ext cx="1977396" cy="1085593"/>
            <a:chOff x="3967045" y="2222509"/>
            <a:chExt cx="1977396" cy="1085593"/>
          </a:xfrm>
        </p:grpSpPr>
        <p:grpSp>
          <p:nvGrpSpPr>
            <p:cNvPr id="22" name="组合 21">
              <a:extLst>
                <a:ext uri="{FF2B5EF4-FFF2-40B4-BE49-F238E27FC236}">
                  <a16:creationId xmlns:a16="http://schemas.microsoft.com/office/drawing/2014/main" id="{B7CCA697-86EC-4067-A73F-079F343B8E24}"/>
                </a:ext>
              </a:extLst>
            </p:cNvPr>
            <p:cNvGrpSpPr/>
            <p:nvPr/>
          </p:nvGrpSpPr>
          <p:grpSpPr>
            <a:xfrm>
              <a:off x="3967045" y="2222509"/>
              <a:ext cx="1597070" cy="1085593"/>
              <a:chOff x="3120764" y="1928099"/>
              <a:chExt cx="1597070" cy="1085593"/>
            </a:xfrm>
          </p:grpSpPr>
          <p:sp>
            <p:nvSpPr>
              <p:cNvPr id="24" name="矩形 23">
                <a:extLst>
                  <a:ext uri="{FF2B5EF4-FFF2-40B4-BE49-F238E27FC236}">
                    <a16:creationId xmlns:a16="http://schemas.microsoft.com/office/drawing/2014/main" id="{619565CE-C7F8-43E8-B310-B874C5F7FF26}"/>
                  </a:ext>
                </a:extLst>
              </p:cNvPr>
              <p:cNvSpPr/>
              <p:nvPr/>
            </p:nvSpPr>
            <p:spPr>
              <a:xfrm>
                <a:off x="3120764" y="1928099"/>
                <a:ext cx="1597070" cy="1085593"/>
              </a:xfrm>
              <a:prstGeom prst="rect">
                <a:avLst/>
              </a:prstGeom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5" name="矩形 24">
                <a:extLst>
                  <a:ext uri="{FF2B5EF4-FFF2-40B4-BE49-F238E27FC236}">
                    <a16:creationId xmlns:a16="http://schemas.microsoft.com/office/drawing/2014/main" id="{D651FB57-6E8E-45F9-AE97-D5AD6B6646B8}"/>
                  </a:ext>
                </a:extLst>
              </p:cNvPr>
              <p:cNvSpPr/>
              <p:nvPr/>
            </p:nvSpPr>
            <p:spPr>
              <a:xfrm>
                <a:off x="3251519" y="2029839"/>
                <a:ext cx="1326466" cy="244586"/>
              </a:xfrm>
              <a:prstGeom prst="rect">
                <a:avLst/>
              </a:prstGeom>
              <a:solidFill>
                <a:schemeClr val="bg1"/>
              </a:solidFill>
              <a:ln w="254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4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11010…</a:t>
                </a:r>
                <a:endParaRPr lang="zh-CN" altLang="en-US" sz="14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26" name="矩形 25">
                <a:extLst>
                  <a:ext uri="{FF2B5EF4-FFF2-40B4-BE49-F238E27FC236}">
                    <a16:creationId xmlns:a16="http://schemas.microsoft.com/office/drawing/2014/main" id="{E642A90E-5EF3-477A-A809-CED64C713EA7}"/>
                  </a:ext>
                </a:extLst>
              </p:cNvPr>
              <p:cNvSpPr/>
              <p:nvPr/>
            </p:nvSpPr>
            <p:spPr>
              <a:xfrm>
                <a:off x="3251519" y="2677089"/>
                <a:ext cx="1326466" cy="244586"/>
              </a:xfrm>
              <a:prstGeom prst="rect">
                <a:avLst/>
              </a:prstGeom>
              <a:solidFill>
                <a:schemeClr val="bg1"/>
              </a:solidFill>
              <a:ln w="254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4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27" name="矩形 26">
                <a:extLst>
                  <a:ext uri="{FF2B5EF4-FFF2-40B4-BE49-F238E27FC236}">
                    <a16:creationId xmlns:a16="http://schemas.microsoft.com/office/drawing/2014/main" id="{53D628CE-07FA-4E35-AB6A-818A2F37E09E}"/>
                  </a:ext>
                </a:extLst>
              </p:cNvPr>
              <p:cNvSpPr/>
              <p:nvPr/>
            </p:nvSpPr>
            <p:spPr>
              <a:xfrm>
                <a:off x="3251519" y="2353464"/>
                <a:ext cx="1326466" cy="244586"/>
              </a:xfrm>
              <a:prstGeom prst="rect">
                <a:avLst/>
              </a:prstGeom>
              <a:solidFill>
                <a:schemeClr val="bg1"/>
              </a:solidFill>
              <a:ln w="254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4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23" name="矩形 22">
              <a:extLst>
                <a:ext uri="{FF2B5EF4-FFF2-40B4-BE49-F238E27FC236}">
                  <a16:creationId xmlns:a16="http://schemas.microsoft.com/office/drawing/2014/main" id="{DEC7DB32-5E26-4C42-8FCD-6D3342E30DB6}"/>
                </a:ext>
              </a:extLst>
            </p:cNvPr>
            <p:cNvSpPr/>
            <p:nvPr/>
          </p:nvSpPr>
          <p:spPr>
            <a:xfrm>
              <a:off x="5564115" y="2222509"/>
              <a:ext cx="380326" cy="346326"/>
            </a:xfrm>
            <a:prstGeom prst="rect">
              <a:avLst/>
            </a:prstGeom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b="1" dirty="0"/>
                <a:t>2</a:t>
              </a:r>
              <a:endParaRPr lang="zh-CN" altLang="en-US" b="1" dirty="0"/>
            </a:p>
          </p:txBody>
        </p:sp>
      </p:grpSp>
      <p:sp>
        <p:nvSpPr>
          <p:cNvPr id="35" name="矩形 34">
            <a:extLst>
              <a:ext uri="{FF2B5EF4-FFF2-40B4-BE49-F238E27FC236}">
                <a16:creationId xmlns:a16="http://schemas.microsoft.com/office/drawing/2014/main" id="{B5911D35-2C54-4548-A210-B869CD05B1DF}"/>
              </a:ext>
            </a:extLst>
          </p:cNvPr>
          <p:cNvSpPr/>
          <p:nvPr/>
        </p:nvSpPr>
        <p:spPr>
          <a:xfrm>
            <a:off x="2352145" y="1881440"/>
            <a:ext cx="380326" cy="346326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b="1" dirty="0"/>
              <a:t>2</a:t>
            </a:r>
            <a:endParaRPr lang="zh-CN" altLang="en-US" b="1" dirty="0"/>
          </a:p>
        </p:txBody>
      </p:sp>
      <p:grpSp>
        <p:nvGrpSpPr>
          <p:cNvPr id="36" name="组合 35">
            <a:extLst>
              <a:ext uri="{FF2B5EF4-FFF2-40B4-BE49-F238E27FC236}">
                <a16:creationId xmlns:a16="http://schemas.microsoft.com/office/drawing/2014/main" id="{2AC5CD71-C508-4BA3-B366-AA1381EA8708}"/>
              </a:ext>
            </a:extLst>
          </p:cNvPr>
          <p:cNvGrpSpPr/>
          <p:nvPr/>
        </p:nvGrpSpPr>
        <p:grpSpPr>
          <a:xfrm>
            <a:off x="2001968" y="2525826"/>
            <a:ext cx="1121485" cy="1395532"/>
            <a:chOff x="1626762" y="2964260"/>
            <a:chExt cx="479511" cy="1395532"/>
          </a:xfrm>
        </p:grpSpPr>
        <p:sp>
          <p:nvSpPr>
            <p:cNvPr id="37" name="矩形 36">
              <a:extLst>
                <a:ext uri="{FF2B5EF4-FFF2-40B4-BE49-F238E27FC236}">
                  <a16:creationId xmlns:a16="http://schemas.microsoft.com/office/drawing/2014/main" id="{A69CDD50-64A8-4B93-8050-C504E9399902}"/>
                </a:ext>
              </a:extLst>
            </p:cNvPr>
            <p:cNvSpPr/>
            <p:nvPr/>
          </p:nvSpPr>
          <p:spPr>
            <a:xfrm>
              <a:off x="1626762" y="2964260"/>
              <a:ext cx="479511" cy="348883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b="1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00…</a:t>
              </a:r>
              <a:endParaRPr lang="zh-CN" altLang="en-US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8" name="矩形 37">
              <a:extLst>
                <a:ext uri="{FF2B5EF4-FFF2-40B4-BE49-F238E27FC236}">
                  <a16:creationId xmlns:a16="http://schemas.microsoft.com/office/drawing/2014/main" id="{B2B2E98B-BBBF-4495-A193-2E045179F0E2}"/>
                </a:ext>
              </a:extLst>
            </p:cNvPr>
            <p:cNvSpPr/>
            <p:nvPr/>
          </p:nvSpPr>
          <p:spPr>
            <a:xfrm>
              <a:off x="1626762" y="3313143"/>
              <a:ext cx="479511" cy="348883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b="1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01…</a:t>
              </a:r>
              <a:endParaRPr lang="zh-CN" altLang="en-US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9" name="矩形 38">
              <a:extLst>
                <a:ext uri="{FF2B5EF4-FFF2-40B4-BE49-F238E27FC236}">
                  <a16:creationId xmlns:a16="http://schemas.microsoft.com/office/drawing/2014/main" id="{B282B0C5-1864-4273-B956-083A0A4E6666}"/>
                </a:ext>
              </a:extLst>
            </p:cNvPr>
            <p:cNvSpPr/>
            <p:nvPr/>
          </p:nvSpPr>
          <p:spPr>
            <a:xfrm>
              <a:off x="1626762" y="3662026"/>
              <a:ext cx="479511" cy="348883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b="1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10…</a:t>
              </a:r>
              <a:endParaRPr lang="zh-CN" altLang="en-US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0" name="矩形 39">
              <a:extLst>
                <a:ext uri="{FF2B5EF4-FFF2-40B4-BE49-F238E27FC236}">
                  <a16:creationId xmlns:a16="http://schemas.microsoft.com/office/drawing/2014/main" id="{FD3BB798-BC26-4C96-904C-F47420F87400}"/>
                </a:ext>
              </a:extLst>
            </p:cNvPr>
            <p:cNvSpPr/>
            <p:nvPr/>
          </p:nvSpPr>
          <p:spPr>
            <a:xfrm>
              <a:off x="1626762" y="4010909"/>
              <a:ext cx="479511" cy="348883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b="1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11…</a:t>
              </a:r>
              <a:endParaRPr lang="zh-CN" altLang="en-US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41" name="矩形 40">
            <a:extLst>
              <a:ext uri="{FF2B5EF4-FFF2-40B4-BE49-F238E27FC236}">
                <a16:creationId xmlns:a16="http://schemas.microsoft.com/office/drawing/2014/main" id="{69E50DFA-BC2C-4D3D-BEFB-EFAA57BCD267}"/>
              </a:ext>
            </a:extLst>
          </p:cNvPr>
          <p:cNvSpPr/>
          <p:nvPr/>
        </p:nvSpPr>
        <p:spPr>
          <a:xfrm>
            <a:off x="1529454" y="1869937"/>
            <a:ext cx="884729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b="1" i="1" dirty="0">
                <a:solidFill>
                  <a:srgbClr val="FF0000"/>
                </a:solidFill>
                <a:latin typeface="Crimson Text"/>
              </a:rPr>
              <a:t>global</a:t>
            </a:r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9AB284E7-139F-4383-B4A8-41907ED6DCC6}"/>
              </a:ext>
            </a:extLst>
          </p:cNvPr>
          <p:cNvSpPr/>
          <p:nvPr/>
        </p:nvSpPr>
        <p:spPr>
          <a:xfrm>
            <a:off x="6931603" y="1784993"/>
            <a:ext cx="63246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b="1" i="1" dirty="0">
                <a:solidFill>
                  <a:srgbClr val="FF0000"/>
                </a:solidFill>
                <a:latin typeface="Crimson Text"/>
              </a:rPr>
              <a:t>local</a:t>
            </a:r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29457583-44A9-4BA8-B2F9-CF810C022FDF}"/>
              </a:ext>
            </a:extLst>
          </p:cNvPr>
          <p:cNvSpPr/>
          <p:nvPr/>
        </p:nvSpPr>
        <p:spPr>
          <a:xfrm>
            <a:off x="6931603" y="2921380"/>
            <a:ext cx="63246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b="1" i="1" dirty="0">
                <a:solidFill>
                  <a:srgbClr val="FF0000"/>
                </a:solidFill>
                <a:latin typeface="Crimson Text"/>
              </a:rPr>
              <a:t>local</a:t>
            </a:r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F2BC1378-D02A-4492-9254-5FEDCBB2D587}"/>
              </a:ext>
            </a:extLst>
          </p:cNvPr>
          <p:cNvSpPr/>
          <p:nvPr/>
        </p:nvSpPr>
        <p:spPr>
          <a:xfrm>
            <a:off x="6931603" y="4073016"/>
            <a:ext cx="63246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b="1" i="1" dirty="0">
                <a:solidFill>
                  <a:srgbClr val="FF0000"/>
                </a:solidFill>
                <a:latin typeface="Crimson Text"/>
              </a:rPr>
              <a:t>local</a:t>
            </a:r>
            <a:endParaRPr lang="zh-CN" altLang="en-US" dirty="0">
              <a:solidFill>
                <a:srgbClr val="FF0000"/>
              </a:solidFill>
            </a:endParaRPr>
          </a:p>
        </p:txBody>
      </p:sp>
      <p:cxnSp>
        <p:nvCxnSpPr>
          <p:cNvPr id="45" name="连接符: 曲线 44">
            <a:extLst>
              <a:ext uri="{FF2B5EF4-FFF2-40B4-BE49-F238E27FC236}">
                <a16:creationId xmlns:a16="http://schemas.microsoft.com/office/drawing/2014/main" id="{8451ED78-4A9F-454D-97EC-6C2ED389E998}"/>
              </a:ext>
            </a:extLst>
          </p:cNvPr>
          <p:cNvCxnSpPr>
            <a:cxnSpLocks/>
            <a:stCxn id="37" idx="3"/>
            <a:endCxn id="9" idx="1"/>
          </p:cNvCxnSpPr>
          <p:nvPr/>
        </p:nvCxnSpPr>
        <p:spPr>
          <a:xfrm flipV="1">
            <a:off x="3123453" y="2322497"/>
            <a:ext cx="1830754" cy="377771"/>
          </a:xfrm>
          <a:prstGeom prst="curvedConnector3">
            <a:avLst>
              <a:gd name="adj1" fmla="val 50000"/>
            </a:avLst>
          </a:prstGeom>
          <a:ln w="38100">
            <a:solidFill>
              <a:srgbClr val="FF0000"/>
            </a:solidFill>
            <a:headEnd type="oval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连接符: 曲线 47">
            <a:extLst>
              <a:ext uri="{FF2B5EF4-FFF2-40B4-BE49-F238E27FC236}">
                <a16:creationId xmlns:a16="http://schemas.microsoft.com/office/drawing/2014/main" id="{6BA95BC9-0A1D-4DF8-B48C-7AF8791931B3}"/>
              </a:ext>
            </a:extLst>
          </p:cNvPr>
          <p:cNvCxnSpPr>
            <a:cxnSpLocks/>
            <a:stCxn id="38" idx="3"/>
            <a:endCxn id="9" idx="1"/>
          </p:cNvCxnSpPr>
          <p:nvPr/>
        </p:nvCxnSpPr>
        <p:spPr>
          <a:xfrm flipV="1">
            <a:off x="3123453" y="2322497"/>
            <a:ext cx="1830754" cy="726654"/>
          </a:xfrm>
          <a:prstGeom prst="curvedConnector3">
            <a:avLst>
              <a:gd name="adj1" fmla="val 50000"/>
            </a:avLst>
          </a:prstGeom>
          <a:ln w="38100">
            <a:solidFill>
              <a:srgbClr val="FF0000"/>
            </a:solidFill>
            <a:headEnd type="oval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连接符: 曲线 51">
            <a:extLst>
              <a:ext uri="{FF2B5EF4-FFF2-40B4-BE49-F238E27FC236}">
                <a16:creationId xmlns:a16="http://schemas.microsoft.com/office/drawing/2014/main" id="{19A252AA-8F8E-426F-930D-74D6F694D7C6}"/>
              </a:ext>
            </a:extLst>
          </p:cNvPr>
          <p:cNvCxnSpPr>
            <a:cxnSpLocks/>
            <a:stCxn id="39" idx="3"/>
            <a:endCxn id="17" idx="1"/>
          </p:cNvCxnSpPr>
          <p:nvPr/>
        </p:nvCxnSpPr>
        <p:spPr>
          <a:xfrm>
            <a:off x="3123453" y="3398034"/>
            <a:ext cx="1830754" cy="77646"/>
          </a:xfrm>
          <a:prstGeom prst="curvedConnector3">
            <a:avLst>
              <a:gd name="adj1" fmla="val 50000"/>
            </a:avLst>
          </a:prstGeom>
          <a:ln w="38100">
            <a:solidFill>
              <a:srgbClr val="FF0000"/>
            </a:solidFill>
            <a:headEnd type="oval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连接符: 曲线 54">
            <a:extLst>
              <a:ext uri="{FF2B5EF4-FFF2-40B4-BE49-F238E27FC236}">
                <a16:creationId xmlns:a16="http://schemas.microsoft.com/office/drawing/2014/main" id="{18680697-5590-4CD2-846F-461C5B7B773B}"/>
              </a:ext>
            </a:extLst>
          </p:cNvPr>
          <p:cNvCxnSpPr>
            <a:cxnSpLocks/>
            <a:stCxn id="40" idx="3"/>
            <a:endCxn id="24" idx="1"/>
          </p:cNvCxnSpPr>
          <p:nvPr/>
        </p:nvCxnSpPr>
        <p:spPr>
          <a:xfrm>
            <a:off x="3123453" y="3746917"/>
            <a:ext cx="1830754" cy="880399"/>
          </a:xfrm>
          <a:prstGeom prst="curvedConnector3">
            <a:avLst>
              <a:gd name="adj1" fmla="val 50000"/>
            </a:avLst>
          </a:prstGeom>
          <a:ln w="38100">
            <a:solidFill>
              <a:srgbClr val="FF0000"/>
            </a:solidFill>
            <a:headEnd type="oval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矩形 57">
            <a:extLst>
              <a:ext uri="{FF2B5EF4-FFF2-40B4-BE49-F238E27FC236}">
                <a16:creationId xmlns:a16="http://schemas.microsoft.com/office/drawing/2014/main" id="{1D76D4A4-2AF3-459E-85BB-FCE948574340}"/>
              </a:ext>
            </a:extLst>
          </p:cNvPr>
          <p:cNvSpPr/>
          <p:nvPr/>
        </p:nvSpPr>
        <p:spPr>
          <a:xfrm>
            <a:off x="8382031" y="1917103"/>
            <a:ext cx="3345302" cy="9079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lang="en-US" altLang="zh-CN" sz="2400" b="1" dirty="0">
                <a:latin typeface="Inconsolata"/>
              </a:rPr>
              <a:t>Find A</a:t>
            </a:r>
          </a:p>
          <a:p>
            <a:pPr>
              <a:spcBef>
                <a:spcPts val="600"/>
              </a:spcBef>
            </a:pPr>
            <a:r>
              <a:rPr lang="en-US" altLang="zh-CN" sz="2400" b="1" i="1" dirty="0">
                <a:solidFill>
                  <a:srgbClr val="FF0000"/>
                </a:solidFill>
                <a:latin typeface="Crimson Text"/>
              </a:rPr>
              <a:t>hash(A) </a:t>
            </a:r>
            <a:r>
              <a:rPr lang="en-US" altLang="zh-CN" sz="2400" b="1" dirty="0">
                <a:solidFill>
                  <a:srgbClr val="FF0000"/>
                </a:solidFill>
                <a:latin typeface="Inconsolata"/>
              </a:rPr>
              <a:t>= 01110…</a:t>
            </a:r>
            <a:endParaRPr lang="zh-CN" altLang="en-US" sz="2400" dirty="0">
              <a:solidFill>
                <a:srgbClr val="FF0000"/>
              </a:solidFill>
            </a:endParaRPr>
          </a:p>
        </p:txBody>
      </p:sp>
      <p:sp>
        <p:nvSpPr>
          <p:cNvPr id="59" name="箭头: 右 58">
            <a:extLst>
              <a:ext uri="{FF2B5EF4-FFF2-40B4-BE49-F238E27FC236}">
                <a16:creationId xmlns:a16="http://schemas.microsoft.com/office/drawing/2014/main" id="{DB23A638-7F7A-474F-B008-F77FE10B0512}"/>
              </a:ext>
            </a:extLst>
          </p:cNvPr>
          <p:cNvSpPr/>
          <p:nvPr/>
        </p:nvSpPr>
        <p:spPr>
          <a:xfrm>
            <a:off x="1621642" y="2896242"/>
            <a:ext cx="308113" cy="305815"/>
          </a:xfrm>
          <a:prstGeom prst="right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0" name="矩形: 圆角 59">
            <a:extLst>
              <a:ext uri="{FF2B5EF4-FFF2-40B4-BE49-F238E27FC236}">
                <a16:creationId xmlns:a16="http://schemas.microsoft.com/office/drawing/2014/main" id="{879476EF-12E4-4665-84EF-9E5AD7C621C2}"/>
              </a:ext>
            </a:extLst>
          </p:cNvPr>
          <p:cNvSpPr/>
          <p:nvPr/>
        </p:nvSpPr>
        <p:spPr>
          <a:xfrm>
            <a:off x="9666683" y="2382149"/>
            <a:ext cx="415993" cy="442895"/>
          </a:xfrm>
          <a:prstGeom prst="roundRect">
            <a:avLst>
              <a:gd name="adj" fmla="val 5316"/>
            </a:avLst>
          </a:prstGeom>
          <a:solidFill>
            <a:srgbClr val="0070C0">
              <a:alpha val="20000"/>
            </a:srgbClr>
          </a:solidFill>
          <a:ln w="2540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1" name="矩形: 圆角 60">
            <a:extLst>
              <a:ext uri="{FF2B5EF4-FFF2-40B4-BE49-F238E27FC236}">
                <a16:creationId xmlns:a16="http://schemas.microsoft.com/office/drawing/2014/main" id="{D9109B16-E13B-4C4E-97C6-852387FBF01F}"/>
              </a:ext>
            </a:extLst>
          </p:cNvPr>
          <p:cNvSpPr/>
          <p:nvPr/>
        </p:nvSpPr>
        <p:spPr>
          <a:xfrm>
            <a:off x="4947794" y="1773241"/>
            <a:ext cx="1609896" cy="1101468"/>
          </a:xfrm>
          <a:prstGeom prst="roundRect">
            <a:avLst>
              <a:gd name="adj" fmla="val 5316"/>
            </a:avLst>
          </a:prstGeom>
          <a:solidFill>
            <a:srgbClr val="FF0000">
              <a:alpha val="20000"/>
            </a:srgbClr>
          </a:solidFill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3337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8" grpId="0"/>
      <p:bldP spid="59" grpId="0" animBg="1"/>
      <p:bldP spid="60" grpId="0" animBg="1"/>
      <p:bldP spid="61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9BBCCEF-D42F-420B-9CC2-98A9815DB6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Extendable Hashing</a:t>
            </a:r>
            <a:endParaRPr lang="zh-CN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2905825-8EE0-4CF0-A05E-CAFDF944FB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7A5E92-FFCD-4D3E-A818-BB129865C2A0}" type="datetime1">
              <a:rPr lang="zh-CN" altLang="en-US" smtClean="0"/>
              <a:t>2024/5/8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ED664A2-5898-4C25-86F3-E969A94A39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Hash Indices</a:t>
            </a: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34B9AF0-AA69-4CFE-BBF2-A55EB4555B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5CA875-76FA-4283-B5BE-070B4D16A27E}" type="slidenum">
              <a:rPr lang="zh-CN" altLang="en-US" smtClean="0"/>
              <a:t>21</a:t>
            </a:fld>
            <a:endParaRPr lang="zh-CN" altLang="en-US"/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3024639C-B3C8-49EE-B83D-8667850CD1D2}"/>
              </a:ext>
            </a:extLst>
          </p:cNvPr>
          <p:cNvGrpSpPr/>
          <p:nvPr/>
        </p:nvGrpSpPr>
        <p:grpSpPr>
          <a:xfrm>
            <a:off x="4954207" y="1779700"/>
            <a:ext cx="1977396" cy="1085593"/>
            <a:chOff x="3967045" y="2222509"/>
            <a:chExt cx="1977396" cy="1085593"/>
          </a:xfrm>
        </p:grpSpPr>
        <p:grpSp>
          <p:nvGrpSpPr>
            <p:cNvPr id="7" name="组合 6">
              <a:extLst>
                <a:ext uri="{FF2B5EF4-FFF2-40B4-BE49-F238E27FC236}">
                  <a16:creationId xmlns:a16="http://schemas.microsoft.com/office/drawing/2014/main" id="{9FDDB302-72EB-4F8B-A501-4F8760FF32D3}"/>
                </a:ext>
              </a:extLst>
            </p:cNvPr>
            <p:cNvGrpSpPr/>
            <p:nvPr/>
          </p:nvGrpSpPr>
          <p:grpSpPr>
            <a:xfrm>
              <a:off x="3967045" y="2222509"/>
              <a:ext cx="1597070" cy="1085593"/>
              <a:chOff x="3120764" y="1928099"/>
              <a:chExt cx="1597070" cy="1085593"/>
            </a:xfrm>
          </p:grpSpPr>
          <p:sp>
            <p:nvSpPr>
              <p:cNvPr id="9" name="矩形 8">
                <a:extLst>
                  <a:ext uri="{FF2B5EF4-FFF2-40B4-BE49-F238E27FC236}">
                    <a16:creationId xmlns:a16="http://schemas.microsoft.com/office/drawing/2014/main" id="{480C920A-90E2-4C5A-8D90-D8A123F63313}"/>
                  </a:ext>
                </a:extLst>
              </p:cNvPr>
              <p:cNvSpPr/>
              <p:nvPr/>
            </p:nvSpPr>
            <p:spPr>
              <a:xfrm>
                <a:off x="3120764" y="1928099"/>
                <a:ext cx="1597070" cy="1085593"/>
              </a:xfrm>
              <a:prstGeom prst="rect">
                <a:avLst/>
              </a:prstGeom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0" name="矩形 9">
                <a:extLst>
                  <a:ext uri="{FF2B5EF4-FFF2-40B4-BE49-F238E27FC236}">
                    <a16:creationId xmlns:a16="http://schemas.microsoft.com/office/drawing/2014/main" id="{2A1D8830-AB19-4806-91CB-AAB5F793E970}"/>
                  </a:ext>
                </a:extLst>
              </p:cNvPr>
              <p:cNvSpPr/>
              <p:nvPr/>
            </p:nvSpPr>
            <p:spPr>
              <a:xfrm>
                <a:off x="3251519" y="2029839"/>
                <a:ext cx="1326466" cy="244586"/>
              </a:xfrm>
              <a:prstGeom prst="rect">
                <a:avLst/>
              </a:prstGeom>
              <a:solidFill>
                <a:schemeClr val="bg1"/>
              </a:solidFill>
              <a:ln w="254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4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00010…</a:t>
                </a:r>
                <a:endParaRPr lang="zh-CN" altLang="en-US" sz="14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1" name="矩形 10">
                <a:extLst>
                  <a:ext uri="{FF2B5EF4-FFF2-40B4-BE49-F238E27FC236}">
                    <a16:creationId xmlns:a16="http://schemas.microsoft.com/office/drawing/2014/main" id="{0D631330-B99C-4419-9D6E-F87CC137DB3C}"/>
                  </a:ext>
                </a:extLst>
              </p:cNvPr>
              <p:cNvSpPr/>
              <p:nvPr/>
            </p:nvSpPr>
            <p:spPr>
              <a:xfrm>
                <a:off x="3251519" y="2677089"/>
                <a:ext cx="1326466" cy="244586"/>
              </a:xfrm>
              <a:prstGeom prst="rect">
                <a:avLst/>
              </a:prstGeom>
              <a:solidFill>
                <a:schemeClr val="bg1"/>
              </a:solidFill>
              <a:ln w="254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4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2" name="矩形 11">
                <a:extLst>
                  <a:ext uri="{FF2B5EF4-FFF2-40B4-BE49-F238E27FC236}">
                    <a16:creationId xmlns:a16="http://schemas.microsoft.com/office/drawing/2014/main" id="{45F3AF6E-313B-4D40-8DF0-9C5C0880DD78}"/>
                  </a:ext>
                </a:extLst>
              </p:cNvPr>
              <p:cNvSpPr/>
              <p:nvPr/>
            </p:nvSpPr>
            <p:spPr>
              <a:xfrm>
                <a:off x="3251519" y="2353464"/>
                <a:ext cx="1326466" cy="244586"/>
              </a:xfrm>
              <a:prstGeom prst="rect">
                <a:avLst/>
              </a:prstGeom>
              <a:solidFill>
                <a:schemeClr val="bg1"/>
              </a:solidFill>
              <a:ln w="254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4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01110…</a:t>
                </a:r>
                <a:endParaRPr lang="zh-CN" altLang="en-US" sz="14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3" name="矩形 2">
              <a:extLst>
                <a:ext uri="{FF2B5EF4-FFF2-40B4-BE49-F238E27FC236}">
                  <a16:creationId xmlns:a16="http://schemas.microsoft.com/office/drawing/2014/main" id="{75D3C92D-6C7D-44F5-ACDC-131FA13D7DF8}"/>
                </a:ext>
              </a:extLst>
            </p:cNvPr>
            <p:cNvSpPr/>
            <p:nvPr/>
          </p:nvSpPr>
          <p:spPr>
            <a:xfrm>
              <a:off x="5564115" y="2222509"/>
              <a:ext cx="380326" cy="346326"/>
            </a:xfrm>
            <a:prstGeom prst="rect">
              <a:avLst/>
            </a:prstGeom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b="1" dirty="0"/>
                <a:t>1</a:t>
              </a:r>
              <a:endParaRPr lang="zh-CN" altLang="en-US" b="1" dirty="0"/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4204676F-8260-4BA4-B0DA-8F832B755E20}"/>
              </a:ext>
            </a:extLst>
          </p:cNvPr>
          <p:cNvGrpSpPr/>
          <p:nvPr/>
        </p:nvGrpSpPr>
        <p:grpSpPr>
          <a:xfrm>
            <a:off x="4954207" y="2932883"/>
            <a:ext cx="1977396" cy="1085593"/>
            <a:chOff x="3967045" y="2222509"/>
            <a:chExt cx="1977396" cy="1085593"/>
          </a:xfrm>
        </p:grpSpPr>
        <p:grpSp>
          <p:nvGrpSpPr>
            <p:cNvPr id="15" name="组合 14">
              <a:extLst>
                <a:ext uri="{FF2B5EF4-FFF2-40B4-BE49-F238E27FC236}">
                  <a16:creationId xmlns:a16="http://schemas.microsoft.com/office/drawing/2014/main" id="{628EAAF6-51AD-491C-A13D-35C54EBAA521}"/>
                </a:ext>
              </a:extLst>
            </p:cNvPr>
            <p:cNvGrpSpPr/>
            <p:nvPr/>
          </p:nvGrpSpPr>
          <p:grpSpPr>
            <a:xfrm>
              <a:off x="3967045" y="2222509"/>
              <a:ext cx="1597070" cy="1085593"/>
              <a:chOff x="3120764" y="1928099"/>
              <a:chExt cx="1597070" cy="1085593"/>
            </a:xfrm>
          </p:grpSpPr>
          <p:sp>
            <p:nvSpPr>
              <p:cNvPr id="17" name="矩形 16">
                <a:extLst>
                  <a:ext uri="{FF2B5EF4-FFF2-40B4-BE49-F238E27FC236}">
                    <a16:creationId xmlns:a16="http://schemas.microsoft.com/office/drawing/2014/main" id="{7E8EC09F-157F-4C94-8EB8-3C3359FBCA94}"/>
                  </a:ext>
                </a:extLst>
              </p:cNvPr>
              <p:cNvSpPr/>
              <p:nvPr/>
            </p:nvSpPr>
            <p:spPr>
              <a:xfrm>
                <a:off x="3120764" y="1928099"/>
                <a:ext cx="1597070" cy="1085593"/>
              </a:xfrm>
              <a:prstGeom prst="rect">
                <a:avLst/>
              </a:prstGeom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8" name="矩形 17">
                <a:extLst>
                  <a:ext uri="{FF2B5EF4-FFF2-40B4-BE49-F238E27FC236}">
                    <a16:creationId xmlns:a16="http://schemas.microsoft.com/office/drawing/2014/main" id="{232E75C7-E75A-40FA-A35D-E4ECD84D6AA1}"/>
                  </a:ext>
                </a:extLst>
              </p:cNvPr>
              <p:cNvSpPr/>
              <p:nvPr/>
            </p:nvSpPr>
            <p:spPr>
              <a:xfrm>
                <a:off x="3251519" y="2029839"/>
                <a:ext cx="1326466" cy="244586"/>
              </a:xfrm>
              <a:prstGeom prst="rect">
                <a:avLst/>
              </a:prstGeom>
              <a:solidFill>
                <a:schemeClr val="bg1"/>
              </a:solidFill>
              <a:ln w="254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4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10101…</a:t>
                </a:r>
                <a:endParaRPr lang="zh-CN" altLang="en-US" sz="14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9" name="矩形 18">
                <a:extLst>
                  <a:ext uri="{FF2B5EF4-FFF2-40B4-BE49-F238E27FC236}">
                    <a16:creationId xmlns:a16="http://schemas.microsoft.com/office/drawing/2014/main" id="{C4B18C4E-73F1-429B-BB98-E36948A520BC}"/>
                  </a:ext>
                </a:extLst>
              </p:cNvPr>
              <p:cNvSpPr/>
              <p:nvPr/>
            </p:nvSpPr>
            <p:spPr>
              <a:xfrm>
                <a:off x="3251519" y="2677089"/>
                <a:ext cx="1326466" cy="244586"/>
              </a:xfrm>
              <a:prstGeom prst="rect">
                <a:avLst/>
              </a:prstGeom>
              <a:solidFill>
                <a:schemeClr val="bg1"/>
              </a:solidFill>
              <a:ln w="254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400" dirty="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10111…</a:t>
                </a:r>
                <a:endParaRPr lang="zh-CN" altLang="en-US" sz="1400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20" name="矩形 19">
                <a:extLst>
                  <a:ext uri="{FF2B5EF4-FFF2-40B4-BE49-F238E27FC236}">
                    <a16:creationId xmlns:a16="http://schemas.microsoft.com/office/drawing/2014/main" id="{8BF02F93-A143-42EF-A240-756FDE2499AB}"/>
                  </a:ext>
                </a:extLst>
              </p:cNvPr>
              <p:cNvSpPr/>
              <p:nvPr/>
            </p:nvSpPr>
            <p:spPr>
              <a:xfrm>
                <a:off x="3251519" y="2353464"/>
                <a:ext cx="1326466" cy="244586"/>
              </a:xfrm>
              <a:prstGeom prst="rect">
                <a:avLst/>
              </a:prstGeom>
              <a:solidFill>
                <a:schemeClr val="bg1"/>
              </a:solidFill>
              <a:ln w="254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4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10011…</a:t>
                </a:r>
                <a:endParaRPr lang="zh-CN" altLang="en-US" sz="14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16" name="矩形 15">
              <a:extLst>
                <a:ext uri="{FF2B5EF4-FFF2-40B4-BE49-F238E27FC236}">
                  <a16:creationId xmlns:a16="http://schemas.microsoft.com/office/drawing/2014/main" id="{FE650D52-5D23-4767-BEAD-7F2514BC522B}"/>
                </a:ext>
              </a:extLst>
            </p:cNvPr>
            <p:cNvSpPr/>
            <p:nvPr/>
          </p:nvSpPr>
          <p:spPr>
            <a:xfrm>
              <a:off x="5564115" y="2222509"/>
              <a:ext cx="380326" cy="346326"/>
            </a:xfrm>
            <a:prstGeom prst="rect">
              <a:avLst/>
            </a:prstGeom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b="1" dirty="0"/>
                <a:t>2</a:t>
              </a:r>
              <a:endParaRPr lang="zh-CN" altLang="en-US" b="1" dirty="0"/>
            </a:p>
          </p:txBody>
        </p:sp>
      </p:grpSp>
      <p:grpSp>
        <p:nvGrpSpPr>
          <p:cNvPr id="21" name="组合 20">
            <a:extLst>
              <a:ext uri="{FF2B5EF4-FFF2-40B4-BE49-F238E27FC236}">
                <a16:creationId xmlns:a16="http://schemas.microsoft.com/office/drawing/2014/main" id="{9EE9FCAD-9A2D-4B8A-B019-0E485FE207E2}"/>
              </a:ext>
            </a:extLst>
          </p:cNvPr>
          <p:cNvGrpSpPr/>
          <p:nvPr/>
        </p:nvGrpSpPr>
        <p:grpSpPr>
          <a:xfrm>
            <a:off x="4954207" y="4084519"/>
            <a:ext cx="1977396" cy="1085593"/>
            <a:chOff x="3967045" y="2222509"/>
            <a:chExt cx="1977396" cy="1085593"/>
          </a:xfrm>
        </p:grpSpPr>
        <p:grpSp>
          <p:nvGrpSpPr>
            <p:cNvPr id="22" name="组合 21">
              <a:extLst>
                <a:ext uri="{FF2B5EF4-FFF2-40B4-BE49-F238E27FC236}">
                  <a16:creationId xmlns:a16="http://schemas.microsoft.com/office/drawing/2014/main" id="{B7CCA697-86EC-4067-A73F-079F343B8E24}"/>
                </a:ext>
              </a:extLst>
            </p:cNvPr>
            <p:cNvGrpSpPr/>
            <p:nvPr/>
          </p:nvGrpSpPr>
          <p:grpSpPr>
            <a:xfrm>
              <a:off x="3967045" y="2222509"/>
              <a:ext cx="1597070" cy="1085593"/>
              <a:chOff x="3120764" y="1928099"/>
              <a:chExt cx="1597070" cy="1085593"/>
            </a:xfrm>
          </p:grpSpPr>
          <p:sp>
            <p:nvSpPr>
              <p:cNvPr id="24" name="矩形 23">
                <a:extLst>
                  <a:ext uri="{FF2B5EF4-FFF2-40B4-BE49-F238E27FC236}">
                    <a16:creationId xmlns:a16="http://schemas.microsoft.com/office/drawing/2014/main" id="{619565CE-C7F8-43E8-B310-B874C5F7FF26}"/>
                  </a:ext>
                </a:extLst>
              </p:cNvPr>
              <p:cNvSpPr/>
              <p:nvPr/>
            </p:nvSpPr>
            <p:spPr>
              <a:xfrm>
                <a:off x="3120764" y="1928099"/>
                <a:ext cx="1597070" cy="1085593"/>
              </a:xfrm>
              <a:prstGeom prst="rect">
                <a:avLst/>
              </a:prstGeom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5" name="矩形 24">
                <a:extLst>
                  <a:ext uri="{FF2B5EF4-FFF2-40B4-BE49-F238E27FC236}">
                    <a16:creationId xmlns:a16="http://schemas.microsoft.com/office/drawing/2014/main" id="{D651FB57-6E8E-45F9-AE97-D5AD6B6646B8}"/>
                  </a:ext>
                </a:extLst>
              </p:cNvPr>
              <p:cNvSpPr/>
              <p:nvPr/>
            </p:nvSpPr>
            <p:spPr>
              <a:xfrm>
                <a:off x="3251519" y="2029839"/>
                <a:ext cx="1326466" cy="244586"/>
              </a:xfrm>
              <a:prstGeom prst="rect">
                <a:avLst/>
              </a:prstGeom>
              <a:solidFill>
                <a:schemeClr val="bg1"/>
              </a:solidFill>
              <a:ln w="254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4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11010…</a:t>
                </a:r>
                <a:endParaRPr lang="zh-CN" altLang="en-US" sz="14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26" name="矩形 25">
                <a:extLst>
                  <a:ext uri="{FF2B5EF4-FFF2-40B4-BE49-F238E27FC236}">
                    <a16:creationId xmlns:a16="http://schemas.microsoft.com/office/drawing/2014/main" id="{E642A90E-5EF3-477A-A809-CED64C713EA7}"/>
                  </a:ext>
                </a:extLst>
              </p:cNvPr>
              <p:cNvSpPr/>
              <p:nvPr/>
            </p:nvSpPr>
            <p:spPr>
              <a:xfrm>
                <a:off x="3251519" y="2677089"/>
                <a:ext cx="1326466" cy="244586"/>
              </a:xfrm>
              <a:prstGeom prst="rect">
                <a:avLst/>
              </a:prstGeom>
              <a:solidFill>
                <a:schemeClr val="bg1"/>
              </a:solidFill>
              <a:ln w="254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4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27" name="矩形 26">
                <a:extLst>
                  <a:ext uri="{FF2B5EF4-FFF2-40B4-BE49-F238E27FC236}">
                    <a16:creationId xmlns:a16="http://schemas.microsoft.com/office/drawing/2014/main" id="{53D628CE-07FA-4E35-AB6A-818A2F37E09E}"/>
                  </a:ext>
                </a:extLst>
              </p:cNvPr>
              <p:cNvSpPr/>
              <p:nvPr/>
            </p:nvSpPr>
            <p:spPr>
              <a:xfrm>
                <a:off x="3251519" y="2353464"/>
                <a:ext cx="1326466" cy="244586"/>
              </a:xfrm>
              <a:prstGeom prst="rect">
                <a:avLst/>
              </a:prstGeom>
              <a:solidFill>
                <a:schemeClr val="bg1"/>
              </a:solidFill>
              <a:ln w="254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4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23" name="矩形 22">
              <a:extLst>
                <a:ext uri="{FF2B5EF4-FFF2-40B4-BE49-F238E27FC236}">
                  <a16:creationId xmlns:a16="http://schemas.microsoft.com/office/drawing/2014/main" id="{DEC7DB32-5E26-4C42-8FCD-6D3342E30DB6}"/>
                </a:ext>
              </a:extLst>
            </p:cNvPr>
            <p:cNvSpPr/>
            <p:nvPr/>
          </p:nvSpPr>
          <p:spPr>
            <a:xfrm>
              <a:off x="5564115" y="2222509"/>
              <a:ext cx="380326" cy="346326"/>
            </a:xfrm>
            <a:prstGeom prst="rect">
              <a:avLst/>
            </a:prstGeom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b="1" dirty="0"/>
                <a:t>2</a:t>
              </a:r>
              <a:endParaRPr lang="zh-CN" altLang="en-US" b="1" dirty="0"/>
            </a:p>
          </p:txBody>
        </p:sp>
      </p:grpSp>
      <p:sp>
        <p:nvSpPr>
          <p:cNvPr id="35" name="矩形 34">
            <a:extLst>
              <a:ext uri="{FF2B5EF4-FFF2-40B4-BE49-F238E27FC236}">
                <a16:creationId xmlns:a16="http://schemas.microsoft.com/office/drawing/2014/main" id="{B5911D35-2C54-4548-A210-B869CD05B1DF}"/>
              </a:ext>
            </a:extLst>
          </p:cNvPr>
          <p:cNvSpPr/>
          <p:nvPr/>
        </p:nvSpPr>
        <p:spPr>
          <a:xfrm>
            <a:off x="2352145" y="1881440"/>
            <a:ext cx="380326" cy="346326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b="1" dirty="0"/>
              <a:t>2</a:t>
            </a:r>
            <a:endParaRPr lang="zh-CN" altLang="en-US" b="1" dirty="0"/>
          </a:p>
        </p:txBody>
      </p:sp>
      <p:grpSp>
        <p:nvGrpSpPr>
          <p:cNvPr id="36" name="组合 35">
            <a:extLst>
              <a:ext uri="{FF2B5EF4-FFF2-40B4-BE49-F238E27FC236}">
                <a16:creationId xmlns:a16="http://schemas.microsoft.com/office/drawing/2014/main" id="{2AC5CD71-C508-4BA3-B366-AA1381EA8708}"/>
              </a:ext>
            </a:extLst>
          </p:cNvPr>
          <p:cNvGrpSpPr/>
          <p:nvPr/>
        </p:nvGrpSpPr>
        <p:grpSpPr>
          <a:xfrm>
            <a:off x="2001968" y="2525826"/>
            <a:ext cx="1121485" cy="1395532"/>
            <a:chOff x="1626762" y="2964260"/>
            <a:chExt cx="479511" cy="1395532"/>
          </a:xfrm>
        </p:grpSpPr>
        <p:sp>
          <p:nvSpPr>
            <p:cNvPr id="37" name="矩形 36">
              <a:extLst>
                <a:ext uri="{FF2B5EF4-FFF2-40B4-BE49-F238E27FC236}">
                  <a16:creationId xmlns:a16="http://schemas.microsoft.com/office/drawing/2014/main" id="{A69CDD50-64A8-4B93-8050-C504E9399902}"/>
                </a:ext>
              </a:extLst>
            </p:cNvPr>
            <p:cNvSpPr/>
            <p:nvPr/>
          </p:nvSpPr>
          <p:spPr>
            <a:xfrm>
              <a:off x="1626762" y="2964260"/>
              <a:ext cx="479511" cy="348883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b="1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00…</a:t>
              </a:r>
              <a:endParaRPr lang="zh-CN" altLang="en-US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8" name="矩形 37">
              <a:extLst>
                <a:ext uri="{FF2B5EF4-FFF2-40B4-BE49-F238E27FC236}">
                  <a16:creationId xmlns:a16="http://schemas.microsoft.com/office/drawing/2014/main" id="{B2B2E98B-BBBF-4495-A193-2E045179F0E2}"/>
                </a:ext>
              </a:extLst>
            </p:cNvPr>
            <p:cNvSpPr/>
            <p:nvPr/>
          </p:nvSpPr>
          <p:spPr>
            <a:xfrm>
              <a:off x="1626762" y="3313143"/>
              <a:ext cx="479511" cy="348883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b="1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01…</a:t>
              </a:r>
              <a:endParaRPr lang="zh-CN" altLang="en-US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9" name="矩形 38">
              <a:extLst>
                <a:ext uri="{FF2B5EF4-FFF2-40B4-BE49-F238E27FC236}">
                  <a16:creationId xmlns:a16="http://schemas.microsoft.com/office/drawing/2014/main" id="{B282B0C5-1864-4273-B956-083A0A4E6666}"/>
                </a:ext>
              </a:extLst>
            </p:cNvPr>
            <p:cNvSpPr/>
            <p:nvPr/>
          </p:nvSpPr>
          <p:spPr>
            <a:xfrm>
              <a:off x="1626762" y="3662026"/>
              <a:ext cx="479511" cy="348883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b="1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10…</a:t>
              </a:r>
              <a:endParaRPr lang="zh-CN" altLang="en-US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0" name="矩形 39">
              <a:extLst>
                <a:ext uri="{FF2B5EF4-FFF2-40B4-BE49-F238E27FC236}">
                  <a16:creationId xmlns:a16="http://schemas.microsoft.com/office/drawing/2014/main" id="{FD3BB798-BC26-4C96-904C-F47420F87400}"/>
                </a:ext>
              </a:extLst>
            </p:cNvPr>
            <p:cNvSpPr/>
            <p:nvPr/>
          </p:nvSpPr>
          <p:spPr>
            <a:xfrm>
              <a:off x="1626762" y="4010909"/>
              <a:ext cx="479511" cy="348883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b="1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11…</a:t>
              </a:r>
              <a:endParaRPr lang="zh-CN" altLang="en-US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41" name="矩形 40">
            <a:extLst>
              <a:ext uri="{FF2B5EF4-FFF2-40B4-BE49-F238E27FC236}">
                <a16:creationId xmlns:a16="http://schemas.microsoft.com/office/drawing/2014/main" id="{69E50DFA-BC2C-4D3D-BEFB-EFAA57BCD267}"/>
              </a:ext>
            </a:extLst>
          </p:cNvPr>
          <p:cNvSpPr/>
          <p:nvPr/>
        </p:nvSpPr>
        <p:spPr>
          <a:xfrm>
            <a:off x="1529454" y="1869937"/>
            <a:ext cx="884729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b="1" i="1" dirty="0">
                <a:solidFill>
                  <a:srgbClr val="FF0000"/>
                </a:solidFill>
                <a:latin typeface="Crimson Text"/>
              </a:rPr>
              <a:t>global</a:t>
            </a:r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9AB284E7-139F-4383-B4A8-41907ED6DCC6}"/>
              </a:ext>
            </a:extLst>
          </p:cNvPr>
          <p:cNvSpPr/>
          <p:nvPr/>
        </p:nvSpPr>
        <p:spPr>
          <a:xfrm>
            <a:off x="6931603" y="1784993"/>
            <a:ext cx="63246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b="1" i="1" dirty="0">
                <a:solidFill>
                  <a:srgbClr val="FF0000"/>
                </a:solidFill>
                <a:latin typeface="Crimson Text"/>
              </a:rPr>
              <a:t>local</a:t>
            </a:r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29457583-44A9-4BA8-B2F9-CF810C022FDF}"/>
              </a:ext>
            </a:extLst>
          </p:cNvPr>
          <p:cNvSpPr/>
          <p:nvPr/>
        </p:nvSpPr>
        <p:spPr>
          <a:xfrm>
            <a:off x="6931603" y="2921380"/>
            <a:ext cx="63246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b="1" i="1" dirty="0">
                <a:solidFill>
                  <a:srgbClr val="FF0000"/>
                </a:solidFill>
                <a:latin typeface="Crimson Text"/>
              </a:rPr>
              <a:t>local</a:t>
            </a:r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F2BC1378-D02A-4492-9254-5FEDCBB2D587}"/>
              </a:ext>
            </a:extLst>
          </p:cNvPr>
          <p:cNvSpPr/>
          <p:nvPr/>
        </p:nvSpPr>
        <p:spPr>
          <a:xfrm>
            <a:off x="6931603" y="4073016"/>
            <a:ext cx="63246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b="1" i="1" dirty="0">
                <a:solidFill>
                  <a:srgbClr val="FF0000"/>
                </a:solidFill>
                <a:latin typeface="Crimson Text"/>
              </a:rPr>
              <a:t>local</a:t>
            </a:r>
            <a:endParaRPr lang="zh-CN" altLang="en-US" dirty="0">
              <a:solidFill>
                <a:srgbClr val="FF0000"/>
              </a:solidFill>
            </a:endParaRPr>
          </a:p>
        </p:txBody>
      </p:sp>
      <p:cxnSp>
        <p:nvCxnSpPr>
          <p:cNvPr id="45" name="连接符: 曲线 44">
            <a:extLst>
              <a:ext uri="{FF2B5EF4-FFF2-40B4-BE49-F238E27FC236}">
                <a16:creationId xmlns:a16="http://schemas.microsoft.com/office/drawing/2014/main" id="{8451ED78-4A9F-454D-97EC-6C2ED389E998}"/>
              </a:ext>
            </a:extLst>
          </p:cNvPr>
          <p:cNvCxnSpPr>
            <a:cxnSpLocks/>
            <a:stCxn id="37" idx="3"/>
            <a:endCxn id="9" idx="1"/>
          </p:cNvCxnSpPr>
          <p:nvPr/>
        </p:nvCxnSpPr>
        <p:spPr>
          <a:xfrm flipV="1">
            <a:off x="3123453" y="2322497"/>
            <a:ext cx="1830754" cy="377771"/>
          </a:xfrm>
          <a:prstGeom prst="curvedConnector3">
            <a:avLst>
              <a:gd name="adj1" fmla="val 50000"/>
            </a:avLst>
          </a:prstGeom>
          <a:ln w="38100">
            <a:solidFill>
              <a:srgbClr val="FF0000"/>
            </a:solidFill>
            <a:headEnd type="oval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连接符: 曲线 47">
            <a:extLst>
              <a:ext uri="{FF2B5EF4-FFF2-40B4-BE49-F238E27FC236}">
                <a16:creationId xmlns:a16="http://schemas.microsoft.com/office/drawing/2014/main" id="{6BA95BC9-0A1D-4DF8-B48C-7AF8791931B3}"/>
              </a:ext>
            </a:extLst>
          </p:cNvPr>
          <p:cNvCxnSpPr>
            <a:cxnSpLocks/>
            <a:stCxn id="38" idx="3"/>
            <a:endCxn id="9" idx="1"/>
          </p:cNvCxnSpPr>
          <p:nvPr/>
        </p:nvCxnSpPr>
        <p:spPr>
          <a:xfrm flipV="1">
            <a:off x="3123453" y="2322497"/>
            <a:ext cx="1830754" cy="726654"/>
          </a:xfrm>
          <a:prstGeom prst="curvedConnector3">
            <a:avLst>
              <a:gd name="adj1" fmla="val 50000"/>
            </a:avLst>
          </a:prstGeom>
          <a:ln w="38100">
            <a:solidFill>
              <a:srgbClr val="FF0000"/>
            </a:solidFill>
            <a:headEnd type="oval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连接符: 曲线 51">
            <a:extLst>
              <a:ext uri="{FF2B5EF4-FFF2-40B4-BE49-F238E27FC236}">
                <a16:creationId xmlns:a16="http://schemas.microsoft.com/office/drawing/2014/main" id="{19A252AA-8F8E-426F-930D-74D6F694D7C6}"/>
              </a:ext>
            </a:extLst>
          </p:cNvPr>
          <p:cNvCxnSpPr>
            <a:cxnSpLocks/>
            <a:stCxn id="39" idx="3"/>
            <a:endCxn id="17" idx="1"/>
          </p:cNvCxnSpPr>
          <p:nvPr/>
        </p:nvCxnSpPr>
        <p:spPr>
          <a:xfrm>
            <a:off x="3123453" y="3398034"/>
            <a:ext cx="1830754" cy="77646"/>
          </a:xfrm>
          <a:prstGeom prst="curvedConnector3">
            <a:avLst>
              <a:gd name="adj1" fmla="val 50000"/>
            </a:avLst>
          </a:prstGeom>
          <a:ln w="38100">
            <a:solidFill>
              <a:srgbClr val="FF0000"/>
            </a:solidFill>
            <a:headEnd type="oval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连接符: 曲线 54">
            <a:extLst>
              <a:ext uri="{FF2B5EF4-FFF2-40B4-BE49-F238E27FC236}">
                <a16:creationId xmlns:a16="http://schemas.microsoft.com/office/drawing/2014/main" id="{18680697-5590-4CD2-846F-461C5B7B773B}"/>
              </a:ext>
            </a:extLst>
          </p:cNvPr>
          <p:cNvCxnSpPr>
            <a:cxnSpLocks/>
            <a:stCxn id="40" idx="3"/>
            <a:endCxn id="24" idx="1"/>
          </p:cNvCxnSpPr>
          <p:nvPr/>
        </p:nvCxnSpPr>
        <p:spPr>
          <a:xfrm>
            <a:off x="3123453" y="3746917"/>
            <a:ext cx="1830754" cy="880399"/>
          </a:xfrm>
          <a:prstGeom prst="curvedConnector3">
            <a:avLst>
              <a:gd name="adj1" fmla="val 50000"/>
            </a:avLst>
          </a:prstGeom>
          <a:ln w="38100">
            <a:solidFill>
              <a:srgbClr val="FF0000"/>
            </a:solidFill>
            <a:headEnd type="oval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矩形 57">
            <a:extLst>
              <a:ext uri="{FF2B5EF4-FFF2-40B4-BE49-F238E27FC236}">
                <a16:creationId xmlns:a16="http://schemas.microsoft.com/office/drawing/2014/main" id="{1D76D4A4-2AF3-459E-85BB-FCE948574340}"/>
              </a:ext>
            </a:extLst>
          </p:cNvPr>
          <p:cNvSpPr/>
          <p:nvPr/>
        </p:nvSpPr>
        <p:spPr>
          <a:xfrm>
            <a:off x="8382031" y="1917103"/>
            <a:ext cx="3345302" cy="9079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lang="en-US" altLang="zh-CN" sz="2400" b="1" dirty="0">
                <a:latin typeface="Inconsolata"/>
              </a:rPr>
              <a:t>Find A</a:t>
            </a:r>
          </a:p>
          <a:p>
            <a:pPr>
              <a:spcBef>
                <a:spcPts val="600"/>
              </a:spcBef>
            </a:pPr>
            <a:r>
              <a:rPr lang="en-US" altLang="zh-CN" sz="2400" b="1" i="1" dirty="0">
                <a:solidFill>
                  <a:srgbClr val="FF0000"/>
                </a:solidFill>
                <a:latin typeface="Crimson Text"/>
              </a:rPr>
              <a:t>hash(A) </a:t>
            </a:r>
            <a:r>
              <a:rPr lang="en-US" altLang="zh-CN" sz="2400" b="1" dirty="0">
                <a:solidFill>
                  <a:srgbClr val="FF0000"/>
                </a:solidFill>
                <a:latin typeface="Inconsolata"/>
              </a:rPr>
              <a:t>= 01110…</a:t>
            </a:r>
            <a:endParaRPr lang="zh-CN" altLang="en-US" sz="2400" dirty="0">
              <a:solidFill>
                <a:srgbClr val="FF0000"/>
              </a:solidFill>
            </a:endParaRPr>
          </a:p>
        </p:txBody>
      </p:sp>
      <p:sp>
        <p:nvSpPr>
          <p:cNvPr id="59" name="箭头: 右 58">
            <a:extLst>
              <a:ext uri="{FF2B5EF4-FFF2-40B4-BE49-F238E27FC236}">
                <a16:creationId xmlns:a16="http://schemas.microsoft.com/office/drawing/2014/main" id="{DB23A638-7F7A-474F-B008-F77FE10B0512}"/>
              </a:ext>
            </a:extLst>
          </p:cNvPr>
          <p:cNvSpPr/>
          <p:nvPr/>
        </p:nvSpPr>
        <p:spPr>
          <a:xfrm>
            <a:off x="1628477" y="3233945"/>
            <a:ext cx="308113" cy="305815"/>
          </a:xfrm>
          <a:prstGeom prst="right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0" name="矩形: 圆角 59">
            <a:extLst>
              <a:ext uri="{FF2B5EF4-FFF2-40B4-BE49-F238E27FC236}">
                <a16:creationId xmlns:a16="http://schemas.microsoft.com/office/drawing/2014/main" id="{879476EF-12E4-4665-84EF-9E5AD7C621C2}"/>
              </a:ext>
            </a:extLst>
          </p:cNvPr>
          <p:cNvSpPr/>
          <p:nvPr/>
        </p:nvSpPr>
        <p:spPr>
          <a:xfrm>
            <a:off x="9649177" y="3374628"/>
            <a:ext cx="415993" cy="442895"/>
          </a:xfrm>
          <a:prstGeom prst="roundRect">
            <a:avLst>
              <a:gd name="adj" fmla="val 5316"/>
            </a:avLst>
          </a:prstGeom>
          <a:solidFill>
            <a:srgbClr val="0070C0">
              <a:alpha val="20000"/>
            </a:srgbClr>
          </a:solidFill>
          <a:ln w="2540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1" name="矩形: 圆角 60">
            <a:extLst>
              <a:ext uri="{FF2B5EF4-FFF2-40B4-BE49-F238E27FC236}">
                <a16:creationId xmlns:a16="http://schemas.microsoft.com/office/drawing/2014/main" id="{D9109B16-E13B-4C4E-97C6-852387FBF01F}"/>
              </a:ext>
            </a:extLst>
          </p:cNvPr>
          <p:cNvSpPr/>
          <p:nvPr/>
        </p:nvSpPr>
        <p:spPr>
          <a:xfrm>
            <a:off x="4956738" y="2940666"/>
            <a:ext cx="1609896" cy="1101468"/>
          </a:xfrm>
          <a:prstGeom prst="roundRect">
            <a:avLst>
              <a:gd name="adj" fmla="val 5316"/>
            </a:avLst>
          </a:prstGeom>
          <a:solidFill>
            <a:srgbClr val="FF0000">
              <a:alpha val="20000"/>
            </a:srgbClr>
          </a:solidFill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6" name="矩形 45">
            <a:extLst>
              <a:ext uri="{FF2B5EF4-FFF2-40B4-BE49-F238E27FC236}">
                <a16:creationId xmlns:a16="http://schemas.microsoft.com/office/drawing/2014/main" id="{E1A91A32-D5AE-44CF-AC9C-5F10D83B251F}"/>
              </a:ext>
            </a:extLst>
          </p:cNvPr>
          <p:cNvSpPr/>
          <p:nvPr/>
        </p:nvSpPr>
        <p:spPr>
          <a:xfrm>
            <a:off x="8382031" y="2932883"/>
            <a:ext cx="3345302" cy="9079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lang="en-US" altLang="zh-CN" sz="2400" b="1" dirty="0">
                <a:latin typeface="Inconsolata"/>
              </a:rPr>
              <a:t>Insert B</a:t>
            </a:r>
          </a:p>
          <a:p>
            <a:pPr>
              <a:spcBef>
                <a:spcPts val="600"/>
              </a:spcBef>
            </a:pPr>
            <a:r>
              <a:rPr lang="en-US" altLang="zh-CN" sz="2400" b="1" i="1" dirty="0">
                <a:solidFill>
                  <a:srgbClr val="FF0000"/>
                </a:solidFill>
                <a:latin typeface="Crimson Text"/>
              </a:rPr>
              <a:t>hash(B) </a:t>
            </a:r>
            <a:r>
              <a:rPr lang="en-US" altLang="zh-CN" sz="2400" b="1" dirty="0">
                <a:solidFill>
                  <a:srgbClr val="FF0000"/>
                </a:solidFill>
                <a:latin typeface="Inconsolata"/>
              </a:rPr>
              <a:t>= 10111…</a:t>
            </a:r>
            <a:endParaRPr lang="zh-CN" altLang="en-US" sz="24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1923189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9BBCCEF-D42F-420B-9CC2-98A9815DB6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Extendable Hashing</a:t>
            </a:r>
            <a:endParaRPr lang="zh-CN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2905825-8EE0-4CF0-A05E-CAFDF944FB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1558F5-C57D-4528-83C9-D6B94C26628A}" type="datetime1">
              <a:rPr lang="zh-CN" altLang="en-US" smtClean="0"/>
              <a:t>2024/5/8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ED664A2-5898-4C25-86F3-E969A94A39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Hash Indices</a:t>
            </a: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34B9AF0-AA69-4CFE-BBF2-A55EB4555B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5CA875-76FA-4283-B5BE-070B4D16A27E}" type="slidenum">
              <a:rPr lang="zh-CN" altLang="en-US" smtClean="0"/>
              <a:t>22</a:t>
            </a:fld>
            <a:endParaRPr lang="zh-CN" altLang="en-US"/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3024639C-B3C8-49EE-B83D-8667850CD1D2}"/>
              </a:ext>
            </a:extLst>
          </p:cNvPr>
          <p:cNvGrpSpPr/>
          <p:nvPr/>
        </p:nvGrpSpPr>
        <p:grpSpPr>
          <a:xfrm>
            <a:off x="4954207" y="1779700"/>
            <a:ext cx="1977396" cy="1085593"/>
            <a:chOff x="3967045" y="2222509"/>
            <a:chExt cx="1977396" cy="1085593"/>
          </a:xfrm>
        </p:grpSpPr>
        <p:grpSp>
          <p:nvGrpSpPr>
            <p:cNvPr id="7" name="组合 6">
              <a:extLst>
                <a:ext uri="{FF2B5EF4-FFF2-40B4-BE49-F238E27FC236}">
                  <a16:creationId xmlns:a16="http://schemas.microsoft.com/office/drawing/2014/main" id="{9FDDB302-72EB-4F8B-A501-4F8760FF32D3}"/>
                </a:ext>
              </a:extLst>
            </p:cNvPr>
            <p:cNvGrpSpPr/>
            <p:nvPr/>
          </p:nvGrpSpPr>
          <p:grpSpPr>
            <a:xfrm>
              <a:off x="3967045" y="2222509"/>
              <a:ext cx="1597070" cy="1085593"/>
              <a:chOff x="3120764" y="1928099"/>
              <a:chExt cx="1597070" cy="1085593"/>
            </a:xfrm>
          </p:grpSpPr>
          <p:sp>
            <p:nvSpPr>
              <p:cNvPr id="9" name="矩形 8">
                <a:extLst>
                  <a:ext uri="{FF2B5EF4-FFF2-40B4-BE49-F238E27FC236}">
                    <a16:creationId xmlns:a16="http://schemas.microsoft.com/office/drawing/2014/main" id="{480C920A-90E2-4C5A-8D90-D8A123F63313}"/>
                  </a:ext>
                </a:extLst>
              </p:cNvPr>
              <p:cNvSpPr/>
              <p:nvPr/>
            </p:nvSpPr>
            <p:spPr>
              <a:xfrm>
                <a:off x="3120764" y="1928099"/>
                <a:ext cx="1597070" cy="1085593"/>
              </a:xfrm>
              <a:prstGeom prst="rect">
                <a:avLst/>
              </a:prstGeom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0" name="矩形 9">
                <a:extLst>
                  <a:ext uri="{FF2B5EF4-FFF2-40B4-BE49-F238E27FC236}">
                    <a16:creationId xmlns:a16="http://schemas.microsoft.com/office/drawing/2014/main" id="{2A1D8830-AB19-4806-91CB-AAB5F793E970}"/>
                  </a:ext>
                </a:extLst>
              </p:cNvPr>
              <p:cNvSpPr/>
              <p:nvPr/>
            </p:nvSpPr>
            <p:spPr>
              <a:xfrm>
                <a:off x="3251519" y="2029839"/>
                <a:ext cx="1326466" cy="244586"/>
              </a:xfrm>
              <a:prstGeom prst="rect">
                <a:avLst/>
              </a:prstGeom>
              <a:solidFill>
                <a:schemeClr val="bg1"/>
              </a:solidFill>
              <a:ln w="254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4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00010…</a:t>
                </a:r>
                <a:endParaRPr lang="zh-CN" altLang="en-US" sz="14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1" name="矩形 10">
                <a:extLst>
                  <a:ext uri="{FF2B5EF4-FFF2-40B4-BE49-F238E27FC236}">
                    <a16:creationId xmlns:a16="http://schemas.microsoft.com/office/drawing/2014/main" id="{0D631330-B99C-4419-9D6E-F87CC137DB3C}"/>
                  </a:ext>
                </a:extLst>
              </p:cNvPr>
              <p:cNvSpPr/>
              <p:nvPr/>
            </p:nvSpPr>
            <p:spPr>
              <a:xfrm>
                <a:off x="3251519" y="2677089"/>
                <a:ext cx="1326466" cy="244586"/>
              </a:xfrm>
              <a:prstGeom prst="rect">
                <a:avLst/>
              </a:prstGeom>
              <a:solidFill>
                <a:schemeClr val="bg1"/>
              </a:solidFill>
              <a:ln w="254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4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2" name="矩形 11">
                <a:extLst>
                  <a:ext uri="{FF2B5EF4-FFF2-40B4-BE49-F238E27FC236}">
                    <a16:creationId xmlns:a16="http://schemas.microsoft.com/office/drawing/2014/main" id="{45F3AF6E-313B-4D40-8DF0-9C5C0880DD78}"/>
                  </a:ext>
                </a:extLst>
              </p:cNvPr>
              <p:cNvSpPr/>
              <p:nvPr/>
            </p:nvSpPr>
            <p:spPr>
              <a:xfrm>
                <a:off x="3251519" y="2353464"/>
                <a:ext cx="1326466" cy="244586"/>
              </a:xfrm>
              <a:prstGeom prst="rect">
                <a:avLst/>
              </a:prstGeom>
              <a:solidFill>
                <a:schemeClr val="bg1"/>
              </a:solidFill>
              <a:ln w="254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4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01110…</a:t>
                </a:r>
                <a:endParaRPr lang="zh-CN" altLang="en-US" sz="14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3" name="矩形 2">
              <a:extLst>
                <a:ext uri="{FF2B5EF4-FFF2-40B4-BE49-F238E27FC236}">
                  <a16:creationId xmlns:a16="http://schemas.microsoft.com/office/drawing/2014/main" id="{75D3C92D-6C7D-44F5-ACDC-131FA13D7DF8}"/>
                </a:ext>
              </a:extLst>
            </p:cNvPr>
            <p:cNvSpPr/>
            <p:nvPr/>
          </p:nvSpPr>
          <p:spPr>
            <a:xfrm>
              <a:off x="5564115" y="2222509"/>
              <a:ext cx="380326" cy="346326"/>
            </a:xfrm>
            <a:prstGeom prst="rect">
              <a:avLst/>
            </a:prstGeom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b="1" dirty="0"/>
                <a:t>1</a:t>
              </a:r>
              <a:endParaRPr lang="zh-CN" altLang="en-US" b="1" dirty="0"/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4204676F-8260-4BA4-B0DA-8F832B755E20}"/>
              </a:ext>
            </a:extLst>
          </p:cNvPr>
          <p:cNvGrpSpPr/>
          <p:nvPr/>
        </p:nvGrpSpPr>
        <p:grpSpPr>
          <a:xfrm>
            <a:off x="4954207" y="2932883"/>
            <a:ext cx="1977396" cy="1085593"/>
            <a:chOff x="3967045" y="2222509"/>
            <a:chExt cx="1977396" cy="1085593"/>
          </a:xfrm>
        </p:grpSpPr>
        <p:grpSp>
          <p:nvGrpSpPr>
            <p:cNvPr id="15" name="组合 14">
              <a:extLst>
                <a:ext uri="{FF2B5EF4-FFF2-40B4-BE49-F238E27FC236}">
                  <a16:creationId xmlns:a16="http://schemas.microsoft.com/office/drawing/2014/main" id="{628EAAF6-51AD-491C-A13D-35C54EBAA521}"/>
                </a:ext>
              </a:extLst>
            </p:cNvPr>
            <p:cNvGrpSpPr/>
            <p:nvPr/>
          </p:nvGrpSpPr>
          <p:grpSpPr>
            <a:xfrm>
              <a:off x="3967045" y="2222509"/>
              <a:ext cx="1597070" cy="1085593"/>
              <a:chOff x="3120764" y="1928099"/>
              <a:chExt cx="1597070" cy="1085593"/>
            </a:xfrm>
          </p:grpSpPr>
          <p:sp>
            <p:nvSpPr>
              <p:cNvPr id="17" name="矩形 16">
                <a:extLst>
                  <a:ext uri="{FF2B5EF4-FFF2-40B4-BE49-F238E27FC236}">
                    <a16:creationId xmlns:a16="http://schemas.microsoft.com/office/drawing/2014/main" id="{7E8EC09F-157F-4C94-8EB8-3C3359FBCA94}"/>
                  </a:ext>
                </a:extLst>
              </p:cNvPr>
              <p:cNvSpPr/>
              <p:nvPr/>
            </p:nvSpPr>
            <p:spPr>
              <a:xfrm>
                <a:off x="3120764" y="1928099"/>
                <a:ext cx="1597070" cy="1085593"/>
              </a:xfrm>
              <a:prstGeom prst="rect">
                <a:avLst/>
              </a:prstGeom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8" name="矩形 17">
                <a:extLst>
                  <a:ext uri="{FF2B5EF4-FFF2-40B4-BE49-F238E27FC236}">
                    <a16:creationId xmlns:a16="http://schemas.microsoft.com/office/drawing/2014/main" id="{232E75C7-E75A-40FA-A35D-E4ECD84D6AA1}"/>
                  </a:ext>
                </a:extLst>
              </p:cNvPr>
              <p:cNvSpPr/>
              <p:nvPr/>
            </p:nvSpPr>
            <p:spPr>
              <a:xfrm>
                <a:off x="3251519" y="2029839"/>
                <a:ext cx="1326466" cy="244586"/>
              </a:xfrm>
              <a:prstGeom prst="rect">
                <a:avLst/>
              </a:prstGeom>
              <a:solidFill>
                <a:schemeClr val="bg1"/>
              </a:solidFill>
              <a:ln w="254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4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10101…</a:t>
                </a:r>
                <a:endParaRPr lang="zh-CN" altLang="en-US" sz="14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9" name="矩形 18">
                <a:extLst>
                  <a:ext uri="{FF2B5EF4-FFF2-40B4-BE49-F238E27FC236}">
                    <a16:creationId xmlns:a16="http://schemas.microsoft.com/office/drawing/2014/main" id="{C4B18C4E-73F1-429B-BB98-E36948A520BC}"/>
                  </a:ext>
                </a:extLst>
              </p:cNvPr>
              <p:cNvSpPr/>
              <p:nvPr/>
            </p:nvSpPr>
            <p:spPr>
              <a:xfrm>
                <a:off x="3251519" y="2677089"/>
                <a:ext cx="1326466" cy="244586"/>
              </a:xfrm>
              <a:prstGeom prst="rect">
                <a:avLst/>
              </a:prstGeom>
              <a:solidFill>
                <a:schemeClr val="bg1"/>
              </a:solidFill>
              <a:ln w="254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4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10111…</a:t>
                </a:r>
                <a:endParaRPr lang="zh-CN" altLang="en-US" sz="14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20" name="矩形 19">
                <a:extLst>
                  <a:ext uri="{FF2B5EF4-FFF2-40B4-BE49-F238E27FC236}">
                    <a16:creationId xmlns:a16="http://schemas.microsoft.com/office/drawing/2014/main" id="{8BF02F93-A143-42EF-A240-756FDE2499AB}"/>
                  </a:ext>
                </a:extLst>
              </p:cNvPr>
              <p:cNvSpPr/>
              <p:nvPr/>
            </p:nvSpPr>
            <p:spPr>
              <a:xfrm>
                <a:off x="3251519" y="2353464"/>
                <a:ext cx="1326466" cy="244586"/>
              </a:xfrm>
              <a:prstGeom prst="rect">
                <a:avLst/>
              </a:prstGeom>
              <a:solidFill>
                <a:schemeClr val="bg1"/>
              </a:solidFill>
              <a:ln w="254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4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10011…</a:t>
                </a:r>
                <a:endParaRPr lang="zh-CN" altLang="en-US" sz="14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16" name="矩形 15">
              <a:extLst>
                <a:ext uri="{FF2B5EF4-FFF2-40B4-BE49-F238E27FC236}">
                  <a16:creationId xmlns:a16="http://schemas.microsoft.com/office/drawing/2014/main" id="{FE650D52-5D23-4767-BEAD-7F2514BC522B}"/>
                </a:ext>
              </a:extLst>
            </p:cNvPr>
            <p:cNvSpPr/>
            <p:nvPr/>
          </p:nvSpPr>
          <p:spPr>
            <a:xfrm>
              <a:off x="5564115" y="2222509"/>
              <a:ext cx="380326" cy="346326"/>
            </a:xfrm>
            <a:prstGeom prst="rect">
              <a:avLst/>
            </a:prstGeom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b="1" dirty="0"/>
                <a:t>2</a:t>
              </a:r>
              <a:endParaRPr lang="zh-CN" altLang="en-US" b="1" dirty="0"/>
            </a:p>
          </p:txBody>
        </p:sp>
      </p:grpSp>
      <p:grpSp>
        <p:nvGrpSpPr>
          <p:cNvPr id="21" name="组合 20">
            <a:extLst>
              <a:ext uri="{FF2B5EF4-FFF2-40B4-BE49-F238E27FC236}">
                <a16:creationId xmlns:a16="http://schemas.microsoft.com/office/drawing/2014/main" id="{9EE9FCAD-9A2D-4B8A-B019-0E485FE207E2}"/>
              </a:ext>
            </a:extLst>
          </p:cNvPr>
          <p:cNvGrpSpPr/>
          <p:nvPr/>
        </p:nvGrpSpPr>
        <p:grpSpPr>
          <a:xfrm>
            <a:off x="4954207" y="4084519"/>
            <a:ext cx="1977396" cy="1085593"/>
            <a:chOff x="3967045" y="2222509"/>
            <a:chExt cx="1977396" cy="1085593"/>
          </a:xfrm>
        </p:grpSpPr>
        <p:grpSp>
          <p:nvGrpSpPr>
            <p:cNvPr id="22" name="组合 21">
              <a:extLst>
                <a:ext uri="{FF2B5EF4-FFF2-40B4-BE49-F238E27FC236}">
                  <a16:creationId xmlns:a16="http://schemas.microsoft.com/office/drawing/2014/main" id="{B7CCA697-86EC-4067-A73F-079F343B8E24}"/>
                </a:ext>
              </a:extLst>
            </p:cNvPr>
            <p:cNvGrpSpPr/>
            <p:nvPr/>
          </p:nvGrpSpPr>
          <p:grpSpPr>
            <a:xfrm>
              <a:off x="3967045" y="2222509"/>
              <a:ext cx="1597070" cy="1085593"/>
              <a:chOff x="3120764" y="1928099"/>
              <a:chExt cx="1597070" cy="1085593"/>
            </a:xfrm>
          </p:grpSpPr>
          <p:sp>
            <p:nvSpPr>
              <p:cNvPr id="24" name="矩形 23">
                <a:extLst>
                  <a:ext uri="{FF2B5EF4-FFF2-40B4-BE49-F238E27FC236}">
                    <a16:creationId xmlns:a16="http://schemas.microsoft.com/office/drawing/2014/main" id="{619565CE-C7F8-43E8-B310-B874C5F7FF26}"/>
                  </a:ext>
                </a:extLst>
              </p:cNvPr>
              <p:cNvSpPr/>
              <p:nvPr/>
            </p:nvSpPr>
            <p:spPr>
              <a:xfrm>
                <a:off x="3120764" y="1928099"/>
                <a:ext cx="1597070" cy="1085593"/>
              </a:xfrm>
              <a:prstGeom prst="rect">
                <a:avLst/>
              </a:prstGeom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5" name="矩形 24">
                <a:extLst>
                  <a:ext uri="{FF2B5EF4-FFF2-40B4-BE49-F238E27FC236}">
                    <a16:creationId xmlns:a16="http://schemas.microsoft.com/office/drawing/2014/main" id="{D651FB57-6E8E-45F9-AE97-D5AD6B6646B8}"/>
                  </a:ext>
                </a:extLst>
              </p:cNvPr>
              <p:cNvSpPr/>
              <p:nvPr/>
            </p:nvSpPr>
            <p:spPr>
              <a:xfrm>
                <a:off x="3251519" y="2029839"/>
                <a:ext cx="1326466" cy="244586"/>
              </a:xfrm>
              <a:prstGeom prst="rect">
                <a:avLst/>
              </a:prstGeom>
              <a:solidFill>
                <a:schemeClr val="bg1"/>
              </a:solidFill>
              <a:ln w="254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4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11010…</a:t>
                </a:r>
                <a:endParaRPr lang="zh-CN" altLang="en-US" sz="14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26" name="矩形 25">
                <a:extLst>
                  <a:ext uri="{FF2B5EF4-FFF2-40B4-BE49-F238E27FC236}">
                    <a16:creationId xmlns:a16="http://schemas.microsoft.com/office/drawing/2014/main" id="{E642A90E-5EF3-477A-A809-CED64C713EA7}"/>
                  </a:ext>
                </a:extLst>
              </p:cNvPr>
              <p:cNvSpPr/>
              <p:nvPr/>
            </p:nvSpPr>
            <p:spPr>
              <a:xfrm>
                <a:off x="3251519" y="2677089"/>
                <a:ext cx="1326466" cy="244586"/>
              </a:xfrm>
              <a:prstGeom prst="rect">
                <a:avLst/>
              </a:prstGeom>
              <a:solidFill>
                <a:schemeClr val="bg1"/>
              </a:solidFill>
              <a:ln w="254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4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27" name="矩形 26">
                <a:extLst>
                  <a:ext uri="{FF2B5EF4-FFF2-40B4-BE49-F238E27FC236}">
                    <a16:creationId xmlns:a16="http://schemas.microsoft.com/office/drawing/2014/main" id="{53D628CE-07FA-4E35-AB6A-818A2F37E09E}"/>
                  </a:ext>
                </a:extLst>
              </p:cNvPr>
              <p:cNvSpPr/>
              <p:nvPr/>
            </p:nvSpPr>
            <p:spPr>
              <a:xfrm>
                <a:off x="3251519" y="2353464"/>
                <a:ext cx="1326466" cy="244586"/>
              </a:xfrm>
              <a:prstGeom prst="rect">
                <a:avLst/>
              </a:prstGeom>
              <a:solidFill>
                <a:schemeClr val="bg1"/>
              </a:solidFill>
              <a:ln w="254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4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23" name="矩形 22">
              <a:extLst>
                <a:ext uri="{FF2B5EF4-FFF2-40B4-BE49-F238E27FC236}">
                  <a16:creationId xmlns:a16="http://schemas.microsoft.com/office/drawing/2014/main" id="{DEC7DB32-5E26-4C42-8FCD-6D3342E30DB6}"/>
                </a:ext>
              </a:extLst>
            </p:cNvPr>
            <p:cNvSpPr/>
            <p:nvPr/>
          </p:nvSpPr>
          <p:spPr>
            <a:xfrm>
              <a:off x="5564115" y="2222509"/>
              <a:ext cx="380326" cy="346326"/>
            </a:xfrm>
            <a:prstGeom prst="rect">
              <a:avLst/>
            </a:prstGeom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b="1" dirty="0"/>
                <a:t>2</a:t>
              </a:r>
              <a:endParaRPr lang="zh-CN" altLang="en-US" b="1" dirty="0"/>
            </a:p>
          </p:txBody>
        </p:sp>
      </p:grpSp>
      <p:sp>
        <p:nvSpPr>
          <p:cNvPr id="35" name="矩形 34">
            <a:extLst>
              <a:ext uri="{FF2B5EF4-FFF2-40B4-BE49-F238E27FC236}">
                <a16:creationId xmlns:a16="http://schemas.microsoft.com/office/drawing/2014/main" id="{B5911D35-2C54-4548-A210-B869CD05B1DF}"/>
              </a:ext>
            </a:extLst>
          </p:cNvPr>
          <p:cNvSpPr/>
          <p:nvPr/>
        </p:nvSpPr>
        <p:spPr>
          <a:xfrm>
            <a:off x="2352145" y="1881440"/>
            <a:ext cx="380326" cy="346326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b="1" dirty="0"/>
              <a:t>2</a:t>
            </a:r>
            <a:endParaRPr lang="zh-CN" altLang="en-US" b="1" dirty="0"/>
          </a:p>
        </p:txBody>
      </p:sp>
      <p:grpSp>
        <p:nvGrpSpPr>
          <p:cNvPr id="36" name="组合 35">
            <a:extLst>
              <a:ext uri="{FF2B5EF4-FFF2-40B4-BE49-F238E27FC236}">
                <a16:creationId xmlns:a16="http://schemas.microsoft.com/office/drawing/2014/main" id="{2AC5CD71-C508-4BA3-B366-AA1381EA8708}"/>
              </a:ext>
            </a:extLst>
          </p:cNvPr>
          <p:cNvGrpSpPr/>
          <p:nvPr/>
        </p:nvGrpSpPr>
        <p:grpSpPr>
          <a:xfrm>
            <a:off x="2001968" y="2525826"/>
            <a:ext cx="1121485" cy="1395532"/>
            <a:chOff x="1626762" y="2964260"/>
            <a:chExt cx="479511" cy="1395532"/>
          </a:xfrm>
        </p:grpSpPr>
        <p:sp>
          <p:nvSpPr>
            <p:cNvPr id="37" name="矩形 36">
              <a:extLst>
                <a:ext uri="{FF2B5EF4-FFF2-40B4-BE49-F238E27FC236}">
                  <a16:creationId xmlns:a16="http://schemas.microsoft.com/office/drawing/2014/main" id="{A69CDD50-64A8-4B93-8050-C504E9399902}"/>
                </a:ext>
              </a:extLst>
            </p:cNvPr>
            <p:cNvSpPr/>
            <p:nvPr/>
          </p:nvSpPr>
          <p:spPr>
            <a:xfrm>
              <a:off x="1626762" y="2964260"/>
              <a:ext cx="479511" cy="348883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b="1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00…</a:t>
              </a:r>
              <a:endParaRPr lang="zh-CN" altLang="en-US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8" name="矩形 37">
              <a:extLst>
                <a:ext uri="{FF2B5EF4-FFF2-40B4-BE49-F238E27FC236}">
                  <a16:creationId xmlns:a16="http://schemas.microsoft.com/office/drawing/2014/main" id="{B2B2E98B-BBBF-4495-A193-2E045179F0E2}"/>
                </a:ext>
              </a:extLst>
            </p:cNvPr>
            <p:cNvSpPr/>
            <p:nvPr/>
          </p:nvSpPr>
          <p:spPr>
            <a:xfrm>
              <a:off x="1626762" y="3313143"/>
              <a:ext cx="479511" cy="348883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b="1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01…</a:t>
              </a:r>
              <a:endParaRPr lang="zh-CN" altLang="en-US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9" name="矩形 38">
              <a:extLst>
                <a:ext uri="{FF2B5EF4-FFF2-40B4-BE49-F238E27FC236}">
                  <a16:creationId xmlns:a16="http://schemas.microsoft.com/office/drawing/2014/main" id="{B282B0C5-1864-4273-B956-083A0A4E6666}"/>
                </a:ext>
              </a:extLst>
            </p:cNvPr>
            <p:cNvSpPr/>
            <p:nvPr/>
          </p:nvSpPr>
          <p:spPr>
            <a:xfrm>
              <a:off x="1626762" y="3662026"/>
              <a:ext cx="479511" cy="348883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b="1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10…</a:t>
              </a:r>
              <a:endParaRPr lang="zh-CN" altLang="en-US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0" name="矩形 39">
              <a:extLst>
                <a:ext uri="{FF2B5EF4-FFF2-40B4-BE49-F238E27FC236}">
                  <a16:creationId xmlns:a16="http://schemas.microsoft.com/office/drawing/2014/main" id="{FD3BB798-BC26-4C96-904C-F47420F87400}"/>
                </a:ext>
              </a:extLst>
            </p:cNvPr>
            <p:cNvSpPr/>
            <p:nvPr/>
          </p:nvSpPr>
          <p:spPr>
            <a:xfrm>
              <a:off x="1626762" y="4010909"/>
              <a:ext cx="479511" cy="348883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b="1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11…</a:t>
              </a:r>
              <a:endParaRPr lang="zh-CN" altLang="en-US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41" name="矩形 40">
            <a:extLst>
              <a:ext uri="{FF2B5EF4-FFF2-40B4-BE49-F238E27FC236}">
                <a16:creationId xmlns:a16="http://schemas.microsoft.com/office/drawing/2014/main" id="{69E50DFA-BC2C-4D3D-BEFB-EFAA57BCD267}"/>
              </a:ext>
            </a:extLst>
          </p:cNvPr>
          <p:cNvSpPr/>
          <p:nvPr/>
        </p:nvSpPr>
        <p:spPr>
          <a:xfrm>
            <a:off x="1529454" y="1869937"/>
            <a:ext cx="884729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b="1" i="1" dirty="0">
                <a:solidFill>
                  <a:srgbClr val="FF0000"/>
                </a:solidFill>
                <a:latin typeface="Crimson Text"/>
              </a:rPr>
              <a:t>global</a:t>
            </a:r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9AB284E7-139F-4383-B4A8-41907ED6DCC6}"/>
              </a:ext>
            </a:extLst>
          </p:cNvPr>
          <p:cNvSpPr/>
          <p:nvPr/>
        </p:nvSpPr>
        <p:spPr>
          <a:xfrm>
            <a:off x="6931603" y="1784993"/>
            <a:ext cx="63246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b="1" i="1" dirty="0">
                <a:solidFill>
                  <a:srgbClr val="FF0000"/>
                </a:solidFill>
                <a:latin typeface="Crimson Text"/>
              </a:rPr>
              <a:t>local</a:t>
            </a:r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29457583-44A9-4BA8-B2F9-CF810C022FDF}"/>
              </a:ext>
            </a:extLst>
          </p:cNvPr>
          <p:cNvSpPr/>
          <p:nvPr/>
        </p:nvSpPr>
        <p:spPr>
          <a:xfrm>
            <a:off x="6931603" y="2921380"/>
            <a:ext cx="63246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b="1" i="1" dirty="0">
                <a:solidFill>
                  <a:srgbClr val="FF0000"/>
                </a:solidFill>
                <a:latin typeface="Crimson Text"/>
              </a:rPr>
              <a:t>local</a:t>
            </a:r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F2BC1378-D02A-4492-9254-5FEDCBB2D587}"/>
              </a:ext>
            </a:extLst>
          </p:cNvPr>
          <p:cNvSpPr/>
          <p:nvPr/>
        </p:nvSpPr>
        <p:spPr>
          <a:xfrm>
            <a:off x="6931603" y="4073016"/>
            <a:ext cx="63246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b="1" i="1" dirty="0">
                <a:solidFill>
                  <a:srgbClr val="FF0000"/>
                </a:solidFill>
                <a:latin typeface="Crimson Text"/>
              </a:rPr>
              <a:t>local</a:t>
            </a:r>
            <a:endParaRPr lang="zh-CN" altLang="en-US" dirty="0">
              <a:solidFill>
                <a:srgbClr val="FF0000"/>
              </a:solidFill>
            </a:endParaRPr>
          </a:p>
        </p:txBody>
      </p:sp>
      <p:cxnSp>
        <p:nvCxnSpPr>
          <p:cNvPr id="45" name="连接符: 曲线 44">
            <a:extLst>
              <a:ext uri="{FF2B5EF4-FFF2-40B4-BE49-F238E27FC236}">
                <a16:creationId xmlns:a16="http://schemas.microsoft.com/office/drawing/2014/main" id="{8451ED78-4A9F-454D-97EC-6C2ED389E998}"/>
              </a:ext>
            </a:extLst>
          </p:cNvPr>
          <p:cNvCxnSpPr>
            <a:cxnSpLocks/>
            <a:stCxn id="37" idx="3"/>
            <a:endCxn id="9" idx="1"/>
          </p:cNvCxnSpPr>
          <p:nvPr/>
        </p:nvCxnSpPr>
        <p:spPr>
          <a:xfrm flipV="1">
            <a:off x="3123453" y="2322497"/>
            <a:ext cx="1830754" cy="377771"/>
          </a:xfrm>
          <a:prstGeom prst="curvedConnector3">
            <a:avLst>
              <a:gd name="adj1" fmla="val 50000"/>
            </a:avLst>
          </a:prstGeom>
          <a:ln w="38100">
            <a:solidFill>
              <a:srgbClr val="FF0000"/>
            </a:solidFill>
            <a:headEnd type="oval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连接符: 曲线 47">
            <a:extLst>
              <a:ext uri="{FF2B5EF4-FFF2-40B4-BE49-F238E27FC236}">
                <a16:creationId xmlns:a16="http://schemas.microsoft.com/office/drawing/2014/main" id="{6BA95BC9-0A1D-4DF8-B48C-7AF8791931B3}"/>
              </a:ext>
            </a:extLst>
          </p:cNvPr>
          <p:cNvCxnSpPr>
            <a:cxnSpLocks/>
            <a:stCxn id="38" idx="3"/>
            <a:endCxn id="9" idx="1"/>
          </p:cNvCxnSpPr>
          <p:nvPr/>
        </p:nvCxnSpPr>
        <p:spPr>
          <a:xfrm flipV="1">
            <a:off x="3123453" y="2322497"/>
            <a:ext cx="1830754" cy="726654"/>
          </a:xfrm>
          <a:prstGeom prst="curvedConnector3">
            <a:avLst>
              <a:gd name="adj1" fmla="val 50000"/>
            </a:avLst>
          </a:prstGeom>
          <a:ln w="38100">
            <a:solidFill>
              <a:srgbClr val="FF0000"/>
            </a:solidFill>
            <a:headEnd type="oval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连接符: 曲线 51">
            <a:extLst>
              <a:ext uri="{FF2B5EF4-FFF2-40B4-BE49-F238E27FC236}">
                <a16:creationId xmlns:a16="http://schemas.microsoft.com/office/drawing/2014/main" id="{19A252AA-8F8E-426F-930D-74D6F694D7C6}"/>
              </a:ext>
            </a:extLst>
          </p:cNvPr>
          <p:cNvCxnSpPr>
            <a:cxnSpLocks/>
            <a:stCxn id="39" idx="3"/>
            <a:endCxn id="17" idx="1"/>
          </p:cNvCxnSpPr>
          <p:nvPr/>
        </p:nvCxnSpPr>
        <p:spPr>
          <a:xfrm>
            <a:off x="3123453" y="3398034"/>
            <a:ext cx="1830754" cy="77646"/>
          </a:xfrm>
          <a:prstGeom prst="curvedConnector3">
            <a:avLst>
              <a:gd name="adj1" fmla="val 50000"/>
            </a:avLst>
          </a:prstGeom>
          <a:ln w="38100">
            <a:solidFill>
              <a:srgbClr val="FF0000"/>
            </a:solidFill>
            <a:headEnd type="oval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连接符: 曲线 54">
            <a:extLst>
              <a:ext uri="{FF2B5EF4-FFF2-40B4-BE49-F238E27FC236}">
                <a16:creationId xmlns:a16="http://schemas.microsoft.com/office/drawing/2014/main" id="{18680697-5590-4CD2-846F-461C5B7B773B}"/>
              </a:ext>
            </a:extLst>
          </p:cNvPr>
          <p:cNvCxnSpPr>
            <a:cxnSpLocks/>
            <a:stCxn id="40" idx="3"/>
            <a:endCxn id="24" idx="1"/>
          </p:cNvCxnSpPr>
          <p:nvPr/>
        </p:nvCxnSpPr>
        <p:spPr>
          <a:xfrm>
            <a:off x="3123453" y="3746917"/>
            <a:ext cx="1830754" cy="880399"/>
          </a:xfrm>
          <a:prstGeom prst="curvedConnector3">
            <a:avLst>
              <a:gd name="adj1" fmla="val 50000"/>
            </a:avLst>
          </a:prstGeom>
          <a:ln w="38100">
            <a:solidFill>
              <a:srgbClr val="FF0000"/>
            </a:solidFill>
            <a:headEnd type="oval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矩形 57">
            <a:extLst>
              <a:ext uri="{FF2B5EF4-FFF2-40B4-BE49-F238E27FC236}">
                <a16:creationId xmlns:a16="http://schemas.microsoft.com/office/drawing/2014/main" id="{1D76D4A4-2AF3-459E-85BB-FCE948574340}"/>
              </a:ext>
            </a:extLst>
          </p:cNvPr>
          <p:cNvSpPr/>
          <p:nvPr/>
        </p:nvSpPr>
        <p:spPr>
          <a:xfrm>
            <a:off x="8382031" y="1917103"/>
            <a:ext cx="3345302" cy="9079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lang="en-US" altLang="zh-CN" sz="2400" b="1" dirty="0">
                <a:latin typeface="Inconsolata"/>
              </a:rPr>
              <a:t>Find A</a:t>
            </a:r>
          </a:p>
          <a:p>
            <a:pPr>
              <a:spcBef>
                <a:spcPts val="600"/>
              </a:spcBef>
            </a:pPr>
            <a:r>
              <a:rPr lang="en-US" altLang="zh-CN" sz="2400" b="1" i="1" dirty="0">
                <a:solidFill>
                  <a:srgbClr val="FF0000"/>
                </a:solidFill>
                <a:latin typeface="Crimson Text"/>
              </a:rPr>
              <a:t>hash(A) </a:t>
            </a:r>
            <a:r>
              <a:rPr lang="en-US" altLang="zh-CN" sz="2400" b="1" dirty="0">
                <a:solidFill>
                  <a:srgbClr val="FF0000"/>
                </a:solidFill>
                <a:latin typeface="Inconsolata"/>
              </a:rPr>
              <a:t>= 01110…</a:t>
            </a:r>
            <a:endParaRPr lang="zh-CN" altLang="en-US" sz="2400" dirty="0">
              <a:solidFill>
                <a:srgbClr val="FF0000"/>
              </a:solidFill>
            </a:endParaRPr>
          </a:p>
        </p:txBody>
      </p:sp>
      <p:sp>
        <p:nvSpPr>
          <p:cNvPr id="59" name="箭头: 右 58">
            <a:extLst>
              <a:ext uri="{FF2B5EF4-FFF2-40B4-BE49-F238E27FC236}">
                <a16:creationId xmlns:a16="http://schemas.microsoft.com/office/drawing/2014/main" id="{DB23A638-7F7A-474F-B008-F77FE10B0512}"/>
              </a:ext>
            </a:extLst>
          </p:cNvPr>
          <p:cNvSpPr/>
          <p:nvPr/>
        </p:nvSpPr>
        <p:spPr>
          <a:xfrm>
            <a:off x="1628477" y="3233945"/>
            <a:ext cx="308113" cy="305815"/>
          </a:xfrm>
          <a:prstGeom prst="right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0" name="矩形: 圆角 59">
            <a:extLst>
              <a:ext uri="{FF2B5EF4-FFF2-40B4-BE49-F238E27FC236}">
                <a16:creationId xmlns:a16="http://schemas.microsoft.com/office/drawing/2014/main" id="{879476EF-12E4-4665-84EF-9E5AD7C621C2}"/>
              </a:ext>
            </a:extLst>
          </p:cNvPr>
          <p:cNvSpPr/>
          <p:nvPr/>
        </p:nvSpPr>
        <p:spPr>
          <a:xfrm>
            <a:off x="9638689" y="4390614"/>
            <a:ext cx="415993" cy="442895"/>
          </a:xfrm>
          <a:prstGeom prst="roundRect">
            <a:avLst>
              <a:gd name="adj" fmla="val 5316"/>
            </a:avLst>
          </a:prstGeom>
          <a:solidFill>
            <a:srgbClr val="0070C0">
              <a:alpha val="20000"/>
            </a:srgbClr>
          </a:solidFill>
          <a:ln w="2540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1" name="矩形: 圆角 60">
            <a:extLst>
              <a:ext uri="{FF2B5EF4-FFF2-40B4-BE49-F238E27FC236}">
                <a16:creationId xmlns:a16="http://schemas.microsoft.com/office/drawing/2014/main" id="{D9109B16-E13B-4C4E-97C6-852387FBF01F}"/>
              </a:ext>
            </a:extLst>
          </p:cNvPr>
          <p:cNvSpPr/>
          <p:nvPr/>
        </p:nvSpPr>
        <p:spPr>
          <a:xfrm>
            <a:off x="4954207" y="2929807"/>
            <a:ext cx="1609896" cy="1101468"/>
          </a:xfrm>
          <a:prstGeom prst="roundRect">
            <a:avLst>
              <a:gd name="adj" fmla="val 5316"/>
            </a:avLst>
          </a:prstGeom>
          <a:solidFill>
            <a:srgbClr val="FF0000">
              <a:alpha val="20000"/>
            </a:srgbClr>
          </a:solidFill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6" name="矩形 45">
            <a:extLst>
              <a:ext uri="{FF2B5EF4-FFF2-40B4-BE49-F238E27FC236}">
                <a16:creationId xmlns:a16="http://schemas.microsoft.com/office/drawing/2014/main" id="{E1A91A32-D5AE-44CF-AC9C-5F10D83B251F}"/>
              </a:ext>
            </a:extLst>
          </p:cNvPr>
          <p:cNvSpPr/>
          <p:nvPr/>
        </p:nvSpPr>
        <p:spPr>
          <a:xfrm>
            <a:off x="8382031" y="2932883"/>
            <a:ext cx="3345302" cy="9079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lang="en-US" altLang="zh-CN" sz="2400" b="1" dirty="0">
                <a:latin typeface="Inconsolata"/>
              </a:rPr>
              <a:t>Insert B</a:t>
            </a:r>
          </a:p>
          <a:p>
            <a:pPr>
              <a:spcBef>
                <a:spcPts val="600"/>
              </a:spcBef>
            </a:pPr>
            <a:r>
              <a:rPr lang="en-US" altLang="zh-CN" sz="2400" b="1" i="1" dirty="0">
                <a:solidFill>
                  <a:srgbClr val="FF0000"/>
                </a:solidFill>
                <a:latin typeface="Crimson Text"/>
              </a:rPr>
              <a:t>hash(B) </a:t>
            </a:r>
            <a:r>
              <a:rPr lang="en-US" altLang="zh-CN" sz="2400" b="1" dirty="0">
                <a:solidFill>
                  <a:srgbClr val="FF0000"/>
                </a:solidFill>
                <a:latin typeface="Inconsolata"/>
              </a:rPr>
              <a:t>= 10111…</a:t>
            </a:r>
            <a:endParaRPr lang="zh-CN" altLang="en-US" sz="2400" dirty="0">
              <a:solidFill>
                <a:srgbClr val="FF0000"/>
              </a:solidFill>
            </a:endParaRPr>
          </a:p>
        </p:txBody>
      </p:sp>
      <p:sp>
        <p:nvSpPr>
          <p:cNvPr id="47" name="矩形 46">
            <a:extLst>
              <a:ext uri="{FF2B5EF4-FFF2-40B4-BE49-F238E27FC236}">
                <a16:creationId xmlns:a16="http://schemas.microsoft.com/office/drawing/2014/main" id="{1B9678DA-2E84-490B-B14F-9FCE6FBB3D28}"/>
              </a:ext>
            </a:extLst>
          </p:cNvPr>
          <p:cNvSpPr/>
          <p:nvPr/>
        </p:nvSpPr>
        <p:spPr>
          <a:xfrm>
            <a:off x="8382031" y="3948663"/>
            <a:ext cx="3345302" cy="9079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lang="en-US" altLang="zh-CN" sz="2400" b="1" dirty="0">
                <a:latin typeface="Inconsolata"/>
              </a:rPr>
              <a:t>Insert C</a:t>
            </a:r>
          </a:p>
          <a:p>
            <a:pPr>
              <a:spcBef>
                <a:spcPts val="600"/>
              </a:spcBef>
            </a:pPr>
            <a:r>
              <a:rPr lang="en-US" altLang="zh-CN" sz="2400" b="1" i="1" dirty="0">
                <a:solidFill>
                  <a:srgbClr val="FF0000"/>
                </a:solidFill>
                <a:latin typeface="Crimson Text"/>
              </a:rPr>
              <a:t>hash(C) </a:t>
            </a:r>
            <a:r>
              <a:rPr lang="en-US" altLang="zh-CN" sz="2400" b="1" dirty="0">
                <a:solidFill>
                  <a:srgbClr val="FF0000"/>
                </a:solidFill>
                <a:latin typeface="Inconsolata"/>
              </a:rPr>
              <a:t>= 10100…</a:t>
            </a:r>
            <a:endParaRPr lang="zh-CN" altLang="en-US" sz="24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9431194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9BBCCEF-D42F-420B-9CC2-98A9815DB6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Extendable Hashing</a:t>
            </a:r>
            <a:endParaRPr lang="zh-CN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2905825-8EE0-4CF0-A05E-CAFDF944FB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13E4DF-5CE5-4369-8246-D7077DCDA73F}" type="datetime1">
              <a:rPr lang="zh-CN" altLang="en-US" smtClean="0"/>
              <a:t>2024/5/8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ED664A2-5898-4C25-86F3-E969A94A39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Hash Indices</a:t>
            </a: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34B9AF0-AA69-4CFE-BBF2-A55EB4555B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5CA875-76FA-4283-B5BE-070B4D16A27E}" type="slidenum">
              <a:rPr lang="zh-CN" altLang="en-US" smtClean="0"/>
              <a:t>23</a:t>
            </a:fld>
            <a:endParaRPr lang="zh-CN" altLang="en-US"/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3024639C-B3C8-49EE-B83D-8667850CD1D2}"/>
              </a:ext>
            </a:extLst>
          </p:cNvPr>
          <p:cNvGrpSpPr/>
          <p:nvPr/>
        </p:nvGrpSpPr>
        <p:grpSpPr>
          <a:xfrm>
            <a:off x="4954207" y="1779700"/>
            <a:ext cx="1977396" cy="1085593"/>
            <a:chOff x="3967045" y="2222509"/>
            <a:chExt cx="1977396" cy="1085593"/>
          </a:xfrm>
        </p:grpSpPr>
        <p:grpSp>
          <p:nvGrpSpPr>
            <p:cNvPr id="7" name="组合 6">
              <a:extLst>
                <a:ext uri="{FF2B5EF4-FFF2-40B4-BE49-F238E27FC236}">
                  <a16:creationId xmlns:a16="http://schemas.microsoft.com/office/drawing/2014/main" id="{9FDDB302-72EB-4F8B-A501-4F8760FF32D3}"/>
                </a:ext>
              </a:extLst>
            </p:cNvPr>
            <p:cNvGrpSpPr/>
            <p:nvPr/>
          </p:nvGrpSpPr>
          <p:grpSpPr>
            <a:xfrm>
              <a:off x="3967045" y="2222509"/>
              <a:ext cx="1597070" cy="1085593"/>
              <a:chOff x="3120764" y="1928099"/>
              <a:chExt cx="1597070" cy="1085593"/>
            </a:xfrm>
          </p:grpSpPr>
          <p:sp>
            <p:nvSpPr>
              <p:cNvPr id="9" name="矩形 8">
                <a:extLst>
                  <a:ext uri="{FF2B5EF4-FFF2-40B4-BE49-F238E27FC236}">
                    <a16:creationId xmlns:a16="http://schemas.microsoft.com/office/drawing/2014/main" id="{480C920A-90E2-4C5A-8D90-D8A123F63313}"/>
                  </a:ext>
                </a:extLst>
              </p:cNvPr>
              <p:cNvSpPr/>
              <p:nvPr/>
            </p:nvSpPr>
            <p:spPr>
              <a:xfrm>
                <a:off x="3120764" y="1928099"/>
                <a:ext cx="1597070" cy="1085593"/>
              </a:xfrm>
              <a:prstGeom prst="rect">
                <a:avLst/>
              </a:prstGeom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0" name="矩形 9">
                <a:extLst>
                  <a:ext uri="{FF2B5EF4-FFF2-40B4-BE49-F238E27FC236}">
                    <a16:creationId xmlns:a16="http://schemas.microsoft.com/office/drawing/2014/main" id="{2A1D8830-AB19-4806-91CB-AAB5F793E970}"/>
                  </a:ext>
                </a:extLst>
              </p:cNvPr>
              <p:cNvSpPr/>
              <p:nvPr/>
            </p:nvSpPr>
            <p:spPr>
              <a:xfrm>
                <a:off x="3251519" y="2029839"/>
                <a:ext cx="1326466" cy="244586"/>
              </a:xfrm>
              <a:prstGeom prst="rect">
                <a:avLst/>
              </a:prstGeom>
              <a:solidFill>
                <a:schemeClr val="bg1"/>
              </a:solidFill>
              <a:ln w="254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4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00010…</a:t>
                </a:r>
                <a:endParaRPr lang="zh-CN" altLang="en-US" sz="14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1" name="矩形 10">
                <a:extLst>
                  <a:ext uri="{FF2B5EF4-FFF2-40B4-BE49-F238E27FC236}">
                    <a16:creationId xmlns:a16="http://schemas.microsoft.com/office/drawing/2014/main" id="{0D631330-B99C-4419-9D6E-F87CC137DB3C}"/>
                  </a:ext>
                </a:extLst>
              </p:cNvPr>
              <p:cNvSpPr/>
              <p:nvPr/>
            </p:nvSpPr>
            <p:spPr>
              <a:xfrm>
                <a:off x="3251519" y="2677089"/>
                <a:ext cx="1326466" cy="244586"/>
              </a:xfrm>
              <a:prstGeom prst="rect">
                <a:avLst/>
              </a:prstGeom>
              <a:solidFill>
                <a:schemeClr val="bg1"/>
              </a:solidFill>
              <a:ln w="254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4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2" name="矩形 11">
                <a:extLst>
                  <a:ext uri="{FF2B5EF4-FFF2-40B4-BE49-F238E27FC236}">
                    <a16:creationId xmlns:a16="http://schemas.microsoft.com/office/drawing/2014/main" id="{45F3AF6E-313B-4D40-8DF0-9C5C0880DD78}"/>
                  </a:ext>
                </a:extLst>
              </p:cNvPr>
              <p:cNvSpPr/>
              <p:nvPr/>
            </p:nvSpPr>
            <p:spPr>
              <a:xfrm>
                <a:off x="3251519" y="2353464"/>
                <a:ext cx="1326466" cy="244586"/>
              </a:xfrm>
              <a:prstGeom prst="rect">
                <a:avLst/>
              </a:prstGeom>
              <a:solidFill>
                <a:schemeClr val="bg1"/>
              </a:solidFill>
              <a:ln w="254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4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01110…</a:t>
                </a:r>
                <a:endParaRPr lang="zh-CN" altLang="en-US" sz="14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3" name="矩形 2">
              <a:extLst>
                <a:ext uri="{FF2B5EF4-FFF2-40B4-BE49-F238E27FC236}">
                  <a16:creationId xmlns:a16="http://schemas.microsoft.com/office/drawing/2014/main" id="{75D3C92D-6C7D-44F5-ACDC-131FA13D7DF8}"/>
                </a:ext>
              </a:extLst>
            </p:cNvPr>
            <p:cNvSpPr/>
            <p:nvPr/>
          </p:nvSpPr>
          <p:spPr>
            <a:xfrm>
              <a:off x="5564115" y="2222509"/>
              <a:ext cx="380326" cy="346326"/>
            </a:xfrm>
            <a:prstGeom prst="rect">
              <a:avLst/>
            </a:prstGeom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b="1" dirty="0"/>
                <a:t>1</a:t>
              </a:r>
              <a:endParaRPr lang="zh-CN" altLang="en-US" b="1" dirty="0"/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4204676F-8260-4BA4-B0DA-8F832B755E20}"/>
              </a:ext>
            </a:extLst>
          </p:cNvPr>
          <p:cNvGrpSpPr/>
          <p:nvPr/>
        </p:nvGrpSpPr>
        <p:grpSpPr>
          <a:xfrm>
            <a:off x="4954207" y="2932883"/>
            <a:ext cx="1977396" cy="1085593"/>
            <a:chOff x="3967045" y="2222509"/>
            <a:chExt cx="1977396" cy="1085593"/>
          </a:xfrm>
        </p:grpSpPr>
        <p:grpSp>
          <p:nvGrpSpPr>
            <p:cNvPr id="15" name="组合 14">
              <a:extLst>
                <a:ext uri="{FF2B5EF4-FFF2-40B4-BE49-F238E27FC236}">
                  <a16:creationId xmlns:a16="http://schemas.microsoft.com/office/drawing/2014/main" id="{628EAAF6-51AD-491C-A13D-35C54EBAA521}"/>
                </a:ext>
              </a:extLst>
            </p:cNvPr>
            <p:cNvGrpSpPr/>
            <p:nvPr/>
          </p:nvGrpSpPr>
          <p:grpSpPr>
            <a:xfrm>
              <a:off x="3967045" y="2222509"/>
              <a:ext cx="1597070" cy="1085593"/>
              <a:chOff x="3120764" y="1928099"/>
              <a:chExt cx="1597070" cy="1085593"/>
            </a:xfrm>
          </p:grpSpPr>
          <p:sp>
            <p:nvSpPr>
              <p:cNvPr id="17" name="矩形 16">
                <a:extLst>
                  <a:ext uri="{FF2B5EF4-FFF2-40B4-BE49-F238E27FC236}">
                    <a16:creationId xmlns:a16="http://schemas.microsoft.com/office/drawing/2014/main" id="{7E8EC09F-157F-4C94-8EB8-3C3359FBCA94}"/>
                  </a:ext>
                </a:extLst>
              </p:cNvPr>
              <p:cNvSpPr/>
              <p:nvPr/>
            </p:nvSpPr>
            <p:spPr>
              <a:xfrm>
                <a:off x="3120764" y="1928099"/>
                <a:ext cx="1597070" cy="1085593"/>
              </a:xfrm>
              <a:prstGeom prst="rect">
                <a:avLst/>
              </a:prstGeom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8" name="矩形 17">
                <a:extLst>
                  <a:ext uri="{FF2B5EF4-FFF2-40B4-BE49-F238E27FC236}">
                    <a16:creationId xmlns:a16="http://schemas.microsoft.com/office/drawing/2014/main" id="{232E75C7-E75A-40FA-A35D-E4ECD84D6AA1}"/>
                  </a:ext>
                </a:extLst>
              </p:cNvPr>
              <p:cNvSpPr/>
              <p:nvPr/>
            </p:nvSpPr>
            <p:spPr>
              <a:xfrm>
                <a:off x="3251519" y="2029839"/>
                <a:ext cx="1326466" cy="244586"/>
              </a:xfrm>
              <a:prstGeom prst="rect">
                <a:avLst/>
              </a:prstGeom>
              <a:solidFill>
                <a:schemeClr val="bg1"/>
              </a:solidFill>
              <a:ln w="254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4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10101…</a:t>
                </a:r>
                <a:endParaRPr lang="zh-CN" altLang="en-US" sz="14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9" name="矩形 18">
                <a:extLst>
                  <a:ext uri="{FF2B5EF4-FFF2-40B4-BE49-F238E27FC236}">
                    <a16:creationId xmlns:a16="http://schemas.microsoft.com/office/drawing/2014/main" id="{C4B18C4E-73F1-429B-BB98-E36948A520BC}"/>
                  </a:ext>
                </a:extLst>
              </p:cNvPr>
              <p:cNvSpPr/>
              <p:nvPr/>
            </p:nvSpPr>
            <p:spPr>
              <a:xfrm>
                <a:off x="3251519" y="2677089"/>
                <a:ext cx="1326466" cy="244586"/>
              </a:xfrm>
              <a:prstGeom prst="rect">
                <a:avLst/>
              </a:prstGeom>
              <a:solidFill>
                <a:schemeClr val="bg1"/>
              </a:solidFill>
              <a:ln w="254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4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10111…</a:t>
                </a:r>
                <a:endParaRPr lang="zh-CN" altLang="en-US" sz="14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20" name="矩形 19">
                <a:extLst>
                  <a:ext uri="{FF2B5EF4-FFF2-40B4-BE49-F238E27FC236}">
                    <a16:creationId xmlns:a16="http://schemas.microsoft.com/office/drawing/2014/main" id="{8BF02F93-A143-42EF-A240-756FDE2499AB}"/>
                  </a:ext>
                </a:extLst>
              </p:cNvPr>
              <p:cNvSpPr/>
              <p:nvPr/>
            </p:nvSpPr>
            <p:spPr>
              <a:xfrm>
                <a:off x="3251519" y="2353464"/>
                <a:ext cx="1326466" cy="244586"/>
              </a:xfrm>
              <a:prstGeom prst="rect">
                <a:avLst/>
              </a:prstGeom>
              <a:solidFill>
                <a:schemeClr val="bg1"/>
              </a:solidFill>
              <a:ln w="254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4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10011…</a:t>
                </a:r>
                <a:endParaRPr lang="zh-CN" altLang="en-US" sz="14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16" name="矩形 15">
              <a:extLst>
                <a:ext uri="{FF2B5EF4-FFF2-40B4-BE49-F238E27FC236}">
                  <a16:creationId xmlns:a16="http://schemas.microsoft.com/office/drawing/2014/main" id="{FE650D52-5D23-4767-BEAD-7F2514BC522B}"/>
                </a:ext>
              </a:extLst>
            </p:cNvPr>
            <p:cNvSpPr/>
            <p:nvPr/>
          </p:nvSpPr>
          <p:spPr>
            <a:xfrm>
              <a:off x="5564115" y="2222509"/>
              <a:ext cx="380326" cy="346326"/>
            </a:xfrm>
            <a:prstGeom prst="rect">
              <a:avLst/>
            </a:prstGeom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b="1" dirty="0"/>
                <a:t>2</a:t>
              </a:r>
              <a:endParaRPr lang="zh-CN" altLang="en-US" b="1" dirty="0"/>
            </a:p>
          </p:txBody>
        </p:sp>
      </p:grpSp>
      <p:grpSp>
        <p:nvGrpSpPr>
          <p:cNvPr id="21" name="组合 20">
            <a:extLst>
              <a:ext uri="{FF2B5EF4-FFF2-40B4-BE49-F238E27FC236}">
                <a16:creationId xmlns:a16="http://schemas.microsoft.com/office/drawing/2014/main" id="{9EE9FCAD-9A2D-4B8A-B019-0E485FE207E2}"/>
              </a:ext>
            </a:extLst>
          </p:cNvPr>
          <p:cNvGrpSpPr/>
          <p:nvPr/>
        </p:nvGrpSpPr>
        <p:grpSpPr>
          <a:xfrm>
            <a:off x="4954207" y="4084519"/>
            <a:ext cx="1977396" cy="1085593"/>
            <a:chOff x="3967045" y="2222509"/>
            <a:chExt cx="1977396" cy="1085593"/>
          </a:xfrm>
        </p:grpSpPr>
        <p:grpSp>
          <p:nvGrpSpPr>
            <p:cNvPr id="22" name="组合 21">
              <a:extLst>
                <a:ext uri="{FF2B5EF4-FFF2-40B4-BE49-F238E27FC236}">
                  <a16:creationId xmlns:a16="http://schemas.microsoft.com/office/drawing/2014/main" id="{B7CCA697-86EC-4067-A73F-079F343B8E24}"/>
                </a:ext>
              </a:extLst>
            </p:cNvPr>
            <p:cNvGrpSpPr/>
            <p:nvPr/>
          </p:nvGrpSpPr>
          <p:grpSpPr>
            <a:xfrm>
              <a:off x="3967045" y="2222509"/>
              <a:ext cx="1597070" cy="1085593"/>
              <a:chOff x="3120764" y="1928099"/>
              <a:chExt cx="1597070" cy="1085593"/>
            </a:xfrm>
          </p:grpSpPr>
          <p:sp>
            <p:nvSpPr>
              <p:cNvPr id="24" name="矩形 23">
                <a:extLst>
                  <a:ext uri="{FF2B5EF4-FFF2-40B4-BE49-F238E27FC236}">
                    <a16:creationId xmlns:a16="http://schemas.microsoft.com/office/drawing/2014/main" id="{619565CE-C7F8-43E8-B310-B874C5F7FF26}"/>
                  </a:ext>
                </a:extLst>
              </p:cNvPr>
              <p:cNvSpPr/>
              <p:nvPr/>
            </p:nvSpPr>
            <p:spPr>
              <a:xfrm>
                <a:off x="3120764" y="1928099"/>
                <a:ext cx="1597070" cy="1085593"/>
              </a:xfrm>
              <a:prstGeom prst="rect">
                <a:avLst/>
              </a:prstGeom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5" name="矩形 24">
                <a:extLst>
                  <a:ext uri="{FF2B5EF4-FFF2-40B4-BE49-F238E27FC236}">
                    <a16:creationId xmlns:a16="http://schemas.microsoft.com/office/drawing/2014/main" id="{D651FB57-6E8E-45F9-AE97-D5AD6B6646B8}"/>
                  </a:ext>
                </a:extLst>
              </p:cNvPr>
              <p:cNvSpPr/>
              <p:nvPr/>
            </p:nvSpPr>
            <p:spPr>
              <a:xfrm>
                <a:off x="3251519" y="2029839"/>
                <a:ext cx="1326466" cy="244586"/>
              </a:xfrm>
              <a:prstGeom prst="rect">
                <a:avLst/>
              </a:prstGeom>
              <a:solidFill>
                <a:schemeClr val="bg1"/>
              </a:solidFill>
              <a:ln w="254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4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11010…</a:t>
                </a:r>
                <a:endParaRPr lang="zh-CN" altLang="en-US" sz="14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26" name="矩形 25">
                <a:extLst>
                  <a:ext uri="{FF2B5EF4-FFF2-40B4-BE49-F238E27FC236}">
                    <a16:creationId xmlns:a16="http://schemas.microsoft.com/office/drawing/2014/main" id="{E642A90E-5EF3-477A-A809-CED64C713EA7}"/>
                  </a:ext>
                </a:extLst>
              </p:cNvPr>
              <p:cNvSpPr/>
              <p:nvPr/>
            </p:nvSpPr>
            <p:spPr>
              <a:xfrm>
                <a:off x="3251519" y="2677089"/>
                <a:ext cx="1326466" cy="244586"/>
              </a:xfrm>
              <a:prstGeom prst="rect">
                <a:avLst/>
              </a:prstGeom>
              <a:solidFill>
                <a:schemeClr val="bg1"/>
              </a:solidFill>
              <a:ln w="254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4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27" name="矩形 26">
                <a:extLst>
                  <a:ext uri="{FF2B5EF4-FFF2-40B4-BE49-F238E27FC236}">
                    <a16:creationId xmlns:a16="http://schemas.microsoft.com/office/drawing/2014/main" id="{53D628CE-07FA-4E35-AB6A-818A2F37E09E}"/>
                  </a:ext>
                </a:extLst>
              </p:cNvPr>
              <p:cNvSpPr/>
              <p:nvPr/>
            </p:nvSpPr>
            <p:spPr>
              <a:xfrm>
                <a:off x="3251519" y="2353464"/>
                <a:ext cx="1326466" cy="244586"/>
              </a:xfrm>
              <a:prstGeom prst="rect">
                <a:avLst/>
              </a:prstGeom>
              <a:solidFill>
                <a:schemeClr val="bg1"/>
              </a:solidFill>
              <a:ln w="254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4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23" name="矩形 22">
              <a:extLst>
                <a:ext uri="{FF2B5EF4-FFF2-40B4-BE49-F238E27FC236}">
                  <a16:creationId xmlns:a16="http://schemas.microsoft.com/office/drawing/2014/main" id="{DEC7DB32-5E26-4C42-8FCD-6D3342E30DB6}"/>
                </a:ext>
              </a:extLst>
            </p:cNvPr>
            <p:cNvSpPr/>
            <p:nvPr/>
          </p:nvSpPr>
          <p:spPr>
            <a:xfrm>
              <a:off x="5564115" y="2222509"/>
              <a:ext cx="380326" cy="346326"/>
            </a:xfrm>
            <a:prstGeom prst="rect">
              <a:avLst/>
            </a:prstGeom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b="1" dirty="0"/>
                <a:t>2</a:t>
              </a:r>
              <a:endParaRPr lang="zh-CN" altLang="en-US" b="1" dirty="0"/>
            </a:p>
          </p:txBody>
        </p:sp>
      </p:grpSp>
      <p:sp>
        <p:nvSpPr>
          <p:cNvPr id="35" name="矩形 34">
            <a:extLst>
              <a:ext uri="{FF2B5EF4-FFF2-40B4-BE49-F238E27FC236}">
                <a16:creationId xmlns:a16="http://schemas.microsoft.com/office/drawing/2014/main" id="{B5911D35-2C54-4548-A210-B869CD05B1DF}"/>
              </a:ext>
            </a:extLst>
          </p:cNvPr>
          <p:cNvSpPr/>
          <p:nvPr/>
        </p:nvSpPr>
        <p:spPr>
          <a:xfrm>
            <a:off x="2352145" y="1881440"/>
            <a:ext cx="380326" cy="346326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b="1" dirty="0"/>
              <a:t>2</a:t>
            </a:r>
            <a:endParaRPr lang="zh-CN" altLang="en-US" b="1" dirty="0"/>
          </a:p>
        </p:txBody>
      </p:sp>
      <p:grpSp>
        <p:nvGrpSpPr>
          <p:cNvPr id="36" name="组合 35">
            <a:extLst>
              <a:ext uri="{FF2B5EF4-FFF2-40B4-BE49-F238E27FC236}">
                <a16:creationId xmlns:a16="http://schemas.microsoft.com/office/drawing/2014/main" id="{2AC5CD71-C508-4BA3-B366-AA1381EA8708}"/>
              </a:ext>
            </a:extLst>
          </p:cNvPr>
          <p:cNvGrpSpPr/>
          <p:nvPr/>
        </p:nvGrpSpPr>
        <p:grpSpPr>
          <a:xfrm>
            <a:off x="2001968" y="2525826"/>
            <a:ext cx="1121485" cy="1395532"/>
            <a:chOff x="1626762" y="2964260"/>
            <a:chExt cx="479511" cy="1395532"/>
          </a:xfrm>
        </p:grpSpPr>
        <p:sp>
          <p:nvSpPr>
            <p:cNvPr id="37" name="矩形 36">
              <a:extLst>
                <a:ext uri="{FF2B5EF4-FFF2-40B4-BE49-F238E27FC236}">
                  <a16:creationId xmlns:a16="http://schemas.microsoft.com/office/drawing/2014/main" id="{A69CDD50-64A8-4B93-8050-C504E9399902}"/>
                </a:ext>
              </a:extLst>
            </p:cNvPr>
            <p:cNvSpPr/>
            <p:nvPr/>
          </p:nvSpPr>
          <p:spPr>
            <a:xfrm>
              <a:off x="1626762" y="2964260"/>
              <a:ext cx="479511" cy="348883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b="1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000…</a:t>
              </a:r>
              <a:endParaRPr lang="zh-CN" altLang="en-US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8" name="矩形 37">
              <a:extLst>
                <a:ext uri="{FF2B5EF4-FFF2-40B4-BE49-F238E27FC236}">
                  <a16:creationId xmlns:a16="http://schemas.microsoft.com/office/drawing/2014/main" id="{B2B2E98B-BBBF-4495-A193-2E045179F0E2}"/>
                </a:ext>
              </a:extLst>
            </p:cNvPr>
            <p:cNvSpPr/>
            <p:nvPr/>
          </p:nvSpPr>
          <p:spPr>
            <a:xfrm>
              <a:off x="1626762" y="3313143"/>
              <a:ext cx="479511" cy="348883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b="1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010…</a:t>
              </a:r>
              <a:endParaRPr lang="zh-CN" altLang="en-US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9" name="矩形 38">
              <a:extLst>
                <a:ext uri="{FF2B5EF4-FFF2-40B4-BE49-F238E27FC236}">
                  <a16:creationId xmlns:a16="http://schemas.microsoft.com/office/drawing/2014/main" id="{B282B0C5-1864-4273-B956-083A0A4E6666}"/>
                </a:ext>
              </a:extLst>
            </p:cNvPr>
            <p:cNvSpPr/>
            <p:nvPr/>
          </p:nvSpPr>
          <p:spPr>
            <a:xfrm>
              <a:off x="1626762" y="3662026"/>
              <a:ext cx="479511" cy="348883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b="1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100…</a:t>
              </a:r>
              <a:endParaRPr lang="zh-CN" altLang="en-US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0" name="矩形 39">
              <a:extLst>
                <a:ext uri="{FF2B5EF4-FFF2-40B4-BE49-F238E27FC236}">
                  <a16:creationId xmlns:a16="http://schemas.microsoft.com/office/drawing/2014/main" id="{FD3BB798-BC26-4C96-904C-F47420F87400}"/>
                </a:ext>
              </a:extLst>
            </p:cNvPr>
            <p:cNvSpPr/>
            <p:nvPr/>
          </p:nvSpPr>
          <p:spPr>
            <a:xfrm>
              <a:off x="1626762" y="4010909"/>
              <a:ext cx="479511" cy="348883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b="1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110…</a:t>
              </a:r>
              <a:endParaRPr lang="zh-CN" altLang="en-US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41" name="矩形 40">
            <a:extLst>
              <a:ext uri="{FF2B5EF4-FFF2-40B4-BE49-F238E27FC236}">
                <a16:creationId xmlns:a16="http://schemas.microsoft.com/office/drawing/2014/main" id="{69E50DFA-BC2C-4D3D-BEFB-EFAA57BCD267}"/>
              </a:ext>
            </a:extLst>
          </p:cNvPr>
          <p:cNvSpPr/>
          <p:nvPr/>
        </p:nvSpPr>
        <p:spPr>
          <a:xfrm>
            <a:off x="1529454" y="1869937"/>
            <a:ext cx="884729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b="1" i="1" dirty="0">
                <a:solidFill>
                  <a:srgbClr val="FF0000"/>
                </a:solidFill>
                <a:latin typeface="Crimson Text"/>
              </a:rPr>
              <a:t>global</a:t>
            </a:r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9AB284E7-139F-4383-B4A8-41907ED6DCC6}"/>
              </a:ext>
            </a:extLst>
          </p:cNvPr>
          <p:cNvSpPr/>
          <p:nvPr/>
        </p:nvSpPr>
        <p:spPr>
          <a:xfrm>
            <a:off x="6931603" y="1784993"/>
            <a:ext cx="63246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b="1" i="1" dirty="0">
                <a:solidFill>
                  <a:srgbClr val="FF0000"/>
                </a:solidFill>
                <a:latin typeface="Crimson Text"/>
              </a:rPr>
              <a:t>local</a:t>
            </a:r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29457583-44A9-4BA8-B2F9-CF810C022FDF}"/>
              </a:ext>
            </a:extLst>
          </p:cNvPr>
          <p:cNvSpPr/>
          <p:nvPr/>
        </p:nvSpPr>
        <p:spPr>
          <a:xfrm>
            <a:off x="6931603" y="2921380"/>
            <a:ext cx="63246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b="1" i="1" dirty="0">
                <a:solidFill>
                  <a:srgbClr val="FF0000"/>
                </a:solidFill>
                <a:latin typeface="Crimson Text"/>
              </a:rPr>
              <a:t>local</a:t>
            </a:r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F2BC1378-D02A-4492-9254-5FEDCBB2D587}"/>
              </a:ext>
            </a:extLst>
          </p:cNvPr>
          <p:cNvSpPr/>
          <p:nvPr/>
        </p:nvSpPr>
        <p:spPr>
          <a:xfrm>
            <a:off x="6931603" y="4073016"/>
            <a:ext cx="63246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b="1" i="1" dirty="0">
                <a:solidFill>
                  <a:srgbClr val="FF0000"/>
                </a:solidFill>
                <a:latin typeface="Crimson Text"/>
              </a:rPr>
              <a:t>local</a:t>
            </a:r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58" name="矩形 57">
            <a:extLst>
              <a:ext uri="{FF2B5EF4-FFF2-40B4-BE49-F238E27FC236}">
                <a16:creationId xmlns:a16="http://schemas.microsoft.com/office/drawing/2014/main" id="{1D76D4A4-2AF3-459E-85BB-FCE948574340}"/>
              </a:ext>
            </a:extLst>
          </p:cNvPr>
          <p:cNvSpPr/>
          <p:nvPr/>
        </p:nvSpPr>
        <p:spPr>
          <a:xfrm>
            <a:off x="8382031" y="1917103"/>
            <a:ext cx="3345302" cy="9079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lang="en-US" altLang="zh-CN" sz="2400" b="1" dirty="0">
                <a:latin typeface="Inconsolata"/>
              </a:rPr>
              <a:t>Find A</a:t>
            </a:r>
          </a:p>
          <a:p>
            <a:pPr>
              <a:spcBef>
                <a:spcPts val="600"/>
              </a:spcBef>
            </a:pPr>
            <a:r>
              <a:rPr lang="en-US" altLang="zh-CN" sz="2400" b="1" i="1" dirty="0">
                <a:solidFill>
                  <a:srgbClr val="FF0000"/>
                </a:solidFill>
                <a:latin typeface="Crimson Text"/>
              </a:rPr>
              <a:t>hash(A) </a:t>
            </a:r>
            <a:r>
              <a:rPr lang="en-US" altLang="zh-CN" sz="2400" b="1" dirty="0">
                <a:solidFill>
                  <a:srgbClr val="FF0000"/>
                </a:solidFill>
                <a:latin typeface="Inconsolata"/>
              </a:rPr>
              <a:t>= 01110…</a:t>
            </a:r>
            <a:endParaRPr lang="zh-CN" altLang="en-US" sz="2400" dirty="0">
              <a:solidFill>
                <a:srgbClr val="FF0000"/>
              </a:solidFill>
            </a:endParaRPr>
          </a:p>
        </p:txBody>
      </p:sp>
      <p:sp>
        <p:nvSpPr>
          <p:cNvPr id="60" name="矩形: 圆角 59">
            <a:extLst>
              <a:ext uri="{FF2B5EF4-FFF2-40B4-BE49-F238E27FC236}">
                <a16:creationId xmlns:a16="http://schemas.microsoft.com/office/drawing/2014/main" id="{879476EF-12E4-4665-84EF-9E5AD7C621C2}"/>
              </a:ext>
            </a:extLst>
          </p:cNvPr>
          <p:cNvSpPr/>
          <p:nvPr/>
        </p:nvSpPr>
        <p:spPr>
          <a:xfrm>
            <a:off x="9638689" y="4390614"/>
            <a:ext cx="415993" cy="442895"/>
          </a:xfrm>
          <a:prstGeom prst="roundRect">
            <a:avLst>
              <a:gd name="adj" fmla="val 5316"/>
            </a:avLst>
          </a:prstGeom>
          <a:solidFill>
            <a:srgbClr val="0070C0">
              <a:alpha val="20000"/>
            </a:srgbClr>
          </a:solidFill>
          <a:ln w="2540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6" name="矩形 45">
            <a:extLst>
              <a:ext uri="{FF2B5EF4-FFF2-40B4-BE49-F238E27FC236}">
                <a16:creationId xmlns:a16="http://schemas.microsoft.com/office/drawing/2014/main" id="{E1A91A32-D5AE-44CF-AC9C-5F10D83B251F}"/>
              </a:ext>
            </a:extLst>
          </p:cNvPr>
          <p:cNvSpPr/>
          <p:nvPr/>
        </p:nvSpPr>
        <p:spPr>
          <a:xfrm>
            <a:off x="8382031" y="2932883"/>
            <a:ext cx="3345302" cy="9079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lang="en-US" altLang="zh-CN" sz="2400" b="1" dirty="0">
                <a:latin typeface="Inconsolata"/>
              </a:rPr>
              <a:t>Insert B</a:t>
            </a:r>
          </a:p>
          <a:p>
            <a:pPr>
              <a:spcBef>
                <a:spcPts val="600"/>
              </a:spcBef>
            </a:pPr>
            <a:r>
              <a:rPr lang="en-US" altLang="zh-CN" sz="2400" b="1" i="1" dirty="0">
                <a:solidFill>
                  <a:srgbClr val="FF0000"/>
                </a:solidFill>
                <a:latin typeface="Crimson Text"/>
              </a:rPr>
              <a:t>hash(B) </a:t>
            </a:r>
            <a:r>
              <a:rPr lang="en-US" altLang="zh-CN" sz="2400" b="1" dirty="0">
                <a:solidFill>
                  <a:srgbClr val="FF0000"/>
                </a:solidFill>
                <a:latin typeface="Inconsolata"/>
              </a:rPr>
              <a:t>= 10111…</a:t>
            </a:r>
            <a:endParaRPr lang="zh-CN" altLang="en-US" sz="2400" dirty="0">
              <a:solidFill>
                <a:srgbClr val="FF0000"/>
              </a:solidFill>
            </a:endParaRPr>
          </a:p>
        </p:txBody>
      </p:sp>
      <p:sp>
        <p:nvSpPr>
          <p:cNvPr id="47" name="矩形 46">
            <a:extLst>
              <a:ext uri="{FF2B5EF4-FFF2-40B4-BE49-F238E27FC236}">
                <a16:creationId xmlns:a16="http://schemas.microsoft.com/office/drawing/2014/main" id="{1B9678DA-2E84-490B-B14F-9FCE6FBB3D28}"/>
              </a:ext>
            </a:extLst>
          </p:cNvPr>
          <p:cNvSpPr/>
          <p:nvPr/>
        </p:nvSpPr>
        <p:spPr>
          <a:xfrm>
            <a:off x="8382031" y="3948663"/>
            <a:ext cx="3345302" cy="9079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lang="en-US" altLang="zh-CN" sz="2400" b="1" dirty="0">
                <a:latin typeface="Inconsolata"/>
              </a:rPr>
              <a:t>Insert C</a:t>
            </a:r>
          </a:p>
          <a:p>
            <a:pPr>
              <a:spcBef>
                <a:spcPts val="600"/>
              </a:spcBef>
            </a:pPr>
            <a:r>
              <a:rPr lang="en-US" altLang="zh-CN" sz="2400" b="1" i="1" dirty="0">
                <a:solidFill>
                  <a:srgbClr val="FF0000"/>
                </a:solidFill>
                <a:latin typeface="Crimson Text"/>
              </a:rPr>
              <a:t>hash(C) </a:t>
            </a:r>
            <a:r>
              <a:rPr lang="en-US" altLang="zh-CN" sz="2400" b="1" dirty="0">
                <a:solidFill>
                  <a:srgbClr val="FF0000"/>
                </a:solidFill>
                <a:latin typeface="Inconsolata"/>
              </a:rPr>
              <a:t>= 10100…</a:t>
            </a:r>
            <a:endParaRPr lang="zh-CN" altLang="en-US" sz="2400" dirty="0">
              <a:solidFill>
                <a:srgbClr val="FF0000"/>
              </a:solidFill>
            </a:endParaRPr>
          </a:p>
        </p:txBody>
      </p:sp>
      <p:grpSp>
        <p:nvGrpSpPr>
          <p:cNvPr id="49" name="组合 48">
            <a:extLst>
              <a:ext uri="{FF2B5EF4-FFF2-40B4-BE49-F238E27FC236}">
                <a16:creationId xmlns:a16="http://schemas.microsoft.com/office/drawing/2014/main" id="{2F3EEAE6-7778-4378-9037-9AE2F38B21A6}"/>
              </a:ext>
            </a:extLst>
          </p:cNvPr>
          <p:cNvGrpSpPr/>
          <p:nvPr/>
        </p:nvGrpSpPr>
        <p:grpSpPr>
          <a:xfrm>
            <a:off x="1997234" y="3921457"/>
            <a:ext cx="1121485" cy="1395532"/>
            <a:chOff x="1626762" y="2964260"/>
            <a:chExt cx="479511" cy="1395532"/>
          </a:xfrm>
        </p:grpSpPr>
        <p:sp>
          <p:nvSpPr>
            <p:cNvPr id="50" name="矩形 49">
              <a:extLst>
                <a:ext uri="{FF2B5EF4-FFF2-40B4-BE49-F238E27FC236}">
                  <a16:creationId xmlns:a16="http://schemas.microsoft.com/office/drawing/2014/main" id="{555D172F-5162-4B17-80BE-80ED5EC39E9C}"/>
                </a:ext>
              </a:extLst>
            </p:cNvPr>
            <p:cNvSpPr/>
            <p:nvPr/>
          </p:nvSpPr>
          <p:spPr>
            <a:xfrm>
              <a:off x="1626762" y="2964260"/>
              <a:ext cx="479511" cy="348883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b="1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001…</a:t>
              </a:r>
              <a:endParaRPr lang="zh-CN" altLang="en-US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1" name="矩形 50">
              <a:extLst>
                <a:ext uri="{FF2B5EF4-FFF2-40B4-BE49-F238E27FC236}">
                  <a16:creationId xmlns:a16="http://schemas.microsoft.com/office/drawing/2014/main" id="{FC464F77-5B7F-4EF3-8B0A-527E9146CEEC}"/>
                </a:ext>
              </a:extLst>
            </p:cNvPr>
            <p:cNvSpPr/>
            <p:nvPr/>
          </p:nvSpPr>
          <p:spPr>
            <a:xfrm>
              <a:off x="1626762" y="3313143"/>
              <a:ext cx="479511" cy="348883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b="1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011…</a:t>
              </a:r>
              <a:endParaRPr lang="zh-CN" altLang="en-US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3" name="矩形 52">
              <a:extLst>
                <a:ext uri="{FF2B5EF4-FFF2-40B4-BE49-F238E27FC236}">
                  <a16:creationId xmlns:a16="http://schemas.microsoft.com/office/drawing/2014/main" id="{F85F0970-BBD4-4A39-87F7-FA67178E12CF}"/>
                </a:ext>
              </a:extLst>
            </p:cNvPr>
            <p:cNvSpPr/>
            <p:nvPr/>
          </p:nvSpPr>
          <p:spPr>
            <a:xfrm>
              <a:off x="1626762" y="3662026"/>
              <a:ext cx="479511" cy="348883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b="1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101…</a:t>
              </a:r>
              <a:endParaRPr lang="zh-CN" altLang="en-US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4" name="矩形 53">
              <a:extLst>
                <a:ext uri="{FF2B5EF4-FFF2-40B4-BE49-F238E27FC236}">
                  <a16:creationId xmlns:a16="http://schemas.microsoft.com/office/drawing/2014/main" id="{46FF67B2-2B08-44DB-AA2D-AE7B527DDC1A}"/>
                </a:ext>
              </a:extLst>
            </p:cNvPr>
            <p:cNvSpPr/>
            <p:nvPr/>
          </p:nvSpPr>
          <p:spPr>
            <a:xfrm>
              <a:off x="1626762" y="4010909"/>
              <a:ext cx="479511" cy="348883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b="1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111…</a:t>
              </a:r>
              <a:endParaRPr lang="zh-CN" altLang="en-US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56" name="组合 55">
            <a:extLst>
              <a:ext uri="{FF2B5EF4-FFF2-40B4-BE49-F238E27FC236}">
                <a16:creationId xmlns:a16="http://schemas.microsoft.com/office/drawing/2014/main" id="{EE5B552C-2605-4148-BD2A-236340646F7D}"/>
              </a:ext>
            </a:extLst>
          </p:cNvPr>
          <p:cNvGrpSpPr/>
          <p:nvPr/>
        </p:nvGrpSpPr>
        <p:grpSpPr>
          <a:xfrm>
            <a:off x="4954207" y="5242322"/>
            <a:ext cx="1977396" cy="1085593"/>
            <a:chOff x="3967045" y="2222509"/>
            <a:chExt cx="1977396" cy="1085593"/>
          </a:xfrm>
        </p:grpSpPr>
        <p:grpSp>
          <p:nvGrpSpPr>
            <p:cNvPr id="57" name="组合 56">
              <a:extLst>
                <a:ext uri="{FF2B5EF4-FFF2-40B4-BE49-F238E27FC236}">
                  <a16:creationId xmlns:a16="http://schemas.microsoft.com/office/drawing/2014/main" id="{A73780EA-1BE4-4D3B-B4C0-061349DDE07E}"/>
                </a:ext>
              </a:extLst>
            </p:cNvPr>
            <p:cNvGrpSpPr/>
            <p:nvPr/>
          </p:nvGrpSpPr>
          <p:grpSpPr>
            <a:xfrm>
              <a:off x="3967045" y="2222509"/>
              <a:ext cx="1597070" cy="1085593"/>
              <a:chOff x="3120764" y="1928099"/>
              <a:chExt cx="1597070" cy="1085593"/>
            </a:xfrm>
          </p:grpSpPr>
          <p:sp>
            <p:nvSpPr>
              <p:cNvPr id="63" name="矩形 62">
                <a:extLst>
                  <a:ext uri="{FF2B5EF4-FFF2-40B4-BE49-F238E27FC236}">
                    <a16:creationId xmlns:a16="http://schemas.microsoft.com/office/drawing/2014/main" id="{55A00A8E-073F-4A6E-9B44-D43A94E5B64A}"/>
                  </a:ext>
                </a:extLst>
              </p:cNvPr>
              <p:cNvSpPr/>
              <p:nvPr/>
            </p:nvSpPr>
            <p:spPr>
              <a:xfrm>
                <a:off x="3120764" y="1928099"/>
                <a:ext cx="1597070" cy="1085593"/>
              </a:xfrm>
              <a:prstGeom prst="rect">
                <a:avLst/>
              </a:prstGeom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4" name="矩形 63">
                <a:extLst>
                  <a:ext uri="{FF2B5EF4-FFF2-40B4-BE49-F238E27FC236}">
                    <a16:creationId xmlns:a16="http://schemas.microsoft.com/office/drawing/2014/main" id="{062B3254-D65A-4031-A355-25CCFDE0C485}"/>
                  </a:ext>
                </a:extLst>
              </p:cNvPr>
              <p:cNvSpPr/>
              <p:nvPr/>
            </p:nvSpPr>
            <p:spPr>
              <a:xfrm>
                <a:off x="3251519" y="2029839"/>
                <a:ext cx="1326466" cy="244586"/>
              </a:xfrm>
              <a:prstGeom prst="rect">
                <a:avLst/>
              </a:prstGeom>
              <a:solidFill>
                <a:schemeClr val="bg1"/>
              </a:solidFill>
              <a:ln w="254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4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65" name="矩形 64">
                <a:extLst>
                  <a:ext uri="{FF2B5EF4-FFF2-40B4-BE49-F238E27FC236}">
                    <a16:creationId xmlns:a16="http://schemas.microsoft.com/office/drawing/2014/main" id="{02509B83-E4E6-4952-9494-C312069CF384}"/>
                  </a:ext>
                </a:extLst>
              </p:cNvPr>
              <p:cNvSpPr/>
              <p:nvPr/>
            </p:nvSpPr>
            <p:spPr>
              <a:xfrm>
                <a:off x="3251519" y="2677089"/>
                <a:ext cx="1326466" cy="244586"/>
              </a:xfrm>
              <a:prstGeom prst="rect">
                <a:avLst/>
              </a:prstGeom>
              <a:solidFill>
                <a:schemeClr val="bg1"/>
              </a:solidFill>
              <a:ln w="254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4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66" name="矩形 65">
                <a:extLst>
                  <a:ext uri="{FF2B5EF4-FFF2-40B4-BE49-F238E27FC236}">
                    <a16:creationId xmlns:a16="http://schemas.microsoft.com/office/drawing/2014/main" id="{9A7ADBB2-1920-4547-92DD-1A210AC1AA42}"/>
                  </a:ext>
                </a:extLst>
              </p:cNvPr>
              <p:cNvSpPr/>
              <p:nvPr/>
            </p:nvSpPr>
            <p:spPr>
              <a:xfrm>
                <a:off x="3251519" y="2353464"/>
                <a:ext cx="1326466" cy="244586"/>
              </a:xfrm>
              <a:prstGeom prst="rect">
                <a:avLst/>
              </a:prstGeom>
              <a:solidFill>
                <a:schemeClr val="bg1"/>
              </a:solidFill>
              <a:ln w="254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4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62" name="矩形 61">
              <a:extLst>
                <a:ext uri="{FF2B5EF4-FFF2-40B4-BE49-F238E27FC236}">
                  <a16:creationId xmlns:a16="http://schemas.microsoft.com/office/drawing/2014/main" id="{0B590878-110F-42DE-A409-C75245927FA6}"/>
                </a:ext>
              </a:extLst>
            </p:cNvPr>
            <p:cNvSpPr/>
            <p:nvPr/>
          </p:nvSpPr>
          <p:spPr>
            <a:xfrm>
              <a:off x="5564115" y="2222509"/>
              <a:ext cx="380326" cy="346326"/>
            </a:xfrm>
            <a:prstGeom prst="rect">
              <a:avLst/>
            </a:prstGeom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b="1" dirty="0"/>
                <a:t>3</a:t>
              </a:r>
              <a:endParaRPr lang="zh-CN" altLang="en-US" b="1" dirty="0"/>
            </a:p>
          </p:txBody>
        </p:sp>
      </p:grpSp>
      <p:cxnSp>
        <p:nvCxnSpPr>
          <p:cNvPr id="67" name="连接符: 曲线 66">
            <a:extLst>
              <a:ext uri="{FF2B5EF4-FFF2-40B4-BE49-F238E27FC236}">
                <a16:creationId xmlns:a16="http://schemas.microsoft.com/office/drawing/2014/main" id="{38559E9F-98B3-49FD-AB4B-A95D47B0A86A}"/>
              </a:ext>
            </a:extLst>
          </p:cNvPr>
          <p:cNvCxnSpPr>
            <a:cxnSpLocks/>
            <a:stCxn id="37" idx="3"/>
            <a:endCxn id="9" idx="1"/>
          </p:cNvCxnSpPr>
          <p:nvPr/>
        </p:nvCxnSpPr>
        <p:spPr>
          <a:xfrm flipV="1">
            <a:off x="3123453" y="2322497"/>
            <a:ext cx="1830754" cy="377771"/>
          </a:xfrm>
          <a:prstGeom prst="curvedConnector3">
            <a:avLst>
              <a:gd name="adj1" fmla="val 50000"/>
            </a:avLst>
          </a:prstGeom>
          <a:ln w="38100">
            <a:solidFill>
              <a:srgbClr val="FF0000"/>
            </a:solidFill>
            <a:headEnd type="oval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连接符: 曲线 67">
            <a:extLst>
              <a:ext uri="{FF2B5EF4-FFF2-40B4-BE49-F238E27FC236}">
                <a16:creationId xmlns:a16="http://schemas.microsoft.com/office/drawing/2014/main" id="{4747BB36-AB46-411F-9C86-9B2982EF8B51}"/>
              </a:ext>
            </a:extLst>
          </p:cNvPr>
          <p:cNvCxnSpPr>
            <a:cxnSpLocks/>
            <a:stCxn id="38" idx="3"/>
            <a:endCxn id="9" idx="1"/>
          </p:cNvCxnSpPr>
          <p:nvPr/>
        </p:nvCxnSpPr>
        <p:spPr>
          <a:xfrm flipV="1">
            <a:off x="3123453" y="2322497"/>
            <a:ext cx="1830754" cy="726654"/>
          </a:xfrm>
          <a:prstGeom prst="curvedConnector3">
            <a:avLst>
              <a:gd name="adj1" fmla="val 50000"/>
            </a:avLst>
          </a:prstGeom>
          <a:ln w="38100">
            <a:solidFill>
              <a:srgbClr val="FF0000"/>
            </a:solidFill>
            <a:headEnd type="oval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连接符: 曲线 68">
            <a:extLst>
              <a:ext uri="{FF2B5EF4-FFF2-40B4-BE49-F238E27FC236}">
                <a16:creationId xmlns:a16="http://schemas.microsoft.com/office/drawing/2014/main" id="{518D8942-25A3-4C7C-AA0D-0F244D42CC19}"/>
              </a:ext>
            </a:extLst>
          </p:cNvPr>
          <p:cNvCxnSpPr>
            <a:cxnSpLocks/>
            <a:stCxn id="39" idx="3"/>
            <a:endCxn id="17" idx="1"/>
          </p:cNvCxnSpPr>
          <p:nvPr/>
        </p:nvCxnSpPr>
        <p:spPr>
          <a:xfrm>
            <a:off x="3123453" y="3398034"/>
            <a:ext cx="1830754" cy="77646"/>
          </a:xfrm>
          <a:prstGeom prst="curvedConnector3">
            <a:avLst>
              <a:gd name="adj1" fmla="val 50000"/>
            </a:avLst>
          </a:prstGeom>
          <a:ln w="38100">
            <a:solidFill>
              <a:srgbClr val="FF0000"/>
            </a:solidFill>
            <a:headEnd type="oval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连接符: 曲线 69">
            <a:extLst>
              <a:ext uri="{FF2B5EF4-FFF2-40B4-BE49-F238E27FC236}">
                <a16:creationId xmlns:a16="http://schemas.microsoft.com/office/drawing/2014/main" id="{3025CB29-AEBE-458C-B296-E5693351845A}"/>
              </a:ext>
            </a:extLst>
          </p:cNvPr>
          <p:cNvCxnSpPr>
            <a:cxnSpLocks/>
            <a:stCxn id="40" idx="3"/>
            <a:endCxn id="24" idx="1"/>
          </p:cNvCxnSpPr>
          <p:nvPr/>
        </p:nvCxnSpPr>
        <p:spPr>
          <a:xfrm>
            <a:off x="3123453" y="3746917"/>
            <a:ext cx="1830754" cy="880399"/>
          </a:xfrm>
          <a:prstGeom prst="curvedConnector3">
            <a:avLst>
              <a:gd name="adj1" fmla="val 50000"/>
            </a:avLst>
          </a:prstGeom>
          <a:ln w="38100">
            <a:solidFill>
              <a:srgbClr val="FF0000"/>
            </a:solidFill>
            <a:headEnd type="oval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连接符: 曲线 70">
            <a:extLst>
              <a:ext uri="{FF2B5EF4-FFF2-40B4-BE49-F238E27FC236}">
                <a16:creationId xmlns:a16="http://schemas.microsoft.com/office/drawing/2014/main" id="{6B33638F-9F59-498D-9D33-D362C080E9D5}"/>
              </a:ext>
            </a:extLst>
          </p:cNvPr>
          <p:cNvCxnSpPr>
            <a:cxnSpLocks/>
            <a:stCxn id="50" idx="3"/>
            <a:endCxn id="9" idx="1"/>
          </p:cNvCxnSpPr>
          <p:nvPr/>
        </p:nvCxnSpPr>
        <p:spPr>
          <a:xfrm flipV="1">
            <a:off x="3118719" y="2322497"/>
            <a:ext cx="1835488" cy="1773402"/>
          </a:xfrm>
          <a:prstGeom prst="curvedConnector3">
            <a:avLst>
              <a:gd name="adj1" fmla="val 50000"/>
            </a:avLst>
          </a:prstGeom>
          <a:ln w="38100">
            <a:solidFill>
              <a:srgbClr val="FF0000"/>
            </a:solidFill>
            <a:headEnd type="oval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连接符: 曲线 73">
            <a:extLst>
              <a:ext uri="{FF2B5EF4-FFF2-40B4-BE49-F238E27FC236}">
                <a16:creationId xmlns:a16="http://schemas.microsoft.com/office/drawing/2014/main" id="{0A9A2CEE-3B5F-4588-97BD-B642A2B32DE1}"/>
              </a:ext>
            </a:extLst>
          </p:cNvPr>
          <p:cNvCxnSpPr>
            <a:cxnSpLocks/>
            <a:stCxn id="51" idx="3"/>
            <a:endCxn id="9" idx="1"/>
          </p:cNvCxnSpPr>
          <p:nvPr/>
        </p:nvCxnSpPr>
        <p:spPr>
          <a:xfrm flipV="1">
            <a:off x="3118719" y="2322497"/>
            <a:ext cx="1835488" cy="2122285"/>
          </a:xfrm>
          <a:prstGeom prst="curvedConnector3">
            <a:avLst>
              <a:gd name="adj1" fmla="val 50000"/>
            </a:avLst>
          </a:prstGeom>
          <a:ln w="38100">
            <a:solidFill>
              <a:srgbClr val="FF0000"/>
            </a:solidFill>
            <a:headEnd type="oval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连接符: 曲线 76">
            <a:extLst>
              <a:ext uri="{FF2B5EF4-FFF2-40B4-BE49-F238E27FC236}">
                <a16:creationId xmlns:a16="http://schemas.microsoft.com/office/drawing/2014/main" id="{248D53E4-C0FA-4D2C-AAFE-55546A74CA1C}"/>
              </a:ext>
            </a:extLst>
          </p:cNvPr>
          <p:cNvCxnSpPr>
            <a:cxnSpLocks/>
            <a:stCxn id="53" idx="3"/>
            <a:endCxn id="17" idx="1"/>
          </p:cNvCxnSpPr>
          <p:nvPr/>
        </p:nvCxnSpPr>
        <p:spPr>
          <a:xfrm flipV="1">
            <a:off x="3118719" y="3475680"/>
            <a:ext cx="1835488" cy="1317985"/>
          </a:xfrm>
          <a:prstGeom prst="curvedConnector3">
            <a:avLst>
              <a:gd name="adj1" fmla="val 50000"/>
            </a:avLst>
          </a:prstGeom>
          <a:ln w="38100">
            <a:solidFill>
              <a:srgbClr val="FF0000"/>
            </a:solidFill>
            <a:headEnd type="oval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连接符: 曲线 79">
            <a:extLst>
              <a:ext uri="{FF2B5EF4-FFF2-40B4-BE49-F238E27FC236}">
                <a16:creationId xmlns:a16="http://schemas.microsoft.com/office/drawing/2014/main" id="{6EEB1FAD-D51B-47A0-97CF-B38A7357E5D0}"/>
              </a:ext>
            </a:extLst>
          </p:cNvPr>
          <p:cNvCxnSpPr>
            <a:cxnSpLocks/>
            <a:stCxn id="54" idx="3"/>
            <a:endCxn id="24" idx="1"/>
          </p:cNvCxnSpPr>
          <p:nvPr/>
        </p:nvCxnSpPr>
        <p:spPr>
          <a:xfrm flipV="1">
            <a:off x="3118719" y="4627316"/>
            <a:ext cx="1835488" cy="515232"/>
          </a:xfrm>
          <a:prstGeom prst="curvedConnector3">
            <a:avLst>
              <a:gd name="adj1" fmla="val 50000"/>
            </a:avLst>
          </a:prstGeom>
          <a:ln w="38100">
            <a:solidFill>
              <a:srgbClr val="FF0000"/>
            </a:solidFill>
            <a:headEnd type="oval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4" name="箭头: 右 83">
            <a:extLst>
              <a:ext uri="{FF2B5EF4-FFF2-40B4-BE49-F238E27FC236}">
                <a16:creationId xmlns:a16="http://schemas.microsoft.com/office/drawing/2014/main" id="{07373D2D-BCDE-4EDB-B5A3-6C20EA05DDFE}"/>
              </a:ext>
            </a:extLst>
          </p:cNvPr>
          <p:cNvSpPr/>
          <p:nvPr/>
        </p:nvSpPr>
        <p:spPr>
          <a:xfrm>
            <a:off x="1628477" y="3233945"/>
            <a:ext cx="308113" cy="305815"/>
          </a:xfrm>
          <a:prstGeom prst="right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5" name="矩形: 圆角 84">
            <a:extLst>
              <a:ext uri="{FF2B5EF4-FFF2-40B4-BE49-F238E27FC236}">
                <a16:creationId xmlns:a16="http://schemas.microsoft.com/office/drawing/2014/main" id="{53023FC8-9151-48B8-8582-3A6A0B0CD375}"/>
              </a:ext>
            </a:extLst>
          </p:cNvPr>
          <p:cNvSpPr/>
          <p:nvPr/>
        </p:nvSpPr>
        <p:spPr>
          <a:xfrm>
            <a:off x="4954207" y="2929807"/>
            <a:ext cx="1609896" cy="1101468"/>
          </a:xfrm>
          <a:prstGeom prst="roundRect">
            <a:avLst>
              <a:gd name="adj" fmla="val 5316"/>
            </a:avLst>
          </a:prstGeom>
          <a:solidFill>
            <a:srgbClr val="FF0000">
              <a:alpha val="20000"/>
            </a:srgbClr>
          </a:solidFill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133246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矩形 46">
            <a:extLst>
              <a:ext uri="{FF2B5EF4-FFF2-40B4-BE49-F238E27FC236}">
                <a16:creationId xmlns:a16="http://schemas.microsoft.com/office/drawing/2014/main" id="{1B9678DA-2E84-490B-B14F-9FCE6FBB3D28}"/>
              </a:ext>
            </a:extLst>
          </p:cNvPr>
          <p:cNvSpPr/>
          <p:nvPr/>
        </p:nvSpPr>
        <p:spPr>
          <a:xfrm>
            <a:off x="8382031" y="3948663"/>
            <a:ext cx="3345302" cy="9079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lang="en-US" altLang="zh-CN" sz="2400" b="1" dirty="0">
                <a:latin typeface="Inconsolata"/>
              </a:rPr>
              <a:t>Insert C</a:t>
            </a:r>
          </a:p>
          <a:p>
            <a:pPr>
              <a:spcBef>
                <a:spcPts val="600"/>
              </a:spcBef>
            </a:pPr>
            <a:r>
              <a:rPr lang="en-US" altLang="zh-CN" sz="2400" b="1" i="1" dirty="0">
                <a:solidFill>
                  <a:srgbClr val="FF0000"/>
                </a:solidFill>
                <a:latin typeface="Crimson Text"/>
              </a:rPr>
              <a:t>hash(C) </a:t>
            </a:r>
            <a:r>
              <a:rPr lang="en-US" altLang="zh-CN" sz="2400" b="1" dirty="0">
                <a:solidFill>
                  <a:srgbClr val="FF0000"/>
                </a:solidFill>
                <a:latin typeface="Inconsolata"/>
              </a:rPr>
              <a:t>= 10100…</a:t>
            </a:r>
            <a:endParaRPr lang="zh-CN" altLang="en-US" sz="2400" dirty="0">
              <a:solidFill>
                <a:srgbClr val="FF0000"/>
              </a:solidFill>
            </a:endParaRP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A9BBCCEF-D42F-420B-9CC2-98A9815DB6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Extendable Hashing</a:t>
            </a:r>
            <a:endParaRPr lang="zh-CN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2905825-8EE0-4CF0-A05E-CAFDF944FB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D9AB4E-3E3B-4B1A-BA63-28A5C8AEA83F}" type="datetime1">
              <a:rPr lang="zh-CN" altLang="en-US" smtClean="0"/>
              <a:t>2024/5/8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ED664A2-5898-4C25-86F3-E969A94A39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Hash Indices</a:t>
            </a: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34B9AF0-AA69-4CFE-BBF2-A55EB4555B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5CA875-76FA-4283-B5BE-070B4D16A27E}" type="slidenum">
              <a:rPr lang="zh-CN" altLang="en-US" smtClean="0"/>
              <a:t>24</a:t>
            </a:fld>
            <a:endParaRPr lang="zh-CN" altLang="en-US"/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3024639C-B3C8-49EE-B83D-8667850CD1D2}"/>
              </a:ext>
            </a:extLst>
          </p:cNvPr>
          <p:cNvGrpSpPr/>
          <p:nvPr/>
        </p:nvGrpSpPr>
        <p:grpSpPr>
          <a:xfrm>
            <a:off x="4954207" y="1779700"/>
            <a:ext cx="1977396" cy="1085593"/>
            <a:chOff x="3967045" y="2222509"/>
            <a:chExt cx="1977396" cy="1085593"/>
          </a:xfrm>
        </p:grpSpPr>
        <p:grpSp>
          <p:nvGrpSpPr>
            <p:cNvPr id="7" name="组合 6">
              <a:extLst>
                <a:ext uri="{FF2B5EF4-FFF2-40B4-BE49-F238E27FC236}">
                  <a16:creationId xmlns:a16="http://schemas.microsoft.com/office/drawing/2014/main" id="{9FDDB302-72EB-4F8B-A501-4F8760FF32D3}"/>
                </a:ext>
              </a:extLst>
            </p:cNvPr>
            <p:cNvGrpSpPr/>
            <p:nvPr/>
          </p:nvGrpSpPr>
          <p:grpSpPr>
            <a:xfrm>
              <a:off x="3967045" y="2222509"/>
              <a:ext cx="1597070" cy="1085593"/>
              <a:chOff x="3120764" y="1928099"/>
              <a:chExt cx="1597070" cy="1085593"/>
            </a:xfrm>
          </p:grpSpPr>
          <p:sp>
            <p:nvSpPr>
              <p:cNvPr id="9" name="矩形 8">
                <a:extLst>
                  <a:ext uri="{FF2B5EF4-FFF2-40B4-BE49-F238E27FC236}">
                    <a16:creationId xmlns:a16="http://schemas.microsoft.com/office/drawing/2014/main" id="{480C920A-90E2-4C5A-8D90-D8A123F63313}"/>
                  </a:ext>
                </a:extLst>
              </p:cNvPr>
              <p:cNvSpPr/>
              <p:nvPr/>
            </p:nvSpPr>
            <p:spPr>
              <a:xfrm>
                <a:off x="3120764" y="1928099"/>
                <a:ext cx="1597070" cy="1085593"/>
              </a:xfrm>
              <a:prstGeom prst="rect">
                <a:avLst/>
              </a:prstGeom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0" name="矩形 9">
                <a:extLst>
                  <a:ext uri="{FF2B5EF4-FFF2-40B4-BE49-F238E27FC236}">
                    <a16:creationId xmlns:a16="http://schemas.microsoft.com/office/drawing/2014/main" id="{2A1D8830-AB19-4806-91CB-AAB5F793E970}"/>
                  </a:ext>
                </a:extLst>
              </p:cNvPr>
              <p:cNvSpPr/>
              <p:nvPr/>
            </p:nvSpPr>
            <p:spPr>
              <a:xfrm>
                <a:off x="3251519" y="2029839"/>
                <a:ext cx="1326466" cy="244586"/>
              </a:xfrm>
              <a:prstGeom prst="rect">
                <a:avLst/>
              </a:prstGeom>
              <a:solidFill>
                <a:schemeClr val="bg1"/>
              </a:solidFill>
              <a:ln w="254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4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00010…</a:t>
                </a:r>
                <a:endParaRPr lang="zh-CN" altLang="en-US" sz="14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1" name="矩形 10">
                <a:extLst>
                  <a:ext uri="{FF2B5EF4-FFF2-40B4-BE49-F238E27FC236}">
                    <a16:creationId xmlns:a16="http://schemas.microsoft.com/office/drawing/2014/main" id="{0D631330-B99C-4419-9D6E-F87CC137DB3C}"/>
                  </a:ext>
                </a:extLst>
              </p:cNvPr>
              <p:cNvSpPr/>
              <p:nvPr/>
            </p:nvSpPr>
            <p:spPr>
              <a:xfrm>
                <a:off x="3251519" y="2677089"/>
                <a:ext cx="1326466" cy="244586"/>
              </a:xfrm>
              <a:prstGeom prst="rect">
                <a:avLst/>
              </a:prstGeom>
              <a:solidFill>
                <a:schemeClr val="bg1"/>
              </a:solidFill>
              <a:ln w="254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4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2" name="矩形 11">
                <a:extLst>
                  <a:ext uri="{FF2B5EF4-FFF2-40B4-BE49-F238E27FC236}">
                    <a16:creationId xmlns:a16="http://schemas.microsoft.com/office/drawing/2014/main" id="{45F3AF6E-313B-4D40-8DF0-9C5C0880DD78}"/>
                  </a:ext>
                </a:extLst>
              </p:cNvPr>
              <p:cNvSpPr/>
              <p:nvPr/>
            </p:nvSpPr>
            <p:spPr>
              <a:xfrm>
                <a:off x="3251519" y="2353464"/>
                <a:ext cx="1326466" cy="244586"/>
              </a:xfrm>
              <a:prstGeom prst="rect">
                <a:avLst/>
              </a:prstGeom>
              <a:solidFill>
                <a:schemeClr val="bg1"/>
              </a:solidFill>
              <a:ln w="254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4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01110…</a:t>
                </a:r>
                <a:endParaRPr lang="zh-CN" altLang="en-US" sz="14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3" name="矩形 2">
              <a:extLst>
                <a:ext uri="{FF2B5EF4-FFF2-40B4-BE49-F238E27FC236}">
                  <a16:creationId xmlns:a16="http://schemas.microsoft.com/office/drawing/2014/main" id="{75D3C92D-6C7D-44F5-ACDC-131FA13D7DF8}"/>
                </a:ext>
              </a:extLst>
            </p:cNvPr>
            <p:cNvSpPr/>
            <p:nvPr/>
          </p:nvSpPr>
          <p:spPr>
            <a:xfrm>
              <a:off x="5564115" y="2222509"/>
              <a:ext cx="380326" cy="346326"/>
            </a:xfrm>
            <a:prstGeom prst="rect">
              <a:avLst/>
            </a:prstGeom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b="1" dirty="0"/>
                <a:t>1</a:t>
              </a:r>
              <a:endParaRPr lang="zh-CN" altLang="en-US" b="1" dirty="0"/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4204676F-8260-4BA4-B0DA-8F832B755E20}"/>
              </a:ext>
            </a:extLst>
          </p:cNvPr>
          <p:cNvGrpSpPr/>
          <p:nvPr/>
        </p:nvGrpSpPr>
        <p:grpSpPr>
          <a:xfrm>
            <a:off x="4954207" y="2932883"/>
            <a:ext cx="1977396" cy="1085593"/>
            <a:chOff x="3967045" y="2222509"/>
            <a:chExt cx="1977396" cy="1085593"/>
          </a:xfrm>
        </p:grpSpPr>
        <p:grpSp>
          <p:nvGrpSpPr>
            <p:cNvPr id="15" name="组合 14">
              <a:extLst>
                <a:ext uri="{FF2B5EF4-FFF2-40B4-BE49-F238E27FC236}">
                  <a16:creationId xmlns:a16="http://schemas.microsoft.com/office/drawing/2014/main" id="{628EAAF6-51AD-491C-A13D-35C54EBAA521}"/>
                </a:ext>
              </a:extLst>
            </p:cNvPr>
            <p:cNvGrpSpPr/>
            <p:nvPr/>
          </p:nvGrpSpPr>
          <p:grpSpPr>
            <a:xfrm>
              <a:off x="3967045" y="2222509"/>
              <a:ext cx="1597070" cy="1085593"/>
              <a:chOff x="3120764" y="1928099"/>
              <a:chExt cx="1597070" cy="1085593"/>
            </a:xfrm>
          </p:grpSpPr>
          <p:sp>
            <p:nvSpPr>
              <p:cNvPr id="17" name="矩形 16">
                <a:extLst>
                  <a:ext uri="{FF2B5EF4-FFF2-40B4-BE49-F238E27FC236}">
                    <a16:creationId xmlns:a16="http://schemas.microsoft.com/office/drawing/2014/main" id="{7E8EC09F-157F-4C94-8EB8-3C3359FBCA94}"/>
                  </a:ext>
                </a:extLst>
              </p:cNvPr>
              <p:cNvSpPr/>
              <p:nvPr/>
            </p:nvSpPr>
            <p:spPr>
              <a:xfrm>
                <a:off x="3120764" y="1928099"/>
                <a:ext cx="1597070" cy="1085593"/>
              </a:xfrm>
              <a:prstGeom prst="rect">
                <a:avLst/>
              </a:prstGeom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8" name="矩形 17">
                <a:extLst>
                  <a:ext uri="{FF2B5EF4-FFF2-40B4-BE49-F238E27FC236}">
                    <a16:creationId xmlns:a16="http://schemas.microsoft.com/office/drawing/2014/main" id="{232E75C7-E75A-40FA-A35D-E4ECD84D6AA1}"/>
                  </a:ext>
                </a:extLst>
              </p:cNvPr>
              <p:cNvSpPr/>
              <p:nvPr/>
            </p:nvSpPr>
            <p:spPr>
              <a:xfrm>
                <a:off x="3251519" y="2029839"/>
                <a:ext cx="1326466" cy="244586"/>
              </a:xfrm>
              <a:prstGeom prst="rect">
                <a:avLst/>
              </a:prstGeom>
              <a:solidFill>
                <a:schemeClr val="bg1"/>
              </a:solidFill>
              <a:ln w="254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4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9" name="矩形 18">
                <a:extLst>
                  <a:ext uri="{FF2B5EF4-FFF2-40B4-BE49-F238E27FC236}">
                    <a16:creationId xmlns:a16="http://schemas.microsoft.com/office/drawing/2014/main" id="{C4B18C4E-73F1-429B-BB98-E36948A520BC}"/>
                  </a:ext>
                </a:extLst>
              </p:cNvPr>
              <p:cNvSpPr/>
              <p:nvPr/>
            </p:nvSpPr>
            <p:spPr>
              <a:xfrm>
                <a:off x="3251519" y="2677089"/>
                <a:ext cx="1326466" cy="244586"/>
              </a:xfrm>
              <a:prstGeom prst="rect">
                <a:avLst/>
              </a:prstGeom>
              <a:solidFill>
                <a:schemeClr val="bg1"/>
              </a:solidFill>
              <a:ln w="254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4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20" name="矩形 19">
                <a:extLst>
                  <a:ext uri="{FF2B5EF4-FFF2-40B4-BE49-F238E27FC236}">
                    <a16:creationId xmlns:a16="http://schemas.microsoft.com/office/drawing/2014/main" id="{8BF02F93-A143-42EF-A240-756FDE2499AB}"/>
                  </a:ext>
                </a:extLst>
              </p:cNvPr>
              <p:cNvSpPr/>
              <p:nvPr/>
            </p:nvSpPr>
            <p:spPr>
              <a:xfrm>
                <a:off x="3251519" y="2353464"/>
                <a:ext cx="1326466" cy="244586"/>
              </a:xfrm>
              <a:prstGeom prst="rect">
                <a:avLst/>
              </a:prstGeom>
              <a:solidFill>
                <a:schemeClr val="bg1"/>
              </a:solidFill>
              <a:ln w="254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4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10011…</a:t>
                </a:r>
                <a:endParaRPr lang="zh-CN" altLang="en-US" sz="14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16" name="矩形 15">
              <a:extLst>
                <a:ext uri="{FF2B5EF4-FFF2-40B4-BE49-F238E27FC236}">
                  <a16:creationId xmlns:a16="http://schemas.microsoft.com/office/drawing/2014/main" id="{FE650D52-5D23-4767-BEAD-7F2514BC522B}"/>
                </a:ext>
              </a:extLst>
            </p:cNvPr>
            <p:cNvSpPr/>
            <p:nvPr/>
          </p:nvSpPr>
          <p:spPr>
            <a:xfrm>
              <a:off x="5564115" y="2222509"/>
              <a:ext cx="380326" cy="346326"/>
            </a:xfrm>
            <a:prstGeom prst="rect">
              <a:avLst/>
            </a:prstGeom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b="1" dirty="0"/>
                <a:t>3</a:t>
              </a:r>
              <a:endParaRPr lang="zh-CN" altLang="en-US" b="1" dirty="0"/>
            </a:p>
          </p:txBody>
        </p:sp>
      </p:grpSp>
      <p:grpSp>
        <p:nvGrpSpPr>
          <p:cNvPr id="21" name="组合 20">
            <a:extLst>
              <a:ext uri="{FF2B5EF4-FFF2-40B4-BE49-F238E27FC236}">
                <a16:creationId xmlns:a16="http://schemas.microsoft.com/office/drawing/2014/main" id="{9EE9FCAD-9A2D-4B8A-B019-0E485FE207E2}"/>
              </a:ext>
            </a:extLst>
          </p:cNvPr>
          <p:cNvGrpSpPr/>
          <p:nvPr/>
        </p:nvGrpSpPr>
        <p:grpSpPr>
          <a:xfrm>
            <a:off x="4954207" y="4084519"/>
            <a:ext cx="1977396" cy="1085593"/>
            <a:chOff x="3967045" y="2222509"/>
            <a:chExt cx="1977396" cy="1085593"/>
          </a:xfrm>
        </p:grpSpPr>
        <p:grpSp>
          <p:nvGrpSpPr>
            <p:cNvPr id="22" name="组合 21">
              <a:extLst>
                <a:ext uri="{FF2B5EF4-FFF2-40B4-BE49-F238E27FC236}">
                  <a16:creationId xmlns:a16="http://schemas.microsoft.com/office/drawing/2014/main" id="{B7CCA697-86EC-4067-A73F-079F343B8E24}"/>
                </a:ext>
              </a:extLst>
            </p:cNvPr>
            <p:cNvGrpSpPr/>
            <p:nvPr/>
          </p:nvGrpSpPr>
          <p:grpSpPr>
            <a:xfrm>
              <a:off x="3967045" y="2222509"/>
              <a:ext cx="1597070" cy="1085593"/>
              <a:chOff x="3120764" y="1928099"/>
              <a:chExt cx="1597070" cy="1085593"/>
            </a:xfrm>
          </p:grpSpPr>
          <p:sp>
            <p:nvSpPr>
              <p:cNvPr id="24" name="矩形 23">
                <a:extLst>
                  <a:ext uri="{FF2B5EF4-FFF2-40B4-BE49-F238E27FC236}">
                    <a16:creationId xmlns:a16="http://schemas.microsoft.com/office/drawing/2014/main" id="{619565CE-C7F8-43E8-B310-B874C5F7FF26}"/>
                  </a:ext>
                </a:extLst>
              </p:cNvPr>
              <p:cNvSpPr/>
              <p:nvPr/>
            </p:nvSpPr>
            <p:spPr>
              <a:xfrm>
                <a:off x="3120764" y="1928099"/>
                <a:ext cx="1597070" cy="1085593"/>
              </a:xfrm>
              <a:prstGeom prst="rect">
                <a:avLst/>
              </a:prstGeom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5" name="矩形 24">
                <a:extLst>
                  <a:ext uri="{FF2B5EF4-FFF2-40B4-BE49-F238E27FC236}">
                    <a16:creationId xmlns:a16="http://schemas.microsoft.com/office/drawing/2014/main" id="{D651FB57-6E8E-45F9-AE97-D5AD6B6646B8}"/>
                  </a:ext>
                </a:extLst>
              </p:cNvPr>
              <p:cNvSpPr/>
              <p:nvPr/>
            </p:nvSpPr>
            <p:spPr>
              <a:xfrm>
                <a:off x="3251519" y="2029839"/>
                <a:ext cx="1326466" cy="244586"/>
              </a:xfrm>
              <a:prstGeom prst="rect">
                <a:avLst/>
              </a:prstGeom>
              <a:solidFill>
                <a:schemeClr val="bg1"/>
              </a:solidFill>
              <a:ln w="254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4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11010…</a:t>
                </a:r>
                <a:endParaRPr lang="zh-CN" altLang="en-US" sz="14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26" name="矩形 25">
                <a:extLst>
                  <a:ext uri="{FF2B5EF4-FFF2-40B4-BE49-F238E27FC236}">
                    <a16:creationId xmlns:a16="http://schemas.microsoft.com/office/drawing/2014/main" id="{E642A90E-5EF3-477A-A809-CED64C713EA7}"/>
                  </a:ext>
                </a:extLst>
              </p:cNvPr>
              <p:cNvSpPr/>
              <p:nvPr/>
            </p:nvSpPr>
            <p:spPr>
              <a:xfrm>
                <a:off x="3251519" y="2677089"/>
                <a:ext cx="1326466" cy="244586"/>
              </a:xfrm>
              <a:prstGeom prst="rect">
                <a:avLst/>
              </a:prstGeom>
              <a:solidFill>
                <a:schemeClr val="bg1"/>
              </a:solidFill>
              <a:ln w="254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4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27" name="矩形 26">
                <a:extLst>
                  <a:ext uri="{FF2B5EF4-FFF2-40B4-BE49-F238E27FC236}">
                    <a16:creationId xmlns:a16="http://schemas.microsoft.com/office/drawing/2014/main" id="{53D628CE-07FA-4E35-AB6A-818A2F37E09E}"/>
                  </a:ext>
                </a:extLst>
              </p:cNvPr>
              <p:cNvSpPr/>
              <p:nvPr/>
            </p:nvSpPr>
            <p:spPr>
              <a:xfrm>
                <a:off x="3251519" y="2353464"/>
                <a:ext cx="1326466" cy="244586"/>
              </a:xfrm>
              <a:prstGeom prst="rect">
                <a:avLst/>
              </a:prstGeom>
              <a:solidFill>
                <a:schemeClr val="bg1"/>
              </a:solidFill>
              <a:ln w="254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4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23" name="矩形 22">
              <a:extLst>
                <a:ext uri="{FF2B5EF4-FFF2-40B4-BE49-F238E27FC236}">
                  <a16:creationId xmlns:a16="http://schemas.microsoft.com/office/drawing/2014/main" id="{DEC7DB32-5E26-4C42-8FCD-6D3342E30DB6}"/>
                </a:ext>
              </a:extLst>
            </p:cNvPr>
            <p:cNvSpPr/>
            <p:nvPr/>
          </p:nvSpPr>
          <p:spPr>
            <a:xfrm>
              <a:off x="5564115" y="2222509"/>
              <a:ext cx="380326" cy="346326"/>
            </a:xfrm>
            <a:prstGeom prst="rect">
              <a:avLst/>
            </a:prstGeom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b="1" dirty="0"/>
                <a:t>2</a:t>
              </a:r>
              <a:endParaRPr lang="zh-CN" altLang="en-US" b="1" dirty="0"/>
            </a:p>
          </p:txBody>
        </p:sp>
      </p:grpSp>
      <p:sp>
        <p:nvSpPr>
          <p:cNvPr id="35" name="矩形 34">
            <a:extLst>
              <a:ext uri="{FF2B5EF4-FFF2-40B4-BE49-F238E27FC236}">
                <a16:creationId xmlns:a16="http://schemas.microsoft.com/office/drawing/2014/main" id="{B5911D35-2C54-4548-A210-B869CD05B1DF}"/>
              </a:ext>
            </a:extLst>
          </p:cNvPr>
          <p:cNvSpPr/>
          <p:nvPr/>
        </p:nvSpPr>
        <p:spPr>
          <a:xfrm>
            <a:off x="2352145" y="1881440"/>
            <a:ext cx="380326" cy="346326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b="1" dirty="0"/>
              <a:t>3</a:t>
            </a:r>
            <a:endParaRPr lang="zh-CN" altLang="en-US" b="1" dirty="0"/>
          </a:p>
        </p:txBody>
      </p:sp>
      <p:grpSp>
        <p:nvGrpSpPr>
          <p:cNvPr id="36" name="组合 35">
            <a:extLst>
              <a:ext uri="{FF2B5EF4-FFF2-40B4-BE49-F238E27FC236}">
                <a16:creationId xmlns:a16="http://schemas.microsoft.com/office/drawing/2014/main" id="{2AC5CD71-C508-4BA3-B366-AA1381EA8708}"/>
              </a:ext>
            </a:extLst>
          </p:cNvPr>
          <p:cNvGrpSpPr/>
          <p:nvPr/>
        </p:nvGrpSpPr>
        <p:grpSpPr>
          <a:xfrm>
            <a:off x="2001968" y="2525826"/>
            <a:ext cx="1121485" cy="1395532"/>
            <a:chOff x="1626762" y="2964260"/>
            <a:chExt cx="479511" cy="1395532"/>
          </a:xfrm>
        </p:grpSpPr>
        <p:sp>
          <p:nvSpPr>
            <p:cNvPr id="37" name="矩形 36">
              <a:extLst>
                <a:ext uri="{FF2B5EF4-FFF2-40B4-BE49-F238E27FC236}">
                  <a16:creationId xmlns:a16="http://schemas.microsoft.com/office/drawing/2014/main" id="{A69CDD50-64A8-4B93-8050-C504E9399902}"/>
                </a:ext>
              </a:extLst>
            </p:cNvPr>
            <p:cNvSpPr/>
            <p:nvPr/>
          </p:nvSpPr>
          <p:spPr>
            <a:xfrm>
              <a:off x="1626762" y="2964260"/>
              <a:ext cx="479511" cy="348883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b="1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000…</a:t>
              </a:r>
              <a:endParaRPr lang="zh-CN" altLang="en-US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8" name="矩形 37">
              <a:extLst>
                <a:ext uri="{FF2B5EF4-FFF2-40B4-BE49-F238E27FC236}">
                  <a16:creationId xmlns:a16="http://schemas.microsoft.com/office/drawing/2014/main" id="{B2B2E98B-BBBF-4495-A193-2E045179F0E2}"/>
                </a:ext>
              </a:extLst>
            </p:cNvPr>
            <p:cNvSpPr/>
            <p:nvPr/>
          </p:nvSpPr>
          <p:spPr>
            <a:xfrm>
              <a:off x="1626762" y="3313143"/>
              <a:ext cx="479511" cy="348883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b="1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010…</a:t>
              </a:r>
              <a:endParaRPr lang="zh-CN" altLang="en-US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9" name="矩形 38">
              <a:extLst>
                <a:ext uri="{FF2B5EF4-FFF2-40B4-BE49-F238E27FC236}">
                  <a16:creationId xmlns:a16="http://schemas.microsoft.com/office/drawing/2014/main" id="{B282B0C5-1864-4273-B956-083A0A4E6666}"/>
                </a:ext>
              </a:extLst>
            </p:cNvPr>
            <p:cNvSpPr/>
            <p:nvPr/>
          </p:nvSpPr>
          <p:spPr>
            <a:xfrm>
              <a:off x="1626762" y="3662026"/>
              <a:ext cx="479511" cy="348883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b="1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100…</a:t>
              </a:r>
              <a:endParaRPr lang="zh-CN" altLang="en-US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0" name="矩形 39">
              <a:extLst>
                <a:ext uri="{FF2B5EF4-FFF2-40B4-BE49-F238E27FC236}">
                  <a16:creationId xmlns:a16="http://schemas.microsoft.com/office/drawing/2014/main" id="{FD3BB798-BC26-4C96-904C-F47420F87400}"/>
                </a:ext>
              </a:extLst>
            </p:cNvPr>
            <p:cNvSpPr/>
            <p:nvPr/>
          </p:nvSpPr>
          <p:spPr>
            <a:xfrm>
              <a:off x="1626762" y="4010909"/>
              <a:ext cx="479511" cy="348883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b="1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110…</a:t>
              </a:r>
              <a:endParaRPr lang="zh-CN" altLang="en-US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41" name="矩形 40">
            <a:extLst>
              <a:ext uri="{FF2B5EF4-FFF2-40B4-BE49-F238E27FC236}">
                <a16:creationId xmlns:a16="http://schemas.microsoft.com/office/drawing/2014/main" id="{69E50DFA-BC2C-4D3D-BEFB-EFAA57BCD267}"/>
              </a:ext>
            </a:extLst>
          </p:cNvPr>
          <p:cNvSpPr/>
          <p:nvPr/>
        </p:nvSpPr>
        <p:spPr>
          <a:xfrm>
            <a:off x="1529454" y="1869937"/>
            <a:ext cx="884729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b="1" i="1" dirty="0">
                <a:solidFill>
                  <a:srgbClr val="FF0000"/>
                </a:solidFill>
                <a:latin typeface="Crimson Text"/>
              </a:rPr>
              <a:t>global</a:t>
            </a:r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9AB284E7-139F-4383-B4A8-41907ED6DCC6}"/>
              </a:ext>
            </a:extLst>
          </p:cNvPr>
          <p:cNvSpPr/>
          <p:nvPr/>
        </p:nvSpPr>
        <p:spPr>
          <a:xfrm>
            <a:off x="6931603" y="1784993"/>
            <a:ext cx="63246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b="1" i="1" dirty="0">
                <a:solidFill>
                  <a:srgbClr val="FF0000"/>
                </a:solidFill>
                <a:latin typeface="Crimson Text"/>
              </a:rPr>
              <a:t>local</a:t>
            </a:r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29457583-44A9-4BA8-B2F9-CF810C022FDF}"/>
              </a:ext>
            </a:extLst>
          </p:cNvPr>
          <p:cNvSpPr/>
          <p:nvPr/>
        </p:nvSpPr>
        <p:spPr>
          <a:xfrm>
            <a:off x="6931603" y="2921380"/>
            <a:ext cx="63246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b="1" i="1" dirty="0">
                <a:solidFill>
                  <a:srgbClr val="FF0000"/>
                </a:solidFill>
                <a:latin typeface="Crimson Text"/>
              </a:rPr>
              <a:t>local</a:t>
            </a:r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F2BC1378-D02A-4492-9254-5FEDCBB2D587}"/>
              </a:ext>
            </a:extLst>
          </p:cNvPr>
          <p:cNvSpPr/>
          <p:nvPr/>
        </p:nvSpPr>
        <p:spPr>
          <a:xfrm>
            <a:off x="6931603" y="4073016"/>
            <a:ext cx="63246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b="1" i="1" dirty="0">
                <a:solidFill>
                  <a:srgbClr val="FF0000"/>
                </a:solidFill>
                <a:latin typeface="Crimson Text"/>
              </a:rPr>
              <a:t>local</a:t>
            </a:r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58" name="矩形 57">
            <a:extLst>
              <a:ext uri="{FF2B5EF4-FFF2-40B4-BE49-F238E27FC236}">
                <a16:creationId xmlns:a16="http://schemas.microsoft.com/office/drawing/2014/main" id="{1D76D4A4-2AF3-459E-85BB-FCE948574340}"/>
              </a:ext>
            </a:extLst>
          </p:cNvPr>
          <p:cNvSpPr/>
          <p:nvPr/>
        </p:nvSpPr>
        <p:spPr>
          <a:xfrm>
            <a:off x="8382031" y="1917103"/>
            <a:ext cx="3345302" cy="9079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lang="en-US" altLang="zh-CN" sz="2400" b="1" dirty="0">
                <a:latin typeface="Inconsolata"/>
              </a:rPr>
              <a:t>Find A</a:t>
            </a:r>
          </a:p>
          <a:p>
            <a:pPr>
              <a:spcBef>
                <a:spcPts val="600"/>
              </a:spcBef>
            </a:pPr>
            <a:r>
              <a:rPr lang="en-US" altLang="zh-CN" sz="2400" b="1" i="1" dirty="0">
                <a:solidFill>
                  <a:srgbClr val="FF0000"/>
                </a:solidFill>
                <a:latin typeface="Crimson Text"/>
              </a:rPr>
              <a:t>hash(A) </a:t>
            </a:r>
            <a:r>
              <a:rPr lang="en-US" altLang="zh-CN" sz="2400" b="1" dirty="0">
                <a:solidFill>
                  <a:srgbClr val="FF0000"/>
                </a:solidFill>
                <a:latin typeface="Inconsolata"/>
              </a:rPr>
              <a:t>= 01110…</a:t>
            </a:r>
            <a:endParaRPr lang="zh-CN" altLang="en-US" sz="2400" dirty="0">
              <a:solidFill>
                <a:srgbClr val="FF0000"/>
              </a:solidFill>
            </a:endParaRPr>
          </a:p>
        </p:txBody>
      </p:sp>
      <p:sp>
        <p:nvSpPr>
          <p:cNvPr id="60" name="矩形: 圆角 59">
            <a:extLst>
              <a:ext uri="{FF2B5EF4-FFF2-40B4-BE49-F238E27FC236}">
                <a16:creationId xmlns:a16="http://schemas.microsoft.com/office/drawing/2014/main" id="{879476EF-12E4-4665-84EF-9E5AD7C621C2}"/>
              </a:ext>
            </a:extLst>
          </p:cNvPr>
          <p:cNvSpPr/>
          <p:nvPr/>
        </p:nvSpPr>
        <p:spPr>
          <a:xfrm>
            <a:off x="9638689" y="4390614"/>
            <a:ext cx="556077" cy="442895"/>
          </a:xfrm>
          <a:prstGeom prst="roundRect">
            <a:avLst>
              <a:gd name="adj" fmla="val 5316"/>
            </a:avLst>
          </a:prstGeom>
          <a:solidFill>
            <a:srgbClr val="0070C0">
              <a:alpha val="20000"/>
            </a:srgbClr>
          </a:solidFill>
          <a:ln w="2540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6" name="矩形 45">
            <a:extLst>
              <a:ext uri="{FF2B5EF4-FFF2-40B4-BE49-F238E27FC236}">
                <a16:creationId xmlns:a16="http://schemas.microsoft.com/office/drawing/2014/main" id="{E1A91A32-D5AE-44CF-AC9C-5F10D83B251F}"/>
              </a:ext>
            </a:extLst>
          </p:cNvPr>
          <p:cNvSpPr/>
          <p:nvPr/>
        </p:nvSpPr>
        <p:spPr>
          <a:xfrm>
            <a:off x="8382031" y="2932883"/>
            <a:ext cx="3345302" cy="9079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lang="en-US" altLang="zh-CN" sz="2400" b="1" dirty="0">
                <a:latin typeface="Inconsolata"/>
              </a:rPr>
              <a:t>Insert B</a:t>
            </a:r>
          </a:p>
          <a:p>
            <a:pPr>
              <a:spcBef>
                <a:spcPts val="600"/>
              </a:spcBef>
            </a:pPr>
            <a:r>
              <a:rPr lang="en-US" altLang="zh-CN" sz="2400" b="1" i="1" dirty="0">
                <a:solidFill>
                  <a:srgbClr val="FF0000"/>
                </a:solidFill>
                <a:latin typeface="Crimson Text"/>
              </a:rPr>
              <a:t>hash(B) </a:t>
            </a:r>
            <a:r>
              <a:rPr lang="en-US" altLang="zh-CN" sz="2400" b="1" dirty="0">
                <a:solidFill>
                  <a:srgbClr val="FF0000"/>
                </a:solidFill>
                <a:latin typeface="Inconsolata"/>
              </a:rPr>
              <a:t>= 10111…</a:t>
            </a:r>
            <a:endParaRPr lang="zh-CN" altLang="en-US" sz="2400" dirty="0">
              <a:solidFill>
                <a:srgbClr val="FF0000"/>
              </a:solidFill>
            </a:endParaRPr>
          </a:p>
        </p:txBody>
      </p:sp>
      <p:grpSp>
        <p:nvGrpSpPr>
          <p:cNvPr id="49" name="组合 48">
            <a:extLst>
              <a:ext uri="{FF2B5EF4-FFF2-40B4-BE49-F238E27FC236}">
                <a16:creationId xmlns:a16="http://schemas.microsoft.com/office/drawing/2014/main" id="{2F3EEAE6-7778-4378-9037-9AE2F38B21A6}"/>
              </a:ext>
            </a:extLst>
          </p:cNvPr>
          <p:cNvGrpSpPr/>
          <p:nvPr/>
        </p:nvGrpSpPr>
        <p:grpSpPr>
          <a:xfrm>
            <a:off x="1997234" y="3921457"/>
            <a:ext cx="1121485" cy="1395532"/>
            <a:chOff x="1626762" y="2964260"/>
            <a:chExt cx="479511" cy="1395532"/>
          </a:xfrm>
        </p:grpSpPr>
        <p:sp>
          <p:nvSpPr>
            <p:cNvPr id="50" name="矩形 49">
              <a:extLst>
                <a:ext uri="{FF2B5EF4-FFF2-40B4-BE49-F238E27FC236}">
                  <a16:creationId xmlns:a16="http://schemas.microsoft.com/office/drawing/2014/main" id="{555D172F-5162-4B17-80BE-80ED5EC39E9C}"/>
                </a:ext>
              </a:extLst>
            </p:cNvPr>
            <p:cNvSpPr/>
            <p:nvPr/>
          </p:nvSpPr>
          <p:spPr>
            <a:xfrm>
              <a:off x="1626762" y="2964260"/>
              <a:ext cx="479511" cy="348883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b="1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001…</a:t>
              </a:r>
              <a:endParaRPr lang="zh-CN" altLang="en-US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1" name="矩形 50">
              <a:extLst>
                <a:ext uri="{FF2B5EF4-FFF2-40B4-BE49-F238E27FC236}">
                  <a16:creationId xmlns:a16="http://schemas.microsoft.com/office/drawing/2014/main" id="{FC464F77-5B7F-4EF3-8B0A-527E9146CEEC}"/>
                </a:ext>
              </a:extLst>
            </p:cNvPr>
            <p:cNvSpPr/>
            <p:nvPr/>
          </p:nvSpPr>
          <p:spPr>
            <a:xfrm>
              <a:off x="1626762" y="3313143"/>
              <a:ext cx="479511" cy="348883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b="1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011…</a:t>
              </a:r>
              <a:endParaRPr lang="zh-CN" altLang="en-US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3" name="矩形 52">
              <a:extLst>
                <a:ext uri="{FF2B5EF4-FFF2-40B4-BE49-F238E27FC236}">
                  <a16:creationId xmlns:a16="http://schemas.microsoft.com/office/drawing/2014/main" id="{F85F0970-BBD4-4A39-87F7-FA67178E12CF}"/>
                </a:ext>
              </a:extLst>
            </p:cNvPr>
            <p:cNvSpPr/>
            <p:nvPr/>
          </p:nvSpPr>
          <p:spPr>
            <a:xfrm>
              <a:off x="1626762" y="3662026"/>
              <a:ext cx="479511" cy="348883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b="1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101…</a:t>
              </a:r>
              <a:endParaRPr lang="zh-CN" altLang="en-US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4" name="矩形 53">
              <a:extLst>
                <a:ext uri="{FF2B5EF4-FFF2-40B4-BE49-F238E27FC236}">
                  <a16:creationId xmlns:a16="http://schemas.microsoft.com/office/drawing/2014/main" id="{46FF67B2-2B08-44DB-AA2D-AE7B527DDC1A}"/>
                </a:ext>
              </a:extLst>
            </p:cNvPr>
            <p:cNvSpPr/>
            <p:nvPr/>
          </p:nvSpPr>
          <p:spPr>
            <a:xfrm>
              <a:off x="1626762" y="4010909"/>
              <a:ext cx="479511" cy="348883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b="1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111…</a:t>
              </a:r>
              <a:endParaRPr lang="zh-CN" altLang="en-US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56" name="组合 55">
            <a:extLst>
              <a:ext uri="{FF2B5EF4-FFF2-40B4-BE49-F238E27FC236}">
                <a16:creationId xmlns:a16="http://schemas.microsoft.com/office/drawing/2014/main" id="{EE5B552C-2605-4148-BD2A-236340646F7D}"/>
              </a:ext>
            </a:extLst>
          </p:cNvPr>
          <p:cNvGrpSpPr/>
          <p:nvPr/>
        </p:nvGrpSpPr>
        <p:grpSpPr>
          <a:xfrm>
            <a:off x="4954207" y="5242322"/>
            <a:ext cx="1977396" cy="1085593"/>
            <a:chOff x="3967045" y="2222509"/>
            <a:chExt cx="1977396" cy="1085593"/>
          </a:xfrm>
        </p:grpSpPr>
        <p:grpSp>
          <p:nvGrpSpPr>
            <p:cNvPr id="57" name="组合 56">
              <a:extLst>
                <a:ext uri="{FF2B5EF4-FFF2-40B4-BE49-F238E27FC236}">
                  <a16:creationId xmlns:a16="http://schemas.microsoft.com/office/drawing/2014/main" id="{A73780EA-1BE4-4D3B-B4C0-061349DDE07E}"/>
                </a:ext>
              </a:extLst>
            </p:cNvPr>
            <p:cNvGrpSpPr/>
            <p:nvPr/>
          </p:nvGrpSpPr>
          <p:grpSpPr>
            <a:xfrm>
              <a:off x="3967045" y="2222509"/>
              <a:ext cx="1597070" cy="1085593"/>
              <a:chOff x="3120764" y="1928099"/>
              <a:chExt cx="1597070" cy="1085593"/>
            </a:xfrm>
          </p:grpSpPr>
          <p:sp>
            <p:nvSpPr>
              <p:cNvPr id="63" name="矩形 62">
                <a:extLst>
                  <a:ext uri="{FF2B5EF4-FFF2-40B4-BE49-F238E27FC236}">
                    <a16:creationId xmlns:a16="http://schemas.microsoft.com/office/drawing/2014/main" id="{55A00A8E-073F-4A6E-9B44-D43A94E5B64A}"/>
                  </a:ext>
                </a:extLst>
              </p:cNvPr>
              <p:cNvSpPr/>
              <p:nvPr/>
            </p:nvSpPr>
            <p:spPr>
              <a:xfrm>
                <a:off x="3120764" y="1928099"/>
                <a:ext cx="1597070" cy="1085593"/>
              </a:xfrm>
              <a:prstGeom prst="rect">
                <a:avLst/>
              </a:prstGeom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4" name="矩形 63">
                <a:extLst>
                  <a:ext uri="{FF2B5EF4-FFF2-40B4-BE49-F238E27FC236}">
                    <a16:creationId xmlns:a16="http://schemas.microsoft.com/office/drawing/2014/main" id="{062B3254-D65A-4031-A355-25CCFDE0C485}"/>
                  </a:ext>
                </a:extLst>
              </p:cNvPr>
              <p:cNvSpPr/>
              <p:nvPr/>
            </p:nvSpPr>
            <p:spPr>
              <a:xfrm>
                <a:off x="3251519" y="2029839"/>
                <a:ext cx="1326466" cy="244586"/>
              </a:xfrm>
              <a:prstGeom prst="rect">
                <a:avLst/>
              </a:prstGeom>
              <a:solidFill>
                <a:schemeClr val="bg1"/>
              </a:solidFill>
              <a:ln w="254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4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10101…</a:t>
                </a:r>
                <a:endParaRPr lang="zh-CN" altLang="en-US" sz="14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65" name="矩形 64">
                <a:extLst>
                  <a:ext uri="{FF2B5EF4-FFF2-40B4-BE49-F238E27FC236}">
                    <a16:creationId xmlns:a16="http://schemas.microsoft.com/office/drawing/2014/main" id="{02509B83-E4E6-4952-9494-C312069CF384}"/>
                  </a:ext>
                </a:extLst>
              </p:cNvPr>
              <p:cNvSpPr/>
              <p:nvPr/>
            </p:nvSpPr>
            <p:spPr>
              <a:xfrm>
                <a:off x="3251519" y="2677089"/>
                <a:ext cx="1326466" cy="244586"/>
              </a:xfrm>
              <a:prstGeom prst="rect">
                <a:avLst/>
              </a:prstGeom>
              <a:solidFill>
                <a:schemeClr val="bg1"/>
              </a:solidFill>
              <a:ln w="254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4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66" name="矩形 65">
                <a:extLst>
                  <a:ext uri="{FF2B5EF4-FFF2-40B4-BE49-F238E27FC236}">
                    <a16:creationId xmlns:a16="http://schemas.microsoft.com/office/drawing/2014/main" id="{9A7ADBB2-1920-4547-92DD-1A210AC1AA42}"/>
                  </a:ext>
                </a:extLst>
              </p:cNvPr>
              <p:cNvSpPr/>
              <p:nvPr/>
            </p:nvSpPr>
            <p:spPr>
              <a:xfrm>
                <a:off x="3251519" y="2353464"/>
                <a:ext cx="1326466" cy="244586"/>
              </a:xfrm>
              <a:prstGeom prst="rect">
                <a:avLst/>
              </a:prstGeom>
              <a:solidFill>
                <a:schemeClr val="bg1"/>
              </a:solidFill>
              <a:ln w="254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4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10111…</a:t>
                </a:r>
                <a:endParaRPr lang="zh-CN" altLang="en-US" sz="14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62" name="矩形 61">
              <a:extLst>
                <a:ext uri="{FF2B5EF4-FFF2-40B4-BE49-F238E27FC236}">
                  <a16:creationId xmlns:a16="http://schemas.microsoft.com/office/drawing/2014/main" id="{0B590878-110F-42DE-A409-C75245927FA6}"/>
                </a:ext>
              </a:extLst>
            </p:cNvPr>
            <p:cNvSpPr/>
            <p:nvPr/>
          </p:nvSpPr>
          <p:spPr>
            <a:xfrm>
              <a:off x="5564115" y="2222509"/>
              <a:ext cx="380326" cy="346326"/>
            </a:xfrm>
            <a:prstGeom prst="rect">
              <a:avLst/>
            </a:prstGeom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b="1" dirty="0"/>
                <a:t>3</a:t>
              </a:r>
              <a:endParaRPr lang="zh-CN" altLang="en-US" b="1" dirty="0"/>
            </a:p>
          </p:txBody>
        </p:sp>
      </p:grpSp>
      <p:cxnSp>
        <p:nvCxnSpPr>
          <p:cNvPr id="55" name="连接符: 曲线 54">
            <a:extLst>
              <a:ext uri="{FF2B5EF4-FFF2-40B4-BE49-F238E27FC236}">
                <a16:creationId xmlns:a16="http://schemas.microsoft.com/office/drawing/2014/main" id="{2D611F6A-D167-40A3-A144-9465BC1030EF}"/>
              </a:ext>
            </a:extLst>
          </p:cNvPr>
          <p:cNvCxnSpPr>
            <a:cxnSpLocks/>
            <a:stCxn id="37" idx="3"/>
            <a:endCxn id="9" idx="1"/>
          </p:cNvCxnSpPr>
          <p:nvPr/>
        </p:nvCxnSpPr>
        <p:spPr>
          <a:xfrm flipV="1">
            <a:off x="3123453" y="2322497"/>
            <a:ext cx="1830754" cy="377771"/>
          </a:xfrm>
          <a:prstGeom prst="curvedConnector3">
            <a:avLst>
              <a:gd name="adj1" fmla="val 50000"/>
            </a:avLst>
          </a:prstGeom>
          <a:ln w="38100">
            <a:solidFill>
              <a:srgbClr val="FF0000"/>
            </a:solidFill>
            <a:headEnd type="oval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连接符: 曲线 58">
            <a:extLst>
              <a:ext uri="{FF2B5EF4-FFF2-40B4-BE49-F238E27FC236}">
                <a16:creationId xmlns:a16="http://schemas.microsoft.com/office/drawing/2014/main" id="{9CB7664C-06DE-48D9-A668-DA1F45DA2414}"/>
              </a:ext>
            </a:extLst>
          </p:cNvPr>
          <p:cNvCxnSpPr>
            <a:cxnSpLocks/>
            <a:stCxn id="38" idx="3"/>
            <a:endCxn id="9" idx="1"/>
          </p:cNvCxnSpPr>
          <p:nvPr/>
        </p:nvCxnSpPr>
        <p:spPr>
          <a:xfrm flipV="1">
            <a:off x="3123453" y="2322497"/>
            <a:ext cx="1830754" cy="726654"/>
          </a:xfrm>
          <a:prstGeom prst="curvedConnector3">
            <a:avLst>
              <a:gd name="adj1" fmla="val 50000"/>
            </a:avLst>
          </a:prstGeom>
          <a:ln w="38100">
            <a:solidFill>
              <a:srgbClr val="FF0000"/>
            </a:solidFill>
            <a:headEnd type="oval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连接符: 曲线 60">
            <a:extLst>
              <a:ext uri="{FF2B5EF4-FFF2-40B4-BE49-F238E27FC236}">
                <a16:creationId xmlns:a16="http://schemas.microsoft.com/office/drawing/2014/main" id="{F80768F1-DA20-4538-B620-73CF1C661BCD}"/>
              </a:ext>
            </a:extLst>
          </p:cNvPr>
          <p:cNvCxnSpPr>
            <a:cxnSpLocks/>
            <a:stCxn id="50" idx="3"/>
            <a:endCxn id="9" idx="1"/>
          </p:cNvCxnSpPr>
          <p:nvPr/>
        </p:nvCxnSpPr>
        <p:spPr>
          <a:xfrm flipV="1">
            <a:off x="3118719" y="2322497"/>
            <a:ext cx="1835488" cy="1773402"/>
          </a:xfrm>
          <a:prstGeom prst="curvedConnector3">
            <a:avLst>
              <a:gd name="adj1" fmla="val 50000"/>
            </a:avLst>
          </a:prstGeom>
          <a:ln w="38100">
            <a:solidFill>
              <a:srgbClr val="FF0000"/>
            </a:solidFill>
            <a:headEnd type="oval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连接符: 曲线 66">
            <a:extLst>
              <a:ext uri="{FF2B5EF4-FFF2-40B4-BE49-F238E27FC236}">
                <a16:creationId xmlns:a16="http://schemas.microsoft.com/office/drawing/2014/main" id="{D1AF977E-6C9E-44DE-8935-24FA1B2ECD12}"/>
              </a:ext>
            </a:extLst>
          </p:cNvPr>
          <p:cNvCxnSpPr>
            <a:cxnSpLocks/>
            <a:stCxn id="51" idx="3"/>
            <a:endCxn id="9" idx="1"/>
          </p:cNvCxnSpPr>
          <p:nvPr/>
        </p:nvCxnSpPr>
        <p:spPr>
          <a:xfrm flipV="1">
            <a:off x="3118719" y="2322497"/>
            <a:ext cx="1835488" cy="2122285"/>
          </a:xfrm>
          <a:prstGeom prst="curvedConnector3">
            <a:avLst>
              <a:gd name="adj1" fmla="val 50000"/>
            </a:avLst>
          </a:prstGeom>
          <a:ln w="38100">
            <a:solidFill>
              <a:srgbClr val="FF0000"/>
            </a:solidFill>
            <a:headEnd type="oval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连接符: 曲线 67">
            <a:extLst>
              <a:ext uri="{FF2B5EF4-FFF2-40B4-BE49-F238E27FC236}">
                <a16:creationId xmlns:a16="http://schemas.microsoft.com/office/drawing/2014/main" id="{E8442A99-9760-484A-8CF5-4483A3AA040A}"/>
              </a:ext>
            </a:extLst>
          </p:cNvPr>
          <p:cNvCxnSpPr>
            <a:cxnSpLocks/>
            <a:stCxn id="54" idx="3"/>
            <a:endCxn id="24" idx="1"/>
          </p:cNvCxnSpPr>
          <p:nvPr/>
        </p:nvCxnSpPr>
        <p:spPr>
          <a:xfrm flipV="1">
            <a:off x="3118719" y="4627316"/>
            <a:ext cx="1835488" cy="515232"/>
          </a:xfrm>
          <a:prstGeom prst="curvedConnector3">
            <a:avLst>
              <a:gd name="adj1" fmla="val 50000"/>
            </a:avLst>
          </a:prstGeom>
          <a:ln w="38100">
            <a:solidFill>
              <a:srgbClr val="FF0000"/>
            </a:solidFill>
            <a:headEnd type="oval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连接符: 曲线 68">
            <a:extLst>
              <a:ext uri="{FF2B5EF4-FFF2-40B4-BE49-F238E27FC236}">
                <a16:creationId xmlns:a16="http://schemas.microsoft.com/office/drawing/2014/main" id="{5A06716B-8E9A-43E0-A8DC-48184FA1DD91}"/>
              </a:ext>
            </a:extLst>
          </p:cNvPr>
          <p:cNvCxnSpPr>
            <a:cxnSpLocks/>
            <a:stCxn id="53" idx="3"/>
            <a:endCxn id="63" idx="1"/>
          </p:cNvCxnSpPr>
          <p:nvPr/>
        </p:nvCxnSpPr>
        <p:spPr>
          <a:xfrm>
            <a:off x="3118719" y="4793665"/>
            <a:ext cx="1835488" cy="991454"/>
          </a:xfrm>
          <a:prstGeom prst="curvedConnector3">
            <a:avLst>
              <a:gd name="adj1" fmla="val 50000"/>
            </a:avLst>
          </a:prstGeom>
          <a:ln w="38100">
            <a:solidFill>
              <a:srgbClr val="FF0000"/>
            </a:solidFill>
            <a:headEnd type="oval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连接符: 曲线 70">
            <a:extLst>
              <a:ext uri="{FF2B5EF4-FFF2-40B4-BE49-F238E27FC236}">
                <a16:creationId xmlns:a16="http://schemas.microsoft.com/office/drawing/2014/main" id="{EBC5E4E8-C660-43D7-9975-0BC1CE9F4761}"/>
              </a:ext>
            </a:extLst>
          </p:cNvPr>
          <p:cNvCxnSpPr>
            <a:cxnSpLocks/>
            <a:stCxn id="39" idx="3"/>
            <a:endCxn id="17" idx="1"/>
          </p:cNvCxnSpPr>
          <p:nvPr/>
        </p:nvCxnSpPr>
        <p:spPr>
          <a:xfrm>
            <a:off x="3123453" y="3398034"/>
            <a:ext cx="1830754" cy="77646"/>
          </a:xfrm>
          <a:prstGeom prst="curvedConnector3">
            <a:avLst>
              <a:gd name="adj1" fmla="val 50000"/>
            </a:avLst>
          </a:prstGeom>
          <a:ln w="38100">
            <a:solidFill>
              <a:srgbClr val="FF0000"/>
            </a:solidFill>
            <a:headEnd type="oval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连接符: 曲线 73">
            <a:extLst>
              <a:ext uri="{FF2B5EF4-FFF2-40B4-BE49-F238E27FC236}">
                <a16:creationId xmlns:a16="http://schemas.microsoft.com/office/drawing/2014/main" id="{0A39C86A-C724-4C9A-A642-A5E5811DE599}"/>
              </a:ext>
            </a:extLst>
          </p:cNvPr>
          <p:cNvCxnSpPr>
            <a:cxnSpLocks/>
            <a:stCxn id="40" idx="3"/>
            <a:endCxn id="24" idx="1"/>
          </p:cNvCxnSpPr>
          <p:nvPr/>
        </p:nvCxnSpPr>
        <p:spPr>
          <a:xfrm>
            <a:off x="3123453" y="3746917"/>
            <a:ext cx="1830754" cy="880399"/>
          </a:xfrm>
          <a:prstGeom prst="curvedConnector3">
            <a:avLst>
              <a:gd name="adj1" fmla="val 50000"/>
            </a:avLst>
          </a:prstGeom>
          <a:ln w="38100">
            <a:solidFill>
              <a:srgbClr val="FF0000"/>
            </a:solidFill>
            <a:headEnd type="oval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7" name="箭头: 右 76">
            <a:extLst>
              <a:ext uri="{FF2B5EF4-FFF2-40B4-BE49-F238E27FC236}">
                <a16:creationId xmlns:a16="http://schemas.microsoft.com/office/drawing/2014/main" id="{4B53F2ED-1F15-45BE-BB51-568D8500F1EF}"/>
              </a:ext>
            </a:extLst>
          </p:cNvPr>
          <p:cNvSpPr/>
          <p:nvPr/>
        </p:nvSpPr>
        <p:spPr>
          <a:xfrm>
            <a:off x="1616908" y="4665550"/>
            <a:ext cx="308113" cy="305815"/>
          </a:xfrm>
          <a:prstGeom prst="right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8" name="矩形: 圆角 77">
            <a:extLst>
              <a:ext uri="{FF2B5EF4-FFF2-40B4-BE49-F238E27FC236}">
                <a16:creationId xmlns:a16="http://schemas.microsoft.com/office/drawing/2014/main" id="{94B559A0-8F34-44FD-873D-7BB241090ED3}"/>
              </a:ext>
            </a:extLst>
          </p:cNvPr>
          <p:cNvSpPr/>
          <p:nvPr/>
        </p:nvSpPr>
        <p:spPr>
          <a:xfrm>
            <a:off x="4947794" y="5254882"/>
            <a:ext cx="1609896" cy="1101468"/>
          </a:xfrm>
          <a:prstGeom prst="roundRect">
            <a:avLst>
              <a:gd name="adj" fmla="val 5316"/>
            </a:avLst>
          </a:prstGeom>
          <a:solidFill>
            <a:srgbClr val="FF0000">
              <a:alpha val="20000"/>
            </a:srgbClr>
          </a:solidFill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0761235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9BBCCEF-D42F-420B-9CC2-98A9815DB6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Linear Hashing</a:t>
            </a:r>
            <a:endParaRPr lang="zh-CN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2905825-8EE0-4CF0-A05E-CAFDF944FB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FFE818-F6CC-4F63-AD40-20D1742EE39D}" type="datetime1">
              <a:rPr lang="zh-CN" altLang="en-US" smtClean="0"/>
              <a:t>2024/5/8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ED664A2-5898-4C25-86F3-E969A94A39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Hash Indices</a:t>
            </a: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34B9AF0-AA69-4CFE-BBF2-A55EB4555B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5CA875-76FA-4283-B5BE-070B4D16A27E}" type="slidenum">
              <a:rPr lang="zh-CN" altLang="en-US" smtClean="0"/>
              <a:t>25</a:t>
            </a:fld>
            <a:endParaRPr lang="zh-CN" altLang="en-US"/>
          </a:p>
        </p:txBody>
      </p:sp>
      <p:sp>
        <p:nvSpPr>
          <p:cNvPr id="8" name="内容占位符 7">
            <a:extLst>
              <a:ext uri="{FF2B5EF4-FFF2-40B4-BE49-F238E27FC236}">
                <a16:creationId xmlns:a16="http://schemas.microsoft.com/office/drawing/2014/main" id="{13D5DB0C-A129-4A7C-89EE-91B1014FC0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393017" cy="4351338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  <a:spcBef>
                <a:spcPts val="1800"/>
              </a:spcBef>
            </a:pPr>
            <a:r>
              <a:rPr lang="en-US" altLang="zh-CN" dirty="0"/>
              <a:t>The hash table maintains a </a:t>
            </a:r>
            <a:r>
              <a:rPr lang="en-US" altLang="zh-CN" b="1" u="sng" dirty="0"/>
              <a:t>pointer</a:t>
            </a:r>
            <a:r>
              <a:rPr lang="en-US" altLang="zh-CN" dirty="0"/>
              <a:t> that tracks the next bucket to split.</a:t>
            </a:r>
          </a:p>
          <a:p>
            <a:pPr lvl="1">
              <a:lnSpc>
                <a:spcPct val="100000"/>
              </a:lnSpc>
              <a:spcBef>
                <a:spcPts val="1800"/>
              </a:spcBef>
            </a:pPr>
            <a:r>
              <a:rPr lang="en-US" altLang="zh-CN" dirty="0"/>
              <a:t>When any bucket overflows, split the bucket at the pointer location.</a:t>
            </a:r>
          </a:p>
          <a:p>
            <a:pPr>
              <a:lnSpc>
                <a:spcPct val="100000"/>
              </a:lnSpc>
              <a:spcBef>
                <a:spcPts val="1800"/>
              </a:spcBef>
            </a:pPr>
            <a:r>
              <a:rPr lang="en-US" altLang="zh-CN" dirty="0"/>
              <a:t>Use </a:t>
            </a:r>
            <a:r>
              <a:rPr lang="en-US" altLang="zh-CN" b="1" dirty="0">
                <a:solidFill>
                  <a:srgbClr val="FF0000"/>
                </a:solidFill>
              </a:rPr>
              <a:t>multiple hashes </a:t>
            </a:r>
            <a:r>
              <a:rPr lang="en-US" altLang="zh-CN" dirty="0"/>
              <a:t>to find the right bucket for a given key.</a:t>
            </a:r>
          </a:p>
          <a:p>
            <a:pPr>
              <a:lnSpc>
                <a:spcPct val="100000"/>
              </a:lnSpc>
              <a:spcBef>
                <a:spcPts val="1800"/>
              </a:spcBef>
            </a:pPr>
            <a:r>
              <a:rPr lang="en-US" altLang="zh-CN" dirty="0"/>
              <a:t>Can use different overflow criterion:</a:t>
            </a:r>
          </a:p>
          <a:p>
            <a:pPr lvl="1">
              <a:lnSpc>
                <a:spcPct val="100000"/>
              </a:lnSpc>
              <a:spcBef>
                <a:spcPts val="1800"/>
              </a:spcBef>
            </a:pPr>
            <a:r>
              <a:rPr lang="en-US" altLang="zh-CN" dirty="0"/>
              <a:t>Space Utilization</a:t>
            </a:r>
          </a:p>
          <a:p>
            <a:pPr lvl="1">
              <a:lnSpc>
                <a:spcPct val="100000"/>
              </a:lnSpc>
              <a:spcBef>
                <a:spcPts val="1800"/>
              </a:spcBef>
            </a:pPr>
            <a:r>
              <a:rPr lang="en-US" altLang="zh-CN" dirty="0"/>
              <a:t>Average Length of Overflow Chains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60395714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9BBCCEF-D42F-420B-9CC2-98A9815DB6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Linear Hashing</a:t>
            </a:r>
            <a:endParaRPr lang="zh-CN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2905825-8EE0-4CF0-A05E-CAFDF944FB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DDBD11-43D6-46F0-9F7D-8D9F5101D109}" type="datetime1">
              <a:rPr lang="zh-CN" altLang="en-US" smtClean="0"/>
              <a:t>2024/5/8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ED664A2-5898-4C25-86F3-E969A94A39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altLang="zh-CN"/>
              <a:t>Hash Indices</a:t>
            </a: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34B9AF0-AA69-4CFE-BBF2-A55EB4555B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5CA875-76FA-4283-B5BE-070B4D16A27E}" type="slidenum">
              <a:rPr lang="zh-CN" altLang="en-US" smtClean="0"/>
              <a:t>26</a:t>
            </a:fld>
            <a:endParaRPr lang="zh-CN" altLang="en-US"/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F7CFF25C-12CE-407F-87E3-81133BE304C8}"/>
              </a:ext>
            </a:extLst>
          </p:cNvPr>
          <p:cNvGrpSpPr/>
          <p:nvPr/>
        </p:nvGrpSpPr>
        <p:grpSpPr>
          <a:xfrm>
            <a:off x="3983229" y="1785539"/>
            <a:ext cx="1597070" cy="1085593"/>
            <a:chOff x="3120764" y="1928099"/>
            <a:chExt cx="1597070" cy="1085593"/>
          </a:xfrm>
        </p:grpSpPr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9DD2C9B2-7A77-41FB-AF7D-A6C280ABA039}"/>
                </a:ext>
              </a:extLst>
            </p:cNvPr>
            <p:cNvSpPr/>
            <p:nvPr/>
          </p:nvSpPr>
          <p:spPr>
            <a:xfrm>
              <a:off x="3120764" y="1928099"/>
              <a:ext cx="1597070" cy="1085593"/>
            </a:xfrm>
            <a:prstGeom prst="rect">
              <a:avLst/>
            </a:prstGeom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矩形 8">
              <a:extLst>
                <a:ext uri="{FF2B5EF4-FFF2-40B4-BE49-F238E27FC236}">
                  <a16:creationId xmlns:a16="http://schemas.microsoft.com/office/drawing/2014/main" id="{0E7DB8D6-3C78-4AF8-9952-BB7500DE45FA}"/>
                </a:ext>
              </a:extLst>
            </p:cNvPr>
            <p:cNvSpPr/>
            <p:nvPr/>
          </p:nvSpPr>
          <p:spPr>
            <a:xfrm>
              <a:off x="3251519" y="2029839"/>
              <a:ext cx="1326466" cy="244586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4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8</a:t>
              </a:r>
              <a:endParaRPr lang="zh-CN" altLang="en-US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" name="矩形 10">
              <a:extLst>
                <a:ext uri="{FF2B5EF4-FFF2-40B4-BE49-F238E27FC236}">
                  <a16:creationId xmlns:a16="http://schemas.microsoft.com/office/drawing/2014/main" id="{A468E8D4-4AE3-479A-99AE-73187116092C}"/>
                </a:ext>
              </a:extLst>
            </p:cNvPr>
            <p:cNvSpPr/>
            <p:nvPr/>
          </p:nvSpPr>
          <p:spPr>
            <a:xfrm>
              <a:off x="3251519" y="2677089"/>
              <a:ext cx="1326466" cy="244586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2" name="矩形 21">
              <a:extLst>
                <a:ext uri="{FF2B5EF4-FFF2-40B4-BE49-F238E27FC236}">
                  <a16:creationId xmlns:a16="http://schemas.microsoft.com/office/drawing/2014/main" id="{9F0A11C6-1E0E-4BA1-A041-8423A80ADE65}"/>
                </a:ext>
              </a:extLst>
            </p:cNvPr>
            <p:cNvSpPr/>
            <p:nvPr/>
          </p:nvSpPr>
          <p:spPr>
            <a:xfrm>
              <a:off x="3251519" y="2353464"/>
              <a:ext cx="1326466" cy="244586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4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20</a:t>
              </a:r>
              <a:endParaRPr lang="zh-CN" altLang="en-US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A8F2B301-0401-4DE0-A790-17FD885726F1}"/>
              </a:ext>
            </a:extLst>
          </p:cNvPr>
          <p:cNvGrpSpPr/>
          <p:nvPr/>
        </p:nvGrpSpPr>
        <p:grpSpPr>
          <a:xfrm>
            <a:off x="3983229" y="2962637"/>
            <a:ext cx="1597070" cy="1085593"/>
            <a:chOff x="3120764" y="1928099"/>
            <a:chExt cx="1597070" cy="1085593"/>
          </a:xfrm>
        </p:grpSpPr>
        <p:sp>
          <p:nvSpPr>
            <p:cNvPr id="25" name="矩形 24">
              <a:extLst>
                <a:ext uri="{FF2B5EF4-FFF2-40B4-BE49-F238E27FC236}">
                  <a16:creationId xmlns:a16="http://schemas.microsoft.com/office/drawing/2014/main" id="{8E64044D-7EE3-4418-9233-70933F0B3FA4}"/>
                </a:ext>
              </a:extLst>
            </p:cNvPr>
            <p:cNvSpPr/>
            <p:nvPr/>
          </p:nvSpPr>
          <p:spPr>
            <a:xfrm>
              <a:off x="3120764" y="1928099"/>
              <a:ext cx="1597070" cy="1085593"/>
            </a:xfrm>
            <a:prstGeom prst="rect">
              <a:avLst/>
            </a:prstGeom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6" name="矩形 25">
              <a:extLst>
                <a:ext uri="{FF2B5EF4-FFF2-40B4-BE49-F238E27FC236}">
                  <a16:creationId xmlns:a16="http://schemas.microsoft.com/office/drawing/2014/main" id="{3B7D9748-8966-4F1E-9D3A-E966B84DF98B}"/>
                </a:ext>
              </a:extLst>
            </p:cNvPr>
            <p:cNvSpPr/>
            <p:nvPr/>
          </p:nvSpPr>
          <p:spPr>
            <a:xfrm>
              <a:off x="3251519" y="2029839"/>
              <a:ext cx="1326466" cy="244586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4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5</a:t>
              </a:r>
              <a:endParaRPr lang="zh-CN" altLang="en-US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7" name="矩形 26">
              <a:extLst>
                <a:ext uri="{FF2B5EF4-FFF2-40B4-BE49-F238E27FC236}">
                  <a16:creationId xmlns:a16="http://schemas.microsoft.com/office/drawing/2014/main" id="{B4FFE470-7A43-4443-8558-3B64C4C75B6C}"/>
                </a:ext>
              </a:extLst>
            </p:cNvPr>
            <p:cNvSpPr/>
            <p:nvPr/>
          </p:nvSpPr>
          <p:spPr>
            <a:xfrm>
              <a:off x="3251519" y="2677089"/>
              <a:ext cx="1326466" cy="244586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4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13</a:t>
              </a:r>
              <a:endParaRPr lang="zh-CN" altLang="en-US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8" name="矩形 27">
              <a:extLst>
                <a:ext uri="{FF2B5EF4-FFF2-40B4-BE49-F238E27FC236}">
                  <a16:creationId xmlns:a16="http://schemas.microsoft.com/office/drawing/2014/main" id="{70C780C4-0F9F-46AB-9B75-A41DBB7C9E83}"/>
                </a:ext>
              </a:extLst>
            </p:cNvPr>
            <p:cNvSpPr/>
            <p:nvPr/>
          </p:nvSpPr>
          <p:spPr>
            <a:xfrm>
              <a:off x="3251519" y="2353464"/>
              <a:ext cx="1326466" cy="244586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4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9</a:t>
              </a:r>
              <a:endParaRPr lang="zh-CN" altLang="en-US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29" name="组合 28">
            <a:extLst>
              <a:ext uri="{FF2B5EF4-FFF2-40B4-BE49-F238E27FC236}">
                <a16:creationId xmlns:a16="http://schemas.microsoft.com/office/drawing/2014/main" id="{AB7D4DA5-6BFF-4B22-92AF-64EEE45E476E}"/>
              </a:ext>
            </a:extLst>
          </p:cNvPr>
          <p:cNvGrpSpPr/>
          <p:nvPr/>
        </p:nvGrpSpPr>
        <p:grpSpPr>
          <a:xfrm>
            <a:off x="3974950" y="4130116"/>
            <a:ext cx="1597070" cy="1085593"/>
            <a:chOff x="3120764" y="1928099"/>
            <a:chExt cx="1597070" cy="1085593"/>
          </a:xfrm>
        </p:grpSpPr>
        <p:sp>
          <p:nvSpPr>
            <p:cNvPr id="30" name="矩形 29">
              <a:extLst>
                <a:ext uri="{FF2B5EF4-FFF2-40B4-BE49-F238E27FC236}">
                  <a16:creationId xmlns:a16="http://schemas.microsoft.com/office/drawing/2014/main" id="{F042259E-C5A9-4C47-A14F-D76DD2163449}"/>
                </a:ext>
              </a:extLst>
            </p:cNvPr>
            <p:cNvSpPr/>
            <p:nvPr/>
          </p:nvSpPr>
          <p:spPr>
            <a:xfrm>
              <a:off x="3120764" y="1928099"/>
              <a:ext cx="1597070" cy="1085593"/>
            </a:xfrm>
            <a:prstGeom prst="rect">
              <a:avLst/>
            </a:prstGeom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1" name="矩形 30">
              <a:extLst>
                <a:ext uri="{FF2B5EF4-FFF2-40B4-BE49-F238E27FC236}">
                  <a16:creationId xmlns:a16="http://schemas.microsoft.com/office/drawing/2014/main" id="{CFE52B74-A3C0-4F33-938A-827402025101}"/>
                </a:ext>
              </a:extLst>
            </p:cNvPr>
            <p:cNvSpPr/>
            <p:nvPr/>
          </p:nvSpPr>
          <p:spPr>
            <a:xfrm>
              <a:off x="3251519" y="2029839"/>
              <a:ext cx="1326466" cy="244586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4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6</a:t>
              </a:r>
              <a:endParaRPr lang="zh-CN" altLang="en-US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2" name="矩形 31">
              <a:extLst>
                <a:ext uri="{FF2B5EF4-FFF2-40B4-BE49-F238E27FC236}">
                  <a16:creationId xmlns:a16="http://schemas.microsoft.com/office/drawing/2014/main" id="{9DE5FE26-28FA-4A6D-ADAE-AA94959430F6}"/>
                </a:ext>
              </a:extLst>
            </p:cNvPr>
            <p:cNvSpPr/>
            <p:nvPr/>
          </p:nvSpPr>
          <p:spPr>
            <a:xfrm>
              <a:off x="3251519" y="2677089"/>
              <a:ext cx="1326466" cy="244586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3" name="矩形 32">
              <a:extLst>
                <a:ext uri="{FF2B5EF4-FFF2-40B4-BE49-F238E27FC236}">
                  <a16:creationId xmlns:a16="http://schemas.microsoft.com/office/drawing/2014/main" id="{F7659D25-0593-45AA-93D9-4B7502D5FE42}"/>
                </a:ext>
              </a:extLst>
            </p:cNvPr>
            <p:cNvSpPr/>
            <p:nvPr/>
          </p:nvSpPr>
          <p:spPr>
            <a:xfrm>
              <a:off x="3251519" y="2353464"/>
              <a:ext cx="1326466" cy="244586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34" name="组合 33">
            <a:extLst>
              <a:ext uri="{FF2B5EF4-FFF2-40B4-BE49-F238E27FC236}">
                <a16:creationId xmlns:a16="http://schemas.microsoft.com/office/drawing/2014/main" id="{EE20B405-6E43-4E87-A925-7A94CE04AC11}"/>
              </a:ext>
            </a:extLst>
          </p:cNvPr>
          <p:cNvGrpSpPr/>
          <p:nvPr/>
        </p:nvGrpSpPr>
        <p:grpSpPr>
          <a:xfrm>
            <a:off x="3970403" y="5296762"/>
            <a:ext cx="1597070" cy="1085593"/>
            <a:chOff x="3120764" y="1928099"/>
            <a:chExt cx="1597070" cy="1085593"/>
          </a:xfrm>
        </p:grpSpPr>
        <p:sp>
          <p:nvSpPr>
            <p:cNvPr id="35" name="矩形 34">
              <a:extLst>
                <a:ext uri="{FF2B5EF4-FFF2-40B4-BE49-F238E27FC236}">
                  <a16:creationId xmlns:a16="http://schemas.microsoft.com/office/drawing/2014/main" id="{1D08EEFC-C1DA-4024-94A2-657D610B6176}"/>
                </a:ext>
              </a:extLst>
            </p:cNvPr>
            <p:cNvSpPr/>
            <p:nvPr/>
          </p:nvSpPr>
          <p:spPr>
            <a:xfrm>
              <a:off x="3120764" y="1928099"/>
              <a:ext cx="1597070" cy="1085593"/>
            </a:xfrm>
            <a:prstGeom prst="rect">
              <a:avLst/>
            </a:prstGeom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6" name="矩形 35">
              <a:extLst>
                <a:ext uri="{FF2B5EF4-FFF2-40B4-BE49-F238E27FC236}">
                  <a16:creationId xmlns:a16="http://schemas.microsoft.com/office/drawing/2014/main" id="{666ABB10-656B-41EE-826D-8D4F4A1E9930}"/>
                </a:ext>
              </a:extLst>
            </p:cNvPr>
            <p:cNvSpPr/>
            <p:nvPr/>
          </p:nvSpPr>
          <p:spPr>
            <a:xfrm>
              <a:off x="3251519" y="2029839"/>
              <a:ext cx="1326466" cy="244586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4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7</a:t>
              </a:r>
              <a:endParaRPr lang="zh-CN" altLang="en-US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7" name="矩形 36">
              <a:extLst>
                <a:ext uri="{FF2B5EF4-FFF2-40B4-BE49-F238E27FC236}">
                  <a16:creationId xmlns:a16="http://schemas.microsoft.com/office/drawing/2014/main" id="{1C592B3C-9CDB-4E94-9586-9983ECFE1E06}"/>
                </a:ext>
              </a:extLst>
            </p:cNvPr>
            <p:cNvSpPr/>
            <p:nvPr/>
          </p:nvSpPr>
          <p:spPr>
            <a:xfrm>
              <a:off x="3251519" y="2677089"/>
              <a:ext cx="1326466" cy="244586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8" name="矩形 37">
              <a:extLst>
                <a:ext uri="{FF2B5EF4-FFF2-40B4-BE49-F238E27FC236}">
                  <a16:creationId xmlns:a16="http://schemas.microsoft.com/office/drawing/2014/main" id="{28A016A7-A959-4D9B-AE3E-CDEF9166E6DD}"/>
                </a:ext>
              </a:extLst>
            </p:cNvPr>
            <p:cNvSpPr/>
            <p:nvPr/>
          </p:nvSpPr>
          <p:spPr>
            <a:xfrm>
              <a:off x="3251519" y="2353464"/>
              <a:ext cx="1326466" cy="244586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4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11</a:t>
              </a:r>
              <a:endParaRPr lang="zh-CN" altLang="en-US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43" name="矩形 42">
            <a:extLst>
              <a:ext uri="{FF2B5EF4-FFF2-40B4-BE49-F238E27FC236}">
                <a16:creationId xmlns:a16="http://schemas.microsoft.com/office/drawing/2014/main" id="{AAB6DA76-BC38-4996-9044-32BD0E4A0295}"/>
              </a:ext>
            </a:extLst>
          </p:cNvPr>
          <p:cNvSpPr/>
          <p:nvPr/>
        </p:nvSpPr>
        <p:spPr>
          <a:xfrm>
            <a:off x="339310" y="5544540"/>
            <a:ext cx="2908151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b="1" i="1" dirty="0">
                <a:solidFill>
                  <a:srgbClr val="FF0000"/>
                </a:solidFill>
                <a:latin typeface="Crimson Text"/>
              </a:rPr>
              <a:t>hash</a:t>
            </a:r>
            <a:r>
              <a:rPr lang="en-US" altLang="zh-CN" sz="2400" b="1" baseline="-25000" dirty="0">
                <a:solidFill>
                  <a:srgbClr val="FF0000"/>
                </a:solidFill>
                <a:latin typeface="Crimson Text"/>
              </a:rPr>
              <a:t>1</a:t>
            </a:r>
            <a:r>
              <a:rPr lang="en-US" altLang="zh-CN" sz="2400" b="1" i="1" dirty="0">
                <a:solidFill>
                  <a:srgbClr val="FF0000"/>
                </a:solidFill>
                <a:latin typeface="Crimson Text"/>
              </a:rPr>
              <a:t>(key) = key % n</a:t>
            </a:r>
            <a:endParaRPr lang="zh-CN" altLang="en-US" sz="2400" dirty="0">
              <a:solidFill>
                <a:srgbClr val="FF0000"/>
              </a:solidFill>
            </a:endParaRPr>
          </a:p>
        </p:txBody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C712B760-4D9B-4F7F-A1B3-575B70ACB14C}"/>
              </a:ext>
            </a:extLst>
          </p:cNvPr>
          <p:cNvSpPr/>
          <p:nvPr/>
        </p:nvSpPr>
        <p:spPr>
          <a:xfrm>
            <a:off x="314038" y="2008672"/>
            <a:ext cx="143454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b="1" i="1" dirty="0">
                <a:solidFill>
                  <a:srgbClr val="FF0000"/>
                </a:solidFill>
                <a:latin typeface="Crimson Text"/>
              </a:rPr>
              <a:t>Split Pointer</a:t>
            </a:r>
            <a:endParaRPr lang="zh-CN" altLang="en-US" dirty="0">
              <a:solidFill>
                <a:srgbClr val="FF0000"/>
              </a:solidFill>
            </a:endParaRPr>
          </a:p>
        </p:txBody>
      </p:sp>
      <p:grpSp>
        <p:nvGrpSpPr>
          <p:cNvPr id="45" name="组合 44">
            <a:extLst>
              <a:ext uri="{FF2B5EF4-FFF2-40B4-BE49-F238E27FC236}">
                <a16:creationId xmlns:a16="http://schemas.microsoft.com/office/drawing/2014/main" id="{232CDEFB-2E87-4A2F-B5CF-8951B8E7D222}"/>
              </a:ext>
            </a:extLst>
          </p:cNvPr>
          <p:cNvGrpSpPr/>
          <p:nvPr/>
        </p:nvGrpSpPr>
        <p:grpSpPr>
          <a:xfrm>
            <a:off x="2115329" y="3215915"/>
            <a:ext cx="479511" cy="1395532"/>
            <a:chOff x="1626762" y="2964260"/>
            <a:chExt cx="479511" cy="1395532"/>
          </a:xfrm>
        </p:grpSpPr>
        <p:sp>
          <p:nvSpPr>
            <p:cNvPr id="46" name="矩形 45">
              <a:extLst>
                <a:ext uri="{FF2B5EF4-FFF2-40B4-BE49-F238E27FC236}">
                  <a16:creationId xmlns:a16="http://schemas.microsoft.com/office/drawing/2014/main" id="{A7CB772C-F832-4EFA-B806-7B5969E6B53B}"/>
                </a:ext>
              </a:extLst>
            </p:cNvPr>
            <p:cNvSpPr/>
            <p:nvPr/>
          </p:nvSpPr>
          <p:spPr>
            <a:xfrm>
              <a:off x="1626762" y="2964260"/>
              <a:ext cx="479511" cy="348883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b="1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0</a:t>
              </a:r>
              <a:endParaRPr lang="zh-CN" altLang="en-US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7" name="矩形 46">
              <a:extLst>
                <a:ext uri="{FF2B5EF4-FFF2-40B4-BE49-F238E27FC236}">
                  <a16:creationId xmlns:a16="http://schemas.microsoft.com/office/drawing/2014/main" id="{CEF3D8FE-BA2F-4BAF-9771-853397C09FEC}"/>
                </a:ext>
              </a:extLst>
            </p:cNvPr>
            <p:cNvSpPr/>
            <p:nvPr/>
          </p:nvSpPr>
          <p:spPr>
            <a:xfrm>
              <a:off x="1626762" y="3313143"/>
              <a:ext cx="479511" cy="348883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b="1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</a:t>
              </a:r>
              <a:endParaRPr lang="zh-CN" altLang="en-US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8" name="矩形 47">
              <a:extLst>
                <a:ext uri="{FF2B5EF4-FFF2-40B4-BE49-F238E27FC236}">
                  <a16:creationId xmlns:a16="http://schemas.microsoft.com/office/drawing/2014/main" id="{937F1EDB-F61B-47F4-A685-18507080A34E}"/>
                </a:ext>
              </a:extLst>
            </p:cNvPr>
            <p:cNvSpPr/>
            <p:nvPr/>
          </p:nvSpPr>
          <p:spPr>
            <a:xfrm>
              <a:off x="1626762" y="3662026"/>
              <a:ext cx="479511" cy="348883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b="1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2</a:t>
              </a:r>
              <a:endParaRPr lang="zh-CN" altLang="en-US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9" name="矩形 48">
              <a:extLst>
                <a:ext uri="{FF2B5EF4-FFF2-40B4-BE49-F238E27FC236}">
                  <a16:creationId xmlns:a16="http://schemas.microsoft.com/office/drawing/2014/main" id="{9217AC55-5718-48DD-9B43-8D9DB0C1F661}"/>
                </a:ext>
              </a:extLst>
            </p:cNvPr>
            <p:cNvSpPr/>
            <p:nvPr/>
          </p:nvSpPr>
          <p:spPr>
            <a:xfrm>
              <a:off x="1626762" y="4010909"/>
              <a:ext cx="479511" cy="348883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b="1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3</a:t>
              </a:r>
              <a:endParaRPr lang="zh-CN" altLang="en-US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cxnSp>
        <p:nvCxnSpPr>
          <p:cNvPr id="56" name="连接符: 曲线 55">
            <a:extLst>
              <a:ext uri="{FF2B5EF4-FFF2-40B4-BE49-F238E27FC236}">
                <a16:creationId xmlns:a16="http://schemas.microsoft.com/office/drawing/2014/main" id="{DE6F5C0A-2E0E-4223-8305-515B09AE8DF0}"/>
              </a:ext>
            </a:extLst>
          </p:cNvPr>
          <p:cNvCxnSpPr>
            <a:cxnSpLocks/>
            <a:stCxn id="48" idx="3"/>
            <a:endCxn id="30" idx="1"/>
          </p:cNvCxnSpPr>
          <p:nvPr/>
        </p:nvCxnSpPr>
        <p:spPr>
          <a:xfrm>
            <a:off x="2594840" y="4088123"/>
            <a:ext cx="1380110" cy="584790"/>
          </a:xfrm>
          <a:prstGeom prst="curvedConnector3">
            <a:avLst/>
          </a:prstGeom>
          <a:ln w="38100">
            <a:solidFill>
              <a:srgbClr val="FF0000"/>
            </a:solidFill>
            <a:headEnd type="oval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连接符: 曲线 18">
            <a:extLst>
              <a:ext uri="{FF2B5EF4-FFF2-40B4-BE49-F238E27FC236}">
                <a16:creationId xmlns:a16="http://schemas.microsoft.com/office/drawing/2014/main" id="{3E14C3CE-1F6A-461E-86A3-7B85608221F8}"/>
              </a:ext>
            </a:extLst>
          </p:cNvPr>
          <p:cNvCxnSpPr>
            <a:cxnSpLocks/>
            <a:stCxn id="46" idx="3"/>
            <a:endCxn id="7" idx="1"/>
          </p:cNvCxnSpPr>
          <p:nvPr/>
        </p:nvCxnSpPr>
        <p:spPr>
          <a:xfrm flipV="1">
            <a:off x="2594840" y="2328336"/>
            <a:ext cx="1388389" cy="1062021"/>
          </a:xfrm>
          <a:prstGeom prst="curvedConnector3">
            <a:avLst>
              <a:gd name="adj1" fmla="val 50000"/>
            </a:avLst>
          </a:prstGeom>
          <a:ln w="38100">
            <a:solidFill>
              <a:srgbClr val="FF0000"/>
            </a:solidFill>
            <a:headEnd type="oval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连接符: 曲线 19">
            <a:extLst>
              <a:ext uri="{FF2B5EF4-FFF2-40B4-BE49-F238E27FC236}">
                <a16:creationId xmlns:a16="http://schemas.microsoft.com/office/drawing/2014/main" id="{CA527AE1-C3F0-4E3A-A9ED-54A861CBF67D}"/>
              </a:ext>
            </a:extLst>
          </p:cNvPr>
          <p:cNvCxnSpPr>
            <a:cxnSpLocks/>
            <a:stCxn id="47" idx="3"/>
            <a:endCxn id="25" idx="1"/>
          </p:cNvCxnSpPr>
          <p:nvPr/>
        </p:nvCxnSpPr>
        <p:spPr>
          <a:xfrm flipV="1">
            <a:off x="2594840" y="3505434"/>
            <a:ext cx="1388389" cy="233806"/>
          </a:xfrm>
          <a:prstGeom prst="curvedConnector3">
            <a:avLst>
              <a:gd name="adj1" fmla="val 50000"/>
            </a:avLst>
          </a:prstGeom>
          <a:ln w="38100">
            <a:solidFill>
              <a:srgbClr val="FF0000"/>
            </a:solidFill>
            <a:headEnd type="oval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箭头: 右 60">
            <a:extLst>
              <a:ext uri="{FF2B5EF4-FFF2-40B4-BE49-F238E27FC236}">
                <a16:creationId xmlns:a16="http://schemas.microsoft.com/office/drawing/2014/main" id="{0D1C953B-BF88-4756-85B7-673655AE557F}"/>
              </a:ext>
            </a:extLst>
          </p:cNvPr>
          <p:cNvSpPr/>
          <p:nvPr/>
        </p:nvSpPr>
        <p:spPr>
          <a:xfrm>
            <a:off x="624763" y="3181524"/>
            <a:ext cx="447001" cy="482725"/>
          </a:xfrm>
          <a:prstGeom prst="rightArrow">
            <a:avLst/>
          </a:prstGeom>
          <a:solidFill>
            <a:schemeClr val="bg1">
              <a:lumMod val="5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solidFill>
                  <a:schemeClr val="tx1"/>
                </a:solidFill>
              </a:rPr>
              <a:t>0</a:t>
            </a:r>
            <a:endParaRPr lang="zh-CN" altLang="en-US" b="1" dirty="0">
              <a:solidFill>
                <a:schemeClr val="tx1"/>
              </a:solidFill>
            </a:endParaRPr>
          </a:p>
        </p:txBody>
      </p:sp>
      <p:cxnSp>
        <p:nvCxnSpPr>
          <p:cNvPr id="63" name="直接连接符 62">
            <a:extLst>
              <a:ext uri="{FF2B5EF4-FFF2-40B4-BE49-F238E27FC236}">
                <a16:creationId xmlns:a16="http://schemas.microsoft.com/office/drawing/2014/main" id="{2CE4B265-13BC-446B-BE28-D6F4B15093ED}"/>
              </a:ext>
            </a:extLst>
          </p:cNvPr>
          <p:cNvCxnSpPr/>
          <p:nvPr/>
        </p:nvCxnSpPr>
        <p:spPr>
          <a:xfrm>
            <a:off x="1271390" y="2779115"/>
            <a:ext cx="0" cy="2494401"/>
          </a:xfrm>
          <a:prstGeom prst="line">
            <a:avLst/>
          </a:prstGeom>
          <a:ln w="50800">
            <a:solidFill>
              <a:schemeClr val="bg1">
                <a:lumMod val="50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矩形 63">
            <a:extLst>
              <a:ext uri="{FF2B5EF4-FFF2-40B4-BE49-F238E27FC236}">
                <a16:creationId xmlns:a16="http://schemas.microsoft.com/office/drawing/2014/main" id="{AD19BEAC-3566-4A11-9032-BE2CA8E9A5DF}"/>
              </a:ext>
            </a:extLst>
          </p:cNvPr>
          <p:cNvSpPr/>
          <p:nvPr/>
        </p:nvSpPr>
        <p:spPr>
          <a:xfrm>
            <a:off x="8521141" y="1846484"/>
            <a:ext cx="3438939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b="1" dirty="0">
                <a:latin typeface="Inconsolata"/>
              </a:rPr>
              <a:t>Find 6</a:t>
            </a:r>
          </a:p>
          <a:p>
            <a:r>
              <a:rPr lang="en-US" altLang="zh-CN" b="1" i="1" dirty="0">
                <a:solidFill>
                  <a:srgbClr val="FF0000"/>
                </a:solidFill>
                <a:latin typeface="Crimson Text"/>
              </a:rPr>
              <a:t>hash</a:t>
            </a:r>
            <a:r>
              <a:rPr lang="en-US" altLang="zh-CN" b="1" i="1" baseline="-25000" dirty="0">
                <a:solidFill>
                  <a:srgbClr val="FF0000"/>
                </a:solidFill>
                <a:latin typeface="Crimson Text"/>
              </a:rPr>
              <a:t>1</a:t>
            </a:r>
            <a:r>
              <a:rPr lang="en-US" altLang="zh-CN" b="1" i="1" dirty="0">
                <a:solidFill>
                  <a:srgbClr val="FF0000"/>
                </a:solidFill>
                <a:latin typeface="Crimson Text"/>
              </a:rPr>
              <a:t>(6) </a:t>
            </a:r>
            <a:r>
              <a:rPr lang="en-US" altLang="zh-CN" b="1" dirty="0">
                <a:solidFill>
                  <a:srgbClr val="FF0000"/>
                </a:solidFill>
                <a:latin typeface="Inconsolata"/>
              </a:rPr>
              <a:t>= 6 % 4 = 2</a:t>
            </a:r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65" name="箭头: 右 64">
            <a:extLst>
              <a:ext uri="{FF2B5EF4-FFF2-40B4-BE49-F238E27FC236}">
                <a16:creationId xmlns:a16="http://schemas.microsoft.com/office/drawing/2014/main" id="{7C995181-E346-4332-A568-6667DF35D931}"/>
              </a:ext>
            </a:extLst>
          </p:cNvPr>
          <p:cNvSpPr/>
          <p:nvPr/>
        </p:nvSpPr>
        <p:spPr>
          <a:xfrm>
            <a:off x="1739674" y="3954912"/>
            <a:ext cx="308113" cy="305815"/>
          </a:xfrm>
          <a:prstGeom prst="right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6" name="矩形: 圆角 65">
            <a:extLst>
              <a:ext uri="{FF2B5EF4-FFF2-40B4-BE49-F238E27FC236}">
                <a16:creationId xmlns:a16="http://schemas.microsoft.com/office/drawing/2014/main" id="{5BA00A9F-42DD-41D4-B71D-317399BB402F}"/>
              </a:ext>
            </a:extLst>
          </p:cNvPr>
          <p:cNvSpPr/>
          <p:nvPr/>
        </p:nvSpPr>
        <p:spPr>
          <a:xfrm>
            <a:off x="3970404" y="4129282"/>
            <a:ext cx="1609896" cy="1101468"/>
          </a:xfrm>
          <a:prstGeom prst="roundRect">
            <a:avLst>
              <a:gd name="adj" fmla="val 5316"/>
            </a:avLst>
          </a:prstGeom>
          <a:solidFill>
            <a:srgbClr val="FF0000">
              <a:alpha val="20000"/>
            </a:srgbClr>
          </a:solidFill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21" name="连接符: 曲线 20">
            <a:extLst>
              <a:ext uri="{FF2B5EF4-FFF2-40B4-BE49-F238E27FC236}">
                <a16:creationId xmlns:a16="http://schemas.microsoft.com/office/drawing/2014/main" id="{D2FAF302-55C1-4264-A1DF-850ADFE39EE3}"/>
              </a:ext>
            </a:extLst>
          </p:cNvPr>
          <p:cNvCxnSpPr>
            <a:cxnSpLocks/>
            <a:stCxn id="49" idx="3"/>
            <a:endCxn id="35" idx="1"/>
          </p:cNvCxnSpPr>
          <p:nvPr/>
        </p:nvCxnSpPr>
        <p:spPr>
          <a:xfrm>
            <a:off x="2594840" y="4437006"/>
            <a:ext cx="1375563" cy="1402553"/>
          </a:xfrm>
          <a:prstGeom prst="curvedConnector3">
            <a:avLst/>
          </a:prstGeom>
          <a:ln w="38100">
            <a:solidFill>
              <a:srgbClr val="FF0000"/>
            </a:solidFill>
            <a:headEnd type="oval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331505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4" grpId="0"/>
      <p:bldP spid="65" grpId="0" animBg="1"/>
      <p:bldP spid="66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9BBCCEF-D42F-420B-9CC2-98A9815DB6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Linear Hashing</a:t>
            </a:r>
            <a:endParaRPr lang="zh-CN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2905825-8EE0-4CF0-A05E-CAFDF944FB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6C665F-3D10-4A7A-B3C9-A017204EC4AD}" type="datetime1">
              <a:rPr lang="zh-CN" altLang="en-US" smtClean="0"/>
              <a:t>2024/5/8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ED664A2-5898-4C25-86F3-E969A94A39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altLang="zh-CN"/>
              <a:t>Hash Indices</a:t>
            </a: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34B9AF0-AA69-4CFE-BBF2-A55EB4555B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5CA875-76FA-4283-B5BE-070B4D16A27E}" type="slidenum">
              <a:rPr lang="zh-CN" altLang="en-US" smtClean="0"/>
              <a:t>27</a:t>
            </a:fld>
            <a:endParaRPr lang="zh-CN" altLang="en-US"/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F7CFF25C-12CE-407F-87E3-81133BE304C8}"/>
              </a:ext>
            </a:extLst>
          </p:cNvPr>
          <p:cNvGrpSpPr/>
          <p:nvPr/>
        </p:nvGrpSpPr>
        <p:grpSpPr>
          <a:xfrm>
            <a:off x="3983229" y="1785539"/>
            <a:ext cx="1597070" cy="1085593"/>
            <a:chOff x="3120764" y="1928099"/>
            <a:chExt cx="1597070" cy="1085593"/>
          </a:xfrm>
        </p:grpSpPr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9DD2C9B2-7A77-41FB-AF7D-A6C280ABA039}"/>
                </a:ext>
              </a:extLst>
            </p:cNvPr>
            <p:cNvSpPr/>
            <p:nvPr/>
          </p:nvSpPr>
          <p:spPr>
            <a:xfrm>
              <a:off x="3120764" y="1928099"/>
              <a:ext cx="1597070" cy="1085593"/>
            </a:xfrm>
            <a:prstGeom prst="rect">
              <a:avLst/>
            </a:prstGeom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矩形 8">
              <a:extLst>
                <a:ext uri="{FF2B5EF4-FFF2-40B4-BE49-F238E27FC236}">
                  <a16:creationId xmlns:a16="http://schemas.microsoft.com/office/drawing/2014/main" id="{0E7DB8D6-3C78-4AF8-9952-BB7500DE45FA}"/>
                </a:ext>
              </a:extLst>
            </p:cNvPr>
            <p:cNvSpPr/>
            <p:nvPr/>
          </p:nvSpPr>
          <p:spPr>
            <a:xfrm>
              <a:off x="3251519" y="2029839"/>
              <a:ext cx="1326466" cy="244586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4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8</a:t>
              </a:r>
              <a:endParaRPr lang="zh-CN" altLang="en-US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" name="矩形 10">
              <a:extLst>
                <a:ext uri="{FF2B5EF4-FFF2-40B4-BE49-F238E27FC236}">
                  <a16:creationId xmlns:a16="http://schemas.microsoft.com/office/drawing/2014/main" id="{A468E8D4-4AE3-479A-99AE-73187116092C}"/>
                </a:ext>
              </a:extLst>
            </p:cNvPr>
            <p:cNvSpPr/>
            <p:nvPr/>
          </p:nvSpPr>
          <p:spPr>
            <a:xfrm>
              <a:off x="3251519" y="2677089"/>
              <a:ext cx="1326466" cy="244586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2" name="矩形 21">
              <a:extLst>
                <a:ext uri="{FF2B5EF4-FFF2-40B4-BE49-F238E27FC236}">
                  <a16:creationId xmlns:a16="http://schemas.microsoft.com/office/drawing/2014/main" id="{9F0A11C6-1E0E-4BA1-A041-8423A80ADE65}"/>
                </a:ext>
              </a:extLst>
            </p:cNvPr>
            <p:cNvSpPr/>
            <p:nvPr/>
          </p:nvSpPr>
          <p:spPr>
            <a:xfrm>
              <a:off x="3251519" y="2353464"/>
              <a:ext cx="1326466" cy="244586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4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20</a:t>
              </a:r>
              <a:endParaRPr lang="zh-CN" altLang="en-US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A8F2B301-0401-4DE0-A790-17FD885726F1}"/>
              </a:ext>
            </a:extLst>
          </p:cNvPr>
          <p:cNvGrpSpPr/>
          <p:nvPr/>
        </p:nvGrpSpPr>
        <p:grpSpPr>
          <a:xfrm>
            <a:off x="3983229" y="2962637"/>
            <a:ext cx="1597070" cy="1085593"/>
            <a:chOff x="3120764" y="1928099"/>
            <a:chExt cx="1597070" cy="1085593"/>
          </a:xfrm>
        </p:grpSpPr>
        <p:sp>
          <p:nvSpPr>
            <p:cNvPr id="25" name="矩形 24">
              <a:extLst>
                <a:ext uri="{FF2B5EF4-FFF2-40B4-BE49-F238E27FC236}">
                  <a16:creationId xmlns:a16="http://schemas.microsoft.com/office/drawing/2014/main" id="{8E64044D-7EE3-4418-9233-70933F0B3FA4}"/>
                </a:ext>
              </a:extLst>
            </p:cNvPr>
            <p:cNvSpPr/>
            <p:nvPr/>
          </p:nvSpPr>
          <p:spPr>
            <a:xfrm>
              <a:off x="3120764" y="1928099"/>
              <a:ext cx="1597070" cy="1085593"/>
            </a:xfrm>
            <a:prstGeom prst="rect">
              <a:avLst/>
            </a:prstGeom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6" name="矩形 25">
              <a:extLst>
                <a:ext uri="{FF2B5EF4-FFF2-40B4-BE49-F238E27FC236}">
                  <a16:creationId xmlns:a16="http://schemas.microsoft.com/office/drawing/2014/main" id="{3B7D9748-8966-4F1E-9D3A-E966B84DF98B}"/>
                </a:ext>
              </a:extLst>
            </p:cNvPr>
            <p:cNvSpPr/>
            <p:nvPr/>
          </p:nvSpPr>
          <p:spPr>
            <a:xfrm>
              <a:off x="3251519" y="2029839"/>
              <a:ext cx="1326466" cy="244586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4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5</a:t>
              </a:r>
              <a:endParaRPr lang="zh-CN" altLang="en-US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7" name="矩形 26">
              <a:extLst>
                <a:ext uri="{FF2B5EF4-FFF2-40B4-BE49-F238E27FC236}">
                  <a16:creationId xmlns:a16="http://schemas.microsoft.com/office/drawing/2014/main" id="{B4FFE470-7A43-4443-8558-3B64C4C75B6C}"/>
                </a:ext>
              </a:extLst>
            </p:cNvPr>
            <p:cNvSpPr/>
            <p:nvPr/>
          </p:nvSpPr>
          <p:spPr>
            <a:xfrm>
              <a:off x="3251519" y="2677089"/>
              <a:ext cx="1326466" cy="244586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4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13</a:t>
              </a:r>
              <a:endParaRPr lang="zh-CN" altLang="en-US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8" name="矩形 27">
              <a:extLst>
                <a:ext uri="{FF2B5EF4-FFF2-40B4-BE49-F238E27FC236}">
                  <a16:creationId xmlns:a16="http://schemas.microsoft.com/office/drawing/2014/main" id="{70C780C4-0F9F-46AB-9B75-A41DBB7C9E83}"/>
                </a:ext>
              </a:extLst>
            </p:cNvPr>
            <p:cNvSpPr/>
            <p:nvPr/>
          </p:nvSpPr>
          <p:spPr>
            <a:xfrm>
              <a:off x="3251519" y="2353464"/>
              <a:ext cx="1326466" cy="244586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4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9</a:t>
              </a:r>
              <a:endParaRPr lang="zh-CN" altLang="en-US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29" name="组合 28">
            <a:extLst>
              <a:ext uri="{FF2B5EF4-FFF2-40B4-BE49-F238E27FC236}">
                <a16:creationId xmlns:a16="http://schemas.microsoft.com/office/drawing/2014/main" id="{AB7D4DA5-6BFF-4B22-92AF-64EEE45E476E}"/>
              </a:ext>
            </a:extLst>
          </p:cNvPr>
          <p:cNvGrpSpPr/>
          <p:nvPr/>
        </p:nvGrpSpPr>
        <p:grpSpPr>
          <a:xfrm>
            <a:off x="3974950" y="4130116"/>
            <a:ext cx="1597070" cy="1085593"/>
            <a:chOff x="3120764" y="1928099"/>
            <a:chExt cx="1597070" cy="1085593"/>
          </a:xfrm>
        </p:grpSpPr>
        <p:sp>
          <p:nvSpPr>
            <p:cNvPr id="30" name="矩形 29">
              <a:extLst>
                <a:ext uri="{FF2B5EF4-FFF2-40B4-BE49-F238E27FC236}">
                  <a16:creationId xmlns:a16="http://schemas.microsoft.com/office/drawing/2014/main" id="{F042259E-C5A9-4C47-A14F-D76DD2163449}"/>
                </a:ext>
              </a:extLst>
            </p:cNvPr>
            <p:cNvSpPr/>
            <p:nvPr/>
          </p:nvSpPr>
          <p:spPr>
            <a:xfrm>
              <a:off x="3120764" y="1928099"/>
              <a:ext cx="1597070" cy="1085593"/>
            </a:xfrm>
            <a:prstGeom prst="rect">
              <a:avLst/>
            </a:prstGeom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1" name="矩形 30">
              <a:extLst>
                <a:ext uri="{FF2B5EF4-FFF2-40B4-BE49-F238E27FC236}">
                  <a16:creationId xmlns:a16="http://schemas.microsoft.com/office/drawing/2014/main" id="{CFE52B74-A3C0-4F33-938A-827402025101}"/>
                </a:ext>
              </a:extLst>
            </p:cNvPr>
            <p:cNvSpPr/>
            <p:nvPr/>
          </p:nvSpPr>
          <p:spPr>
            <a:xfrm>
              <a:off x="3251519" y="2029839"/>
              <a:ext cx="1326466" cy="244586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4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6</a:t>
              </a:r>
              <a:endParaRPr lang="zh-CN" altLang="en-US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2" name="矩形 31">
              <a:extLst>
                <a:ext uri="{FF2B5EF4-FFF2-40B4-BE49-F238E27FC236}">
                  <a16:creationId xmlns:a16="http://schemas.microsoft.com/office/drawing/2014/main" id="{9DE5FE26-28FA-4A6D-ADAE-AA94959430F6}"/>
                </a:ext>
              </a:extLst>
            </p:cNvPr>
            <p:cNvSpPr/>
            <p:nvPr/>
          </p:nvSpPr>
          <p:spPr>
            <a:xfrm>
              <a:off x="3251519" y="2677089"/>
              <a:ext cx="1326466" cy="244586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3" name="矩形 32">
              <a:extLst>
                <a:ext uri="{FF2B5EF4-FFF2-40B4-BE49-F238E27FC236}">
                  <a16:creationId xmlns:a16="http://schemas.microsoft.com/office/drawing/2014/main" id="{F7659D25-0593-45AA-93D9-4B7502D5FE42}"/>
                </a:ext>
              </a:extLst>
            </p:cNvPr>
            <p:cNvSpPr/>
            <p:nvPr/>
          </p:nvSpPr>
          <p:spPr>
            <a:xfrm>
              <a:off x="3251519" y="2353464"/>
              <a:ext cx="1326466" cy="244586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34" name="组合 33">
            <a:extLst>
              <a:ext uri="{FF2B5EF4-FFF2-40B4-BE49-F238E27FC236}">
                <a16:creationId xmlns:a16="http://schemas.microsoft.com/office/drawing/2014/main" id="{EE20B405-6E43-4E87-A925-7A94CE04AC11}"/>
              </a:ext>
            </a:extLst>
          </p:cNvPr>
          <p:cNvGrpSpPr/>
          <p:nvPr/>
        </p:nvGrpSpPr>
        <p:grpSpPr>
          <a:xfrm>
            <a:off x="3970403" y="5296762"/>
            <a:ext cx="1597070" cy="1085593"/>
            <a:chOff x="3120764" y="1928099"/>
            <a:chExt cx="1597070" cy="1085593"/>
          </a:xfrm>
        </p:grpSpPr>
        <p:sp>
          <p:nvSpPr>
            <p:cNvPr id="35" name="矩形 34">
              <a:extLst>
                <a:ext uri="{FF2B5EF4-FFF2-40B4-BE49-F238E27FC236}">
                  <a16:creationId xmlns:a16="http://schemas.microsoft.com/office/drawing/2014/main" id="{1D08EEFC-C1DA-4024-94A2-657D610B6176}"/>
                </a:ext>
              </a:extLst>
            </p:cNvPr>
            <p:cNvSpPr/>
            <p:nvPr/>
          </p:nvSpPr>
          <p:spPr>
            <a:xfrm>
              <a:off x="3120764" y="1928099"/>
              <a:ext cx="1597070" cy="1085593"/>
            </a:xfrm>
            <a:prstGeom prst="rect">
              <a:avLst/>
            </a:prstGeom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6" name="矩形 35">
              <a:extLst>
                <a:ext uri="{FF2B5EF4-FFF2-40B4-BE49-F238E27FC236}">
                  <a16:creationId xmlns:a16="http://schemas.microsoft.com/office/drawing/2014/main" id="{666ABB10-656B-41EE-826D-8D4F4A1E9930}"/>
                </a:ext>
              </a:extLst>
            </p:cNvPr>
            <p:cNvSpPr/>
            <p:nvPr/>
          </p:nvSpPr>
          <p:spPr>
            <a:xfrm>
              <a:off x="3251519" y="2029839"/>
              <a:ext cx="1326466" cy="244586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4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7</a:t>
              </a:r>
              <a:endParaRPr lang="zh-CN" altLang="en-US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7" name="矩形 36">
              <a:extLst>
                <a:ext uri="{FF2B5EF4-FFF2-40B4-BE49-F238E27FC236}">
                  <a16:creationId xmlns:a16="http://schemas.microsoft.com/office/drawing/2014/main" id="{1C592B3C-9CDB-4E94-9586-9983ECFE1E06}"/>
                </a:ext>
              </a:extLst>
            </p:cNvPr>
            <p:cNvSpPr/>
            <p:nvPr/>
          </p:nvSpPr>
          <p:spPr>
            <a:xfrm>
              <a:off x="3251519" y="2677089"/>
              <a:ext cx="1326466" cy="244586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8" name="矩形 37">
              <a:extLst>
                <a:ext uri="{FF2B5EF4-FFF2-40B4-BE49-F238E27FC236}">
                  <a16:creationId xmlns:a16="http://schemas.microsoft.com/office/drawing/2014/main" id="{28A016A7-A959-4D9B-AE3E-CDEF9166E6DD}"/>
                </a:ext>
              </a:extLst>
            </p:cNvPr>
            <p:cNvSpPr/>
            <p:nvPr/>
          </p:nvSpPr>
          <p:spPr>
            <a:xfrm>
              <a:off x="3251519" y="2353464"/>
              <a:ext cx="1326466" cy="244586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4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11</a:t>
              </a:r>
              <a:endParaRPr lang="zh-CN" altLang="en-US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43" name="矩形 42">
            <a:extLst>
              <a:ext uri="{FF2B5EF4-FFF2-40B4-BE49-F238E27FC236}">
                <a16:creationId xmlns:a16="http://schemas.microsoft.com/office/drawing/2014/main" id="{AAB6DA76-BC38-4996-9044-32BD0E4A0295}"/>
              </a:ext>
            </a:extLst>
          </p:cNvPr>
          <p:cNvSpPr/>
          <p:nvPr/>
        </p:nvSpPr>
        <p:spPr>
          <a:xfrm>
            <a:off x="339310" y="5544540"/>
            <a:ext cx="2908151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b="1" i="1" dirty="0">
                <a:solidFill>
                  <a:srgbClr val="FF0000"/>
                </a:solidFill>
                <a:latin typeface="Crimson Text"/>
              </a:rPr>
              <a:t>hash</a:t>
            </a:r>
            <a:r>
              <a:rPr lang="en-US" altLang="zh-CN" sz="2400" b="1" baseline="-25000" dirty="0">
                <a:solidFill>
                  <a:srgbClr val="FF0000"/>
                </a:solidFill>
                <a:latin typeface="Crimson Text"/>
              </a:rPr>
              <a:t>1</a:t>
            </a:r>
            <a:r>
              <a:rPr lang="en-US" altLang="zh-CN" sz="2400" b="1" i="1" dirty="0">
                <a:solidFill>
                  <a:srgbClr val="FF0000"/>
                </a:solidFill>
                <a:latin typeface="Crimson Text"/>
              </a:rPr>
              <a:t>(key) = key % n</a:t>
            </a:r>
            <a:endParaRPr lang="zh-CN" altLang="en-US" sz="2400" dirty="0">
              <a:solidFill>
                <a:srgbClr val="FF0000"/>
              </a:solidFill>
            </a:endParaRPr>
          </a:p>
        </p:txBody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C712B760-4D9B-4F7F-A1B3-575B70ACB14C}"/>
              </a:ext>
            </a:extLst>
          </p:cNvPr>
          <p:cNvSpPr/>
          <p:nvPr/>
        </p:nvSpPr>
        <p:spPr>
          <a:xfrm>
            <a:off x="314038" y="2008672"/>
            <a:ext cx="143454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b="1" i="1" dirty="0">
                <a:solidFill>
                  <a:srgbClr val="FF0000"/>
                </a:solidFill>
                <a:latin typeface="Crimson Text"/>
              </a:rPr>
              <a:t>Split Pointer</a:t>
            </a:r>
            <a:endParaRPr lang="zh-CN" altLang="en-US" dirty="0">
              <a:solidFill>
                <a:srgbClr val="FF0000"/>
              </a:solidFill>
            </a:endParaRPr>
          </a:p>
        </p:txBody>
      </p:sp>
      <p:grpSp>
        <p:nvGrpSpPr>
          <p:cNvPr id="45" name="组合 44">
            <a:extLst>
              <a:ext uri="{FF2B5EF4-FFF2-40B4-BE49-F238E27FC236}">
                <a16:creationId xmlns:a16="http://schemas.microsoft.com/office/drawing/2014/main" id="{232CDEFB-2E87-4A2F-B5CF-8951B8E7D222}"/>
              </a:ext>
            </a:extLst>
          </p:cNvPr>
          <p:cNvGrpSpPr/>
          <p:nvPr/>
        </p:nvGrpSpPr>
        <p:grpSpPr>
          <a:xfrm>
            <a:off x="2115329" y="3215915"/>
            <a:ext cx="479511" cy="1395532"/>
            <a:chOff x="1626762" y="2964260"/>
            <a:chExt cx="479511" cy="1395532"/>
          </a:xfrm>
        </p:grpSpPr>
        <p:sp>
          <p:nvSpPr>
            <p:cNvPr id="46" name="矩形 45">
              <a:extLst>
                <a:ext uri="{FF2B5EF4-FFF2-40B4-BE49-F238E27FC236}">
                  <a16:creationId xmlns:a16="http://schemas.microsoft.com/office/drawing/2014/main" id="{A7CB772C-F832-4EFA-B806-7B5969E6B53B}"/>
                </a:ext>
              </a:extLst>
            </p:cNvPr>
            <p:cNvSpPr/>
            <p:nvPr/>
          </p:nvSpPr>
          <p:spPr>
            <a:xfrm>
              <a:off x="1626762" y="2964260"/>
              <a:ext cx="479511" cy="348883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b="1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0</a:t>
              </a:r>
              <a:endParaRPr lang="zh-CN" altLang="en-US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7" name="矩形 46">
              <a:extLst>
                <a:ext uri="{FF2B5EF4-FFF2-40B4-BE49-F238E27FC236}">
                  <a16:creationId xmlns:a16="http://schemas.microsoft.com/office/drawing/2014/main" id="{CEF3D8FE-BA2F-4BAF-9771-853397C09FEC}"/>
                </a:ext>
              </a:extLst>
            </p:cNvPr>
            <p:cNvSpPr/>
            <p:nvPr/>
          </p:nvSpPr>
          <p:spPr>
            <a:xfrm>
              <a:off x="1626762" y="3313143"/>
              <a:ext cx="479511" cy="348883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b="1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</a:t>
              </a:r>
              <a:endParaRPr lang="zh-CN" altLang="en-US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8" name="矩形 47">
              <a:extLst>
                <a:ext uri="{FF2B5EF4-FFF2-40B4-BE49-F238E27FC236}">
                  <a16:creationId xmlns:a16="http://schemas.microsoft.com/office/drawing/2014/main" id="{937F1EDB-F61B-47F4-A685-18507080A34E}"/>
                </a:ext>
              </a:extLst>
            </p:cNvPr>
            <p:cNvSpPr/>
            <p:nvPr/>
          </p:nvSpPr>
          <p:spPr>
            <a:xfrm>
              <a:off x="1626762" y="3662026"/>
              <a:ext cx="479511" cy="348883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b="1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2</a:t>
              </a:r>
              <a:endParaRPr lang="zh-CN" altLang="en-US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9" name="矩形 48">
              <a:extLst>
                <a:ext uri="{FF2B5EF4-FFF2-40B4-BE49-F238E27FC236}">
                  <a16:creationId xmlns:a16="http://schemas.microsoft.com/office/drawing/2014/main" id="{9217AC55-5718-48DD-9B43-8D9DB0C1F661}"/>
                </a:ext>
              </a:extLst>
            </p:cNvPr>
            <p:cNvSpPr/>
            <p:nvPr/>
          </p:nvSpPr>
          <p:spPr>
            <a:xfrm>
              <a:off x="1626762" y="4010909"/>
              <a:ext cx="479511" cy="348883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b="1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3</a:t>
              </a:r>
              <a:endParaRPr lang="zh-CN" altLang="en-US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cxnSp>
        <p:nvCxnSpPr>
          <p:cNvPr id="56" name="连接符: 曲线 55">
            <a:extLst>
              <a:ext uri="{FF2B5EF4-FFF2-40B4-BE49-F238E27FC236}">
                <a16:creationId xmlns:a16="http://schemas.microsoft.com/office/drawing/2014/main" id="{DE6F5C0A-2E0E-4223-8305-515B09AE8DF0}"/>
              </a:ext>
            </a:extLst>
          </p:cNvPr>
          <p:cNvCxnSpPr>
            <a:cxnSpLocks/>
            <a:stCxn id="48" idx="3"/>
            <a:endCxn id="30" idx="1"/>
          </p:cNvCxnSpPr>
          <p:nvPr/>
        </p:nvCxnSpPr>
        <p:spPr>
          <a:xfrm>
            <a:off x="2594840" y="4088123"/>
            <a:ext cx="1380110" cy="584790"/>
          </a:xfrm>
          <a:prstGeom prst="curvedConnector3">
            <a:avLst/>
          </a:prstGeom>
          <a:ln w="38100">
            <a:solidFill>
              <a:srgbClr val="FF0000"/>
            </a:solidFill>
            <a:headEnd type="oval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连接符: 曲线 18">
            <a:extLst>
              <a:ext uri="{FF2B5EF4-FFF2-40B4-BE49-F238E27FC236}">
                <a16:creationId xmlns:a16="http://schemas.microsoft.com/office/drawing/2014/main" id="{3E14C3CE-1F6A-461E-86A3-7B85608221F8}"/>
              </a:ext>
            </a:extLst>
          </p:cNvPr>
          <p:cNvCxnSpPr>
            <a:cxnSpLocks/>
            <a:stCxn id="46" idx="3"/>
            <a:endCxn id="7" idx="1"/>
          </p:cNvCxnSpPr>
          <p:nvPr/>
        </p:nvCxnSpPr>
        <p:spPr>
          <a:xfrm flipV="1">
            <a:off x="2594840" y="2328336"/>
            <a:ext cx="1388389" cy="1062021"/>
          </a:xfrm>
          <a:prstGeom prst="curvedConnector3">
            <a:avLst>
              <a:gd name="adj1" fmla="val 50000"/>
            </a:avLst>
          </a:prstGeom>
          <a:ln w="38100">
            <a:solidFill>
              <a:srgbClr val="FF0000"/>
            </a:solidFill>
            <a:headEnd type="oval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连接符: 曲线 19">
            <a:extLst>
              <a:ext uri="{FF2B5EF4-FFF2-40B4-BE49-F238E27FC236}">
                <a16:creationId xmlns:a16="http://schemas.microsoft.com/office/drawing/2014/main" id="{CA527AE1-C3F0-4E3A-A9ED-54A861CBF67D}"/>
              </a:ext>
            </a:extLst>
          </p:cNvPr>
          <p:cNvCxnSpPr>
            <a:cxnSpLocks/>
            <a:stCxn id="47" idx="3"/>
            <a:endCxn id="25" idx="1"/>
          </p:cNvCxnSpPr>
          <p:nvPr/>
        </p:nvCxnSpPr>
        <p:spPr>
          <a:xfrm flipV="1">
            <a:off x="2594840" y="3505434"/>
            <a:ext cx="1388389" cy="233806"/>
          </a:xfrm>
          <a:prstGeom prst="curvedConnector3">
            <a:avLst>
              <a:gd name="adj1" fmla="val 50000"/>
            </a:avLst>
          </a:prstGeom>
          <a:ln w="38100">
            <a:solidFill>
              <a:srgbClr val="FF0000"/>
            </a:solidFill>
            <a:headEnd type="oval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矩形 63">
            <a:extLst>
              <a:ext uri="{FF2B5EF4-FFF2-40B4-BE49-F238E27FC236}">
                <a16:creationId xmlns:a16="http://schemas.microsoft.com/office/drawing/2014/main" id="{AD19BEAC-3566-4A11-9032-BE2CA8E9A5DF}"/>
              </a:ext>
            </a:extLst>
          </p:cNvPr>
          <p:cNvSpPr/>
          <p:nvPr/>
        </p:nvSpPr>
        <p:spPr>
          <a:xfrm>
            <a:off x="8521141" y="1846484"/>
            <a:ext cx="3187155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b="1" dirty="0">
                <a:latin typeface="Inconsolata"/>
              </a:rPr>
              <a:t>Find 6</a:t>
            </a:r>
          </a:p>
          <a:p>
            <a:r>
              <a:rPr lang="en-US" altLang="zh-CN" b="1" i="1" dirty="0">
                <a:solidFill>
                  <a:srgbClr val="FF0000"/>
                </a:solidFill>
                <a:latin typeface="Crimson Text"/>
              </a:rPr>
              <a:t>hash</a:t>
            </a:r>
            <a:r>
              <a:rPr lang="en-US" altLang="zh-CN" b="1" i="1" baseline="-25000" dirty="0">
                <a:solidFill>
                  <a:srgbClr val="FF0000"/>
                </a:solidFill>
                <a:latin typeface="Crimson Text"/>
              </a:rPr>
              <a:t>1</a:t>
            </a:r>
            <a:r>
              <a:rPr lang="en-US" altLang="zh-CN" b="1" i="1" dirty="0">
                <a:solidFill>
                  <a:srgbClr val="FF0000"/>
                </a:solidFill>
                <a:latin typeface="Crimson Text"/>
              </a:rPr>
              <a:t>(6) </a:t>
            </a:r>
            <a:r>
              <a:rPr lang="en-US" altLang="zh-CN" b="1" dirty="0">
                <a:solidFill>
                  <a:srgbClr val="FF0000"/>
                </a:solidFill>
                <a:latin typeface="Inconsolata"/>
              </a:rPr>
              <a:t>= 6 % 4 = 2</a:t>
            </a:r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65" name="箭头: 右 64">
            <a:extLst>
              <a:ext uri="{FF2B5EF4-FFF2-40B4-BE49-F238E27FC236}">
                <a16:creationId xmlns:a16="http://schemas.microsoft.com/office/drawing/2014/main" id="{7C995181-E346-4332-A568-6667DF35D931}"/>
              </a:ext>
            </a:extLst>
          </p:cNvPr>
          <p:cNvSpPr/>
          <p:nvPr/>
        </p:nvSpPr>
        <p:spPr>
          <a:xfrm>
            <a:off x="1739674" y="3557352"/>
            <a:ext cx="308113" cy="305815"/>
          </a:xfrm>
          <a:prstGeom prst="right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6" name="矩形: 圆角 65">
            <a:extLst>
              <a:ext uri="{FF2B5EF4-FFF2-40B4-BE49-F238E27FC236}">
                <a16:creationId xmlns:a16="http://schemas.microsoft.com/office/drawing/2014/main" id="{5BA00A9F-42DD-41D4-B71D-317399BB402F}"/>
              </a:ext>
            </a:extLst>
          </p:cNvPr>
          <p:cNvSpPr/>
          <p:nvPr/>
        </p:nvSpPr>
        <p:spPr>
          <a:xfrm>
            <a:off x="3976816" y="2967069"/>
            <a:ext cx="1609896" cy="1101468"/>
          </a:xfrm>
          <a:prstGeom prst="roundRect">
            <a:avLst>
              <a:gd name="adj" fmla="val 5316"/>
            </a:avLst>
          </a:prstGeom>
          <a:solidFill>
            <a:srgbClr val="FF0000">
              <a:alpha val="20000"/>
            </a:srgbClr>
          </a:solidFill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A732BD68-CE20-4E0C-936D-913770028261}"/>
              </a:ext>
            </a:extLst>
          </p:cNvPr>
          <p:cNvSpPr/>
          <p:nvPr/>
        </p:nvSpPr>
        <p:spPr>
          <a:xfrm>
            <a:off x="8521142" y="2755775"/>
            <a:ext cx="312752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b="1" dirty="0">
                <a:latin typeface="Inconsolata"/>
              </a:rPr>
              <a:t>Insert 17</a:t>
            </a:r>
          </a:p>
          <a:p>
            <a:r>
              <a:rPr lang="en-US" altLang="zh-CN" b="1" i="1" dirty="0">
                <a:solidFill>
                  <a:srgbClr val="FF0000"/>
                </a:solidFill>
                <a:latin typeface="Crimson Text"/>
              </a:rPr>
              <a:t>hash</a:t>
            </a:r>
            <a:r>
              <a:rPr lang="en-US" altLang="zh-CN" b="1" i="1" baseline="-25000" dirty="0">
                <a:solidFill>
                  <a:srgbClr val="FF0000"/>
                </a:solidFill>
                <a:latin typeface="Crimson Text"/>
              </a:rPr>
              <a:t>1</a:t>
            </a:r>
            <a:r>
              <a:rPr lang="en-US" altLang="zh-CN" b="1" i="1" dirty="0">
                <a:solidFill>
                  <a:srgbClr val="FF0000"/>
                </a:solidFill>
                <a:latin typeface="Crimson Text"/>
              </a:rPr>
              <a:t>(17) = 17 % 4 = 1</a:t>
            </a:r>
            <a:endParaRPr lang="zh-CN" altLang="en-US" b="1" i="1" dirty="0">
              <a:solidFill>
                <a:srgbClr val="FF0000"/>
              </a:solidFill>
              <a:latin typeface="Crimson Text"/>
            </a:endParaRPr>
          </a:p>
        </p:txBody>
      </p:sp>
      <p:grpSp>
        <p:nvGrpSpPr>
          <p:cNvPr id="50" name="组合 49">
            <a:extLst>
              <a:ext uri="{FF2B5EF4-FFF2-40B4-BE49-F238E27FC236}">
                <a16:creationId xmlns:a16="http://schemas.microsoft.com/office/drawing/2014/main" id="{4C9C8D87-8447-4926-A309-E35D4DD5BAFA}"/>
              </a:ext>
            </a:extLst>
          </p:cNvPr>
          <p:cNvGrpSpPr/>
          <p:nvPr/>
        </p:nvGrpSpPr>
        <p:grpSpPr>
          <a:xfrm>
            <a:off x="6182979" y="2959928"/>
            <a:ext cx="1597070" cy="1085593"/>
            <a:chOff x="3120764" y="1928099"/>
            <a:chExt cx="1597070" cy="1085593"/>
          </a:xfrm>
        </p:grpSpPr>
        <p:sp>
          <p:nvSpPr>
            <p:cNvPr id="51" name="矩形 50">
              <a:extLst>
                <a:ext uri="{FF2B5EF4-FFF2-40B4-BE49-F238E27FC236}">
                  <a16:creationId xmlns:a16="http://schemas.microsoft.com/office/drawing/2014/main" id="{C3EEB18C-9CC9-4B71-8154-222C8805C8EA}"/>
                </a:ext>
              </a:extLst>
            </p:cNvPr>
            <p:cNvSpPr/>
            <p:nvPr/>
          </p:nvSpPr>
          <p:spPr>
            <a:xfrm>
              <a:off x="3120764" y="1928099"/>
              <a:ext cx="1597070" cy="1085593"/>
            </a:xfrm>
            <a:prstGeom prst="rect">
              <a:avLst/>
            </a:prstGeom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2" name="矩形 51">
              <a:extLst>
                <a:ext uri="{FF2B5EF4-FFF2-40B4-BE49-F238E27FC236}">
                  <a16:creationId xmlns:a16="http://schemas.microsoft.com/office/drawing/2014/main" id="{A8716EAC-7DC5-4561-8933-20770D1A59E1}"/>
                </a:ext>
              </a:extLst>
            </p:cNvPr>
            <p:cNvSpPr/>
            <p:nvPr/>
          </p:nvSpPr>
          <p:spPr>
            <a:xfrm>
              <a:off x="3251519" y="2029839"/>
              <a:ext cx="1326466" cy="244586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400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17</a:t>
              </a:r>
              <a:endParaRPr lang="zh-CN" altLang="en-US" sz="1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3" name="矩形 52">
              <a:extLst>
                <a:ext uri="{FF2B5EF4-FFF2-40B4-BE49-F238E27FC236}">
                  <a16:creationId xmlns:a16="http://schemas.microsoft.com/office/drawing/2014/main" id="{3A00454B-CEE6-476B-A956-51D655260146}"/>
                </a:ext>
              </a:extLst>
            </p:cNvPr>
            <p:cNvSpPr/>
            <p:nvPr/>
          </p:nvSpPr>
          <p:spPr>
            <a:xfrm>
              <a:off x="3251519" y="2677089"/>
              <a:ext cx="1326466" cy="244586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4" name="矩形 53">
              <a:extLst>
                <a:ext uri="{FF2B5EF4-FFF2-40B4-BE49-F238E27FC236}">
                  <a16:creationId xmlns:a16="http://schemas.microsoft.com/office/drawing/2014/main" id="{7B71EF36-D0AB-4E27-BCDA-B47DA16CEDA3}"/>
                </a:ext>
              </a:extLst>
            </p:cNvPr>
            <p:cNvSpPr/>
            <p:nvPr/>
          </p:nvSpPr>
          <p:spPr>
            <a:xfrm>
              <a:off x="3251519" y="2353464"/>
              <a:ext cx="1326466" cy="244586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cxnSp>
        <p:nvCxnSpPr>
          <p:cNvPr id="55" name="连接符: 曲线 54">
            <a:extLst>
              <a:ext uri="{FF2B5EF4-FFF2-40B4-BE49-F238E27FC236}">
                <a16:creationId xmlns:a16="http://schemas.microsoft.com/office/drawing/2014/main" id="{4ACC862F-3265-4490-A92E-B3D91350F288}"/>
              </a:ext>
            </a:extLst>
          </p:cNvPr>
          <p:cNvCxnSpPr>
            <a:cxnSpLocks/>
            <a:stCxn id="25" idx="3"/>
            <a:endCxn id="51" idx="1"/>
          </p:cNvCxnSpPr>
          <p:nvPr/>
        </p:nvCxnSpPr>
        <p:spPr>
          <a:xfrm flipV="1">
            <a:off x="5580299" y="3502725"/>
            <a:ext cx="602680" cy="2709"/>
          </a:xfrm>
          <a:prstGeom prst="curvedConnector3">
            <a:avLst>
              <a:gd name="adj1" fmla="val 50000"/>
            </a:avLst>
          </a:prstGeom>
          <a:ln w="38100">
            <a:solidFill>
              <a:srgbClr val="FF0000"/>
            </a:solidFill>
            <a:headEnd type="oval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矩形: 圆角 56">
            <a:extLst>
              <a:ext uri="{FF2B5EF4-FFF2-40B4-BE49-F238E27FC236}">
                <a16:creationId xmlns:a16="http://schemas.microsoft.com/office/drawing/2014/main" id="{8DF016A9-9D32-42E1-B3B9-51F7A63FB0B4}"/>
              </a:ext>
            </a:extLst>
          </p:cNvPr>
          <p:cNvSpPr/>
          <p:nvPr/>
        </p:nvSpPr>
        <p:spPr>
          <a:xfrm>
            <a:off x="6189392" y="2944515"/>
            <a:ext cx="1609896" cy="1101468"/>
          </a:xfrm>
          <a:prstGeom prst="roundRect">
            <a:avLst>
              <a:gd name="adj" fmla="val 5316"/>
            </a:avLst>
          </a:prstGeom>
          <a:solidFill>
            <a:srgbClr val="FF0000">
              <a:alpha val="20000"/>
            </a:srgbClr>
          </a:solidFill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38EEA0AE-2D72-434C-9807-7EFBD8FE9A4F}"/>
              </a:ext>
            </a:extLst>
          </p:cNvPr>
          <p:cNvSpPr/>
          <p:nvPr/>
        </p:nvSpPr>
        <p:spPr>
          <a:xfrm>
            <a:off x="6432942" y="4092188"/>
            <a:ext cx="112279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b="1" i="1" dirty="0">
                <a:solidFill>
                  <a:srgbClr val="FF0000"/>
                </a:solidFill>
                <a:latin typeface="Museo Sans"/>
              </a:rPr>
              <a:t>Overflow!</a:t>
            </a:r>
            <a:endParaRPr lang="zh-CN" altLang="en-US" b="1" dirty="0">
              <a:solidFill>
                <a:srgbClr val="FF0000"/>
              </a:solidFill>
            </a:endParaRPr>
          </a:p>
        </p:txBody>
      </p:sp>
      <p:cxnSp>
        <p:nvCxnSpPr>
          <p:cNvPr id="21" name="连接符: 曲线 20">
            <a:extLst>
              <a:ext uri="{FF2B5EF4-FFF2-40B4-BE49-F238E27FC236}">
                <a16:creationId xmlns:a16="http://schemas.microsoft.com/office/drawing/2014/main" id="{D2FAF302-55C1-4264-A1DF-850ADFE39EE3}"/>
              </a:ext>
            </a:extLst>
          </p:cNvPr>
          <p:cNvCxnSpPr>
            <a:cxnSpLocks/>
            <a:stCxn id="49" idx="3"/>
            <a:endCxn id="35" idx="1"/>
          </p:cNvCxnSpPr>
          <p:nvPr/>
        </p:nvCxnSpPr>
        <p:spPr>
          <a:xfrm>
            <a:off x="2594840" y="4437006"/>
            <a:ext cx="1375563" cy="1402553"/>
          </a:xfrm>
          <a:prstGeom prst="curvedConnector3">
            <a:avLst/>
          </a:prstGeom>
          <a:ln w="38100">
            <a:solidFill>
              <a:srgbClr val="FF0000"/>
            </a:solidFill>
            <a:headEnd type="oval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箭头: 右 57">
            <a:extLst>
              <a:ext uri="{FF2B5EF4-FFF2-40B4-BE49-F238E27FC236}">
                <a16:creationId xmlns:a16="http://schemas.microsoft.com/office/drawing/2014/main" id="{476DACC6-28F4-49CB-89E9-49291AE4391A}"/>
              </a:ext>
            </a:extLst>
          </p:cNvPr>
          <p:cNvSpPr/>
          <p:nvPr/>
        </p:nvSpPr>
        <p:spPr>
          <a:xfrm>
            <a:off x="624763" y="3181524"/>
            <a:ext cx="447001" cy="482725"/>
          </a:xfrm>
          <a:prstGeom prst="rightArrow">
            <a:avLst/>
          </a:prstGeom>
          <a:solidFill>
            <a:schemeClr val="bg1">
              <a:lumMod val="5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solidFill>
                  <a:schemeClr val="tx1"/>
                </a:solidFill>
              </a:rPr>
              <a:t>0</a:t>
            </a:r>
            <a:endParaRPr lang="zh-CN" altLang="en-US" b="1" dirty="0">
              <a:solidFill>
                <a:schemeClr val="tx1"/>
              </a:solidFill>
            </a:endParaRPr>
          </a:p>
        </p:txBody>
      </p:sp>
      <p:cxnSp>
        <p:nvCxnSpPr>
          <p:cNvPr id="59" name="直接连接符 58">
            <a:extLst>
              <a:ext uri="{FF2B5EF4-FFF2-40B4-BE49-F238E27FC236}">
                <a16:creationId xmlns:a16="http://schemas.microsoft.com/office/drawing/2014/main" id="{3113E281-0F91-4D96-BA1B-9D1F2042BD44}"/>
              </a:ext>
            </a:extLst>
          </p:cNvPr>
          <p:cNvCxnSpPr/>
          <p:nvPr/>
        </p:nvCxnSpPr>
        <p:spPr>
          <a:xfrm>
            <a:off x="1271390" y="2779115"/>
            <a:ext cx="0" cy="2494401"/>
          </a:xfrm>
          <a:prstGeom prst="line">
            <a:avLst/>
          </a:prstGeom>
          <a:ln w="50800">
            <a:solidFill>
              <a:schemeClr val="bg1">
                <a:lumMod val="50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556592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5" grpId="0" animBg="1"/>
      <p:bldP spid="66" grpId="0" animBg="1"/>
      <p:bldP spid="57" grpId="0" animBg="1"/>
      <p:bldP spid="12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9BBCCEF-D42F-420B-9CC2-98A9815DB6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Linear Hashing</a:t>
            </a:r>
            <a:endParaRPr lang="zh-CN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2905825-8EE0-4CF0-A05E-CAFDF944FB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8BDBE2-A590-4493-BA01-E61F95CE4B34}" type="datetime1">
              <a:rPr lang="zh-CN" altLang="en-US" smtClean="0"/>
              <a:t>2024/5/8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ED664A2-5898-4C25-86F3-E969A94A39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altLang="zh-CN"/>
              <a:t>Hash Indices</a:t>
            </a: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34B9AF0-AA69-4CFE-BBF2-A55EB4555B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5CA875-76FA-4283-B5BE-070B4D16A27E}" type="slidenum">
              <a:rPr lang="zh-CN" altLang="en-US" smtClean="0"/>
              <a:t>28</a:t>
            </a:fld>
            <a:endParaRPr lang="zh-CN" altLang="en-US"/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F7CFF25C-12CE-407F-87E3-81133BE304C8}"/>
              </a:ext>
            </a:extLst>
          </p:cNvPr>
          <p:cNvGrpSpPr/>
          <p:nvPr/>
        </p:nvGrpSpPr>
        <p:grpSpPr>
          <a:xfrm>
            <a:off x="3983229" y="1785539"/>
            <a:ext cx="1597070" cy="1085593"/>
            <a:chOff x="3120764" y="1928099"/>
            <a:chExt cx="1597070" cy="1085593"/>
          </a:xfrm>
        </p:grpSpPr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9DD2C9B2-7A77-41FB-AF7D-A6C280ABA039}"/>
                </a:ext>
              </a:extLst>
            </p:cNvPr>
            <p:cNvSpPr/>
            <p:nvPr/>
          </p:nvSpPr>
          <p:spPr>
            <a:xfrm>
              <a:off x="3120764" y="1928099"/>
              <a:ext cx="1597070" cy="1085593"/>
            </a:xfrm>
            <a:prstGeom prst="rect">
              <a:avLst/>
            </a:prstGeom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矩形 8">
              <a:extLst>
                <a:ext uri="{FF2B5EF4-FFF2-40B4-BE49-F238E27FC236}">
                  <a16:creationId xmlns:a16="http://schemas.microsoft.com/office/drawing/2014/main" id="{0E7DB8D6-3C78-4AF8-9952-BB7500DE45FA}"/>
                </a:ext>
              </a:extLst>
            </p:cNvPr>
            <p:cNvSpPr/>
            <p:nvPr/>
          </p:nvSpPr>
          <p:spPr>
            <a:xfrm>
              <a:off x="3251519" y="2029839"/>
              <a:ext cx="1326466" cy="244586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4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8</a:t>
              </a:r>
              <a:endParaRPr lang="zh-CN" altLang="en-US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" name="矩形 10">
              <a:extLst>
                <a:ext uri="{FF2B5EF4-FFF2-40B4-BE49-F238E27FC236}">
                  <a16:creationId xmlns:a16="http://schemas.microsoft.com/office/drawing/2014/main" id="{A468E8D4-4AE3-479A-99AE-73187116092C}"/>
                </a:ext>
              </a:extLst>
            </p:cNvPr>
            <p:cNvSpPr/>
            <p:nvPr/>
          </p:nvSpPr>
          <p:spPr>
            <a:xfrm>
              <a:off x="3251519" y="2677089"/>
              <a:ext cx="1326466" cy="244586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2" name="矩形 21">
              <a:extLst>
                <a:ext uri="{FF2B5EF4-FFF2-40B4-BE49-F238E27FC236}">
                  <a16:creationId xmlns:a16="http://schemas.microsoft.com/office/drawing/2014/main" id="{9F0A11C6-1E0E-4BA1-A041-8423A80ADE65}"/>
                </a:ext>
              </a:extLst>
            </p:cNvPr>
            <p:cNvSpPr/>
            <p:nvPr/>
          </p:nvSpPr>
          <p:spPr>
            <a:xfrm>
              <a:off x="3251519" y="2353464"/>
              <a:ext cx="1326466" cy="244586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4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20</a:t>
              </a:r>
              <a:endParaRPr lang="zh-CN" altLang="en-US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A8F2B301-0401-4DE0-A790-17FD885726F1}"/>
              </a:ext>
            </a:extLst>
          </p:cNvPr>
          <p:cNvGrpSpPr/>
          <p:nvPr/>
        </p:nvGrpSpPr>
        <p:grpSpPr>
          <a:xfrm>
            <a:off x="3983229" y="2962637"/>
            <a:ext cx="1597070" cy="1085593"/>
            <a:chOff x="3120764" y="1928099"/>
            <a:chExt cx="1597070" cy="1085593"/>
          </a:xfrm>
        </p:grpSpPr>
        <p:sp>
          <p:nvSpPr>
            <p:cNvPr id="25" name="矩形 24">
              <a:extLst>
                <a:ext uri="{FF2B5EF4-FFF2-40B4-BE49-F238E27FC236}">
                  <a16:creationId xmlns:a16="http://schemas.microsoft.com/office/drawing/2014/main" id="{8E64044D-7EE3-4418-9233-70933F0B3FA4}"/>
                </a:ext>
              </a:extLst>
            </p:cNvPr>
            <p:cNvSpPr/>
            <p:nvPr/>
          </p:nvSpPr>
          <p:spPr>
            <a:xfrm>
              <a:off x="3120764" y="1928099"/>
              <a:ext cx="1597070" cy="1085593"/>
            </a:xfrm>
            <a:prstGeom prst="rect">
              <a:avLst/>
            </a:prstGeom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6" name="矩形 25">
              <a:extLst>
                <a:ext uri="{FF2B5EF4-FFF2-40B4-BE49-F238E27FC236}">
                  <a16:creationId xmlns:a16="http://schemas.microsoft.com/office/drawing/2014/main" id="{3B7D9748-8966-4F1E-9D3A-E966B84DF98B}"/>
                </a:ext>
              </a:extLst>
            </p:cNvPr>
            <p:cNvSpPr/>
            <p:nvPr/>
          </p:nvSpPr>
          <p:spPr>
            <a:xfrm>
              <a:off x="3251519" y="2029839"/>
              <a:ext cx="1326466" cy="244586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4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5</a:t>
              </a:r>
              <a:endParaRPr lang="zh-CN" altLang="en-US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7" name="矩形 26">
              <a:extLst>
                <a:ext uri="{FF2B5EF4-FFF2-40B4-BE49-F238E27FC236}">
                  <a16:creationId xmlns:a16="http://schemas.microsoft.com/office/drawing/2014/main" id="{B4FFE470-7A43-4443-8558-3B64C4C75B6C}"/>
                </a:ext>
              </a:extLst>
            </p:cNvPr>
            <p:cNvSpPr/>
            <p:nvPr/>
          </p:nvSpPr>
          <p:spPr>
            <a:xfrm>
              <a:off x="3251519" y="2677089"/>
              <a:ext cx="1326466" cy="244586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4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13</a:t>
              </a:r>
              <a:endParaRPr lang="zh-CN" altLang="en-US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8" name="矩形 27">
              <a:extLst>
                <a:ext uri="{FF2B5EF4-FFF2-40B4-BE49-F238E27FC236}">
                  <a16:creationId xmlns:a16="http://schemas.microsoft.com/office/drawing/2014/main" id="{70C780C4-0F9F-46AB-9B75-A41DBB7C9E83}"/>
                </a:ext>
              </a:extLst>
            </p:cNvPr>
            <p:cNvSpPr/>
            <p:nvPr/>
          </p:nvSpPr>
          <p:spPr>
            <a:xfrm>
              <a:off x="3251519" y="2353464"/>
              <a:ext cx="1326466" cy="244586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4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9</a:t>
              </a:r>
              <a:endParaRPr lang="zh-CN" altLang="en-US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29" name="组合 28">
            <a:extLst>
              <a:ext uri="{FF2B5EF4-FFF2-40B4-BE49-F238E27FC236}">
                <a16:creationId xmlns:a16="http://schemas.microsoft.com/office/drawing/2014/main" id="{AB7D4DA5-6BFF-4B22-92AF-64EEE45E476E}"/>
              </a:ext>
            </a:extLst>
          </p:cNvPr>
          <p:cNvGrpSpPr/>
          <p:nvPr/>
        </p:nvGrpSpPr>
        <p:grpSpPr>
          <a:xfrm>
            <a:off x="3974950" y="4130116"/>
            <a:ext cx="1597070" cy="1085593"/>
            <a:chOff x="3120764" y="1928099"/>
            <a:chExt cx="1597070" cy="1085593"/>
          </a:xfrm>
        </p:grpSpPr>
        <p:sp>
          <p:nvSpPr>
            <p:cNvPr id="30" name="矩形 29">
              <a:extLst>
                <a:ext uri="{FF2B5EF4-FFF2-40B4-BE49-F238E27FC236}">
                  <a16:creationId xmlns:a16="http://schemas.microsoft.com/office/drawing/2014/main" id="{F042259E-C5A9-4C47-A14F-D76DD2163449}"/>
                </a:ext>
              </a:extLst>
            </p:cNvPr>
            <p:cNvSpPr/>
            <p:nvPr/>
          </p:nvSpPr>
          <p:spPr>
            <a:xfrm>
              <a:off x="3120764" y="1928099"/>
              <a:ext cx="1597070" cy="1085593"/>
            </a:xfrm>
            <a:prstGeom prst="rect">
              <a:avLst/>
            </a:prstGeom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1" name="矩形 30">
              <a:extLst>
                <a:ext uri="{FF2B5EF4-FFF2-40B4-BE49-F238E27FC236}">
                  <a16:creationId xmlns:a16="http://schemas.microsoft.com/office/drawing/2014/main" id="{CFE52B74-A3C0-4F33-938A-827402025101}"/>
                </a:ext>
              </a:extLst>
            </p:cNvPr>
            <p:cNvSpPr/>
            <p:nvPr/>
          </p:nvSpPr>
          <p:spPr>
            <a:xfrm>
              <a:off x="3251519" y="2029839"/>
              <a:ext cx="1326466" cy="244586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4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6</a:t>
              </a:r>
              <a:endParaRPr lang="zh-CN" altLang="en-US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2" name="矩形 31">
              <a:extLst>
                <a:ext uri="{FF2B5EF4-FFF2-40B4-BE49-F238E27FC236}">
                  <a16:creationId xmlns:a16="http://schemas.microsoft.com/office/drawing/2014/main" id="{9DE5FE26-28FA-4A6D-ADAE-AA94959430F6}"/>
                </a:ext>
              </a:extLst>
            </p:cNvPr>
            <p:cNvSpPr/>
            <p:nvPr/>
          </p:nvSpPr>
          <p:spPr>
            <a:xfrm>
              <a:off x="3251519" y="2677089"/>
              <a:ext cx="1326466" cy="244586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3" name="矩形 32">
              <a:extLst>
                <a:ext uri="{FF2B5EF4-FFF2-40B4-BE49-F238E27FC236}">
                  <a16:creationId xmlns:a16="http://schemas.microsoft.com/office/drawing/2014/main" id="{F7659D25-0593-45AA-93D9-4B7502D5FE42}"/>
                </a:ext>
              </a:extLst>
            </p:cNvPr>
            <p:cNvSpPr/>
            <p:nvPr/>
          </p:nvSpPr>
          <p:spPr>
            <a:xfrm>
              <a:off x="3251519" y="2353464"/>
              <a:ext cx="1326466" cy="244586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34" name="组合 33">
            <a:extLst>
              <a:ext uri="{FF2B5EF4-FFF2-40B4-BE49-F238E27FC236}">
                <a16:creationId xmlns:a16="http://schemas.microsoft.com/office/drawing/2014/main" id="{EE20B405-6E43-4E87-A925-7A94CE04AC11}"/>
              </a:ext>
            </a:extLst>
          </p:cNvPr>
          <p:cNvGrpSpPr/>
          <p:nvPr/>
        </p:nvGrpSpPr>
        <p:grpSpPr>
          <a:xfrm>
            <a:off x="3970403" y="5296762"/>
            <a:ext cx="1597070" cy="1085593"/>
            <a:chOff x="3120764" y="1928099"/>
            <a:chExt cx="1597070" cy="1085593"/>
          </a:xfrm>
        </p:grpSpPr>
        <p:sp>
          <p:nvSpPr>
            <p:cNvPr id="35" name="矩形 34">
              <a:extLst>
                <a:ext uri="{FF2B5EF4-FFF2-40B4-BE49-F238E27FC236}">
                  <a16:creationId xmlns:a16="http://schemas.microsoft.com/office/drawing/2014/main" id="{1D08EEFC-C1DA-4024-94A2-657D610B6176}"/>
                </a:ext>
              </a:extLst>
            </p:cNvPr>
            <p:cNvSpPr/>
            <p:nvPr/>
          </p:nvSpPr>
          <p:spPr>
            <a:xfrm>
              <a:off x="3120764" y="1928099"/>
              <a:ext cx="1597070" cy="1085593"/>
            </a:xfrm>
            <a:prstGeom prst="rect">
              <a:avLst/>
            </a:prstGeom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6" name="矩形 35">
              <a:extLst>
                <a:ext uri="{FF2B5EF4-FFF2-40B4-BE49-F238E27FC236}">
                  <a16:creationId xmlns:a16="http://schemas.microsoft.com/office/drawing/2014/main" id="{666ABB10-656B-41EE-826D-8D4F4A1E9930}"/>
                </a:ext>
              </a:extLst>
            </p:cNvPr>
            <p:cNvSpPr/>
            <p:nvPr/>
          </p:nvSpPr>
          <p:spPr>
            <a:xfrm>
              <a:off x="3251519" y="2029839"/>
              <a:ext cx="1326466" cy="244586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4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7</a:t>
              </a:r>
              <a:endParaRPr lang="zh-CN" altLang="en-US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7" name="矩形 36">
              <a:extLst>
                <a:ext uri="{FF2B5EF4-FFF2-40B4-BE49-F238E27FC236}">
                  <a16:creationId xmlns:a16="http://schemas.microsoft.com/office/drawing/2014/main" id="{1C592B3C-9CDB-4E94-9586-9983ECFE1E06}"/>
                </a:ext>
              </a:extLst>
            </p:cNvPr>
            <p:cNvSpPr/>
            <p:nvPr/>
          </p:nvSpPr>
          <p:spPr>
            <a:xfrm>
              <a:off x="3251519" y="2677089"/>
              <a:ext cx="1326466" cy="244586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8" name="矩形 37">
              <a:extLst>
                <a:ext uri="{FF2B5EF4-FFF2-40B4-BE49-F238E27FC236}">
                  <a16:creationId xmlns:a16="http://schemas.microsoft.com/office/drawing/2014/main" id="{28A016A7-A959-4D9B-AE3E-CDEF9166E6DD}"/>
                </a:ext>
              </a:extLst>
            </p:cNvPr>
            <p:cNvSpPr/>
            <p:nvPr/>
          </p:nvSpPr>
          <p:spPr>
            <a:xfrm>
              <a:off x="3251519" y="2353464"/>
              <a:ext cx="1326466" cy="244586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4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11</a:t>
              </a:r>
              <a:endParaRPr lang="zh-CN" altLang="en-US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43" name="矩形 42">
            <a:extLst>
              <a:ext uri="{FF2B5EF4-FFF2-40B4-BE49-F238E27FC236}">
                <a16:creationId xmlns:a16="http://schemas.microsoft.com/office/drawing/2014/main" id="{AAB6DA76-BC38-4996-9044-32BD0E4A0295}"/>
              </a:ext>
            </a:extLst>
          </p:cNvPr>
          <p:cNvSpPr/>
          <p:nvPr/>
        </p:nvSpPr>
        <p:spPr>
          <a:xfrm>
            <a:off x="339310" y="5544540"/>
            <a:ext cx="2908151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b="1" i="1" dirty="0">
                <a:solidFill>
                  <a:srgbClr val="FF0000"/>
                </a:solidFill>
                <a:latin typeface="Crimson Text"/>
              </a:rPr>
              <a:t>hash</a:t>
            </a:r>
            <a:r>
              <a:rPr lang="en-US" altLang="zh-CN" sz="2400" b="1" baseline="-25000" dirty="0">
                <a:solidFill>
                  <a:srgbClr val="FF0000"/>
                </a:solidFill>
                <a:latin typeface="Crimson Text"/>
              </a:rPr>
              <a:t>1</a:t>
            </a:r>
            <a:r>
              <a:rPr lang="en-US" altLang="zh-CN" sz="2400" b="1" i="1" dirty="0">
                <a:solidFill>
                  <a:srgbClr val="FF0000"/>
                </a:solidFill>
                <a:latin typeface="Crimson Text"/>
              </a:rPr>
              <a:t>(key) = key % n</a:t>
            </a:r>
            <a:endParaRPr lang="zh-CN" altLang="en-US" sz="2400" dirty="0">
              <a:solidFill>
                <a:srgbClr val="FF0000"/>
              </a:solidFill>
            </a:endParaRPr>
          </a:p>
        </p:txBody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C712B760-4D9B-4F7F-A1B3-575B70ACB14C}"/>
              </a:ext>
            </a:extLst>
          </p:cNvPr>
          <p:cNvSpPr/>
          <p:nvPr/>
        </p:nvSpPr>
        <p:spPr>
          <a:xfrm>
            <a:off x="314038" y="2008672"/>
            <a:ext cx="143454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b="1" i="1" dirty="0">
                <a:solidFill>
                  <a:srgbClr val="FF0000"/>
                </a:solidFill>
                <a:latin typeface="Crimson Text"/>
              </a:rPr>
              <a:t>Split Pointer</a:t>
            </a:r>
            <a:endParaRPr lang="zh-CN" altLang="en-US" dirty="0">
              <a:solidFill>
                <a:srgbClr val="FF0000"/>
              </a:solidFill>
            </a:endParaRPr>
          </a:p>
        </p:txBody>
      </p:sp>
      <p:grpSp>
        <p:nvGrpSpPr>
          <p:cNvPr id="45" name="组合 44">
            <a:extLst>
              <a:ext uri="{FF2B5EF4-FFF2-40B4-BE49-F238E27FC236}">
                <a16:creationId xmlns:a16="http://schemas.microsoft.com/office/drawing/2014/main" id="{232CDEFB-2E87-4A2F-B5CF-8951B8E7D222}"/>
              </a:ext>
            </a:extLst>
          </p:cNvPr>
          <p:cNvGrpSpPr/>
          <p:nvPr/>
        </p:nvGrpSpPr>
        <p:grpSpPr>
          <a:xfrm>
            <a:off x="2115329" y="3215915"/>
            <a:ext cx="479511" cy="1395532"/>
            <a:chOff x="1626762" y="2964260"/>
            <a:chExt cx="479511" cy="1395532"/>
          </a:xfrm>
        </p:grpSpPr>
        <p:sp>
          <p:nvSpPr>
            <p:cNvPr id="46" name="矩形 45">
              <a:extLst>
                <a:ext uri="{FF2B5EF4-FFF2-40B4-BE49-F238E27FC236}">
                  <a16:creationId xmlns:a16="http://schemas.microsoft.com/office/drawing/2014/main" id="{A7CB772C-F832-4EFA-B806-7B5969E6B53B}"/>
                </a:ext>
              </a:extLst>
            </p:cNvPr>
            <p:cNvSpPr/>
            <p:nvPr/>
          </p:nvSpPr>
          <p:spPr>
            <a:xfrm>
              <a:off x="1626762" y="2964260"/>
              <a:ext cx="479511" cy="348883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b="1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0</a:t>
              </a:r>
              <a:endParaRPr lang="zh-CN" altLang="en-US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7" name="矩形 46">
              <a:extLst>
                <a:ext uri="{FF2B5EF4-FFF2-40B4-BE49-F238E27FC236}">
                  <a16:creationId xmlns:a16="http://schemas.microsoft.com/office/drawing/2014/main" id="{CEF3D8FE-BA2F-4BAF-9771-853397C09FEC}"/>
                </a:ext>
              </a:extLst>
            </p:cNvPr>
            <p:cNvSpPr/>
            <p:nvPr/>
          </p:nvSpPr>
          <p:spPr>
            <a:xfrm>
              <a:off x="1626762" y="3313143"/>
              <a:ext cx="479511" cy="348883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b="1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</a:t>
              </a:r>
              <a:endParaRPr lang="zh-CN" altLang="en-US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8" name="矩形 47">
              <a:extLst>
                <a:ext uri="{FF2B5EF4-FFF2-40B4-BE49-F238E27FC236}">
                  <a16:creationId xmlns:a16="http://schemas.microsoft.com/office/drawing/2014/main" id="{937F1EDB-F61B-47F4-A685-18507080A34E}"/>
                </a:ext>
              </a:extLst>
            </p:cNvPr>
            <p:cNvSpPr/>
            <p:nvPr/>
          </p:nvSpPr>
          <p:spPr>
            <a:xfrm>
              <a:off x="1626762" y="3662026"/>
              <a:ext cx="479511" cy="348883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b="1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2</a:t>
              </a:r>
              <a:endParaRPr lang="zh-CN" altLang="en-US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9" name="矩形 48">
              <a:extLst>
                <a:ext uri="{FF2B5EF4-FFF2-40B4-BE49-F238E27FC236}">
                  <a16:creationId xmlns:a16="http://schemas.microsoft.com/office/drawing/2014/main" id="{9217AC55-5718-48DD-9B43-8D9DB0C1F661}"/>
                </a:ext>
              </a:extLst>
            </p:cNvPr>
            <p:cNvSpPr/>
            <p:nvPr/>
          </p:nvSpPr>
          <p:spPr>
            <a:xfrm>
              <a:off x="1626762" y="4010909"/>
              <a:ext cx="479511" cy="348883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b="1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3</a:t>
              </a:r>
              <a:endParaRPr lang="zh-CN" altLang="en-US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cxnSp>
        <p:nvCxnSpPr>
          <p:cNvPr id="56" name="连接符: 曲线 55">
            <a:extLst>
              <a:ext uri="{FF2B5EF4-FFF2-40B4-BE49-F238E27FC236}">
                <a16:creationId xmlns:a16="http://schemas.microsoft.com/office/drawing/2014/main" id="{DE6F5C0A-2E0E-4223-8305-515B09AE8DF0}"/>
              </a:ext>
            </a:extLst>
          </p:cNvPr>
          <p:cNvCxnSpPr>
            <a:cxnSpLocks/>
            <a:stCxn id="48" idx="3"/>
            <a:endCxn id="30" idx="1"/>
          </p:cNvCxnSpPr>
          <p:nvPr/>
        </p:nvCxnSpPr>
        <p:spPr>
          <a:xfrm>
            <a:off x="2594840" y="4088123"/>
            <a:ext cx="1380110" cy="584790"/>
          </a:xfrm>
          <a:prstGeom prst="curvedConnector3">
            <a:avLst/>
          </a:prstGeom>
          <a:ln w="38100">
            <a:solidFill>
              <a:srgbClr val="FF0000"/>
            </a:solidFill>
            <a:headEnd type="oval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连接符: 曲线 18">
            <a:extLst>
              <a:ext uri="{FF2B5EF4-FFF2-40B4-BE49-F238E27FC236}">
                <a16:creationId xmlns:a16="http://schemas.microsoft.com/office/drawing/2014/main" id="{3E14C3CE-1F6A-461E-86A3-7B85608221F8}"/>
              </a:ext>
            </a:extLst>
          </p:cNvPr>
          <p:cNvCxnSpPr>
            <a:cxnSpLocks/>
            <a:stCxn id="46" idx="3"/>
            <a:endCxn id="7" idx="1"/>
          </p:cNvCxnSpPr>
          <p:nvPr/>
        </p:nvCxnSpPr>
        <p:spPr>
          <a:xfrm flipV="1">
            <a:off x="2594840" y="2328336"/>
            <a:ext cx="1388389" cy="1062021"/>
          </a:xfrm>
          <a:prstGeom prst="curvedConnector3">
            <a:avLst>
              <a:gd name="adj1" fmla="val 50000"/>
            </a:avLst>
          </a:prstGeom>
          <a:ln w="38100">
            <a:solidFill>
              <a:srgbClr val="FF0000"/>
            </a:solidFill>
            <a:headEnd type="oval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连接符: 曲线 19">
            <a:extLst>
              <a:ext uri="{FF2B5EF4-FFF2-40B4-BE49-F238E27FC236}">
                <a16:creationId xmlns:a16="http://schemas.microsoft.com/office/drawing/2014/main" id="{CA527AE1-C3F0-4E3A-A9ED-54A861CBF67D}"/>
              </a:ext>
            </a:extLst>
          </p:cNvPr>
          <p:cNvCxnSpPr>
            <a:cxnSpLocks/>
            <a:stCxn id="47" idx="3"/>
            <a:endCxn id="25" idx="1"/>
          </p:cNvCxnSpPr>
          <p:nvPr/>
        </p:nvCxnSpPr>
        <p:spPr>
          <a:xfrm flipV="1">
            <a:off x="2594840" y="3505434"/>
            <a:ext cx="1388389" cy="233806"/>
          </a:xfrm>
          <a:prstGeom prst="curvedConnector3">
            <a:avLst>
              <a:gd name="adj1" fmla="val 50000"/>
            </a:avLst>
          </a:prstGeom>
          <a:ln w="38100">
            <a:solidFill>
              <a:srgbClr val="FF0000"/>
            </a:solidFill>
            <a:headEnd type="oval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矩形 63">
            <a:extLst>
              <a:ext uri="{FF2B5EF4-FFF2-40B4-BE49-F238E27FC236}">
                <a16:creationId xmlns:a16="http://schemas.microsoft.com/office/drawing/2014/main" id="{AD19BEAC-3566-4A11-9032-BE2CA8E9A5DF}"/>
              </a:ext>
            </a:extLst>
          </p:cNvPr>
          <p:cNvSpPr/>
          <p:nvPr/>
        </p:nvSpPr>
        <p:spPr>
          <a:xfrm>
            <a:off x="8521141" y="1846484"/>
            <a:ext cx="3187155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b="1" dirty="0">
                <a:latin typeface="Inconsolata"/>
              </a:rPr>
              <a:t>Find 6</a:t>
            </a:r>
          </a:p>
          <a:p>
            <a:r>
              <a:rPr lang="en-US" altLang="zh-CN" b="1" i="1" dirty="0">
                <a:solidFill>
                  <a:srgbClr val="FF0000"/>
                </a:solidFill>
                <a:latin typeface="Crimson Text"/>
              </a:rPr>
              <a:t>hash</a:t>
            </a:r>
            <a:r>
              <a:rPr lang="en-US" altLang="zh-CN" b="1" i="1" baseline="-25000" dirty="0">
                <a:solidFill>
                  <a:srgbClr val="FF0000"/>
                </a:solidFill>
                <a:latin typeface="Crimson Text"/>
              </a:rPr>
              <a:t>1</a:t>
            </a:r>
            <a:r>
              <a:rPr lang="en-US" altLang="zh-CN" b="1" i="1" dirty="0">
                <a:solidFill>
                  <a:srgbClr val="FF0000"/>
                </a:solidFill>
                <a:latin typeface="Crimson Text"/>
              </a:rPr>
              <a:t>(6) </a:t>
            </a:r>
            <a:r>
              <a:rPr lang="en-US" altLang="zh-CN" b="1" dirty="0">
                <a:solidFill>
                  <a:srgbClr val="FF0000"/>
                </a:solidFill>
                <a:latin typeface="Inconsolata"/>
              </a:rPr>
              <a:t>= 6 % 4 = 2</a:t>
            </a:r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A732BD68-CE20-4E0C-936D-913770028261}"/>
              </a:ext>
            </a:extLst>
          </p:cNvPr>
          <p:cNvSpPr/>
          <p:nvPr/>
        </p:nvSpPr>
        <p:spPr>
          <a:xfrm>
            <a:off x="8521142" y="2755775"/>
            <a:ext cx="312752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b="1" dirty="0">
                <a:latin typeface="Inconsolata"/>
              </a:rPr>
              <a:t>Insert 17</a:t>
            </a:r>
          </a:p>
          <a:p>
            <a:r>
              <a:rPr lang="en-US" altLang="zh-CN" b="1" i="1" dirty="0">
                <a:solidFill>
                  <a:srgbClr val="FF0000"/>
                </a:solidFill>
                <a:latin typeface="Crimson Text"/>
              </a:rPr>
              <a:t>hash</a:t>
            </a:r>
            <a:r>
              <a:rPr lang="en-US" altLang="zh-CN" b="1" i="1" baseline="-25000" dirty="0">
                <a:solidFill>
                  <a:srgbClr val="FF0000"/>
                </a:solidFill>
                <a:latin typeface="Crimson Text"/>
              </a:rPr>
              <a:t>1</a:t>
            </a:r>
            <a:r>
              <a:rPr lang="en-US" altLang="zh-CN" b="1" i="1" dirty="0">
                <a:solidFill>
                  <a:srgbClr val="FF0000"/>
                </a:solidFill>
                <a:latin typeface="Crimson Text"/>
              </a:rPr>
              <a:t>(17) = 17 % 4 = 1</a:t>
            </a:r>
            <a:endParaRPr lang="zh-CN" altLang="en-US" b="1" i="1" dirty="0">
              <a:solidFill>
                <a:srgbClr val="FF0000"/>
              </a:solidFill>
              <a:latin typeface="Crimson Text"/>
            </a:endParaRPr>
          </a:p>
        </p:txBody>
      </p:sp>
      <p:grpSp>
        <p:nvGrpSpPr>
          <p:cNvPr id="50" name="组合 49">
            <a:extLst>
              <a:ext uri="{FF2B5EF4-FFF2-40B4-BE49-F238E27FC236}">
                <a16:creationId xmlns:a16="http://schemas.microsoft.com/office/drawing/2014/main" id="{4C9C8D87-8447-4926-A309-E35D4DD5BAFA}"/>
              </a:ext>
            </a:extLst>
          </p:cNvPr>
          <p:cNvGrpSpPr/>
          <p:nvPr/>
        </p:nvGrpSpPr>
        <p:grpSpPr>
          <a:xfrm>
            <a:off x="6182979" y="2959928"/>
            <a:ext cx="1597070" cy="1085593"/>
            <a:chOff x="3120764" y="1928099"/>
            <a:chExt cx="1597070" cy="1085593"/>
          </a:xfrm>
        </p:grpSpPr>
        <p:sp>
          <p:nvSpPr>
            <p:cNvPr id="51" name="矩形 50">
              <a:extLst>
                <a:ext uri="{FF2B5EF4-FFF2-40B4-BE49-F238E27FC236}">
                  <a16:creationId xmlns:a16="http://schemas.microsoft.com/office/drawing/2014/main" id="{C3EEB18C-9CC9-4B71-8154-222C8805C8EA}"/>
                </a:ext>
              </a:extLst>
            </p:cNvPr>
            <p:cNvSpPr/>
            <p:nvPr/>
          </p:nvSpPr>
          <p:spPr>
            <a:xfrm>
              <a:off x="3120764" y="1928099"/>
              <a:ext cx="1597070" cy="1085593"/>
            </a:xfrm>
            <a:prstGeom prst="rect">
              <a:avLst/>
            </a:prstGeom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2" name="矩形 51">
              <a:extLst>
                <a:ext uri="{FF2B5EF4-FFF2-40B4-BE49-F238E27FC236}">
                  <a16:creationId xmlns:a16="http://schemas.microsoft.com/office/drawing/2014/main" id="{A8716EAC-7DC5-4561-8933-20770D1A59E1}"/>
                </a:ext>
              </a:extLst>
            </p:cNvPr>
            <p:cNvSpPr/>
            <p:nvPr/>
          </p:nvSpPr>
          <p:spPr>
            <a:xfrm>
              <a:off x="3251519" y="2029839"/>
              <a:ext cx="1326466" cy="244586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4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17</a:t>
              </a:r>
              <a:endParaRPr lang="zh-CN" altLang="en-US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3" name="矩形 52">
              <a:extLst>
                <a:ext uri="{FF2B5EF4-FFF2-40B4-BE49-F238E27FC236}">
                  <a16:creationId xmlns:a16="http://schemas.microsoft.com/office/drawing/2014/main" id="{3A00454B-CEE6-476B-A956-51D655260146}"/>
                </a:ext>
              </a:extLst>
            </p:cNvPr>
            <p:cNvSpPr/>
            <p:nvPr/>
          </p:nvSpPr>
          <p:spPr>
            <a:xfrm>
              <a:off x="3251519" y="2677089"/>
              <a:ext cx="1326466" cy="244586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4" name="矩形 53">
              <a:extLst>
                <a:ext uri="{FF2B5EF4-FFF2-40B4-BE49-F238E27FC236}">
                  <a16:creationId xmlns:a16="http://schemas.microsoft.com/office/drawing/2014/main" id="{7B71EF36-D0AB-4E27-BCDA-B47DA16CEDA3}"/>
                </a:ext>
              </a:extLst>
            </p:cNvPr>
            <p:cNvSpPr/>
            <p:nvPr/>
          </p:nvSpPr>
          <p:spPr>
            <a:xfrm>
              <a:off x="3251519" y="2353464"/>
              <a:ext cx="1326466" cy="244586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cxnSp>
        <p:nvCxnSpPr>
          <p:cNvPr id="55" name="连接符: 曲线 54">
            <a:extLst>
              <a:ext uri="{FF2B5EF4-FFF2-40B4-BE49-F238E27FC236}">
                <a16:creationId xmlns:a16="http://schemas.microsoft.com/office/drawing/2014/main" id="{4ACC862F-3265-4490-A92E-B3D91350F288}"/>
              </a:ext>
            </a:extLst>
          </p:cNvPr>
          <p:cNvCxnSpPr>
            <a:cxnSpLocks/>
            <a:stCxn id="25" idx="3"/>
            <a:endCxn id="51" idx="1"/>
          </p:cNvCxnSpPr>
          <p:nvPr/>
        </p:nvCxnSpPr>
        <p:spPr>
          <a:xfrm flipV="1">
            <a:off x="5580299" y="3502725"/>
            <a:ext cx="602680" cy="2709"/>
          </a:xfrm>
          <a:prstGeom prst="curvedConnector3">
            <a:avLst>
              <a:gd name="adj1" fmla="val 50000"/>
            </a:avLst>
          </a:prstGeom>
          <a:ln w="38100">
            <a:solidFill>
              <a:srgbClr val="FF0000"/>
            </a:solidFill>
            <a:headEnd type="oval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矩形: 圆角 56">
            <a:extLst>
              <a:ext uri="{FF2B5EF4-FFF2-40B4-BE49-F238E27FC236}">
                <a16:creationId xmlns:a16="http://schemas.microsoft.com/office/drawing/2014/main" id="{8DF016A9-9D32-42E1-B3B9-51F7A63FB0B4}"/>
              </a:ext>
            </a:extLst>
          </p:cNvPr>
          <p:cNvSpPr/>
          <p:nvPr/>
        </p:nvSpPr>
        <p:spPr>
          <a:xfrm>
            <a:off x="3957577" y="1795157"/>
            <a:ext cx="1609896" cy="1101468"/>
          </a:xfrm>
          <a:prstGeom prst="roundRect">
            <a:avLst>
              <a:gd name="adj" fmla="val 5316"/>
            </a:avLst>
          </a:prstGeom>
          <a:solidFill>
            <a:srgbClr val="FF0000">
              <a:alpha val="20000"/>
            </a:srgbClr>
          </a:solidFill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38EEA0AE-2D72-434C-9807-7EFBD8FE9A4F}"/>
              </a:ext>
            </a:extLst>
          </p:cNvPr>
          <p:cNvSpPr/>
          <p:nvPr/>
        </p:nvSpPr>
        <p:spPr>
          <a:xfrm>
            <a:off x="6432942" y="4092188"/>
            <a:ext cx="112279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b="1" i="1" dirty="0">
                <a:solidFill>
                  <a:srgbClr val="FF0000"/>
                </a:solidFill>
                <a:latin typeface="Museo Sans"/>
              </a:rPr>
              <a:t>Overflow!</a:t>
            </a:r>
            <a:endParaRPr lang="zh-CN" altLang="en-US" b="1" dirty="0">
              <a:solidFill>
                <a:srgbClr val="FF0000"/>
              </a:solidFill>
            </a:endParaRPr>
          </a:p>
        </p:txBody>
      </p:sp>
      <p:sp>
        <p:nvSpPr>
          <p:cNvPr id="58" name="矩形 57">
            <a:extLst>
              <a:ext uri="{FF2B5EF4-FFF2-40B4-BE49-F238E27FC236}">
                <a16:creationId xmlns:a16="http://schemas.microsoft.com/office/drawing/2014/main" id="{260A2FE2-4513-4940-BB6E-0AC48102C918}"/>
              </a:ext>
            </a:extLst>
          </p:cNvPr>
          <p:cNvSpPr/>
          <p:nvPr/>
        </p:nvSpPr>
        <p:spPr>
          <a:xfrm>
            <a:off x="2115329" y="4611447"/>
            <a:ext cx="479511" cy="348883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  <a:endParaRPr lang="zh-CN" altLang="en-US" b="1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21" name="连接符: 曲线 20">
            <a:extLst>
              <a:ext uri="{FF2B5EF4-FFF2-40B4-BE49-F238E27FC236}">
                <a16:creationId xmlns:a16="http://schemas.microsoft.com/office/drawing/2014/main" id="{D2FAF302-55C1-4264-A1DF-850ADFE39EE3}"/>
              </a:ext>
            </a:extLst>
          </p:cNvPr>
          <p:cNvCxnSpPr>
            <a:cxnSpLocks/>
            <a:stCxn id="49" idx="3"/>
            <a:endCxn id="35" idx="1"/>
          </p:cNvCxnSpPr>
          <p:nvPr/>
        </p:nvCxnSpPr>
        <p:spPr>
          <a:xfrm>
            <a:off x="2594840" y="4437006"/>
            <a:ext cx="1375563" cy="1402553"/>
          </a:xfrm>
          <a:prstGeom prst="curvedConnector3">
            <a:avLst/>
          </a:prstGeom>
          <a:ln w="38100">
            <a:solidFill>
              <a:srgbClr val="FF0000"/>
            </a:solidFill>
            <a:headEnd type="oval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矩形 58">
            <a:extLst>
              <a:ext uri="{FF2B5EF4-FFF2-40B4-BE49-F238E27FC236}">
                <a16:creationId xmlns:a16="http://schemas.microsoft.com/office/drawing/2014/main" id="{D4910F66-1A59-47DF-9D6F-CE24AB408D0B}"/>
              </a:ext>
            </a:extLst>
          </p:cNvPr>
          <p:cNvSpPr/>
          <p:nvPr/>
        </p:nvSpPr>
        <p:spPr>
          <a:xfrm>
            <a:off x="339310" y="5900831"/>
            <a:ext cx="2908151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b="1" i="1" dirty="0">
                <a:solidFill>
                  <a:srgbClr val="FF0000"/>
                </a:solidFill>
                <a:latin typeface="Crimson Text"/>
              </a:rPr>
              <a:t>hash</a:t>
            </a:r>
            <a:r>
              <a:rPr lang="en-US" altLang="zh-CN" sz="2400" b="1" baseline="-25000" dirty="0">
                <a:solidFill>
                  <a:srgbClr val="FF0000"/>
                </a:solidFill>
                <a:latin typeface="Crimson Text"/>
              </a:rPr>
              <a:t>2</a:t>
            </a:r>
            <a:r>
              <a:rPr lang="en-US" altLang="zh-CN" sz="2400" b="1" i="1" dirty="0">
                <a:solidFill>
                  <a:srgbClr val="FF0000"/>
                </a:solidFill>
                <a:latin typeface="Crimson Text"/>
              </a:rPr>
              <a:t>(key) = key % 2n</a:t>
            </a:r>
            <a:endParaRPr lang="zh-CN" altLang="en-US" sz="2400" dirty="0">
              <a:solidFill>
                <a:srgbClr val="FF0000"/>
              </a:solidFill>
            </a:endParaRPr>
          </a:p>
        </p:txBody>
      </p:sp>
      <p:sp>
        <p:nvSpPr>
          <p:cNvPr id="76" name="箭头: 右 75">
            <a:extLst>
              <a:ext uri="{FF2B5EF4-FFF2-40B4-BE49-F238E27FC236}">
                <a16:creationId xmlns:a16="http://schemas.microsoft.com/office/drawing/2014/main" id="{71A3E043-19FA-4A7A-A860-3F43CD972A91}"/>
              </a:ext>
            </a:extLst>
          </p:cNvPr>
          <p:cNvSpPr/>
          <p:nvPr/>
        </p:nvSpPr>
        <p:spPr>
          <a:xfrm>
            <a:off x="624763" y="3181524"/>
            <a:ext cx="447001" cy="482725"/>
          </a:xfrm>
          <a:prstGeom prst="rightArrow">
            <a:avLst/>
          </a:prstGeom>
          <a:solidFill>
            <a:schemeClr val="bg1">
              <a:lumMod val="5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solidFill>
                  <a:schemeClr val="tx1"/>
                </a:solidFill>
              </a:rPr>
              <a:t>0</a:t>
            </a:r>
            <a:endParaRPr lang="zh-CN" altLang="en-US" b="1" dirty="0">
              <a:solidFill>
                <a:schemeClr val="tx1"/>
              </a:solidFill>
            </a:endParaRPr>
          </a:p>
        </p:txBody>
      </p:sp>
      <p:cxnSp>
        <p:nvCxnSpPr>
          <p:cNvPr id="77" name="直接连接符 76">
            <a:extLst>
              <a:ext uri="{FF2B5EF4-FFF2-40B4-BE49-F238E27FC236}">
                <a16:creationId xmlns:a16="http://schemas.microsoft.com/office/drawing/2014/main" id="{4D7FC728-0BFB-487A-9E17-BA38F14E54FB}"/>
              </a:ext>
            </a:extLst>
          </p:cNvPr>
          <p:cNvCxnSpPr/>
          <p:nvPr/>
        </p:nvCxnSpPr>
        <p:spPr>
          <a:xfrm>
            <a:off x="1271390" y="2779115"/>
            <a:ext cx="0" cy="2494401"/>
          </a:xfrm>
          <a:prstGeom prst="line">
            <a:avLst/>
          </a:prstGeom>
          <a:ln w="50800">
            <a:solidFill>
              <a:schemeClr val="bg1">
                <a:lumMod val="50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033999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8" grpId="0" animBg="1"/>
      <p:bldP spid="59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9BBCCEF-D42F-420B-9CC2-98A9815DB6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Linear Hashing</a:t>
            </a:r>
            <a:endParaRPr lang="zh-CN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2905825-8EE0-4CF0-A05E-CAFDF944FB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73EFA8-2549-45D3-9990-A2F18545CAB2}" type="datetime1">
              <a:rPr lang="zh-CN" altLang="en-US" smtClean="0"/>
              <a:t>2024/5/8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ED664A2-5898-4C25-86F3-E969A94A39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altLang="zh-CN"/>
              <a:t>Hash Indices</a:t>
            </a: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34B9AF0-AA69-4CFE-BBF2-A55EB4555B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5CA875-76FA-4283-B5BE-070B4D16A27E}" type="slidenum">
              <a:rPr lang="zh-CN" altLang="en-US" smtClean="0"/>
              <a:t>29</a:t>
            </a:fld>
            <a:endParaRPr lang="zh-CN" altLang="en-US"/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F7CFF25C-12CE-407F-87E3-81133BE304C8}"/>
              </a:ext>
            </a:extLst>
          </p:cNvPr>
          <p:cNvGrpSpPr/>
          <p:nvPr/>
        </p:nvGrpSpPr>
        <p:grpSpPr>
          <a:xfrm>
            <a:off x="3983229" y="1785539"/>
            <a:ext cx="1597070" cy="1085593"/>
            <a:chOff x="3120764" y="1928099"/>
            <a:chExt cx="1597070" cy="1085593"/>
          </a:xfrm>
        </p:grpSpPr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9DD2C9B2-7A77-41FB-AF7D-A6C280ABA039}"/>
                </a:ext>
              </a:extLst>
            </p:cNvPr>
            <p:cNvSpPr/>
            <p:nvPr/>
          </p:nvSpPr>
          <p:spPr>
            <a:xfrm>
              <a:off x="3120764" y="1928099"/>
              <a:ext cx="1597070" cy="1085593"/>
            </a:xfrm>
            <a:prstGeom prst="rect">
              <a:avLst/>
            </a:prstGeom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矩形 8">
              <a:extLst>
                <a:ext uri="{FF2B5EF4-FFF2-40B4-BE49-F238E27FC236}">
                  <a16:creationId xmlns:a16="http://schemas.microsoft.com/office/drawing/2014/main" id="{0E7DB8D6-3C78-4AF8-9952-BB7500DE45FA}"/>
                </a:ext>
              </a:extLst>
            </p:cNvPr>
            <p:cNvSpPr/>
            <p:nvPr/>
          </p:nvSpPr>
          <p:spPr>
            <a:xfrm>
              <a:off x="3251519" y="2029839"/>
              <a:ext cx="1326466" cy="244586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4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8</a:t>
              </a:r>
              <a:endParaRPr lang="zh-CN" altLang="en-US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" name="矩形 10">
              <a:extLst>
                <a:ext uri="{FF2B5EF4-FFF2-40B4-BE49-F238E27FC236}">
                  <a16:creationId xmlns:a16="http://schemas.microsoft.com/office/drawing/2014/main" id="{A468E8D4-4AE3-479A-99AE-73187116092C}"/>
                </a:ext>
              </a:extLst>
            </p:cNvPr>
            <p:cNvSpPr/>
            <p:nvPr/>
          </p:nvSpPr>
          <p:spPr>
            <a:xfrm>
              <a:off x="3251519" y="2677089"/>
              <a:ext cx="1326466" cy="244586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2" name="矩形 21">
              <a:extLst>
                <a:ext uri="{FF2B5EF4-FFF2-40B4-BE49-F238E27FC236}">
                  <a16:creationId xmlns:a16="http://schemas.microsoft.com/office/drawing/2014/main" id="{9F0A11C6-1E0E-4BA1-A041-8423A80ADE65}"/>
                </a:ext>
              </a:extLst>
            </p:cNvPr>
            <p:cNvSpPr/>
            <p:nvPr/>
          </p:nvSpPr>
          <p:spPr>
            <a:xfrm>
              <a:off x="3251519" y="2353464"/>
              <a:ext cx="1326466" cy="244586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A8F2B301-0401-4DE0-A790-17FD885726F1}"/>
              </a:ext>
            </a:extLst>
          </p:cNvPr>
          <p:cNvGrpSpPr/>
          <p:nvPr/>
        </p:nvGrpSpPr>
        <p:grpSpPr>
          <a:xfrm>
            <a:off x="3983229" y="2962637"/>
            <a:ext cx="1597070" cy="1085593"/>
            <a:chOff x="3120764" y="1928099"/>
            <a:chExt cx="1597070" cy="1085593"/>
          </a:xfrm>
        </p:grpSpPr>
        <p:sp>
          <p:nvSpPr>
            <p:cNvPr id="25" name="矩形 24">
              <a:extLst>
                <a:ext uri="{FF2B5EF4-FFF2-40B4-BE49-F238E27FC236}">
                  <a16:creationId xmlns:a16="http://schemas.microsoft.com/office/drawing/2014/main" id="{8E64044D-7EE3-4418-9233-70933F0B3FA4}"/>
                </a:ext>
              </a:extLst>
            </p:cNvPr>
            <p:cNvSpPr/>
            <p:nvPr/>
          </p:nvSpPr>
          <p:spPr>
            <a:xfrm>
              <a:off x="3120764" y="1928099"/>
              <a:ext cx="1597070" cy="1085593"/>
            </a:xfrm>
            <a:prstGeom prst="rect">
              <a:avLst/>
            </a:prstGeom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6" name="矩形 25">
              <a:extLst>
                <a:ext uri="{FF2B5EF4-FFF2-40B4-BE49-F238E27FC236}">
                  <a16:creationId xmlns:a16="http://schemas.microsoft.com/office/drawing/2014/main" id="{3B7D9748-8966-4F1E-9D3A-E966B84DF98B}"/>
                </a:ext>
              </a:extLst>
            </p:cNvPr>
            <p:cNvSpPr/>
            <p:nvPr/>
          </p:nvSpPr>
          <p:spPr>
            <a:xfrm>
              <a:off x="3251519" y="2029839"/>
              <a:ext cx="1326466" cy="244586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4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5</a:t>
              </a:r>
              <a:endParaRPr lang="zh-CN" altLang="en-US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7" name="矩形 26">
              <a:extLst>
                <a:ext uri="{FF2B5EF4-FFF2-40B4-BE49-F238E27FC236}">
                  <a16:creationId xmlns:a16="http://schemas.microsoft.com/office/drawing/2014/main" id="{B4FFE470-7A43-4443-8558-3B64C4C75B6C}"/>
                </a:ext>
              </a:extLst>
            </p:cNvPr>
            <p:cNvSpPr/>
            <p:nvPr/>
          </p:nvSpPr>
          <p:spPr>
            <a:xfrm>
              <a:off x="3251519" y="2677089"/>
              <a:ext cx="1326466" cy="244586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4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13</a:t>
              </a:r>
              <a:endParaRPr lang="zh-CN" altLang="en-US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8" name="矩形 27">
              <a:extLst>
                <a:ext uri="{FF2B5EF4-FFF2-40B4-BE49-F238E27FC236}">
                  <a16:creationId xmlns:a16="http://schemas.microsoft.com/office/drawing/2014/main" id="{70C780C4-0F9F-46AB-9B75-A41DBB7C9E83}"/>
                </a:ext>
              </a:extLst>
            </p:cNvPr>
            <p:cNvSpPr/>
            <p:nvPr/>
          </p:nvSpPr>
          <p:spPr>
            <a:xfrm>
              <a:off x="3251519" y="2353464"/>
              <a:ext cx="1326466" cy="244586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4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9</a:t>
              </a:r>
              <a:endParaRPr lang="zh-CN" altLang="en-US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29" name="组合 28">
            <a:extLst>
              <a:ext uri="{FF2B5EF4-FFF2-40B4-BE49-F238E27FC236}">
                <a16:creationId xmlns:a16="http://schemas.microsoft.com/office/drawing/2014/main" id="{AB7D4DA5-6BFF-4B22-92AF-64EEE45E476E}"/>
              </a:ext>
            </a:extLst>
          </p:cNvPr>
          <p:cNvGrpSpPr/>
          <p:nvPr/>
        </p:nvGrpSpPr>
        <p:grpSpPr>
          <a:xfrm>
            <a:off x="3974950" y="4130116"/>
            <a:ext cx="1597070" cy="1085593"/>
            <a:chOff x="3120764" y="1928099"/>
            <a:chExt cx="1597070" cy="1085593"/>
          </a:xfrm>
        </p:grpSpPr>
        <p:sp>
          <p:nvSpPr>
            <p:cNvPr id="30" name="矩形 29">
              <a:extLst>
                <a:ext uri="{FF2B5EF4-FFF2-40B4-BE49-F238E27FC236}">
                  <a16:creationId xmlns:a16="http://schemas.microsoft.com/office/drawing/2014/main" id="{F042259E-C5A9-4C47-A14F-D76DD2163449}"/>
                </a:ext>
              </a:extLst>
            </p:cNvPr>
            <p:cNvSpPr/>
            <p:nvPr/>
          </p:nvSpPr>
          <p:spPr>
            <a:xfrm>
              <a:off x="3120764" y="1928099"/>
              <a:ext cx="1597070" cy="1085593"/>
            </a:xfrm>
            <a:prstGeom prst="rect">
              <a:avLst/>
            </a:prstGeom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1" name="矩形 30">
              <a:extLst>
                <a:ext uri="{FF2B5EF4-FFF2-40B4-BE49-F238E27FC236}">
                  <a16:creationId xmlns:a16="http://schemas.microsoft.com/office/drawing/2014/main" id="{CFE52B74-A3C0-4F33-938A-827402025101}"/>
                </a:ext>
              </a:extLst>
            </p:cNvPr>
            <p:cNvSpPr/>
            <p:nvPr/>
          </p:nvSpPr>
          <p:spPr>
            <a:xfrm>
              <a:off x="3251519" y="2029839"/>
              <a:ext cx="1326466" cy="244586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4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6</a:t>
              </a:r>
              <a:endParaRPr lang="zh-CN" altLang="en-US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2" name="矩形 31">
              <a:extLst>
                <a:ext uri="{FF2B5EF4-FFF2-40B4-BE49-F238E27FC236}">
                  <a16:creationId xmlns:a16="http://schemas.microsoft.com/office/drawing/2014/main" id="{9DE5FE26-28FA-4A6D-ADAE-AA94959430F6}"/>
                </a:ext>
              </a:extLst>
            </p:cNvPr>
            <p:cNvSpPr/>
            <p:nvPr/>
          </p:nvSpPr>
          <p:spPr>
            <a:xfrm>
              <a:off x="3251519" y="2677089"/>
              <a:ext cx="1326466" cy="244586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3" name="矩形 32">
              <a:extLst>
                <a:ext uri="{FF2B5EF4-FFF2-40B4-BE49-F238E27FC236}">
                  <a16:creationId xmlns:a16="http://schemas.microsoft.com/office/drawing/2014/main" id="{F7659D25-0593-45AA-93D9-4B7502D5FE42}"/>
                </a:ext>
              </a:extLst>
            </p:cNvPr>
            <p:cNvSpPr/>
            <p:nvPr/>
          </p:nvSpPr>
          <p:spPr>
            <a:xfrm>
              <a:off x="3251519" y="2353464"/>
              <a:ext cx="1326466" cy="244586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34" name="组合 33">
            <a:extLst>
              <a:ext uri="{FF2B5EF4-FFF2-40B4-BE49-F238E27FC236}">
                <a16:creationId xmlns:a16="http://schemas.microsoft.com/office/drawing/2014/main" id="{EE20B405-6E43-4E87-A925-7A94CE04AC11}"/>
              </a:ext>
            </a:extLst>
          </p:cNvPr>
          <p:cNvGrpSpPr/>
          <p:nvPr/>
        </p:nvGrpSpPr>
        <p:grpSpPr>
          <a:xfrm>
            <a:off x="3970403" y="5296762"/>
            <a:ext cx="1597070" cy="1085593"/>
            <a:chOff x="3120764" y="1928099"/>
            <a:chExt cx="1597070" cy="1085593"/>
          </a:xfrm>
        </p:grpSpPr>
        <p:sp>
          <p:nvSpPr>
            <p:cNvPr id="35" name="矩形 34">
              <a:extLst>
                <a:ext uri="{FF2B5EF4-FFF2-40B4-BE49-F238E27FC236}">
                  <a16:creationId xmlns:a16="http://schemas.microsoft.com/office/drawing/2014/main" id="{1D08EEFC-C1DA-4024-94A2-657D610B6176}"/>
                </a:ext>
              </a:extLst>
            </p:cNvPr>
            <p:cNvSpPr/>
            <p:nvPr/>
          </p:nvSpPr>
          <p:spPr>
            <a:xfrm>
              <a:off x="3120764" y="1928099"/>
              <a:ext cx="1597070" cy="1085593"/>
            </a:xfrm>
            <a:prstGeom prst="rect">
              <a:avLst/>
            </a:prstGeom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6" name="矩形 35">
              <a:extLst>
                <a:ext uri="{FF2B5EF4-FFF2-40B4-BE49-F238E27FC236}">
                  <a16:creationId xmlns:a16="http://schemas.microsoft.com/office/drawing/2014/main" id="{666ABB10-656B-41EE-826D-8D4F4A1E9930}"/>
                </a:ext>
              </a:extLst>
            </p:cNvPr>
            <p:cNvSpPr/>
            <p:nvPr/>
          </p:nvSpPr>
          <p:spPr>
            <a:xfrm>
              <a:off x="3251519" y="2029839"/>
              <a:ext cx="1326466" cy="244586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4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7</a:t>
              </a:r>
              <a:endParaRPr lang="zh-CN" altLang="en-US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7" name="矩形 36">
              <a:extLst>
                <a:ext uri="{FF2B5EF4-FFF2-40B4-BE49-F238E27FC236}">
                  <a16:creationId xmlns:a16="http://schemas.microsoft.com/office/drawing/2014/main" id="{1C592B3C-9CDB-4E94-9586-9983ECFE1E06}"/>
                </a:ext>
              </a:extLst>
            </p:cNvPr>
            <p:cNvSpPr/>
            <p:nvPr/>
          </p:nvSpPr>
          <p:spPr>
            <a:xfrm>
              <a:off x="3251519" y="2677089"/>
              <a:ext cx="1326466" cy="244586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8" name="矩形 37">
              <a:extLst>
                <a:ext uri="{FF2B5EF4-FFF2-40B4-BE49-F238E27FC236}">
                  <a16:creationId xmlns:a16="http://schemas.microsoft.com/office/drawing/2014/main" id="{28A016A7-A959-4D9B-AE3E-CDEF9166E6DD}"/>
                </a:ext>
              </a:extLst>
            </p:cNvPr>
            <p:cNvSpPr/>
            <p:nvPr/>
          </p:nvSpPr>
          <p:spPr>
            <a:xfrm>
              <a:off x="3251519" y="2353464"/>
              <a:ext cx="1326466" cy="244586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4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11</a:t>
              </a:r>
              <a:endParaRPr lang="zh-CN" altLang="en-US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43" name="矩形 42">
            <a:extLst>
              <a:ext uri="{FF2B5EF4-FFF2-40B4-BE49-F238E27FC236}">
                <a16:creationId xmlns:a16="http://schemas.microsoft.com/office/drawing/2014/main" id="{AAB6DA76-BC38-4996-9044-32BD0E4A0295}"/>
              </a:ext>
            </a:extLst>
          </p:cNvPr>
          <p:cNvSpPr/>
          <p:nvPr/>
        </p:nvSpPr>
        <p:spPr>
          <a:xfrm>
            <a:off x="339310" y="5544540"/>
            <a:ext cx="2908151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b="1" i="1" dirty="0">
                <a:solidFill>
                  <a:srgbClr val="FF0000"/>
                </a:solidFill>
                <a:latin typeface="Crimson Text"/>
              </a:rPr>
              <a:t>hash</a:t>
            </a:r>
            <a:r>
              <a:rPr lang="en-US" altLang="zh-CN" sz="2400" b="1" baseline="-25000" dirty="0">
                <a:solidFill>
                  <a:srgbClr val="FF0000"/>
                </a:solidFill>
                <a:latin typeface="Crimson Text"/>
              </a:rPr>
              <a:t>1</a:t>
            </a:r>
            <a:r>
              <a:rPr lang="en-US" altLang="zh-CN" sz="2400" b="1" i="1" dirty="0">
                <a:solidFill>
                  <a:srgbClr val="FF0000"/>
                </a:solidFill>
                <a:latin typeface="Crimson Text"/>
              </a:rPr>
              <a:t>(key) = key % n</a:t>
            </a:r>
            <a:endParaRPr lang="zh-CN" altLang="en-US" sz="2400" dirty="0">
              <a:solidFill>
                <a:srgbClr val="FF0000"/>
              </a:solidFill>
            </a:endParaRPr>
          </a:p>
        </p:txBody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C712B760-4D9B-4F7F-A1B3-575B70ACB14C}"/>
              </a:ext>
            </a:extLst>
          </p:cNvPr>
          <p:cNvSpPr/>
          <p:nvPr/>
        </p:nvSpPr>
        <p:spPr>
          <a:xfrm>
            <a:off x="314038" y="2008672"/>
            <a:ext cx="143454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b="1" i="1" dirty="0">
                <a:solidFill>
                  <a:srgbClr val="FF0000"/>
                </a:solidFill>
                <a:latin typeface="Crimson Text"/>
              </a:rPr>
              <a:t>Split Pointer</a:t>
            </a:r>
            <a:endParaRPr lang="zh-CN" altLang="en-US" dirty="0">
              <a:solidFill>
                <a:srgbClr val="FF0000"/>
              </a:solidFill>
            </a:endParaRPr>
          </a:p>
        </p:txBody>
      </p:sp>
      <p:grpSp>
        <p:nvGrpSpPr>
          <p:cNvPr id="45" name="组合 44">
            <a:extLst>
              <a:ext uri="{FF2B5EF4-FFF2-40B4-BE49-F238E27FC236}">
                <a16:creationId xmlns:a16="http://schemas.microsoft.com/office/drawing/2014/main" id="{232CDEFB-2E87-4A2F-B5CF-8951B8E7D222}"/>
              </a:ext>
            </a:extLst>
          </p:cNvPr>
          <p:cNvGrpSpPr/>
          <p:nvPr/>
        </p:nvGrpSpPr>
        <p:grpSpPr>
          <a:xfrm>
            <a:off x="2115329" y="3215915"/>
            <a:ext cx="479511" cy="1395532"/>
            <a:chOff x="1626762" y="2964260"/>
            <a:chExt cx="479511" cy="1395532"/>
          </a:xfrm>
        </p:grpSpPr>
        <p:sp>
          <p:nvSpPr>
            <p:cNvPr id="46" name="矩形 45">
              <a:extLst>
                <a:ext uri="{FF2B5EF4-FFF2-40B4-BE49-F238E27FC236}">
                  <a16:creationId xmlns:a16="http://schemas.microsoft.com/office/drawing/2014/main" id="{A7CB772C-F832-4EFA-B806-7B5969E6B53B}"/>
                </a:ext>
              </a:extLst>
            </p:cNvPr>
            <p:cNvSpPr/>
            <p:nvPr/>
          </p:nvSpPr>
          <p:spPr>
            <a:xfrm>
              <a:off x="1626762" y="2964260"/>
              <a:ext cx="479511" cy="348883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b="1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0</a:t>
              </a:r>
              <a:endParaRPr lang="zh-CN" altLang="en-US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7" name="矩形 46">
              <a:extLst>
                <a:ext uri="{FF2B5EF4-FFF2-40B4-BE49-F238E27FC236}">
                  <a16:creationId xmlns:a16="http://schemas.microsoft.com/office/drawing/2014/main" id="{CEF3D8FE-BA2F-4BAF-9771-853397C09FEC}"/>
                </a:ext>
              </a:extLst>
            </p:cNvPr>
            <p:cNvSpPr/>
            <p:nvPr/>
          </p:nvSpPr>
          <p:spPr>
            <a:xfrm>
              <a:off x="1626762" y="3313143"/>
              <a:ext cx="479511" cy="348883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b="1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</a:t>
              </a:r>
              <a:endParaRPr lang="zh-CN" altLang="en-US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8" name="矩形 47">
              <a:extLst>
                <a:ext uri="{FF2B5EF4-FFF2-40B4-BE49-F238E27FC236}">
                  <a16:creationId xmlns:a16="http://schemas.microsoft.com/office/drawing/2014/main" id="{937F1EDB-F61B-47F4-A685-18507080A34E}"/>
                </a:ext>
              </a:extLst>
            </p:cNvPr>
            <p:cNvSpPr/>
            <p:nvPr/>
          </p:nvSpPr>
          <p:spPr>
            <a:xfrm>
              <a:off x="1626762" y="3662026"/>
              <a:ext cx="479511" cy="348883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b="1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2</a:t>
              </a:r>
              <a:endParaRPr lang="zh-CN" altLang="en-US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9" name="矩形 48">
              <a:extLst>
                <a:ext uri="{FF2B5EF4-FFF2-40B4-BE49-F238E27FC236}">
                  <a16:creationId xmlns:a16="http://schemas.microsoft.com/office/drawing/2014/main" id="{9217AC55-5718-48DD-9B43-8D9DB0C1F661}"/>
                </a:ext>
              </a:extLst>
            </p:cNvPr>
            <p:cNvSpPr/>
            <p:nvPr/>
          </p:nvSpPr>
          <p:spPr>
            <a:xfrm>
              <a:off x="1626762" y="4010909"/>
              <a:ext cx="479511" cy="348883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b="1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3</a:t>
              </a:r>
              <a:endParaRPr lang="zh-CN" altLang="en-US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cxnSp>
        <p:nvCxnSpPr>
          <p:cNvPr id="56" name="连接符: 曲线 55">
            <a:extLst>
              <a:ext uri="{FF2B5EF4-FFF2-40B4-BE49-F238E27FC236}">
                <a16:creationId xmlns:a16="http://schemas.microsoft.com/office/drawing/2014/main" id="{DE6F5C0A-2E0E-4223-8305-515B09AE8DF0}"/>
              </a:ext>
            </a:extLst>
          </p:cNvPr>
          <p:cNvCxnSpPr>
            <a:cxnSpLocks/>
            <a:stCxn id="48" idx="3"/>
            <a:endCxn id="30" idx="1"/>
          </p:cNvCxnSpPr>
          <p:nvPr/>
        </p:nvCxnSpPr>
        <p:spPr>
          <a:xfrm>
            <a:off x="2594840" y="4088123"/>
            <a:ext cx="1380110" cy="584790"/>
          </a:xfrm>
          <a:prstGeom prst="curvedConnector3">
            <a:avLst/>
          </a:prstGeom>
          <a:ln w="38100">
            <a:solidFill>
              <a:srgbClr val="FF0000"/>
            </a:solidFill>
            <a:headEnd type="oval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连接符: 曲线 18">
            <a:extLst>
              <a:ext uri="{FF2B5EF4-FFF2-40B4-BE49-F238E27FC236}">
                <a16:creationId xmlns:a16="http://schemas.microsoft.com/office/drawing/2014/main" id="{3E14C3CE-1F6A-461E-86A3-7B85608221F8}"/>
              </a:ext>
            </a:extLst>
          </p:cNvPr>
          <p:cNvCxnSpPr>
            <a:cxnSpLocks/>
            <a:stCxn id="46" idx="3"/>
            <a:endCxn id="7" idx="1"/>
          </p:cNvCxnSpPr>
          <p:nvPr/>
        </p:nvCxnSpPr>
        <p:spPr>
          <a:xfrm flipV="1">
            <a:off x="2594840" y="2328336"/>
            <a:ext cx="1388389" cy="1062021"/>
          </a:xfrm>
          <a:prstGeom prst="curvedConnector3">
            <a:avLst>
              <a:gd name="adj1" fmla="val 50000"/>
            </a:avLst>
          </a:prstGeom>
          <a:ln w="38100">
            <a:solidFill>
              <a:srgbClr val="FF0000"/>
            </a:solidFill>
            <a:headEnd type="oval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连接符: 曲线 19">
            <a:extLst>
              <a:ext uri="{FF2B5EF4-FFF2-40B4-BE49-F238E27FC236}">
                <a16:creationId xmlns:a16="http://schemas.microsoft.com/office/drawing/2014/main" id="{CA527AE1-C3F0-4E3A-A9ED-54A861CBF67D}"/>
              </a:ext>
            </a:extLst>
          </p:cNvPr>
          <p:cNvCxnSpPr>
            <a:cxnSpLocks/>
            <a:stCxn id="47" idx="3"/>
            <a:endCxn id="25" idx="1"/>
          </p:cNvCxnSpPr>
          <p:nvPr/>
        </p:nvCxnSpPr>
        <p:spPr>
          <a:xfrm flipV="1">
            <a:off x="2594840" y="3505434"/>
            <a:ext cx="1388389" cy="233806"/>
          </a:xfrm>
          <a:prstGeom prst="curvedConnector3">
            <a:avLst>
              <a:gd name="adj1" fmla="val 50000"/>
            </a:avLst>
          </a:prstGeom>
          <a:ln w="38100">
            <a:solidFill>
              <a:srgbClr val="FF0000"/>
            </a:solidFill>
            <a:headEnd type="oval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矩形 63">
            <a:extLst>
              <a:ext uri="{FF2B5EF4-FFF2-40B4-BE49-F238E27FC236}">
                <a16:creationId xmlns:a16="http://schemas.microsoft.com/office/drawing/2014/main" id="{AD19BEAC-3566-4A11-9032-BE2CA8E9A5DF}"/>
              </a:ext>
            </a:extLst>
          </p:cNvPr>
          <p:cNvSpPr/>
          <p:nvPr/>
        </p:nvSpPr>
        <p:spPr>
          <a:xfrm>
            <a:off x="8521141" y="1846484"/>
            <a:ext cx="3187155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b="1" dirty="0">
                <a:latin typeface="Inconsolata"/>
              </a:rPr>
              <a:t>Find 6</a:t>
            </a:r>
          </a:p>
          <a:p>
            <a:r>
              <a:rPr lang="en-US" altLang="zh-CN" b="1" i="1" dirty="0">
                <a:solidFill>
                  <a:srgbClr val="FF0000"/>
                </a:solidFill>
                <a:latin typeface="Crimson Text"/>
              </a:rPr>
              <a:t>hash</a:t>
            </a:r>
            <a:r>
              <a:rPr lang="en-US" altLang="zh-CN" b="1" i="1" baseline="-25000" dirty="0">
                <a:solidFill>
                  <a:srgbClr val="FF0000"/>
                </a:solidFill>
                <a:latin typeface="Crimson Text"/>
              </a:rPr>
              <a:t>1</a:t>
            </a:r>
            <a:r>
              <a:rPr lang="en-US" altLang="zh-CN" b="1" i="1" dirty="0">
                <a:solidFill>
                  <a:srgbClr val="FF0000"/>
                </a:solidFill>
                <a:latin typeface="Crimson Text"/>
              </a:rPr>
              <a:t>(6) </a:t>
            </a:r>
            <a:r>
              <a:rPr lang="en-US" altLang="zh-CN" b="1" dirty="0">
                <a:solidFill>
                  <a:srgbClr val="FF0000"/>
                </a:solidFill>
                <a:latin typeface="Inconsolata"/>
              </a:rPr>
              <a:t>= 6 % 4 = 2</a:t>
            </a:r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A732BD68-CE20-4E0C-936D-913770028261}"/>
              </a:ext>
            </a:extLst>
          </p:cNvPr>
          <p:cNvSpPr/>
          <p:nvPr/>
        </p:nvSpPr>
        <p:spPr>
          <a:xfrm>
            <a:off x="8521142" y="2755775"/>
            <a:ext cx="312752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b="1" dirty="0">
                <a:latin typeface="Inconsolata"/>
              </a:rPr>
              <a:t>Insert 17</a:t>
            </a:r>
          </a:p>
          <a:p>
            <a:r>
              <a:rPr lang="en-US" altLang="zh-CN" b="1" i="1" dirty="0">
                <a:solidFill>
                  <a:srgbClr val="FF0000"/>
                </a:solidFill>
                <a:latin typeface="Crimson Text"/>
              </a:rPr>
              <a:t>hash</a:t>
            </a:r>
            <a:r>
              <a:rPr lang="en-US" altLang="zh-CN" b="1" i="1" baseline="-25000" dirty="0">
                <a:solidFill>
                  <a:srgbClr val="FF0000"/>
                </a:solidFill>
                <a:latin typeface="Crimson Text"/>
              </a:rPr>
              <a:t>1</a:t>
            </a:r>
            <a:r>
              <a:rPr lang="en-US" altLang="zh-CN" b="1" i="1" dirty="0">
                <a:solidFill>
                  <a:srgbClr val="FF0000"/>
                </a:solidFill>
                <a:latin typeface="Crimson Text"/>
              </a:rPr>
              <a:t>(17) = 17 % 4 = 1</a:t>
            </a:r>
            <a:endParaRPr lang="zh-CN" altLang="en-US" b="1" i="1" dirty="0">
              <a:solidFill>
                <a:srgbClr val="FF0000"/>
              </a:solidFill>
              <a:latin typeface="Crimson Text"/>
            </a:endParaRPr>
          </a:p>
        </p:txBody>
      </p:sp>
      <p:grpSp>
        <p:nvGrpSpPr>
          <p:cNvPr id="50" name="组合 49">
            <a:extLst>
              <a:ext uri="{FF2B5EF4-FFF2-40B4-BE49-F238E27FC236}">
                <a16:creationId xmlns:a16="http://schemas.microsoft.com/office/drawing/2014/main" id="{4C9C8D87-8447-4926-A309-E35D4DD5BAFA}"/>
              </a:ext>
            </a:extLst>
          </p:cNvPr>
          <p:cNvGrpSpPr/>
          <p:nvPr/>
        </p:nvGrpSpPr>
        <p:grpSpPr>
          <a:xfrm>
            <a:off x="6182979" y="2959928"/>
            <a:ext cx="1597070" cy="1085593"/>
            <a:chOff x="3120764" y="1928099"/>
            <a:chExt cx="1597070" cy="1085593"/>
          </a:xfrm>
        </p:grpSpPr>
        <p:sp>
          <p:nvSpPr>
            <p:cNvPr id="51" name="矩形 50">
              <a:extLst>
                <a:ext uri="{FF2B5EF4-FFF2-40B4-BE49-F238E27FC236}">
                  <a16:creationId xmlns:a16="http://schemas.microsoft.com/office/drawing/2014/main" id="{C3EEB18C-9CC9-4B71-8154-222C8805C8EA}"/>
                </a:ext>
              </a:extLst>
            </p:cNvPr>
            <p:cNvSpPr/>
            <p:nvPr/>
          </p:nvSpPr>
          <p:spPr>
            <a:xfrm>
              <a:off x="3120764" y="1928099"/>
              <a:ext cx="1597070" cy="1085593"/>
            </a:xfrm>
            <a:prstGeom prst="rect">
              <a:avLst/>
            </a:prstGeom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2" name="矩形 51">
              <a:extLst>
                <a:ext uri="{FF2B5EF4-FFF2-40B4-BE49-F238E27FC236}">
                  <a16:creationId xmlns:a16="http://schemas.microsoft.com/office/drawing/2014/main" id="{A8716EAC-7DC5-4561-8933-20770D1A59E1}"/>
                </a:ext>
              </a:extLst>
            </p:cNvPr>
            <p:cNvSpPr/>
            <p:nvPr/>
          </p:nvSpPr>
          <p:spPr>
            <a:xfrm>
              <a:off x="3251519" y="2029839"/>
              <a:ext cx="1326466" cy="244586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4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17</a:t>
              </a:r>
              <a:endParaRPr lang="zh-CN" altLang="en-US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3" name="矩形 52">
              <a:extLst>
                <a:ext uri="{FF2B5EF4-FFF2-40B4-BE49-F238E27FC236}">
                  <a16:creationId xmlns:a16="http://schemas.microsoft.com/office/drawing/2014/main" id="{3A00454B-CEE6-476B-A956-51D655260146}"/>
                </a:ext>
              </a:extLst>
            </p:cNvPr>
            <p:cNvSpPr/>
            <p:nvPr/>
          </p:nvSpPr>
          <p:spPr>
            <a:xfrm>
              <a:off x="3251519" y="2677089"/>
              <a:ext cx="1326466" cy="244586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4" name="矩形 53">
              <a:extLst>
                <a:ext uri="{FF2B5EF4-FFF2-40B4-BE49-F238E27FC236}">
                  <a16:creationId xmlns:a16="http://schemas.microsoft.com/office/drawing/2014/main" id="{7B71EF36-D0AB-4E27-BCDA-B47DA16CEDA3}"/>
                </a:ext>
              </a:extLst>
            </p:cNvPr>
            <p:cNvSpPr/>
            <p:nvPr/>
          </p:nvSpPr>
          <p:spPr>
            <a:xfrm>
              <a:off x="3251519" y="2353464"/>
              <a:ext cx="1326466" cy="244586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cxnSp>
        <p:nvCxnSpPr>
          <p:cNvPr id="55" name="连接符: 曲线 54">
            <a:extLst>
              <a:ext uri="{FF2B5EF4-FFF2-40B4-BE49-F238E27FC236}">
                <a16:creationId xmlns:a16="http://schemas.microsoft.com/office/drawing/2014/main" id="{4ACC862F-3265-4490-A92E-B3D91350F288}"/>
              </a:ext>
            </a:extLst>
          </p:cNvPr>
          <p:cNvCxnSpPr>
            <a:cxnSpLocks/>
            <a:stCxn id="25" idx="3"/>
            <a:endCxn id="51" idx="1"/>
          </p:cNvCxnSpPr>
          <p:nvPr/>
        </p:nvCxnSpPr>
        <p:spPr>
          <a:xfrm flipV="1">
            <a:off x="5580299" y="3502725"/>
            <a:ext cx="602680" cy="2709"/>
          </a:xfrm>
          <a:prstGeom prst="curvedConnector3">
            <a:avLst>
              <a:gd name="adj1" fmla="val 50000"/>
            </a:avLst>
          </a:prstGeom>
          <a:ln w="38100">
            <a:solidFill>
              <a:srgbClr val="FF0000"/>
            </a:solidFill>
            <a:headEnd type="oval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矩形 11">
            <a:extLst>
              <a:ext uri="{FF2B5EF4-FFF2-40B4-BE49-F238E27FC236}">
                <a16:creationId xmlns:a16="http://schemas.microsoft.com/office/drawing/2014/main" id="{38EEA0AE-2D72-434C-9807-7EFBD8FE9A4F}"/>
              </a:ext>
            </a:extLst>
          </p:cNvPr>
          <p:cNvSpPr/>
          <p:nvPr/>
        </p:nvSpPr>
        <p:spPr>
          <a:xfrm>
            <a:off x="6432942" y="4092188"/>
            <a:ext cx="112279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b="1" i="1" dirty="0">
                <a:solidFill>
                  <a:srgbClr val="FF0000"/>
                </a:solidFill>
                <a:latin typeface="Museo Sans"/>
              </a:rPr>
              <a:t>Overflow!</a:t>
            </a:r>
            <a:endParaRPr lang="zh-CN" altLang="en-US" b="1" dirty="0">
              <a:solidFill>
                <a:srgbClr val="FF0000"/>
              </a:solidFill>
            </a:endParaRPr>
          </a:p>
        </p:txBody>
      </p:sp>
      <p:sp>
        <p:nvSpPr>
          <p:cNvPr id="58" name="矩形 57">
            <a:extLst>
              <a:ext uri="{FF2B5EF4-FFF2-40B4-BE49-F238E27FC236}">
                <a16:creationId xmlns:a16="http://schemas.microsoft.com/office/drawing/2014/main" id="{260A2FE2-4513-4940-BB6E-0AC48102C918}"/>
              </a:ext>
            </a:extLst>
          </p:cNvPr>
          <p:cNvSpPr/>
          <p:nvPr/>
        </p:nvSpPr>
        <p:spPr>
          <a:xfrm>
            <a:off x="2115329" y="4611447"/>
            <a:ext cx="479511" cy="348883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  <a:endParaRPr lang="zh-CN" altLang="en-US" b="1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21" name="连接符: 曲线 20">
            <a:extLst>
              <a:ext uri="{FF2B5EF4-FFF2-40B4-BE49-F238E27FC236}">
                <a16:creationId xmlns:a16="http://schemas.microsoft.com/office/drawing/2014/main" id="{D2FAF302-55C1-4264-A1DF-850ADFE39EE3}"/>
              </a:ext>
            </a:extLst>
          </p:cNvPr>
          <p:cNvCxnSpPr>
            <a:cxnSpLocks/>
            <a:stCxn id="49" idx="3"/>
            <a:endCxn id="35" idx="1"/>
          </p:cNvCxnSpPr>
          <p:nvPr/>
        </p:nvCxnSpPr>
        <p:spPr>
          <a:xfrm>
            <a:off x="2594840" y="4437006"/>
            <a:ext cx="1375563" cy="1402553"/>
          </a:xfrm>
          <a:prstGeom prst="curvedConnector3">
            <a:avLst/>
          </a:prstGeom>
          <a:ln w="38100">
            <a:solidFill>
              <a:srgbClr val="FF0000"/>
            </a:solidFill>
            <a:headEnd type="oval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矩形 58">
            <a:extLst>
              <a:ext uri="{FF2B5EF4-FFF2-40B4-BE49-F238E27FC236}">
                <a16:creationId xmlns:a16="http://schemas.microsoft.com/office/drawing/2014/main" id="{D4910F66-1A59-47DF-9D6F-CE24AB408D0B}"/>
              </a:ext>
            </a:extLst>
          </p:cNvPr>
          <p:cNvSpPr/>
          <p:nvPr/>
        </p:nvSpPr>
        <p:spPr>
          <a:xfrm>
            <a:off x="339310" y="5900831"/>
            <a:ext cx="2908151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b="1" i="1" dirty="0">
                <a:solidFill>
                  <a:srgbClr val="FF0000"/>
                </a:solidFill>
                <a:latin typeface="Crimson Text"/>
              </a:rPr>
              <a:t>hash</a:t>
            </a:r>
            <a:r>
              <a:rPr lang="en-US" altLang="zh-CN" sz="2400" b="1" baseline="-25000" dirty="0">
                <a:solidFill>
                  <a:srgbClr val="FF0000"/>
                </a:solidFill>
                <a:latin typeface="Crimson Text"/>
              </a:rPr>
              <a:t>2</a:t>
            </a:r>
            <a:r>
              <a:rPr lang="en-US" altLang="zh-CN" sz="2400" b="1" i="1" dirty="0">
                <a:solidFill>
                  <a:srgbClr val="FF0000"/>
                </a:solidFill>
                <a:latin typeface="Crimson Text"/>
              </a:rPr>
              <a:t>(key) = key % 2n</a:t>
            </a:r>
            <a:endParaRPr lang="zh-CN" altLang="en-US" sz="2400" dirty="0">
              <a:solidFill>
                <a:srgbClr val="FF0000"/>
              </a:solidFill>
            </a:endParaRPr>
          </a:p>
        </p:txBody>
      </p:sp>
      <p:grpSp>
        <p:nvGrpSpPr>
          <p:cNvPr id="60" name="组合 59">
            <a:extLst>
              <a:ext uri="{FF2B5EF4-FFF2-40B4-BE49-F238E27FC236}">
                <a16:creationId xmlns:a16="http://schemas.microsoft.com/office/drawing/2014/main" id="{378E2973-2E2A-4E4D-A751-756788F29A1F}"/>
              </a:ext>
            </a:extLst>
          </p:cNvPr>
          <p:cNvGrpSpPr/>
          <p:nvPr/>
        </p:nvGrpSpPr>
        <p:grpSpPr>
          <a:xfrm>
            <a:off x="6178432" y="5280829"/>
            <a:ext cx="1597070" cy="1085593"/>
            <a:chOff x="3120764" y="1928099"/>
            <a:chExt cx="1597070" cy="1085593"/>
          </a:xfrm>
        </p:grpSpPr>
        <p:sp>
          <p:nvSpPr>
            <p:cNvPr id="62" name="矩形 61">
              <a:extLst>
                <a:ext uri="{FF2B5EF4-FFF2-40B4-BE49-F238E27FC236}">
                  <a16:creationId xmlns:a16="http://schemas.microsoft.com/office/drawing/2014/main" id="{07E793CA-DFBD-4FA0-A733-E11F74D36F94}"/>
                </a:ext>
              </a:extLst>
            </p:cNvPr>
            <p:cNvSpPr/>
            <p:nvPr/>
          </p:nvSpPr>
          <p:spPr>
            <a:xfrm>
              <a:off x="3120764" y="1928099"/>
              <a:ext cx="1597070" cy="1085593"/>
            </a:xfrm>
            <a:prstGeom prst="rect">
              <a:avLst/>
            </a:prstGeom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7" name="矩形 66">
              <a:extLst>
                <a:ext uri="{FF2B5EF4-FFF2-40B4-BE49-F238E27FC236}">
                  <a16:creationId xmlns:a16="http://schemas.microsoft.com/office/drawing/2014/main" id="{87A1789F-FD25-4EA9-82B1-21542FF66EBD}"/>
                </a:ext>
              </a:extLst>
            </p:cNvPr>
            <p:cNvSpPr/>
            <p:nvPr/>
          </p:nvSpPr>
          <p:spPr>
            <a:xfrm>
              <a:off x="3251519" y="2029839"/>
              <a:ext cx="1326466" cy="244586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400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20</a:t>
              </a:r>
              <a:endParaRPr lang="zh-CN" altLang="en-US" sz="1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8" name="矩形 67">
              <a:extLst>
                <a:ext uri="{FF2B5EF4-FFF2-40B4-BE49-F238E27FC236}">
                  <a16:creationId xmlns:a16="http://schemas.microsoft.com/office/drawing/2014/main" id="{C31E2AF4-4729-4C6F-9A90-BFBF127DE784}"/>
                </a:ext>
              </a:extLst>
            </p:cNvPr>
            <p:cNvSpPr/>
            <p:nvPr/>
          </p:nvSpPr>
          <p:spPr>
            <a:xfrm>
              <a:off x="3251519" y="2677089"/>
              <a:ext cx="1326466" cy="244586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9" name="矩形 68">
              <a:extLst>
                <a:ext uri="{FF2B5EF4-FFF2-40B4-BE49-F238E27FC236}">
                  <a16:creationId xmlns:a16="http://schemas.microsoft.com/office/drawing/2014/main" id="{2B3662CF-18DE-4C7A-8C8A-45397FFB95E2}"/>
                </a:ext>
              </a:extLst>
            </p:cNvPr>
            <p:cNvSpPr/>
            <p:nvPr/>
          </p:nvSpPr>
          <p:spPr>
            <a:xfrm>
              <a:off x="3251519" y="2353464"/>
              <a:ext cx="1326466" cy="244586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cxnSp>
        <p:nvCxnSpPr>
          <p:cNvPr id="70" name="连接符: 曲线 69">
            <a:extLst>
              <a:ext uri="{FF2B5EF4-FFF2-40B4-BE49-F238E27FC236}">
                <a16:creationId xmlns:a16="http://schemas.microsoft.com/office/drawing/2014/main" id="{817C21DE-6C87-4CC9-ABD2-D1715C3173EA}"/>
              </a:ext>
            </a:extLst>
          </p:cNvPr>
          <p:cNvCxnSpPr>
            <a:cxnSpLocks/>
            <a:stCxn id="58" idx="3"/>
            <a:endCxn id="62" idx="1"/>
          </p:cNvCxnSpPr>
          <p:nvPr/>
        </p:nvCxnSpPr>
        <p:spPr>
          <a:xfrm>
            <a:off x="2594840" y="4785889"/>
            <a:ext cx="3583592" cy="1037737"/>
          </a:xfrm>
          <a:prstGeom prst="curvedConnector3">
            <a:avLst>
              <a:gd name="adj1" fmla="val 28548"/>
            </a:avLst>
          </a:prstGeom>
          <a:ln w="38100">
            <a:solidFill>
              <a:srgbClr val="FF0000"/>
            </a:solidFill>
            <a:headEnd type="oval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矩形 64">
            <a:extLst>
              <a:ext uri="{FF2B5EF4-FFF2-40B4-BE49-F238E27FC236}">
                <a16:creationId xmlns:a16="http://schemas.microsoft.com/office/drawing/2014/main" id="{CF8D5D12-C8F4-4CEB-928C-1379A9D73800}"/>
              </a:ext>
            </a:extLst>
          </p:cNvPr>
          <p:cNvSpPr/>
          <p:nvPr/>
        </p:nvSpPr>
        <p:spPr>
          <a:xfrm>
            <a:off x="8504614" y="3670180"/>
            <a:ext cx="3187155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b="1" dirty="0">
                <a:latin typeface="Inconsolata"/>
              </a:rPr>
              <a:t>Find 20</a:t>
            </a:r>
          </a:p>
          <a:p>
            <a:r>
              <a:rPr lang="en-US" altLang="zh-CN" b="1" i="1" dirty="0">
                <a:solidFill>
                  <a:srgbClr val="FF0000"/>
                </a:solidFill>
                <a:latin typeface="Crimson Text"/>
              </a:rPr>
              <a:t>hash</a:t>
            </a:r>
            <a:r>
              <a:rPr lang="en-US" altLang="zh-CN" b="1" i="1" baseline="-25000" dirty="0">
                <a:solidFill>
                  <a:srgbClr val="FF0000"/>
                </a:solidFill>
                <a:latin typeface="Crimson Text"/>
              </a:rPr>
              <a:t>1</a:t>
            </a:r>
            <a:r>
              <a:rPr lang="en-US" altLang="zh-CN" b="1" i="1" dirty="0">
                <a:solidFill>
                  <a:srgbClr val="FF0000"/>
                </a:solidFill>
                <a:latin typeface="Crimson Text"/>
              </a:rPr>
              <a:t>(20) </a:t>
            </a:r>
            <a:r>
              <a:rPr lang="en-US" altLang="zh-CN" b="1" dirty="0">
                <a:solidFill>
                  <a:srgbClr val="FF0000"/>
                </a:solidFill>
                <a:latin typeface="Inconsolata"/>
              </a:rPr>
              <a:t>= 20 % 4 = 0</a:t>
            </a:r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66" name="箭头: 右 65">
            <a:extLst>
              <a:ext uri="{FF2B5EF4-FFF2-40B4-BE49-F238E27FC236}">
                <a16:creationId xmlns:a16="http://schemas.microsoft.com/office/drawing/2014/main" id="{95D66C8D-9DEF-4B8F-8488-ACE77977CA32}"/>
              </a:ext>
            </a:extLst>
          </p:cNvPr>
          <p:cNvSpPr/>
          <p:nvPr/>
        </p:nvSpPr>
        <p:spPr>
          <a:xfrm>
            <a:off x="584311" y="3517782"/>
            <a:ext cx="447001" cy="482725"/>
          </a:xfrm>
          <a:prstGeom prst="rightArrow">
            <a:avLst/>
          </a:prstGeom>
          <a:solidFill>
            <a:schemeClr val="bg1">
              <a:lumMod val="5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solidFill>
                  <a:schemeClr val="tx1"/>
                </a:solidFill>
              </a:rPr>
              <a:t>1</a:t>
            </a:r>
            <a:endParaRPr lang="zh-CN" altLang="en-US" b="1" dirty="0">
              <a:solidFill>
                <a:schemeClr val="tx1"/>
              </a:solidFill>
            </a:endParaRPr>
          </a:p>
        </p:txBody>
      </p:sp>
      <p:cxnSp>
        <p:nvCxnSpPr>
          <p:cNvPr id="76" name="直接连接符 75">
            <a:extLst>
              <a:ext uri="{FF2B5EF4-FFF2-40B4-BE49-F238E27FC236}">
                <a16:creationId xmlns:a16="http://schemas.microsoft.com/office/drawing/2014/main" id="{D16280A4-5575-4CDA-961A-5B6151C7C2F1}"/>
              </a:ext>
            </a:extLst>
          </p:cNvPr>
          <p:cNvCxnSpPr/>
          <p:nvPr/>
        </p:nvCxnSpPr>
        <p:spPr>
          <a:xfrm>
            <a:off x="1271390" y="2779115"/>
            <a:ext cx="0" cy="2494401"/>
          </a:xfrm>
          <a:prstGeom prst="line">
            <a:avLst/>
          </a:prstGeom>
          <a:ln w="50800">
            <a:solidFill>
              <a:schemeClr val="bg1">
                <a:lumMod val="50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7" name="箭头: 右 76">
            <a:extLst>
              <a:ext uri="{FF2B5EF4-FFF2-40B4-BE49-F238E27FC236}">
                <a16:creationId xmlns:a16="http://schemas.microsoft.com/office/drawing/2014/main" id="{3E9F9E4A-3DDD-484D-8BE3-66DF32266E10}"/>
              </a:ext>
            </a:extLst>
          </p:cNvPr>
          <p:cNvSpPr/>
          <p:nvPr/>
        </p:nvSpPr>
        <p:spPr>
          <a:xfrm>
            <a:off x="1762124" y="3258983"/>
            <a:ext cx="308113" cy="305815"/>
          </a:xfrm>
          <a:prstGeom prst="right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9179FCDC-7FF3-4A9F-B8D6-E02A67FFA866}"/>
              </a:ext>
            </a:extLst>
          </p:cNvPr>
          <p:cNvCxnSpPr>
            <a:cxnSpLocks/>
          </p:cNvCxnSpPr>
          <p:nvPr/>
        </p:nvCxnSpPr>
        <p:spPr>
          <a:xfrm>
            <a:off x="314038" y="3564798"/>
            <a:ext cx="2411557" cy="0"/>
          </a:xfrm>
          <a:prstGeom prst="line">
            <a:avLst/>
          </a:prstGeom>
          <a:ln w="12700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024704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5" grpId="0"/>
      <p:bldP spid="77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9BBCCEF-D42F-420B-9CC2-98A9815DB6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Linear Hashing</a:t>
            </a:r>
            <a:endParaRPr lang="zh-CN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2905825-8EE0-4CF0-A05E-CAFDF944FB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71C21C-89F6-4947-8FCF-1D00A72B761B}" type="datetime1">
              <a:rPr lang="zh-CN" altLang="en-US" smtClean="0"/>
              <a:t>2024/5/8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ED664A2-5898-4C25-86F3-E969A94A39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altLang="zh-CN"/>
              <a:t>Hash Indices</a:t>
            </a: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34B9AF0-AA69-4CFE-BBF2-A55EB4555B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5CA875-76FA-4283-B5BE-070B4D16A27E}" type="slidenum">
              <a:rPr lang="zh-CN" altLang="en-US" smtClean="0"/>
              <a:t>30</a:t>
            </a:fld>
            <a:endParaRPr lang="zh-CN" altLang="en-US"/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F7CFF25C-12CE-407F-87E3-81133BE304C8}"/>
              </a:ext>
            </a:extLst>
          </p:cNvPr>
          <p:cNvGrpSpPr/>
          <p:nvPr/>
        </p:nvGrpSpPr>
        <p:grpSpPr>
          <a:xfrm>
            <a:off x="3983229" y="1785539"/>
            <a:ext cx="1597070" cy="1085593"/>
            <a:chOff x="3120764" y="1928099"/>
            <a:chExt cx="1597070" cy="1085593"/>
          </a:xfrm>
        </p:grpSpPr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9DD2C9B2-7A77-41FB-AF7D-A6C280ABA039}"/>
                </a:ext>
              </a:extLst>
            </p:cNvPr>
            <p:cNvSpPr/>
            <p:nvPr/>
          </p:nvSpPr>
          <p:spPr>
            <a:xfrm>
              <a:off x="3120764" y="1928099"/>
              <a:ext cx="1597070" cy="1085593"/>
            </a:xfrm>
            <a:prstGeom prst="rect">
              <a:avLst/>
            </a:prstGeom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矩形 8">
              <a:extLst>
                <a:ext uri="{FF2B5EF4-FFF2-40B4-BE49-F238E27FC236}">
                  <a16:creationId xmlns:a16="http://schemas.microsoft.com/office/drawing/2014/main" id="{0E7DB8D6-3C78-4AF8-9952-BB7500DE45FA}"/>
                </a:ext>
              </a:extLst>
            </p:cNvPr>
            <p:cNvSpPr/>
            <p:nvPr/>
          </p:nvSpPr>
          <p:spPr>
            <a:xfrm>
              <a:off x="3251519" y="2029839"/>
              <a:ext cx="1326466" cy="244586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4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8</a:t>
              </a:r>
              <a:endParaRPr lang="zh-CN" altLang="en-US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" name="矩形 10">
              <a:extLst>
                <a:ext uri="{FF2B5EF4-FFF2-40B4-BE49-F238E27FC236}">
                  <a16:creationId xmlns:a16="http://schemas.microsoft.com/office/drawing/2014/main" id="{A468E8D4-4AE3-479A-99AE-73187116092C}"/>
                </a:ext>
              </a:extLst>
            </p:cNvPr>
            <p:cNvSpPr/>
            <p:nvPr/>
          </p:nvSpPr>
          <p:spPr>
            <a:xfrm>
              <a:off x="3251519" y="2677089"/>
              <a:ext cx="1326466" cy="244586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2" name="矩形 21">
              <a:extLst>
                <a:ext uri="{FF2B5EF4-FFF2-40B4-BE49-F238E27FC236}">
                  <a16:creationId xmlns:a16="http://schemas.microsoft.com/office/drawing/2014/main" id="{9F0A11C6-1E0E-4BA1-A041-8423A80ADE65}"/>
                </a:ext>
              </a:extLst>
            </p:cNvPr>
            <p:cNvSpPr/>
            <p:nvPr/>
          </p:nvSpPr>
          <p:spPr>
            <a:xfrm>
              <a:off x="3251519" y="2353464"/>
              <a:ext cx="1326466" cy="244586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A8F2B301-0401-4DE0-A790-17FD885726F1}"/>
              </a:ext>
            </a:extLst>
          </p:cNvPr>
          <p:cNvGrpSpPr/>
          <p:nvPr/>
        </p:nvGrpSpPr>
        <p:grpSpPr>
          <a:xfrm>
            <a:off x="3983229" y="2962637"/>
            <a:ext cx="1597070" cy="1085593"/>
            <a:chOff x="3120764" y="1928099"/>
            <a:chExt cx="1597070" cy="1085593"/>
          </a:xfrm>
        </p:grpSpPr>
        <p:sp>
          <p:nvSpPr>
            <p:cNvPr id="25" name="矩形 24">
              <a:extLst>
                <a:ext uri="{FF2B5EF4-FFF2-40B4-BE49-F238E27FC236}">
                  <a16:creationId xmlns:a16="http://schemas.microsoft.com/office/drawing/2014/main" id="{8E64044D-7EE3-4418-9233-70933F0B3FA4}"/>
                </a:ext>
              </a:extLst>
            </p:cNvPr>
            <p:cNvSpPr/>
            <p:nvPr/>
          </p:nvSpPr>
          <p:spPr>
            <a:xfrm>
              <a:off x="3120764" y="1928099"/>
              <a:ext cx="1597070" cy="1085593"/>
            </a:xfrm>
            <a:prstGeom prst="rect">
              <a:avLst/>
            </a:prstGeom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6" name="矩形 25">
              <a:extLst>
                <a:ext uri="{FF2B5EF4-FFF2-40B4-BE49-F238E27FC236}">
                  <a16:creationId xmlns:a16="http://schemas.microsoft.com/office/drawing/2014/main" id="{3B7D9748-8966-4F1E-9D3A-E966B84DF98B}"/>
                </a:ext>
              </a:extLst>
            </p:cNvPr>
            <p:cNvSpPr/>
            <p:nvPr/>
          </p:nvSpPr>
          <p:spPr>
            <a:xfrm>
              <a:off x="3251519" y="2029839"/>
              <a:ext cx="1326466" cy="244586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4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5</a:t>
              </a:r>
              <a:endParaRPr lang="zh-CN" altLang="en-US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7" name="矩形 26">
              <a:extLst>
                <a:ext uri="{FF2B5EF4-FFF2-40B4-BE49-F238E27FC236}">
                  <a16:creationId xmlns:a16="http://schemas.microsoft.com/office/drawing/2014/main" id="{B4FFE470-7A43-4443-8558-3B64C4C75B6C}"/>
                </a:ext>
              </a:extLst>
            </p:cNvPr>
            <p:cNvSpPr/>
            <p:nvPr/>
          </p:nvSpPr>
          <p:spPr>
            <a:xfrm>
              <a:off x="3251519" y="2677089"/>
              <a:ext cx="1326466" cy="244586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4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13</a:t>
              </a:r>
              <a:endParaRPr lang="zh-CN" altLang="en-US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8" name="矩形 27">
              <a:extLst>
                <a:ext uri="{FF2B5EF4-FFF2-40B4-BE49-F238E27FC236}">
                  <a16:creationId xmlns:a16="http://schemas.microsoft.com/office/drawing/2014/main" id="{70C780C4-0F9F-46AB-9B75-A41DBB7C9E83}"/>
                </a:ext>
              </a:extLst>
            </p:cNvPr>
            <p:cNvSpPr/>
            <p:nvPr/>
          </p:nvSpPr>
          <p:spPr>
            <a:xfrm>
              <a:off x="3251519" y="2353464"/>
              <a:ext cx="1326466" cy="244586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4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9</a:t>
              </a:r>
              <a:endParaRPr lang="zh-CN" altLang="en-US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29" name="组合 28">
            <a:extLst>
              <a:ext uri="{FF2B5EF4-FFF2-40B4-BE49-F238E27FC236}">
                <a16:creationId xmlns:a16="http://schemas.microsoft.com/office/drawing/2014/main" id="{AB7D4DA5-6BFF-4B22-92AF-64EEE45E476E}"/>
              </a:ext>
            </a:extLst>
          </p:cNvPr>
          <p:cNvGrpSpPr/>
          <p:nvPr/>
        </p:nvGrpSpPr>
        <p:grpSpPr>
          <a:xfrm>
            <a:off x="3974950" y="4130116"/>
            <a:ext cx="1597070" cy="1085593"/>
            <a:chOff x="3120764" y="1928099"/>
            <a:chExt cx="1597070" cy="1085593"/>
          </a:xfrm>
        </p:grpSpPr>
        <p:sp>
          <p:nvSpPr>
            <p:cNvPr id="30" name="矩形 29">
              <a:extLst>
                <a:ext uri="{FF2B5EF4-FFF2-40B4-BE49-F238E27FC236}">
                  <a16:creationId xmlns:a16="http://schemas.microsoft.com/office/drawing/2014/main" id="{F042259E-C5A9-4C47-A14F-D76DD2163449}"/>
                </a:ext>
              </a:extLst>
            </p:cNvPr>
            <p:cNvSpPr/>
            <p:nvPr/>
          </p:nvSpPr>
          <p:spPr>
            <a:xfrm>
              <a:off x="3120764" y="1928099"/>
              <a:ext cx="1597070" cy="1085593"/>
            </a:xfrm>
            <a:prstGeom prst="rect">
              <a:avLst/>
            </a:prstGeom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1" name="矩形 30">
              <a:extLst>
                <a:ext uri="{FF2B5EF4-FFF2-40B4-BE49-F238E27FC236}">
                  <a16:creationId xmlns:a16="http://schemas.microsoft.com/office/drawing/2014/main" id="{CFE52B74-A3C0-4F33-938A-827402025101}"/>
                </a:ext>
              </a:extLst>
            </p:cNvPr>
            <p:cNvSpPr/>
            <p:nvPr/>
          </p:nvSpPr>
          <p:spPr>
            <a:xfrm>
              <a:off x="3251519" y="2029839"/>
              <a:ext cx="1326466" cy="244586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4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6</a:t>
              </a:r>
              <a:endParaRPr lang="zh-CN" altLang="en-US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2" name="矩形 31">
              <a:extLst>
                <a:ext uri="{FF2B5EF4-FFF2-40B4-BE49-F238E27FC236}">
                  <a16:creationId xmlns:a16="http://schemas.microsoft.com/office/drawing/2014/main" id="{9DE5FE26-28FA-4A6D-ADAE-AA94959430F6}"/>
                </a:ext>
              </a:extLst>
            </p:cNvPr>
            <p:cNvSpPr/>
            <p:nvPr/>
          </p:nvSpPr>
          <p:spPr>
            <a:xfrm>
              <a:off x="3251519" y="2677089"/>
              <a:ext cx="1326466" cy="244586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3" name="矩形 32">
              <a:extLst>
                <a:ext uri="{FF2B5EF4-FFF2-40B4-BE49-F238E27FC236}">
                  <a16:creationId xmlns:a16="http://schemas.microsoft.com/office/drawing/2014/main" id="{F7659D25-0593-45AA-93D9-4B7502D5FE42}"/>
                </a:ext>
              </a:extLst>
            </p:cNvPr>
            <p:cNvSpPr/>
            <p:nvPr/>
          </p:nvSpPr>
          <p:spPr>
            <a:xfrm>
              <a:off x="3251519" y="2353464"/>
              <a:ext cx="1326466" cy="244586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34" name="组合 33">
            <a:extLst>
              <a:ext uri="{FF2B5EF4-FFF2-40B4-BE49-F238E27FC236}">
                <a16:creationId xmlns:a16="http://schemas.microsoft.com/office/drawing/2014/main" id="{EE20B405-6E43-4E87-A925-7A94CE04AC11}"/>
              </a:ext>
            </a:extLst>
          </p:cNvPr>
          <p:cNvGrpSpPr/>
          <p:nvPr/>
        </p:nvGrpSpPr>
        <p:grpSpPr>
          <a:xfrm>
            <a:off x="3970403" y="5296762"/>
            <a:ext cx="1597070" cy="1085593"/>
            <a:chOff x="3120764" y="1928099"/>
            <a:chExt cx="1597070" cy="1085593"/>
          </a:xfrm>
        </p:grpSpPr>
        <p:sp>
          <p:nvSpPr>
            <p:cNvPr id="35" name="矩形 34">
              <a:extLst>
                <a:ext uri="{FF2B5EF4-FFF2-40B4-BE49-F238E27FC236}">
                  <a16:creationId xmlns:a16="http://schemas.microsoft.com/office/drawing/2014/main" id="{1D08EEFC-C1DA-4024-94A2-657D610B6176}"/>
                </a:ext>
              </a:extLst>
            </p:cNvPr>
            <p:cNvSpPr/>
            <p:nvPr/>
          </p:nvSpPr>
          <p:spPr>
            <a:xfrm>
              <a:off x="3120764" y="1928099"/>
              <a:ext cx="1597070" cy="1085593"/>
            </a:xfrm>
            <a:prstGeom prst="rect">
              <a:avLst/>
            </a:prstGeom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6" name="矩形 35">
              <a:extLst>
                <a:ext uri="{FF2B5EF4-FFF2-40B4-BE49-F238E27FC236}">
                  <a16:creationId xmlns:a16="http://schemas.microsoft.com/office/drawing/2014/main" id="{666ABB10-656B-41EE-826D-8D4F4A1E9930}"/>
                </a:ext>
              </a:extLst>
            </p:cNvPr>
            <p:cNvSpPr/>
            <p:nvPr/>
          </p:nvSpPr>
          <p:spPr>
            <a:xfrm>
              <a:off x="3251519" y="2029839"/>
              <a:ext cx="1326466" cy="244586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4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7</a:t>
              </a:r>
              <a:endParaRPr lang="zh-CN" altLang="en-US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7" name="矩形 36">
              <a:extLst>
                <a:ext uri="{FF2B5EF4-FFF2-40B4-BE49-F238E27FC236}">
                  <a16:creationId xmlns:a16="http://schemas.microsoft.com/office/drawing/2014/main" id="{1C592B3C-9CDB-4E94-9586-9983ECFE1E06}"/>
                </a:ext>
              </a:extLst>
            </p:cNvPr>
            <p:cNvSpPr/>
            <p:nvPr/>
          </p:nvSpPr>
          <p:spPr>
            <a:xfrm>
              <a:off x="3251519" y="2677089"/>
              <a:ext cx="1326466" cy="244586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8" name="矩形 37">
              <a:extLst>
                <a:ext uri="{FF2B5EF4-FFF2-40B4-BE49-F238E27FC236}">
                  <a16:creationId xmlns:a16="http://schemas.microsoft.com/office/drawing/2014/main" id="{28A016A7-A959-4D9B-AE3E-CDEF9166E6DD}"/>
                </a:ext>
              </a:extLst>
            </p:cNvPr>
            <p:cNvSpPr/>
            <p:nvPr/>
          </p:nvSpPr>
          <p:spPr>
            <a:xfrm>
              <a:off x="3251519" y="2353464"/>
              <a:ext cx="1326466" cy="244586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4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11</a:t>
              </a:r>
              <a:endParaRPr lang="zh-CN" altLang="en-US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43" name="矩形 42">
            <a:extLst>
              <a:ext uri="{FF2B5EF4-FFF2-40B4-BE49-F238E27FC236}">
                <a16:creationId xmlns:a16="http://schemas.microsoft.com/office/drawing/2014/main" id="{AAB6DA76-BC38-4996-9044-32BD0E4A0295}"/>
              </a:ext>
            </a:extLst>
          </p:cNvPr>
          <p:cNvSpPr/>
          <p:nvPr/>
        </p:nvSpPr>
        <p:spPr>
          <a:xfrm>
            <a:off x="339310" y="5544540"/>
            <a:ext cx="2908151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b="1" i="1" dirty="0">
                <a:solidFill>
                  <a:srgbClr val="FF0000"/>
                </a:solidFill>
                <a:latin typeface="Crimson Text"/>
              </a:rPr>
              <a:t>hash</a:t>
            </a:r>
            <a:r>
              <a:rPr lang="en-US" altLang="zh-CN" sz="2400" b="1" baseline="-25000" dirty="0">
                <a:solidFill>
                  <a:srgbClr val="FF0000"/>
                </a:solidFill>
                <a:latin typeface="Crimson Text"/>
              </a:rPr>
              <a:t>1</a:t>
            </a:r>
            <a:r>
              <a:rPr lang="en-US" altLang="zh-CN" sz="2400" b="1" i="1" dirty="0">
                <a:solidFill>
                  <a:srgbClr val="FF0000"/>
                </a:solidFill>
                <a:latin typeface="Crimson Text"/>
              </a:rPr>
              <a:t>(key) = key % n</a:t>
            </a:r>
            <a:endParaRPr lang="zh-CN" altLang="en-US" sz="2400" dirty="0">
              <a:solidFill>
                <a:srgbClr val="FF0000"/>
              </a:solidFill>
            </a:endParaRPr>
          </a:p>
        </p:txBody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C712B760-4D9B-4F7F-A1B3-575B70ACB14C}"/>
              </a:ext>
            </a:extLst>
          </p:cNvPr>
          <p:cNvSpPr/>
          <p:nvPr/>
        </p:nvSpPr>
        <p:spPr>
          <a:xfrm>
            <a:off x="314038" y="2008672"/>
            <a:ext cx="143454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b="1" i="1" dirty="0">
                <a:solidFill>
                  <a:srgbClr val="FF0000"/>
                </a:solidFill>
                <a:latin typeface="Crimson Text"/>
              </a:rPr>
              <a:t>Split Pointer</a:t>
            </a:r>
            <a:endParaRPr lang="zh-CN" altLang="en-US" dirty="0">
              <a:solidFill>
                <a:srgbClr val="FF0000"/>
              </a:solidFill>
            </a:endParaRPr>
          </a:p>
        </p:txBody>
      </p:sp>
      <p:grpSp>
        <p:nvGrpSpPr>
          <p:cNvPr id="45" name="组合 44">
            <a:extLst>
              <a:ext uri="{FF2B5EF4-FFF2-40B4-BE49-F238E27FC236}">
                <a16:creationId xmlns:a16="http://schemas.microsoft.com/office/drawing/2014/main" id="{232CDEFB-2E87-4A2F-B5CF-8951B8E7D222}"/>
              </a:ext>
            </a:extLst>
          </p:cNvPr>
          <p:cNvGrpSpPr/>
          <p:nvPr/>
        </p:nvGrpSpPr>
        <p:grpSpPr>
          <a:xfrm>
            <a:off x="2115329" y="3215915"/>
            <a:ext cx="479511" cy="1395532"/>
            <a:chOff x="1626762" y="2964260"/>
            <a:chExt cx="479511" cy="1395532"/>
          </a:xfrm>
        </p:grpSpPr>
        <p:sp>
          <p:nvSpPr>
            <p:cNvPr id="46" name="矩形 45">
              <a:extLst>
                <a:ext uri="{FF2B5EF4-FFF2-40B4-BE49-F238E27FC236}">
                  <a16:creationId xmlns:a16="http://schemas.microsoft.com/office/drawing/2014/main" id="{A7CB772C-F832-4EFA-B806-7B5969E6B53B}"/>
                </a:ext>
              </a:extLst>
            </p:cNvPr>
            <p:cNvSpPr/>
            <p:nvPr/>
          </p:nvSpPr>
          <p:spPr>
            <a:xfrm>
              <a:off x="1626762" y="2964260"/>
              <a:ext cx="479511" cy="348883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b="1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0</a:t>
              </a:r>
              <a:endParaRPr lang="zh-CN" altLang="en-US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7" name="矩形 46">
              <a:extLst>
                <a:ext uri="{FF2B5EF4-FFF2-40B4-BE49-F238E27FC236}">
                  <a16:creationId xmlns:a16="http://schemas.microsoft.com/office/drawing/2014/main" id="{CEF3D8FE-BA2F-4BAF-9771-853397C09FEC}"/>
                </a:ext>
              </a:extLst>
            </p:cNvPr>
            <p:cNvSpPr/>
            <p:nvPr/>
          </p:nvSpPr>
          <p:spPr>
            <a:xfrm>
              <a:off x="1626762" y="3313143"/>
              <a:ext cx="479511" cy="348883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b="1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</a:t>
              </a:r>
              <a:endParaRPr lang="zh-CN" altLang="en-US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8" name="矩形 47">
              <a:extLst>
                <a:ext uri="{FF2B5EF4-FFF2-40B4-BE49-F238E27FC236}">
                  <a16:creationId xmlns:a16="http://schemas.microsoft.com/office/drawing/2014/main" id="{937F1EDB-F61B-47F4-A685-18507080A34E}"/>
                </a:ext>
              </a:extLst>
            </p:cNvPr>
            <p:cNvSpPr/>
            <p:nvPr/>
          </p:nvSpPr>
          <p:spPr>
            <a:xfrm>
              <a:off x="1626762" y="3662026"/>
              <a:ext cx="479511" cy="348883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b="1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2</a:t>
              </a:r>
              <a:endParaRPr lang="zh-CN" altLang="en-US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9" name="矩形 48">
              <a:extLst>
                <a:ext uri="{FF2B5EF4-FFF2-40B4-BE49-F238E27FC236}">
                  <a16:creationId xmlns:a16="http://schemas.microsoft.com/office/drawing/2014/main" id="{9217AC55-5718-48DD-9B43-8D9DB0C1F661}"/>
                </a:ext>
              </a:extLst>
            </p:cNvPr>
            <p:cNvSpPr/>
            <p:nvPr/>
          </p:nvSpPr>
          <p:spPr>
            <a:xfrm>
              <a:off x="1626762" y="4010909"/>
              <a:ext cx="479511" cy="348883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b="1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3</a:t>
              </a:r>
              <a:endParaRPr lang="zh-CN" altLang="en-US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cxnSp>
        <p:nvCxnSpPr>
          <p:cNvPr id="56" name="连接符: 曲线 55">
            <a:extLst>
              <a:ext uri="{FF2B5EF4-FFF2-40B4-BE49-F238E27FC236}">
                <a16:creationId xmlns:a16="http://schemas.microsoft.com/office/drawing/2014/main" id="{DE6F5C0A-2E0E-4223-8305-515B09AE8DF0}"/>
              </a:ext>
            </a:extLst>
          </p:cNvPr>
          <p:cNvCxnSpPr>
            <a:cxnSpLocks/>
            <a:stCxn id="48" idx="3"/>
            <a:endCxn id="30" idx="1"/>
          </p:cNvCxnSpPr>
          <p:nvPr/>
        </p:nvCxnSpPr>
        <p:spPr>
          <a:xfrm>
            <a:off x="2594840" y="4088123"/>
            <a:ext cx="1380110" cy="584790"/>
          </a:xfrm>
          <a:prstGeom prst="curvedConnector3">
            <a:avLst/>
          </a:prstGeom>
          <a:ln w="38100">
            <a:solidFill>
              <a:srgbClr val="FF0000"/>
            </a:solidFill>
            <a:headEnd type="oval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连接符: 曲线 18">
            <a:extLst>
              <a:ext uri="{FF2B5EF4-FFF2-40B4-BE49-F238E27FC236}">
                <a16:creationId xmlns:a16="http://schemas.microsoft.com/office/drawing/2014/main" id="{3E14C3CE-1F6A-461E-86A3-7B85608221F8}"/>
              </a:ext>
            </a:extLst>
          </p:cNvPr>
          <p:cNvCxnSpPr>
            <a:cxnSpLocks/>
            <a:stCxn id="46" idx="3"/>
            <a:endCxn id="7" idx="1"/>
          </p:cNvCxnSpPr>
          <p:nvPr/>
        </p:nvCxnSpPr>
        <p:spPr>
          <a:xfrm flipV="1">
            <a:off x="2594840" y="2328336"/>
            <a:ext cx="1388389" cy="1062021"/>
          </a:xfrm>
          <a:prstGeom prst="curvedConnector3">
            <a:avLst>
              <a:gd name="adj1" fmla="val 50000"/>
            </a:avLst>
          </a:prstGeom>
          <a:ln w="38100">
            <a:solidFill>
              <a:srgbClr val="FF0000"/>
            </a:solidFill>
            <a:headEnd type="oval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连接符: 曲线 19">
            <a:extLst>
              <a:ext uri="{FF2B5EF4-FFF2-40B4-BE49-F238E27FC236}">
                <a16:creationId xmlns:a16="http://schemas.microsoft.com/office/drawing/2014/main" id="{CA527AE1-C3F0-4E3A-A9ED-54A861CBF67D}"/>
              </a:ext>
            </a:extLst>
          </p:cNvPr>
          <p:cNvCxnSpPr>
            <a:cxnSpLocks/>
            <a:stCxn id="47" idx="3"/>
            <a:endCxn id="25" idx="1"/>
          </p:cNvCxnSpPr>
          <p:nvPr/>
        </p:nvCxnSpPr>
        <p:spPr>
          <a:xfrm flipV="1">
            <a:off x="2594840" y="3505434"/>
            <a:ext cx="1388389" cy="233806"/>
          </a:xfrm>
          <a:prstGeom prst="curvedConnector3">
            <a:avLst>
              <a:gd name="adj1" fmla="val 50000"/>
            </a:avLst>
          </a:prstGeom>
          <a:ln w="38100">
            <a:solidFill>
              <a:srgbClr val="FF0000"/>
            </a:solidFill>
            <a:headEnd type="oval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矩形 63">
            <a:extLst>
              <a:ext uri="{FF2B5EF4-FFF2-40B4-BE49-F238E27FC236}">
                <a16:creationId xmlns:a16="http://schemas.microsoft.com/office/drawing/2014/main" id="{AD19BEAC-3566-4A11-9032-BE2CA8E9A5DF}"/>
              </a:ext>
            </a:extLst>
          </p:cNvPr>
          <p:cNvSpPr/>
          <p:nvPr/>
        </p:nvSpPr>
        <p:spPr>
          <a:xfrm>
            <a:off x="8521141" y="1846484"/>
            <a:ext cx="3187155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b="1" dirty="0">
                <a:latin typeface="Inconsolata"/>
              </a:rPr>
              <a:t>Find 6</a:t>
            </a:r>
          </a:p>
          <a:p>
            <a:r>
              <a:rPr lang="en-US" altLang="zh-CN" b="1" i="1" dirty="0">
                <a:solidFill>
                  <a:srgbClr val="FF0000"/>
                </a:solidFill>
                <a:latin typeface="Crimson Text"/>
              </a:rPr>
              <a:t>hash</a:t>
            </a:r>
            <a:r>
              <a:rPr lang="en-US" altLang="zh-CN" b="1" i="1" baseline="-25000" dirty="0">
                <a:solidFill>
                  <a:srgbClr val="FF0000"/>
                </a:solidFill>
                <a:latin typeface="Crimson Text"/>
              </a:rPr>
              <a:t>1</a:t>
            </a:r>
            <a:r>
              <a:rPr lang="en-US" altLang="zh-CN" b="1" i="1" dirty="0">
                <a:solidFill>
                  <a:srgbClr val="FF0000"/>
                </a:solidFill>
                <a:latin typeface="Crimson Text"/>
              </a:rPr>
              <a:t>(6) </a:t>
            </a:r>
            <a:r>
              <a:rPr lang="en-US" altLang="zh-CN" b="1" dirty="0">
                <a:solidFill>
                  <a:srgbClr val="FF0000"/>
                </a:solidFill>
                <a:latin typeface="Inconsolata"/>
              </a:rPr>
              <a:t>= 6 % 4 = 2</a:t>
            </a:r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A732BD68-CE20-4E0C-936D-913770028261}"/>
              </a:ext>
            </a:extLst>
          </p:cNvPr>
          <p:cNvSpPr/>
          <p:nvPr/>
        </p:nvSpPr>
        <p:spPr>
          <a:xfrm>
            <a:off x="8521142" y="2755775"/>
            <a:ext cx="312752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b="1" dirty="0">
                <a:latin typeface="Inconsolata"/>
              </a:rPr>
              <a:t>Insert 17</a:t>
            </a:r>
          </a:p>
          <a:p>
            <a:r>
              <a:rPr lang="en-US" altLang="zh-CN" b="1" i="1" dirty="0">
                <a:solidFill>
                  <a:srgbClr val="FF0000"/>
                </a:solidFill>
                <a:latin typeface="Crimson Text"/>
              </a:rPr>
              <a:t>hash</a:t>
            </a:r>
            <a:r>
              <a:rPr lang="en-US" altLang="zh-CN" b="1" i="1" baseline="-25000" dirty="0">
                <a:solidFill>
                  <a:srgbClr val="FF0000"/>
                </a:solidFill>
                <a:latin typeface="Crimson Text"/>
              </a:rPr>
              <a:t>1</a:t>
            </a:r>
            <a:r>
              <a:rPr lang="en-US" altLang="zh-CN" b="1" i="1" dirty="0">
                <a:solidFill>
                  <a:srgbClr val="FF0000"/>
                </a:solidFill>
                <a:latin typeface="Crimson Text"/>
              </a:rPr>
              <a:t>(17) = 17 % 4 = 1</a:t>
            </a:r>
            <a:endParaRPr lang="zh-CN" altLang="en-US" b="1" i="1" dirty="0">
              <a:solidFill>
                <a:srgbClr val="FF0000"/>
              </a:solidFill>
              <a:latin typeface="Crimson Text"/>
            </a:endParaRPr>
          </a:p>
        </p:txBody>
      </p:sp>
      <p:grpSp>
        <p:nvGrpSpPr>
          <p:cNvPr id="50" name="组合 49">
            <a:extLst>
              <a:ext uri="{FF2B5EF4-FFF2-40B4-BE49-F238E27FC236}">
                <a16:creationId xmlns:a16="http://schemas.microsoft.com/office/drawing/2014/main" id="{4C9C8D87-8447-4926-A309-E35D4DD5BAFA}"/>
              </a:ext>
            </a:extLst>
          </p:cNvPr>
          <p:cNvGrpSpPr/>
          <p:nvPr/>
        </p:nvGrpSpPr>
        <p:grpSpPr>
          <a:xfrm>
            <a:off x="6182979" y="2959928"/>
            <a:ext cx="1597070" cy="1085593"/>
            <a:chOff x="3120764" y="1928099"/>
            <a:chExt cx="1597070" cy="1085593"/>
          </a:xfrm>
        </p:grpSpPr>
        <p:sp>
          <p:nvSpPr>
            <p:cNvPr id="51" name="矩形 50">
              <a:extLst>
                <a:ext uri="{FF2B5EF4-FFF2-40B4-BE49-F238E27FC236}">
                  <a16:creationId xmlns:a16="http://schemas.microsoft.com/office/drawing/2014/main" id="{C3EEB18C-9CC9-4B71-8154-222C8805C8EA}"/>
                </a:ext>
              </a:extLst>
            </p:cNvPr>
            <p:cNvSpPr/>
            <p:nvPr/>
          </p:nvSpPr>
          <p:spPr>
            <a:xfrm>
              <a:off x="3120764" y="1928099"/>
              <a:ext cx="1597070" cy="1085593"/>
            </a:xfrm>
            <a:prstGeom prst="rect">
              <a:avLst/>
            </a:prstGeom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2" name="矩形 51">
              <a:extLst>
                <a:ext uri="{FF2B5EF4-FFF2-40B4-BE49-F238E27FC236}">
                  <a16:creationId xmlns:a16="http://schemas.microsoft.com/office/drawing/2014/main" id="{A8716EAC-7DC5-4561-8933-20770D1A59E1}"/>
                </a:ext>
              </a:extLst>
            </p:cNvPr>
            <p:cNvSpPr/>
            <p:nvPr/>
          </p:nvSpPr>
          <p:spPr>
            <a:xfrm>
              <a:off x="3251519" y="2029839"/>
              <a:ext cx="1326466" cy="244586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4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17</a:t>
              </a:r>
              <a:endParaRPr lang="zh-CN" altLang="en-US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3" name="矩形 52">
              <a:extLst>
                <a:ext uri="{FF2B5EF4-FFF2-40B4-BE49-F238E27FC236}">
                  <a16:creationId xmlns:a16="http://schemas.microsoft.com/office/drawing/2014/main" id="{3A00454B-CEE6-476B-A956-51D655260146}"/>
                </a:ext>
              </a:extLst>
            </p:cNvPr>
            <p:cNvSpPr/>
            <p:nvPr/>
          </p:nvSpPr>
          <p:spPr>
            <a:xfrm>
              <a:off x="3251519" y="2677089"/>
              <a:ext cx="1326466" cy="244586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4" name="矩形 53">
              <a:extLst>
                <a:ext uri="{FF2B5EF4-FFF2-40B4-BE49-F238E27FC236}">
                  <a16:creationId xmlns:a16="http://schemas.microsoft.com/office/drawing/2014/main" id="{7B71EF36-D0AB-4E27-BCDA-B47DA16CEDA3}"/>
                </a:ext>
              </a:extLst>
            </p:cNvPr>
            <p:cNvSpPr/>
            <p:nvPr/>
          </p:nvSpPr>
          <p:spPr>
            <a:xfrm>
              <a:off x="3251519" y="2353464"/>
              <a:ext cx="1326466" cy="244586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cxnSp>
        <p:nvCxnSpPr>
          <p:cNvPr id="55" name="连接符: 曲线 54">
            <a:extLst>
              <a:ext uri="{FF2B5EF4-FFF2-40B4-BE49-F238E27FC236}">
                <a16:creationId xmlns:a16="http://schemas.microsoft.com/office/drawing/2014/main" id="{4ACC862F-3265-4490-A92E-B3D91350F288}"/>
              </a:ext>
            </a:extLst>
          </p:cNvPr>
          <p:cNvCxnSpPr>
            <a:cxnSpLocks/>
            <a:stCxn id="25" idx="3"/>
            <a:endCxn id="51" idx="1"/>
          </p:cNvCxnSpPr>
          <p:nvPr/>
        </p:nvCxnSpPr>
        <p:spPr>
          <a:xfrm flipV="1">
            <a:off x="5580299" y="3502725"/>
            <a:ext cx="602680" cy="2709"/>
          </a:xfrm>
          <a:prstGeom prst="curvedConnector3">
            <a:avLst>
              <a:gd name="adj1" fmla="val 50000"/>
            </a:avLst>
          </a:prstGeom>
          <a:ln w="38100">
            <a:solidFill>
              <a:srgbClr val="FF0000"/>
            </a:solidFill>
            <a:headEnd type="oval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矩形 11">
            <a:extLst>
              <a:ext uri="{FF2B5EF4-FFF2-40B4-BE49-F238E27FC236}">
                <a16:creationId xmlns:a16="http://schemas.microsoft.com/office/drawing/2014/main" id="{38EEA0AE-2D72-434C-9807-7EFBD8FE9A4F}"/>
              </a:ext>
            </a:extLst>
          </p:cNvPr>
          <p:cNvSpPr/>
          <p:nvPr/>
        </p:nvSpPr>
        <p:spPr>
          <a:xfrm>
            <a:off x="6432942" y="4092188"/>
            <a:ext cx="112279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b="1" i="1" dirty="0">
                <a:solidFill>
                  <a:srgbClr val="FF0000"/>
                </a:solidFill>
                <a:latin typeface="Museo Sans"/>
              </a:rPr>
              <a:t>Overflow!</a:t>
            </a:r>
            <a:endParaRPr lang="zh-CN" altLang="en-US" b="1" dirty="0">
              <a:solidFill>
                <a:srgbClr val="FF0000"/>
              </a:solidFill>
            </a:endParaRPr>
          </a:p>
        </p:txBody>
      </p:sp>
      <p:sp>
        <p:nvSpPr>
          <p:cNvPr id="58" name="矩形 57">
            <a:extLst>
              <a:ext uri="{FF2B5EF4-FFF2-40B4-BE49-F238E27FC236}">
                <a16:creationId xmlns:a16="http://schemas.microsoft.com/office/drawing/2014/main" id="{260A2FE2-4513-4940-BB6E-0AC48102C918}"/>
              </a:ext>
            </a:extLst>
          </p:cNvPr>
          <p:cNvSpPr/>
          <p:nvPr/>
        </p:nvSpPr>
        <p:spPr>
          <a:xfrm>
            <a:off x="2115329" y="4611447"/>
            <a:ext cx="479511" cy="348883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  <a:endParaRPr lang="zh-CN" altLang="en-US" b="1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21" name="连接符: 曲线 20">
            <a:extLst>
              <a:ext uri="{FF2B5EF4-FFF2-40B4-BE49-F238E27FC236}">
                <a16:creationId xmlns:a16="http://schemas.microsoft.com/office/drawing/2014/main" id="{D2FAF302-55C1-4264-A1DF-850ADFE39EE3}"/>
              </a:ext>
            </a:extLst>
          </p:cNvPr>
          <p:cNvCxnSpPr>
            <a:cxnSpLocks/>
            <a:stCxn id="49" idx="3"/>
            <a:endCxn id="35" idx="1"/>
          </p:cNvCxnSpPr>
          <p:nvPr/>
        </p:nvCxnSpPr>
        <p:spPr>
          <a:xfrm>
            <a:off x="2594840" y="4437006"/>
            <a:ext cx="1375563" cy="1402553"/>
          </a:xfrm>
          <a:prstGeom prst="curvedConnector3">
            <a:avLst/>
          </a:prstGeom>
          <a:ln w="38100">
            <a:solidFill>
              <a:srgbClr val="FF0000"/>
            </a:solidFill>
            <a:headEnd type="oval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矩形 58">
            <a:extLst>
              <a:ext uri="{FF2B5EF4-FFF2-40B4-BE49-F238E27FC236}">
                <a16:creationId xmlns:a16="http://schemas.microsoft.com/office/drawing/2014/main" id="{D4910F66-1A59-47DF-9D6F-CE24AB408D0B}"/>
              </a:ext>
            </a:extLst>
          </p:cNvPr>
          <p:cNvSpPr/>
          <p:nvPr/>
        </p:nvSpPr>
        <p:spPr>
          <a:xfrm>
            <a:off x="339310" y="5900831"/>
            <a:ext cx="2908151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b="1" i="1" dirty="0">
                <a:solidFill>
                  <a:srgbClr val="FF0000"/>
                </a:solidFill>
                <a:latin typeface="Crimson Text"/>
              </a:rPr>
              <a:t>hash</a:t>
            </a:r>
            <a:r>
              <a:rPr lang="en-US" altLang="zh-CN" sz="2400" b="1" baseline="-25000" dirty="0">
                <a:solidFill>
                  <a:srgbClr val="FF0000"/>
                </a:solidFill>
                <a:latin typeface="Crimson Text"/>
              </a:rPr>
              <a:t>2</a:t>
            </a:r>
            <a:r>
              <a:rPr lang="en-US" altLang="zh-CN" sz="2400" b="1" i="1" dirty="0">
                <a:solidFill>
                  <a:srgbClr val="FF0000"/>
                </a:solidFill>
                <a:latin typeface="Crimson Text"/>
              </a:rPr>
              <a:t>(key) = key % 2n</a:t>
            </a:r>
            <a:endParaRPr lang="zh-CN" altLang="en-US" sz="2400" dirty="0">
              <a:solidFill>
                <a:srgbClr val="FF0000"/>
              </a:solidFill>
            </a:endParaRPr>
          </a:p>
        </p:txBody>
      </p:sp>
      <p:grpSp>
        <p:nvGrpSpPr>
          <p:cNvPr id="60" name="组合 59">
            <a:extLst>
              <a:ext uri="{FF2B5EF4-FFF2-40B4-BE49-F238E27FC236}">
                <a16:creationId xmlns:a16="http://schemas.microsoft.com/office/drawing/2014/main" id="{378E2973-2E2A-4E4D-A751-756788F29A1F}"/>
              </a:ext>
            </a:extLst>
          </p:cNvPr>
          <p:cNvGrpSpPr/>
          <p:nvPr/>
        </p:nvGrpSpPr>
        <p:grpSpPr>
          <a:xfrm>
            <a:off x="6178432" y="5280829"/>
            <a:ext cx="1597070" cy="1085593"/>
            <a:chOff x="3120764" y="1928099"/>
            <a:chExt cx="1597070" cy="1085593"/>
          </a:xfrm>
        </p:grpSpPr>
        <p:sp>
          <p:nvSpPr>
            <p:cNvPr id="62" name="矩形 61">
              <a:extLst>
                <a:ext uri="{FF2B5EF4-FFF2-40B4-BE49-F238E27FC236}">
                  <a16:creationId xmlns:a16="http://schemas.microsoft.com/office/drawing/2014/main" id="{07E793CA-DFBD-4FA0-A733-E11F74D36F94}"/>
                </a:ext>
              </a:extLst>
            </p:cNvPr>
            <p:cNvSpPr/>
            <p:nvPr/>
          </p:nvSpPr>
          <p:spPr>
            <a:xfrm>
              <a:off x="3120764" y="1928099"/>
              <a:ext cx="1597070" cy="1085593"/>
            </a:xfrm>
            <a:prstGeom prst="rect">
              <a:avLst/>
            </a:prstGeom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7" name="矩形 66">
              <a:extLst>
                <a:ext uri="{FF2B5EF4-FFF2-40B4-BE49-F238E27FC236}">
                  <a16:creationId xmlns:a16="http://schemas.microsoft.com/office/drawing/2014/main" id="{87A1789F-FD25-4EA9-82B1-21542FF66EBD}"/>
                </a:ext>
              </a:extLst>
            </p:cNvPr>
            <p:cNvSpPr/>
            <p:nvPr/>
          </p:nvSpPr>
          <p:spPr>
            <a:xfrm>
              <a:off x="3251519" y="2029839"/>
              <a:ext cx="1326466" cy="244586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400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20</a:t>
              </a:r>
              <a:endParaRPr lang="zh-CN" altLang="en-US" sz="1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8" name="矩形 67">
              <a:extLst>
                <a:ext uri="{FF2B5EF4-FFF2-40B4-BE49-F238E27FC236}">
                  <a16:creationId xmlns:a16="http://schemas.microsoft.com/office/drawing/2014/main" id="{C31E2AF4-4729-4C6F-9A90-BFBF127DE784}"/>
                </a:ext>
              </a:extLst>
            </p:cNvPr>
            <p:cNvSpPr/>
            <p:nvPr/>
          </p:nvSpPr>
          <p:spPr>
            <a:xfrm>
              <a:off x="3251519" y="2677089"/>
              <a:ext cx="1326466" cy="244586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9" name="矩形 68">
              <a:extLst>
                <a:ext uri="{FF2B5EF4-FFF2-40B4-BE49-F238E27FC236}">
                  <a16:creationId xmlns:a16="http://schemas.microsoft.com/office/drawing/2014/main" id="{2B3662CF-18DE-4C7A-8C8A-45397FFB95E2}"/>
                </a:ext>
              </a:extLst>
            </p:cNvPr>
            <p:cNvSpPr/>
            <p:nvPr/>
          </p:nvSpPr>
          <p:spPr>
            <a:xfrm>
              <a:off x="3251519" y="2353464"/>
              <a:ext cx="1326466" cy="244586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cxnSp>
        <p:nvCxnSpPr>
          <p:cNvPr id="70" name="连接符: 曲线 69">
            <a:extLst>
              <a:ext uri="{FF2B5EF4-FFF2-40B4-BE49-F238E27FC236}">
                <a16:creationId xmlns:a16="http://schemas.microsoft.com/office/drawing/2014/main" id="{817C21DE-6C87-4CC9-ABD2-D1715C3173EA}"/>
              </a:ext>
            </a:extLst>
          </p:cNvPr>
          <p:cNvCxnSpPr>
            <a:cxnSpLocks/>
            <a:stCxn id="58" idx="3"/>
            <a:endCxn id="62" idx="1"/>
          </p:cNvCxnSpPr>
          <p:nvPr/>
        </p:nvCxnSpPr>
        <p:spPr>
          <a:xfrm>
            <a:off x="2594840" y="4785889"/>
            <a:ext cx="3583592" cy="1037737"/>
          </a:xfrm>
          <a:prstGeom prst="curvedConnector3">
            <a:avLst>
              <a:gd name="adj1" fmla="val 28548"/>
            </a:avLst>
          </a:prstGeom>
          <a:ln w="38100">
            <a:solidFill>
              <a:srgbClr val="FF0000"/>
            </a:solidFill>
            <a:headEnd type="oval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矩形 64">
            <a:extLst>
              <a:ext uri="{FF2B5EF4-FFF2-40B4-BE49-F238E27FC236}">
                <a16:creationId xmlns:a16="http://schemas.microsoft.com/office/drawing/2014/main" id="{CF8D5D12-C8F4-4CEB-928C-1379A9D73800}"/>
              </a:ext>
            </a:extLst>
          </p:cNvPr>
          <p:cNvSpPr/>
          <p:nvPr/>
        </p:nvSpPr>
        <p:spPr>
          <a:xfrm>
            <a:off x="8504614" y="3670180"/>
            <a:ext cx="3187155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b="1" dirty="0">
                <a:latin typeface="Inconsolata"/>
              </a:rPr>
              <a:t>Find 20</a:t>
            </a:r>
          </a:p>
          <a:p>
            <a:r>
              <a:rPr lang="en-US" altLang="zh-CN" b="1" i="1" dirty="0">
                <a:solidFill>
                  <a:srgbClr val="FF0000"/>
                </a:solidFill>
                <a:latin typeface="Crimson Text"/>
              </a:rPr>
              <a:t>hash</a:t>
            </a:r>
            <a:r>
              <a:rPr lang="en-US" altLang="zh-CN" b="1" i="1" baseline="-25000" dirty="0">
                <a:solidFill>
                  <a:srgbClr val="FF0000"/>
                </a:solidFill>
                <a:latin typeface="Crimson Text"/>
              </a:rPr>
              <a:t>1</a:t>
            </a:r>
            <a:r>
              <a:rPr lang="en-US" altLang="zh-CN" b="1" i="1" dirty="0">
                <a:solidFill>
                  <a:srgbClr val="FF0000"/>
                </a:solidFill>
                <a:latin typeface="Crimson Text"/>
              </a:rPr>
              <a:t>(20) </a:t>
            </a:r>
            <a:r>
              <a:rPr lang="en-US" altLang="zh-CN" b="1" dirty="0">
                <a:solidFill>
                  <a:srgbClr val="FF0000"/>
                </a:solidFill>
                <a:latin typeface="Inconsolata"/>
              </a:rPr>
              <a:t>= 20 % 4 = 0</a:t>
            </a:r>
          </a:p>
          <a:p>
            <a:r>
              <a:rPr lang="en-US" altLang="zh-CN" b="1" i="1" dirty="0">
                <a:solidFill>
                  <a:srgbClr val="FF0000"/>
                </a:solidFill>
                <a:latin typeface="Crimson Text"/>
              </a:rPr>
              <a:t>hash</a:t>
            </a:r>
            <a:r>
              <a:rPr lang="en-US" altLang="zh-CN" b="1" i="1" baseline="-25000" dirty="0">
                <a:solidFill>
                  <a:srgbClr val="FF0000"/>
                </a:solidFill>
                <a:latin typeface="Crimson Text"/>
              </a:rPr>
              <a:t>2</a:t>
            </a:r>
            <a:r>
              <a:rPr lang="en-US" altLang="zh-CN" b="1" i="1" dirty="0">
                <a:solidFill>
                  <a:srgbClr val="FF0000"/>
                </a:solidFill>
                <a:latin typeface="Crimson Text"/>
              </a:rPr>
              <a:t>(20) </a:t>
            </a:r>
            <a:r>
              <a:rPr lang="en-US" altLang="zh-CN" b="1" dirty="0">
                <a:solidFill>
                  <a:srgbClr val="FF0000"/>
                </a:solidFill>
                <a:latin typeface="Inconsolata"/>
              </a:rPr>
              <a:t>= 20 % 8 = 4</a:t>
            </a:r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66" name="箭头: 右 65">
            <a:extLst>
              <a:ext uri="{FF2B5EF4-FFF2-40B4-BE49-F238E27FC236}">
                <a16:creationId xmlns:a16="http://schemas.microsoft.com/office/drawing/2014/main" id="{95D66C8D-9DEF-4B8F-8488-ACE77977CA32}"/>
              </a:ext>
            </a:extLst>
          </p:cNvPr>
          <p:cNvSpPr/>
          <p:nvPr/>
        </p:nvSpPr>
        <p:spPr>
          <a:xfrm>
            <a:off x="584311" y="3517782"/>
            <a:ext cx="447001" cy="482725"/>
          </a:xfrm>
          <a:prstGeom prst="rightArrow">
            <a:avLst/>
          </a:prstGeom>
          <a:solidFill>
            <a:schemeClr val="bg1">
              <a:lumMod val="5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solidFill>
                  <a:schemeClr val="tx1"/>
                </a:solidFill>
              </a:rPr>
              <a:t>1</a:t>
            </a:r>
            <a:endParaRPr lang="zh-CN" altLang="en-US" b="1" dirty="0">
              <a:solidFill>
                <a:schemeClr val="tx1"/>
              </a:solidFill>
            </a:endParaRPr>
          </a:p>
        </p:txBody>
      </p:sp>
      <p:cxnSp>
        <p:nvCxnSpPr>
          <p:cNvPr id="76" name="直接连接符 75">
            <a:extLst>
              <a:ext uri="{FF2B5EF4-FFF2-40B4-BE49-F238E27FC236}">
                <a16:creationId xmlns:a16="http://schemas.microsoft.com/office/drawing/2014/main" id="{D16280A4-5575-4CDA-961A-5B6151C7C2F1}"/>
              </a:ext>
            </a:extLst>
          </p:cNvPr>
          <p:cNvCxnSpPr/>
          <p:nvPr/>
        </p:nvCxnSpPr>
        <p:spPr>
          <a:xfrm>
            <a:off x="1271390" y="2779115"/>
            <a:ext cx="0" cy="2494401"/>
          </a:xfrm>
          <a:prstGeom prst="line">
            <a:avLst/>
          </a:prstGeom>
          <a:ln w="50800">
            <a:solidFill>
              <a:schemeClr val="bg1">
                <a:lumMod val="50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7" name="箭头: 右 76">
            <a:extLst>
              <a:ext uri="{FF2B5EF4-FFF2-40B4-BE49-F238E27FC236}">
                <a16:creationId xmlns:a16="http://schemas.microsoft.com/office/drawing/2014/main" id="{3E9F9E4A-3DDD-484D-8BE3-66DF32266E10}"/>
              </a:ext>
            </a:extLst>
          </p:cNvPr>
          <p:cNvSpPr/>
          <p:nvPr/>
        </p:nvSpPr>
        <p:spPr>
          <a:xfrm>
            <a:off x="1721517" y="4649245"/>
            <a:ext cx="308113" cy="305815"/>
          </a:xfrm>
          <a:prstGeom prst="right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9179FCDC-7FF3-4A9F-B8D6-E02A67FFA866}"/>
              </a:ext>
            </a:extLst>
          </p:cNvPr>
          <p:cNvCxnSpPr>
            <a:cxnSpLocks/>
          </p:cNvCxnSpPr>
          <p:nvPr/>
        </p:nvCxnSpPr>
        <p:spPr>
          <a:xfrm>
            <a:off x="314038" y="3564798"/>
            <a:ext cx="2411557" cy="0"/>
          </a:xfrm>
          <a:prstGeom prst="line">
            <a:avLst/>
          </a:prstGeom>
          <a:ln w="12700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矩形: 圆角 60">
            <a:extLst>
              <a:ext uri="{FF2B5EF4-FFF2-40B4-BE49-F238E27FC236}">
                <a16:creationId xmlns:a16="http://schemas.microsoft.com/office/drawing/2014/main" id="{8123A8D3-FC31-459B-A583-03BBD11E55ED}"/>
              </a:ext>
            </a:extLst>
          </p:cNvPr>
          <p:cNvSpPr/>
          <p:nvPr/>
        </p:nvSpPr>
        <p:spPr>
          <a:xfrm>
            <a:off x="6167472" y="5288824"/>
            <a:ext cx="1609896" cy="1101468"/>
          </a:xfrm>
          <a:prstGeom prst="roundRect">
            <a:avLst>
              <a:gd name="adj" fmla="val 5316"/>
            </a:avLst>
          </a:prstGeom>
          <a:solidFill>
            <a:srgbClr val="FF0000">
              <a:alpha val="20000"/>
            </a:srgbClr>
          </a:solidFill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7046446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9BBCCEF-D42F-420B-9CC2-98A9815DB6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Linear Hashing</a:t>
            </a:r>
            <a:endParaRPr lang="zh-CN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2905825-8EE0-4CF0-A05E-CAFDF944FB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F4A0B4-8D36-43F0-9999-717B2F35D6E9}" type="datetime1">
              <a:rPr lang="zh-CN" altLang="en-US" smtClean="0"/>
              <a:t>2024/5/8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ED664A2-5898-4C25-86F3-E969A94A39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altLang="zh-CN"/>
              <a:t>Hash Indices</a:t>
            </a: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34B9AF0-AA69-4CFE-BBF2-A55EB4555B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5CA875-76FA-4283-B5BE-070B4D16A27E}" type="slidenum">
              <a:rPr lang="zh-CN" altLang="en-US" smtClean="0"/>
              <a:t>31</a:t>
            </a:fld>
            <a:endParaRPr lang="zh-CN" altLang="en-US"/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F7CFF25C-12CE-407F-87E3-81133BE304C8}"/>
              </a:ext>
            </a:extLst>
          </p:cNvPr>
          <p:cNvGrpSpPr/>
          <p:nvPr/>
        </p:nvGrpSpPr>
        <p:grpSpPr>
          <a:xfrm>
            <a:off x="3983229" y="1785539"/>
            <a:ext cx="1597070" cy="1085593"/>
            <a:chOff x="3120764" y="1928099"/>
            <a:chExt cx="1597070" cy="1085593"/>
          </a:xfrm>
        </p:grpSpPr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9DD2C9B2-7A77-41FB-AF7D-A6C280ABA039}"/>
                </a:ext>
              </a:extLst>
            </p:cNvPr>
            <p:cNvSpPr/>
            <p:nvPr/>
          </p:nvSpPr>
          <p:spPr>
            <a:xfrm>
              <a:off x="3120764" y="1928099"/>
              <a:ext cx="1597070" cy="1085593"/>
            </a:xfrm>
            <a:prstGeom prst="rect">
              <a:avLst/>
            </a:prstGeom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矩形 8">
              <a:extLst>
                <a:ext uri="{FF2B5EF4-FFF2-40B4-BE49-F238E27FC236}">
                  <a16:creationId xmlns:a16="http://schemas.microsoft.com/office/drawing/2014/main" id="{0E7DB8D6-3C78-4AF8-9952-BB7500DE45FA}"/>
                </a:ext>
              </a:extLst>
            </p:cNvPr>
            <p:cNvSpPr/>
            <p:nvPr/>
          </p:nvSpPr>
          <p:spPr>
            <a:xfrm>
              <a:off x="3251519" y="2029839"/>
              <a:ext cx="1326466" cy="244586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4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8</a:t>
              </a:r>
              <a:endParaRPr lang="zh-CN" altLang="en-US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" name="矩形 10">
              <a:extLst>
                <a:ext uri="{FF2B5EF4-FFF2-40B4-BE49-F238E27FC236}">
                  <a16:creationId xmlns:a16="http://schemas.microsoft.com/office/drawing/2014/main" id="{A468E8D4-4AE3-479A-99AE-73187116092C}"/>
                </a:ext>
              </a:extLst>
            </p:cNvPr>
            <p:cNvSpPr/>
            <p:nvPr/>
          </p:nvSpPr>
          <p:spPr>
            <a:xfrm>
              <a:off x="3251519" y="2677089"/>
              <a:ext cx="1326466" cy="244586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2" name="矩形 21">
              <a:extLst>
                <a:ext uri="{FF2B5EF4-FFF2-40B4-BE49-F238E27FC236}">
                  <a16:creationId xmlns:a16="http://schemas.microsoft.com/office/drawing/2014/main" id="{9F0A11C6-1E0E-4BA1-A041-8423A80ADE65}"/>
                </a:ext>
              </a:extLst>
            </p:cNvPr>
            <p:cNvSpPr/>
            <p:nvPr/>
          </p:nvSpPr>
          <p:spPr>
            <a:xfrm>
              <a:off x="3251519" y="2353464"/>
              <a:ext cx="1326466" cy="244586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A8F2B301-0401-4DE0-A790-17FD885726F1}"/>
              </a:ext>
            </a:extLst>
          </p:cNvPr>
          <p:cNvGrpSpPr/>
          <p:nvPr/>
        </p:nvGrpSpPr>
        <p:grpSpPr>
          <a:xfrm>
            <a:off x="3983229" y="2962637"/>
            <a:ext cx="1597070" cy="1085593"/>
            <a:chOff x="3120764" y="1928099"/>
            <a:chExt cx="1597070" cy="1085593"/>
          </a:xfrm>
        </p:grpSpPr>
        <p:sp>
          <p:nvSpPr>
            <p:cNvPr id="25" name="矩形 24">
              <a:extLst>
                <a:ext uri="{FF2B5EF4-FFF2-40B4-BE49-F238E27FC236}">
                  <a16:creationId xmlns:a16="http://schemas.microsoft.com/office/drawing/2014/main" id="{8E64044D-7EE3-4418-9233-70933F0B3FA4}"/>
                </a:ext>
              </a:extLst>
            </p:cNvPr>
            <p:cNvSpPr/>
            <p:nvPr/>
          </p:nvSpPr>
          <p:spPr>
            <a:xfrm>
              <a:off x="3120764" y="1928099"/>
              <a:ext cx="1597070" cy="1085593"/>
            </a:xfrm>
            <a:prstGeom prst="rect">
              <a:avLst/>
            </a:prstGeom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6" name="矩形 25">
              <a:extLst>
                <a:ext uri="{FF2B5EF4-FFF2-40B4-BE49-F238E27FC236}">
                  <a16:creationId xmlns:a16="http://schemas.microsoft.com/office/drawing/2014/main" id="{3B7D9748-8966-4F1E-9D3A-E966B84DF98B}"/>
                </a:ext>
              </a:extLst>
            </p:cNvPr>
            <p:cNvSpPr/>
            <p:nvPr/>
          </p:nvSpPr>
          <p:spPr>
            <a:xfrm>
              <a:off x="3251519" y="2029839"/>
              <a:ext cx="1326466" cy="244586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4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5</a:t>
              </a:r>
              <a:endParaRPr lang="zh-CN" altLang="en-US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7" name="矩形 26">
              <a:extLst>
                <a:ext uri="{FF2B5EF4-FFF2-40B4-BE49-F238E27FC236}">
                  <a16:creationId xmlns:a16="http://schemas.microsoft.com/office/drawing/2014/main" id="{B4FFE470-7A43-4443-8558-3B64C4C75B6C}"/>
                </a:ext>
              </a:extLst>
            </p:cNvPr>
            <p:cNvSpPr/>
            <p:nvPr/>
          </p:nvSpPr>
          <p:spPr>
            <a:xfrm>
              <a:off x="3251519" y="2677089"/>
              <a:ext cx="1326466" cy="244586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4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13</a:t>
              </a:r>
              <a:endParaRPr lang="zh-CN" altLang="en-US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8" name="矩形 27">
              <a:extLst>
                <a:ext uri="{FF2B5EF4-FFF2-40B4-BE49-F238E27FC236}">
                  <a16:creationId xmlns:a16="http://schemas.microsoft.com/office/drawing/2014/main" id="{70C780C4-0F9F-46AB-9B75-A41DBB7C9E83}"/>
                </a:ext>
              </a:extLst>
            </p:cNvPr>
            <p:cNvSpPr/>
            <p:nvPr/>
          </p:nvSpPr>
          <p:spPr>
            <a:xfrm>
              <a:off x="3251519" y="2353464"/>
              <a:ext cx="1326466" cy="244586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4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9</a:t>
              </a:r>
              <a:endParaRPr lang="zh-CN" altLang="en-US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29" name="组合 28">
            <a:extLst>
              <a:ext uri="{FF2B5EF4-FFF2-40B4-BE49-F238E27FC236}">
                <a16:creationId xmlns:a16="http://schemas.microsoft.com/office/drawing/2014/main" id="{AB7D4DA5-6BFF-4B22-92AF-64EEE45E476E}"/>
              </a:ext>
            </a:extLst>
          </p:cNvPr>
          <p:cNvGrpSpPr/>
          <p:nvPr/>
        </p:nvGrpSpPr>
        <p:grpSpPr>
          <a:xfrm>
            <a:off x="3974950" y="4130116"/>
            <a:ext cx="1597070" cy="1085593"/>
            <a:chOff x="3120764" y="1928099"/>
            <a:chExt cx="1597070" cy="1085593"/>
          </a:xfrm>
        </p:grpSpPr>
        <p:sp>
          <p:nvSpPr>
            <p:cNvPr id="30" name="矩形 29">
              <a:extLst>
                <a:ext uri="{FF2B5EF4-FFF2-40B4-BE49-F238E27FC236}">
                  <a16:creationId xmlns:a16="http://schemas.microsoft.com/office/drawing/2014/main" id="{F042259E-C5A9-4C47-A14F-D76DD2163449}"/>
                </a:ext>
              </a:extLst>
            </p:cNvPr>
            <p:cNvSpPr/>
            <p:nvPr/>
          </p:nvSpPr>
          <p:spPr>
            <a:xfrm>
              <a:off x="3120764" y="1928099"/>
              <a:ext cx="1597070" cy="1085593"/>
            </a:xfrm>
            <a:prstGeom prst="rect">
              <a:avLst/>
            </a:prstGeom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1" name="矩形 30">
              <a:extLst>
                <a:ext uri="{FF2B5EF4-FFF2-40B4-BE49-F238E27FC236}">
                  <a16:creationId xmlns:a16="http://schemas.microsoft.com/office/drawing/2014/main" id="{CFE52B74-A3C0-4F33-938A-827402025101}"/>
                </a:ext>
              </a:extLst>
            </p:cNvPr>
            <p:cNvSpPr/>
            <p:nvPr/>
          </p:nvSpPr>
          <p:spPr>
            <a:xfrm>
              <a:off x="3251519" y="2029839"/>
              <a:ext cx="1326466" cy="244586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4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6</a:t>
              </a:r>
              <a:endParaRPr lang="zh-CN" altLang="en-US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2" name="矩形 31">
              <a:extLst>
                <a:ext uri="{FF2B5EF4-FFF2-40B4-BE49-F238E27FC236}">
                  <a16:creationId xmlns:a16="http://schemas.microsoft.com/office/drawing/2014/main" id="{9DE5FE26-28FA-4A6D-ADAE-AA94959430F6}"/>
                </a:ext>
              </a:extLst>
            </p:cNvPr>
            <p:cNvSpPr/>
            <p:nvPr/>
          </p:nvSpPr>
          <p:spPr>
            <a:xfrm>
              <a:off x="3251519" y="2677089"/>
              <a:ext cx="1326466" cy="244586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3" name="矩形 32">
              <a:extLst>
                <a:ext uri="{FF2B5EF4-FFF2-40B4-BE49-F238E27FC236}">
                  <a16:creationId xmlns:a16="http://schemas.microsoft.com/office/drawing/2014/main" id="{F7659D25-0593-45AA-93D9-4B7502D5FE42}"/>
                </a:ext>
              </a:extLst>
            </p:cNvPr>
            <p:cNvSpPr/>
            <p:nvPr/>
          </p:nvSpPr>
          <p:spPr>
            <a:xfrm>
              <a:off x="3251519" y="2353464"/>
              <a:ext cx="1326466" cy="244586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34" name="组合 33">
            <a:extLst>
              <a:ext uri="{FF2B5EF4-FFF2-40B4-BE49-F238E27FC236}">
                <a16:creationId xmlns:a16="http://schemas.microsoft.com/office/drawing/2014/main" id="{EE20B405-6E43-4E87-A925-7A94CE04AC11}"/>
              </a:ext>
            </a:extLst>
          </p:cNvPr>
          <p:cNvGrpSpPr/>
          <p:nvPr/>
        </p:nvGrpSpPr>
        <p:grpSpPr>
          <a:xfrm>
            <a:off x="3970403" y="5296762"/>
            <a:ext cx="1597070" cy="1085593"/>
            <a:chOff x="3120764" y="1928099"/>
            <a:chExt cx="1597070" cy="1085593"/>
          </a:xfrm>
        </p:grpSpPr>
        <p:sp>
          <p:nvSpPr>
            <p:cNvPr id="35" name="矩形 34">
              <a:extLst>
                <a:ext uri="{FF2B5EF4-FFF2-40B4-BE49-F238E27FC236}">
                  <a16:creationId xmlns:a16="http://schemas.microsoft.com/office/drawing/2014/main" id="{1D08EEFC-C1DA-4024-94A2-657D610B6176}"/>
                </a:ext>
              </a:extLst>
            </p:cNvPr>
            <p:cNvSpPr/>
            <p:nvPr/>
          </p:nvSpPr>
          <p:spPr>
            <a:xfrm>
              <a:off x="3120764" y="1928099"/>
              <a:ext cx="1597070" cy="1085593"/>
            </a:xfrm>
            <a:prstGeom prst="rect">
              <a:avLst/>
            </a:prstGeom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6" name="矩形 35">
              <a:extLst>
                <a:ext uri="{FF2B5EF4-FFF2-40B4-BE49-F238E27FC236}">
                  <a16:creationId xmlns:a16="http://schemas.microsoft.com/office/drawing/2014/main" id="{666ABB10-656B-41EE-826D-8D4F4A1E9930}"/>
                </a:ext>
              </a:extLst>
            </p:cNvPr>
            <p:cNvSpPr/>
            <p:nvPr/>
          </p:nvSpPr>
          <p:spPr>
            <a:xfrm>
              <a:off x="3251519" y="2029839"/>
              <a:ext cx="1326466" cy="244586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4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7</a:t>
              </a:r>
              <a:endParaRPr lang="zh-CN" altLang="en-US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7" name="矩形 36">
              <a:extLst>
                <a:ext uri="{FF2B5EF4-FFF2-40B4-BE49-F238E27FC236}">
                  <a16:creationId xmlns:a16="http://schemas.microsoft.com/office/drawing/2014/main" id="{1C592B3C-9CDB-4E94-9586-9983ECFE1E06}"/>
                </a:ext>
              </a:extLst>
            </p:cNvPr>
            <p:cNvSpPr/>
            <p:nvPr/>
          </p:nvSpPr>
          <p:spPr>
            <a:xfrm>
              <a:off x="3251519" y="2677089"/>
              <a:ext cx="1326466" cy="244586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8" name="矩形 37">
              <a:extLst>
                <a:ext uri="{FF2B5EF4-FFF2-40B4-BE49-F238E27FC236}">
                  <a16:creationId xmlns:a16="http://schemas.microsoft.com/office/drawing/2014/main" id="{28A016A7-A959-4D9B-AE3E-CDEF9166E6DD}"/>
                </a:ext>
              </a:extLst>
            </p:cNvPr>
            <p:cNvSpPr/>
            <p:nvPr/>
          </p:nvSpPr>
          <p:spPr>
            <a:xfrm>
              <a:off x="3251519" y="2353464"/>
              <a:ext cx="1326466" cy="244586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4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11</a:t>
              </a:r>
              <a:endParaRPr lang="zh-CN" altLang="en-US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43" name="矩形 42">
            <a:extLst>
              <a:ext uri="{FF2B5EF4-FFF2-40B4-BE49-F238E27FC236}">
                <a16:creationId xmlns:a16="http://schemas.microsoft.com/office/drawing/2014/main" id="{AAB6DA76-BC38-4996-9044-32BD0E4A0295}"/>
              </a:ext>
            </a:extLst>
          </p:cNvPr>
          <p:cNvSpPr/>
          <p:nvPr/>
        </p:nvSpPr>
        <p:spPr>
          <a:xfrm>
            <a:off x="339310" y="5544540"/>
            <a:ext cx="2908151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b="1" i="1" dirty="0">
                <a:solidFill>
                  <a:srgbClr val="FF0000"/>
                </a:solidFill>
                <a:latin typeface="Crimson Text"/>
              </a:rPr>
              <a:t>hash</a:t>
            </a:r>
            <a:r>
              <a:rPr lang="en-US" altLang="zh-CN" sz="2400" b="1" baseline="-25000" dirty="0">
                <a:solidFill>
                  <a:srgbClr val="FF0000"/>
                </a:solidFill>
                <a:latin typeface="Crimson Text"/>
              </a:rPr>
              <a:t>1</a:t>
            </a:r>
            <a:r>
              <a:rPr lang="en-US" altLang="zh-CN" sz="2400" b="1" i="1" dirty="0">
                <a:solidFill>
                  <a:srgbClr val="FF0000"/>
                </a:solidFill>
                <a:latin typeface="Crimson Text"/>
              </a:rPr>
              <a:t>(key) = key % n</a:t>
            </a:r>
            <a:endParaRPr lang="zh-CN" altLang="en-US" sz="2400" dirty="0">
              <a:solidFill>
                <a:srgbClr val="FF0000"/>
              </a:solidFill>
            </a:endParaRPr>
          </a:p>
        </p:txBody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C712B760-4D9B-4F7F-A1B3-575B70ACB14C}"/>
              </a:ext>
            </a:extLst>
          </p:cNvPr>
          <p:cNvSpPr/>
          <p:nvPr/>
        </p:nvSpPr>
        <p:spPr>
          <a:xfrm>
            <a:off x="314038" y="2008672"/>
            <a:ext cx="143454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b="1" i="1" dirty="0">
                <a:solidFill>
                  <a:srgbClr val="FF0000"/>
                </a:solidFill>
                <a:latin typeface="Crimson Text"/>
              </a:rPr>
              <a:t>Split Pointer</a:t>
            </a:r>
            <a:endParaRPr lang="zh-CN" altLang="en-US" dirty="0">
              <a:solidFill>
                <a:srgbClr val="FF0000"/>
              </a:solidFill>
            </a:endParaRPr>
          </a:p>
        </p:txBody>
      </p:sp>
      <p:grpSp>
        <p:nvGrpSpPr>
          <p:cNvPr id="45" name="组合 44">
            <a:extLst>
              <a:ext uri="{FF2B5EF4-FFF2-40B4-BE49-F238E27FC236}">
                <a16:creationId xmlns:a16="http://schemas.microsoft.com/office/drawing/2014/main" id="{232CDEFB-2E87-4A2F-B5CF-8951B8E7D222}"/>
              </a:ext>
            </a:extLst>
          </p:cNvPr>
          <p:cNvGrpSpPr/>
          <p:nvPr/>
        </p:nvGrpSpPr>
        <p:grpSpPr>
          <a:xfrm>
            <a:off x="2115329" y="3215915"/>
            <a:ext cx="479511" cy="1395532"/>
            <a:chOff x="1626762" y="2964260"/>
            <a:chExt cx="479511" cy="1395532"/>
          </a:xfrm>
        </p:grpSpPr>
        <p:sp>
          <p:nvSpPr>
            <p:cNvPr id="46" name="矩形 45">
              <a:extLst>
                <a:ext uri="{FF2B5EF4-FFF2-40B4-BE49-F238E27FC236}">
                  <a16:creationId xmlns:a16="http://schemas.microsoft.com/office/drawing/2014/main" id="{A7CB772C-F832-4EFA-B806-7B5969E6B53B}"/>
                </a:ext>
              </a:extLst>
            </p:cNvPr>
            <p:cNvSpPr/>
            <p:nvPr/>
          </p:nvSpPr>
          <p:spPr>
            <a:xfrm>
              <a:off x="1626762" y="2964260"/>
              <a:ext cx="479511" cy="348883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b="1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0</a:t>
              </a:r>
              <a:endParaRPr lang="zh-CN" altLang="en-US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7" name="矩形 46">
              <a:extLst>
                <a:ext uri="{FF2B5EF4-FFF2-40B4-BE49-F238E27FC236}">
                  <a16:creationId xmlns:a16="http://schemas.microsoft.com/office/drawing/2014/main" id="{CEF3D8FE-BA2F-4BAF-9771-853397C09FEC}"/>
                </a:ext>
              </a:extLst>
            </p:cNvPr>
            <p:cNvSpPr/>
            <p:nvPr/>
          </p:nvSpPr>
          <p:spPr>
            <a:xfrm>
              <a:off x="1626762" y="3313143"/>
              <a:ext cx="479511" cy="348883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b="1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</a:t>
              </a:r>
              <a:endParaRPr lang="zh-CN" altLang="en-US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8" name="矩形 47">
              <a:extLst>
                <a:ext uri="{FF2B5EF4-FFF2-40B4-BE49-F238E27FC236}">
                  <a16:creationId xmlns:a16="http://schemas.microsoft.com/office/drawing/2014/main" id="{937F1EDB-F61B-47F4-A685-18507080A34E}"/>
                </a:ext>
              </a:extLst>
            </p:cNvPr>
            <p:cNvSpPr/>
            <p:nvPr/>
          </p:nvSpPr>
          <p:spPr>
            <a:xfrm>
              <a:off x="1626762" y="3662026"/>
              <a:ext cx="479511" cy="348883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b="1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2</a:t>
              </a:r>
              <a:endParaRPr lang="zh-CN" altLang="en-US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9" name="矩形 48">
              <a:extLst>
                <a:ext uri="{FF2B5EF4-FFF2-40B4-BE49-F238E27FC236}">
                  <a16:creationId xmlns:a16="http://schemas.microsoft.com/office/drawing/2014/main" id="{9217AC55-5718-48DD-9B43-8D9DB0C1F661}"/>
                </a:ext>
              </a:extLst>
            </p:cNvPr>
            <p:cNvSpPr/>
            <p:nvPr/>
          </p:nvSpPr>
          <p:spPr>
            <a:xfrm>
              <a:off x="1626762" y="4010909"/>
              <a:ext cx="479511" cy="348883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b="1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3</a:t>
              </a:r>
              <a:endParaRPr lang="zh-CN" altLang="en-US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cxnSp>
        <p:nvCxnSpPr>
          <p:cNvPr id="56" name="连接符: 曲线 55">
            <a:extLst>
              <a:ext uri="{FF2B5EF4-FFF2-40B4-BE49-F238E27FC236}">
                <a16:creationId xmlns:a16="http://schemas.microsoft.com/office/drawing/2014/main" id="{DE6F5C0A-2E0E-4223-8305-515B09AE8DF0}"/>
              </a:ext>
            </a:extLst>
          </p:cNvPr>
          <p:cNvCxnSpPr>
            <a:cxnSpLocks/>
            <a:stCxn id="48" idx="3"/>
            <a:endCxn id="30" idx="1"/>
          </p:cNvCxnSpPr>
          <p:nvPr/>
        </p:nvCxnSpPr>
        <p:spPr>
          <a:xfrm>
            <a:off x="2594840" y="4088123"/>
            <a:ext cx="1380110" cy="584790"/>
          </a:xfrm>
          <a:prstGeom prst="curvedConnector3">
            <a:avLst/>
          </a:prstGeom>
          <a:ln w="38100">
            <a:solidFill>
              <a:srgbClr val="FF0000"/>
            </a:solidFill>
            <a:headEnd type="oval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连接符: 曲线 18">
            <a:extLst>
              <a:ext uri="{FF2B5EF4-FFF2-40B4-BE49-F238E27FC236}">
                <a16:creationId xmlns:a16="http://schemas.microsoft.com/office/drawing/2014/main" id="{3E14C3CE-1F6A-461E-86A3-7B85608221F8}"/>
              </a:ext>
            </a:extLst>
          </p:cNvPr>
          <p:cNvCxnSpPr>
            <a:cxnSpLocks/>
            <a:stCxn id="46" idx="3"/>
            <a:endCxn id="7" idx="1"/>
          </p:cNvCxnSpPr>
          <p:nvPr/>
        </p:nvCxnSpPr>
        <p:spPr>
          <a:xfrm flipV="1">
            <a:off x="2594840" y="2328336"/>
            <a:ext cx="1388389" cy="1062021"/>
          </a:xfrm>
          <a:prstGeom prst="curvedConnector3">
            <a:avLst>
              <a:gd name="adj1" fmla="val 50000"/>
            </a:avLst>
          </a:prstGeom>
          <a:ln w="38100">
            <a:solidFill>
              <a:srgbClr val="FF0000"/>
            </a:solidFill>
            <a:headEnd type="oval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连接符: 曲线 19">
            <a:extLst>
              <a:ext uri="{FF2B5EF4-FFF2-40B4-BE49-F238E27FC236}">
                <a16:creationId xmlns:a16="http://schemas.microsoft.com/office/drawing/2014/main" id="{CA527AE1-C3F0-4E3A-A9ED-54A861CBF67D}"/>
              </a:ext>
            </a:extLst>
          </p:cNvPr>
          <p:cNvCxnSpPr>
            <a:cxnSpLocks/>
            <a:stCxn id="47" idx="3"/>
            <a:endCxn id="25" idx="1"/>
          </p:cNvCxnSpPr>
          <p:nvPr/>
        </p:nvCxnSpPr>
        <p:spPr>
          <a:xfrm flipV="1">
            <a:off x="2594840" y="3505434"/>
            <a:ext cx="1388389" cy="233806"/>
          </a:xfrm>
          <a:prstGeom prst="curvedConnector3">
            <a:avLst>
              <a:gd name="adj1" fmla="val 50000"/>
            </a:avLst>
          </a:prstGeom>
          <a:ln w="38100">
            <a:solidFill>
              <a:srgbClr val="FF0000"/>
            </a:solidFill>
            <a:headEnd type="oval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矩形 63">
            <a:extLst>
              <a:ext uri="{FF2B5EF4-FFF2-40B4-BE49-F238E27FC236}">
                <a16:creationId xmlns:a16="http://schemas.microsoft.com/office/drawing/2014/main" id="{AD19BEAC-3566-4A11-9032-BE2CA8E9A5DF}"/>
              </a:ext>
            </a:extLst>
          </p:cNvPr>
          <p:cNvSpPr/>
          <p:nvPr/>
        </p:nvSpPr>
        <p:spPr>
          <a:xfrm>
            <a:off x="8521141" y="1846484"/>
            <a:ext cx="3187155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b="1" dirty="0">
                <a:latin typeface="Inconsolata"/>
              </a:rPr>
              <a:t>Find 6</a:t>
            </a:r>
          </a:p>
          <a:p>
            <a:r>
              <a:rPr lang="en-US" altLang="zh-CN" b="1" i="1" dirty="0">
                <a:solidFill>
                  <a:srgbClr val="FF0000"/>
                </a:solidFill>
                <a:latin typeface="Crimson Text"/>
              </a:rPr>
              <a:t>hash</a:t>
            </a:r>
            <a:r>
              <a:rPr lang="en-US" altLang="zh-CN" b="1" i="1" baseline="-25000" dirty="0">
                <a:solidFill>
                  <a:srgbClr val="FF0000"/>
                </a:solidFill>
                <a:latin typeface="Crimson Text"/>
              </a:rPr>
              <a:t>1</a:t>
            </a:r>
            <a:r>
              <a:rPr lang="en-US" altLang="zh-CN" b="1" i="1" dirty="0">
                <a:solidFill>
                  <a:srgbClr val="FF0000"/>
                </a:solidFill>
                <a:latin typeface="Crimson Text"/>
              </a:rPr>
              <a:t>(6) </a:t>
            </a:r>
            <a:r>
              <a:rPr lang="en-US" altLang="zh-CN" b="1" dirty="0">
                <a:solidFill>
                  <a:srgbClr val="FF0000"/>
                </a:solidFill>
                <a:latin typeface="Inconsolata"/>
              </a:rPr>
              <a:t>= 6 % 4 = 2</a:t>
            </a:r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A732BD68-CE20-4E0C-936D-913770028261}"/>
              </a:ext>
            </a:extLst>
          </p:cNvPr>
          <p:cNvSpPr/>
          <p:nvPr/>
        </p:nvSpPr>
        <p:spPr>
          <a:xfrm>
            <a:off x="8521142" y="2755775"/>
            <a:ext cx="312752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b="1" dirty="0">
                <a:latin typeface="Inconsolata"/>
              </a:rPr>
              <a:t>Insert 17</a:t>
            </a:r>
          </a:p>
          <a:p>
            <a:r>
              <a:rPr lang="en-US" altLang="zh-CN" b="1" i="1" dirty="0">
                <a:solidFill>
                  <a:srgbClr val="FF0000"/>
                </a:solidFill>
                <a:latin typeface="Crimson Text"/>
              </a:rPr>
              <a:t>hash</a:t>
            </a:r>
            <a:r>
              <a:rPr lang="en-US" altLang="zh-CN" b="1" i="1" baseline="-25000" dirty="0">
                <a:solidFill>
                  <a:srgbClr val="FF0000"/>
                </a:solidFill>
                <a:latin typeface="Crimson Text"/>
              </a:rPr>
              <a:t>1</a:t>
            </a:r>
            <a:r>
              <a:rPr lang="en-US" altLang="zh-CN" b="1" i="1" dirty="0">
                <a:solidFill>
                  <a:srgbClr val="FF0000"/>
                </a:solidFill>
                <a:latin typeface="Crimson Text"/>
              </a:rPr>
              <a:t>(17) = 17 % 4 = 1</a:t>
            </a:r>
            <a:endParaRPr lang="zh-CN" altLang="en-US" b="1" i="1" dirty="0">
              <a:solidFill>
                <a:srgbClr val="FF0000"/>
              </a:solidFill>
              <a:latin typeface="Crimson Text"/>
            </a:endParaRPr>
          </a:p>
        </p:txBody>
      </p:sp>
      <p:grpSp>
        <p:nvGrpSpPr>
          <p:cNvPr id="50" name="组合 49">
            <a:extLst>
              <a:ext uri="{FF2B5EF4-FFF2-40B4-BE49-F238E27FC236}">
                <a16:creationId xmlns:a16="http://schemas.microsoft.com/office/drawing/2014/main" id="{4C9C8D87-8447-4926-A309-E35D4DD5BAFA}"/>
              </a:ext>
            </a:extLst>
          </p:cNvPr>
          <p:cNvGrpSpPr/>
          <p:nvPr/>
        </p:nvGrpSpPr>
        <p:grpSpPr>
          <a:xfrm>
            <a:off x="6182979" y="2959928"/>
            <a:ext cx="1597070" cy="1085593"/>
            <a:chOff x="3120764" y="1928099"/>
            <a:chExt cx="1597070" cy="1085593"/>
          </a:xfrm>
        </p:grpSpPr>
        <p:sp>
          <p:nvSpPr>
            <p:cNvPr id="51" name="矩形 50">
              <a:extLst>
                <a:ext uri="{FF2B5EF4-FFF2-40B4-BE49-F238E27FC236}">
                  <a16:creationId xmlns:a16="http://schemas.microsoft.com/office/drawing/2014/main" id="{C3EEB18C-9CC9-4B71-8154-222C8805C8EA}"/>
                </a:ext>
              </a:extLst>
            </p:cNvPr>
            <p:cNvSpPr/>
            <p:nvPr/>
          </p:nvSpPr>
          <p:spPr>
            <a:xfrm>
              <a:off x="3120764" y="1928099"/>
              <a:ext cx="1597070" cy="1085593"/>
            </a:xfrm>
            <a:prstGeom prst="rect">
              <a:avLst/>
            </a:prstGeom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2" name="矩形 51">
              <a:extLst>
                <a:ext uri="{FF2B5EF4-FFF2-40B4-BE49-F238E27FC236}">
                  <a16:creationId xmlns:a16="http://schemas.microsoft.com/office/drawing/2014/main" id="{A8716EAC-7DC5-4561-8933-20770D1A59E1}"/>
                </a:ext>
              </a:extLst>
            </p:cNvPr>
            <p:cNvSpPr/>
            <p:nvPr/>
          </p:nvSpPr>
          <p:spPr>
            <a:xfrm>
              <a:off x="3251519" y="2029839"/>
              <a:ext cx="1326466" cy="244586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4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17</a:t>
              </a:r>
              <a:endParaRPr lang="zh-CN" altLang="en-US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3" name="矩形 52">
              <a:extLst>
                <a:ext uri="{FF2B5EF4-FFF2-40B4-BE49-F238E27FC236}">
                  <a16:creationId xmlns:a16="http://schemas.microsoft.com/office/drawing/2014/main" id="{3A00454B-CEE6-476B-A956-51D655260146}"/>
                </a:ext>
              </a:extLst>
            </p:cNvPr>
            <p:cNvSpPr/>
            <p:nvPr/>
          </p:nvSpPr>
          <p:spPr>
            <a:xfrm>
              <a:off x="3251519" y="2677089"/>
              <a:ext cx="1326466" cy="244586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4" name="矩形 53">
              <a:extLst>
                <a:ext uri="{FF2B5EF4-FFF2-40B4-BE49-F238E27FC236}">
                  <a16:creationId xmlns:a16="http://schemas.microsoft.com/office/drawing/2014/main" id="{7B71EF36-D0AB-4E27-BCDA-B47DA16CEDA3}"/>
                </a:ext>
              </a:extLst>
            </p:cNvPr>
            <p:cNvSpPr/>
            <p:nvPr/>
          </p:nvSpPr>
          <p:spPr>
            <a:xfrm>
              <a:off x="3251519" y="2353464"/>
              <a:ext cx="1326466" cy="244586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cxnSp>
        <p:nvCxnSpPr>
          <p:cNvPr id="55" name="连接符: 曲线 54">
            <a:extLst>
              <a:ext uri="{FF2B5EF4-FFF2-40B4-BE49-F238E27FC236}">
                <a16:creationId xmlns:a16="http://schemas.microsoft.com/office/drawing/2014/main" id="{4ACC862F-3265-4490-A92E-B3D91350F288}"/>
              </a:ext>
            </a:extLst>
          </p:cNvPr>
          <p:cNvCxnSpPr>
            <a:cxnSpLocks/>
            <a:stCxn id="25" idx="3"/>
            <a:endCxn id="51" idx="1"/>
          </p:cNvCxnSpPr>
          <p:nvPr/>
        </p:nvCxnSpPr>
        <p:spPr>
          <a:xfrm flipV="1">
            <a:off x="5580299" y="3502725"/>
            <a:ext cx="602680" cy="2709"/>
          </a:xfrm>
          <a:prstGeom prst="curvedConnector3">
            <a:avLst>
              <a:gd name="adj1" fmla="val 50000"/>
            </a:avLst>
          </a:prstGeom>
          <a:ln w="38100">
            <a:solidFill>
              <a:srgbClr val="FF0000"/>
            </a:solidFill>
            <a:headEnd type="oval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矩形 11">
            <a:extLst>
              <a:ext uri="{FF2B5EF4-FFF2-40B4-BE49-F238E27FC236}">
                <a16:creationId xmlns:a16="http://schemas.microsoft.com/office/drawing/2014/main" id="{38EEA0AE-2D72-434C-9807-7EFBD8FE9A4F}"/>
              </a:ext>
            </a:extLst>
          </p:cNvPr>
          <p:cNvSpPr/>
          <p:nvPr/>
        </p:nvSpPr>
        <p:spPr>
          <a:xfrm>
            <a:off x="6432942" y="4092188"/>
            <a:ext cx="112279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b="1" i="1" dirty="0">
                <a:solidFill>
                  <a:srgbClr val="FF0000"/>
                </a:solidFill>
                <a:latin typeface="Museo Sans"/>
              </a:rPr>
              <a:t>Overflow!</a:t>
            </a:r>
            <a:endParaRPr lang="zh-CN" altLang="en-US" b="1" dirty="0">
              <a:solidFill>
                <a:srgbClr val="FF0000"/>
              </a:solidFill>
            </a:endParaRPr>
          </a:p>
        </p:txBody>
      </p:sp>
      <p:sp>
        <p:nvSpPr>
          <p:cNvPr id="58" name="矩形 57">
            <a:extLst>
              <a:ext uri="{FF2B5EF4-FFF2-40B4-BE49-F238E27FC236}">
                <a16:creationId xmlns:a16="http://schemas.microsoft.com/office/drawing/2014/main" id="{260A2FE2-4513-4940-BB6E-0AC48102C918}"/>
              </a:ext>
            </a:extLst>
          </p:cNvPr>
          <p:cNvSpPr/>
          <p:nvPr/>
        </p:nvSpPr>
        <p:spPr>
          <a:xfrm>
            <a:off x="2115329" y="4611447"/>
            <a:ext cx="479511" cy="348883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  <a:endParaRPr lang="zh-CN" altLang="en-US" b="1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21" name="连接符: 曲线 20">
            <a:extLst>
              <a:ext uri="{FF2B5EF4-FFF2-40B4-BE49-F238E27FC236}">
                <a16:creationId xmlns:a16="http://schemas.microsoft.com/office/drawing/2014/main" id="{D2FAF302-55C1-4264-A1DF-850ADFE39EE3}"/>
              </a:ext>
            </a:extLst>
          </p:cNvPr>
          <p:cNvCxnSpPr>
            <a:cxnSpLocks/>
            <a:stCxn id="49" idx="3"/>
            <a:endCxn id="35" idx="1"/>
          </p:cNvCxnSpPr>
          <p:nvPr/>
        </p:nvCxnSpPr>
        <p:spPr>
          <a:xfrm>
            <a:off x="2594840" y="4437006"/>
            <a:ext cx="1375563" cy="1402553"/>
          </a:xfrm>
          <a:prstGeom prst="curvedConnector3">
            <a:avLst/>
          </a:prstGeom>
          <a:ln w="38100">
            <a:solidFill>
              <a:srgbClr val="FF0000"/>
            </a:solidFill>
            <a:headEnd type="oval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矩形 58">
            <a:extLst>
              <a:ext uri="{FF2B5EF4-FFF2-40B4-BE49-F238E27FC236}">
                <a16:creationId xmlns:a16="http://schemas.microsoft.com/office/drawing/2014/main" id="{D4910F66-1A59-47DF-9D6F-CE24AB408D0B}"/>
              </a:ext>
            </a:extLst>
          </p:cNvPr>
          <p:cNvSpPr/>
          <p:nvPr/>
        </p:nvSpPr>
        <p:spPr>
          <a:xfrm>
            <a:off x="339310" y="5900831"/>
            <a:ext cx="2908151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b="1" i="1" dirty="0">
                <a:solidFill>
                  <a:srgbClr val="FF0000"/>
                </a:solidFill>
                <a:latin typeface="Crimson Text"/>
              </a:rPr>
              <a:t>hash</a:t>
            </a:r>
            <a:r>
              <a:rPr lang="en-US" altLang="zh-CN" sz="2400" b="1" baseline="-25000" dirty="0">
                <a:solidFill>
                  <a:srgbClr val="FF0000"/>
                </a:solidFill>
                <a:latin typeface="Crimson Text"/>
              </a:rPr>
              <a:t>2</a:t>
            </a:r>
            <a:r>
              <a:rPr lang="en-US" altLang="zh-CN" sz="2400" b="1" i="1" dirty="0">
                <a:solidFill>
                  <a:srgbClr val="FF0000"/>
                </a:solidFill>
                <a:latin typeface="Crimson Text"/>
              </a:rPr>
              <a:t>(key) = key % 2n</a:t>
            </a:r>
            <a:endParaRPr lang="zh-CN" altLang="en-US" sz="2400" dirty="0">
              <a:solidFill>
                <a:srgbClr val="FF0000"/>
              </a:solidFill>
            </a:endParaRPr>
          </a:p>
        </p:txBody>
      </p:sp>
      <p:grpSp>
        <p:nvGrpSpPr>
          <p:cNvPr id="60" name="组合 59">
            <a:extLst>
              <a:ext uri="{FF2B5EF4-FFF2-40B4-BE49-F238E27FC236}">
                <a16:creationId xmlns:a16="http://schemas.microsoft.com/office/drawing/2014/main" id="{378E2973-2E2A-4E4D-A751-756788F29A1F}"/>
              </a:ext>
            </a:extLst>
          </p:cNvPr>
          <p:cNvGrpSpPr/>
          <p:nvPr/>
        </p:nvGrpSpPr>
        <p:grpSpPr>
          <a:xfrm>
            <a:off x="6178432" y="5280829"/>
            <a:ext cx="1597070" cy="1085593"/>
            <a:chOff x="3120764" y="1928099"/>
            <a:chExt cx="1597070" cy="1085593"/>
          </a:xfrm>
        </p:grpSpPr>
        <p:sp>
          <p:nvSpPr>
            <p:cNvPr id="62" name="矩形 61">
              <a:extLst>
                <a:ext uri="{FF2B5EF4-FFF2-40B4-BE49-F238E27FC236}">
                  <a16:creationId xmlns:a16="http://schemas.microsoft.com/office/drawing/2014/main" id="{07E793CA-DFBD-4FA0-A733-E11F74D36F94}"/>
                </a:ext>
              </a:extLst>
            </p:cNvPr>
            <p:cNvSpPr/>
            <p:nvPr/>
          </p:nvSpPr>
          <p:spPr>
            <a:xfrm>
              <a:off x="3120764" y="1928099"/>
              <a:ext cx="1597070" cy="1085593"/>
            </a:xfrm>
            <a:prstGeom prst="rect">
              <a:avLst/>
            </a:prstGeom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7" name="矩形 66">
              <a:extLst>
                <a:ext uri="{FF2B5EF4-FFF2-40B4-BE49-F238E27FC236}">
                  <a16:creationId xmlns:a16="http://schemas.microsoft.com/office/drawing/2014/main" id="{87A1789F-FD25-4EA9-82B1-21542FF66EBD}"/>
                </a:ext>
              </a:extLst>
            </p:cNvPr>
            <p:cNvSpPr/>
            <p:nvPr/>
          </p:nvSpPr>
          <p:spPr>
            <a:xfrm>
              <a:off x="3251519" y="2029839"/>
              <a:ext cx="1326466" cy="244586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400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20</a:t>
              </a:r>
              <a:endParaRPr lang="zh-CN" altLang="en-US" sz="1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8" name="矩形 67">
              <a:extLst>
                <a:ext uri="{FF2B5EF4-FFF2-40B4-BE49-F238E27FC236}">
                  <a16:creationId xmlns:a16="http://schemas.microsoft.com/office/drawing/2014/main" id="{C31E2AF4-4729-4C6F-9A90-BFBF127DE784}"/>
                </a:ext>
              </a:extLst>
            </p:cNvPr>
            <p:cNvSpPr/>
            <p:nvPr/>
          </p:nvSpPr>
          <p:spPr>
            <a:xfrm>
              <a:off x="3251519" y="2677089"/>
              <a:ext cx="1326466" cy="244586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9" name="矩形 68">
              <a:extLst>
                <a:ext uri="{FF2B5EF4-FFF2-40B4-BE49-F238E27FC236}">
                  <a16:creationId xmlns:a16="http://schemas.microsoft.com/office/drawing/2014/main" id="{2B3662CF-18DE-4C7A-8C8A-45397FFB95E2}"/>
                </a:ext>
              </a:extLst>
            </p:cNvPr>
            <p:cNvSpPr/>
            <p:nvPr/>
          </p:nvSpPr>
          <p:spPr>
            <a:xfrm>
              <a:off x="3251519" y="2353464"/>
              <a:ext cx="1326466" cy="244586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cxnSp>
        <p:nvCxnSpPr>
          <p:cNvPr id="70" name="连接符: 曲线 69">
            <a:extLst>
              <a:ext uri="{FF2B5EF4-FFF2-40B4-BE49-F238E27FC236}">
                <a16:creationId xmlns:a16="http://schemas.microsoft.com/office/drawing/2014/main" id="{817C21DE-6C87-4CC9-ABD2-D1715C3173EA}"/>
              </a:ext>
            </a:extLst>
          </p:cNvPr>
          <p:cNvCxnSpPr>
            <a:cxnSpLocks/>
            <a:stCxn id="58" idx="3"/>
            <a:endCxn id="62" idx="1"/>
          </p:cNvCxnSpPr>
          <p:nvPr/>
        </p:nvCxnSpPr>
        <p:spPr>
          <a:xfrm>
            <a:off x="2594840" y="4785889"/>
            <a:ext cx="3583592" cy="1037737"/>
          </a:xfrm>
          <a:prstGeom prst="curvedConnector3">
            <a:avLst>
              <a:gd name="adj1" fmla="val 28548"/>
            </a:avLst>
          </a:prstGeom>
          <a:ln w="38100">
            <a:solidFill>
              <a:srgbClr val="FF0000"/>
            </a:solidFill>
            <a:headEnd type="oval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矩形 64">
            <a:extLst>
              <a:ext uri="{FF2B5EF4-FFF2-40B4-BE49-F238E27FC236}">
                <a16:creationId xmlns:a16="http://schemas.microsoft.com/office/drawing/2014/main" id="{CF8D5D12-C8F4-4CEB-928C-1379A9D73800}"/>
              </a:ext>
            </a:extLst>
          </p:cNvPr>
          <p:cNvSpPr/>
          <p:nvPr/>
        </p:nvSpPr>
        <p:spPr>
          <a:xfrm>
            <a:off x="8504614" y="3670180"/>
            <a:ext cx="3187155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b="1" dirty="0">
                <a:latin typeface="Inconsolata"/>
              </a:rPr>
              <a:t>Find 20</a:t>
            </a:r>
          </a:p>
          <a:p>
            <a:r>
              <a:rPr lang="en-US" altLang="zh-CN" b="1" i="1" dirty="0">
                <a:solidFill>
                  <a:srgbClr val="FF0000"/>
                </a:solidFill>
                <a:latin typeface="Crimson Text"/>
              </a:rPr>
              <a:t>hash</a:t>
            </a:r>
            <a:r>
              <a:rPr lang="en-US" altLang="zh-CN" b="1" i="1" baseline="-25000" dirty="0">
                <a:solidFill>
                  <a:srgbClr val="FF0000"/>
                </a:solidFill>
                <a:latin typeface="Crimson Text"/>
              </a:rPr>
              <a:t>1</a:t>
            </a:r>
            <a:r>
              <a:rPr lang="en-US" altLang="zh-CN" b="1" i="1" dirty="0">
                <a:solidFill>
                  <a:srgbClr val="FF0000"/>
                </a:solidFill>
                <a:latin typeface="Crimson Text"/>
              </a:rPr>
              <a:t>(20) </a:t>
            </a:r>
            <a:r>
              <a:rPr lang="en-US" altLang="zh-CN" b="1" dirty="0">
                <a:solidFill>
                  <a:srgbClr val="FF0000"/>
                </a:solidFill>
                <a:latin typeface="Inconsolata"/>
              </a:rPr>
              <a:t>= 20 % 4 = 0</a:t>
            </a:r>
          </a:p>
          <a:p>
            <a:r>
              <a:rPr lang="en-US" altLang="zh-CN" b="1" i="1" dirty="0">
                <a:solidFill>
                  <a:srgbClr val="FF0000"/>
                </a:solidFill>
                <a:latin typeface="Crimson Text"/>
              </a:rPr>
              <a:t>hash</a:t>
            </a:r>
            <a:r>
              <a:rPr lang="en-US" altLang="zh-CN" b="1" i="1" baseline="-25000" dirty="0">
                <a:solidFill>
                  <a:srgbClr val="FF0000"/>
                </a:solidFill>
                <a:latin typeface="Crimson Text"/>
              </a:rPr>
              <a:t>2</a:t>
            </a:r>
            <a:r>
              <a:rPr lang="en-US" altLang="zh-CN" b="1" i="1" dirty="0">
                <a:solidFill>
                  <a:srgbClr val="FF0000"/>
                </a:solidFill>
                <a:latin typeface="Crimson Text"/>
              </a:rPr>
              <a:t>(20) </a:t>
            </a:r>
            <a:r>
              <a:rPr lang="en-US" altLang="zh-CN" b="1" dirty="0">
                <a:solidFill>
                  <a:srgbClr val="FF0000"/>
                </a:solidFill>
                <a:latin typeface="Inconsolata"/>
              </a:rPr>
              <a:t>= 20 % 8 = 4</a:t>
            </a:r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66" name="箭头: 右 65">
            <a:extLst>
              <a:ext uri="{FF2B5EF4-FFF2-40B4-BE49-F238E27FC236}">
                <a16:creationId xmlns:a16="http://schemas.microsoft.com/office/drawing/2014/main" id="{95D66C8D-9DEF-4B8F-8488-ACE77977CA32}"/>
              </a:ext>
            </a:extLst>
          </p:cNvPr>
          <p:cNvSpPr/>
          <p:nvPr/>
        </p:nvSpPr>
        <p:spPr>
          <a:xfrm>
            <a:off x="584311" y="3517782"/>
            <a:ext cx="447001" cy="482725"/>
          </a:xfrm>
          <a:prstGeom prst="rightArrow">
            <a:avLst/>
          </a:prstGeom>
          <a:solidFill>
            <a:schemeClr val="bg1">
              <a:lumMod val="5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solidFill>
                  <a:schemeClr val="tx1"/>
                </a:solidFill>
              </a:rPr>
              <a:t>1</a:t>
            </a:r>
            <a:endParaRPr lang="zh-CN" altLang="en-US" b="1" dirty="0">
              <a:solidFill>
                <a:schemeClr val="tx1"/>
              </a:solidFill>
            </a:endParaRPr>
          </a:p>
        </p:txBody>
      </p:sp>
      <p:cxnSp>
        <p:nvCxnSpPr>
          <p:cNvPr id="76" name="直接连接符 75">
            <a:extLst>
              <a:ext uri="{FF2B5EF4-FFF2-40B4-BE49-F238E27FC236}">
                <a16:creationId xmlns:a16="http://schemas.microsoft.com/office/drawing/2014/main" id="{D16280A4-5575-4CDA-961A-5B6151C7C2F1}"/>
              </a:ext>
            </a:extLst>
          </p:cNvPr>
          <p:cNvCxnSpPr/>
          <p:nvPr/>
        </p:nvCxnSpPr>
        <p:spPr>
          <a:xfrm>
            <a:off x="1271390" y="2779115"/>
            <a:ext cx="0" cy="2494401"/>
          </a:xfrm>
          <a:prstGeom prst="line">
            <a:avLst/>
          </a:prstGeom>
          <a:ln w="50800">
            <a:solidFill>
              <a:schemeClr val="bg1">
                <a:lumMod val="50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7" name="箭头: 右 76">
            <a:extLst>
              <a:ext uri="{FF2B5EF4-FFF2-40B4-BE49-F238E27FC236}">
                <a16:creationId xmlns:a16="http://schemas.microsoft.com/office/drawing/2014/main" id="{3E9F9E4A-3DDD-484D-8BE3-66DF32266E10}"/>
              </a:ext>
            </a:extLst>
          </p:cNvPr>
          <p:cNvSpPr/>
          <p:nvPr/>
        </p:nvSpPr>
        <p:spPr>
          <a:xfrm>
            <a:off x="1686102" y="3606236"/>
            <a:ext cx="308113" cy="305815"/>
          </a:xfrm>
          <a:prstGeom prst="right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9179FCDC-7FF3-4A9F-B8D6-E02A67FFA866}"/>
              </a:ext>
            </a:extLst>
          </p:cNvPr>
          <p:cNvCxnSpPr>
            <a:cxnSpLocks/>
          </p:cNvCxnSpPr>
          <p:nvPr/>
        </p:nvCxnSpPr>
        <p:spPr>
          <a:xfrm>
            <a:off x="314038" y="3564798"/>
            <a:ext cx="2411557" cy="0"/>
          </a:xfrm>
          <a:prstGeom prst="line">
            <a:avLst/>
          </a:prstGeom>
          <a:ln w="12700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矩形: 圆角 60">
            <a:extLst>
              <a:ext uri="{FF2B5EF4-FFF2-40B4-BE49-F238E27FC236}">
                <a16:creationId xmlns:a16="http://schemas.microsoft.com/office/drawing/2014/main" id="{8123A8D3-FC31-459B-A583-03BBD11E55ED}"/>
              </a:ext>
            </a:extLst>
          </p:cNvPr>
          <p:cNvSpPr/>
          <p:nvPr/>
        </p:nvSpPr>
        <p:spPr>
          <a:xfrm>
            <a:off x="3983229" y="2958102"/>
            <a:ext cx="1609896" cy="1101468"/>
          </a:xfrm>
          <a:prstGeom prst="roundRect">
            <a:avLst>
              <a:gd name="adj" fmla="val 5316"/>
            </a:avLst>
          </a:prstGeom>
          <a:solidFill>
            <a:srgbClr val="FF0000">
              <a:alpha val="20000"/>
            </a:srgbClr>
          </a:solidFill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3" name="矩形 62">
            <a:extLst>
              <a:ext uri="{FF2B5EF4-FFF2-40B4-BE49-F238E27FC236}">
                <a16:creationId xmlns:a16="http://schemas.microsoft.com/office/drawing/2014/main" id="{A35C440B-928D-4D32-A2F4-E7B750B21984}"/>
              </a:ext>
            </a:extLst>
          </p:cNvPr>
          <p:cNvSpPr/>
          <p:nvPr/>
        </p:nvSpPr>
        <p:spPr>
          <a:xfrm>
            <a:off x="8504613" y="4892543"/>
            <a:ext cx="3187155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b="1" dirty="0">
                <a:latin typeface="Inconsolata"/>
              </a:rPr>
              <a:t>Find 9</a:t>
            </a:r>
          </a:p>
          <a:p>
            <a:r>
              <a:rPr lang="en-US" altLang="zh-CN" b="1" i="1" dirty="0">
                <a:solidFill>
                  <a:srgbClr val="FF0000"/>
                </a:solidFill>
                <a:latin typeface="Crimson Text"/>
              </a:rPr>
              <a:t>hash</a:t>
            </a:r>
            <a:r>
              <a:rPr lang="en-US" altLang="zh-CN" b="1" i="1" baseline="-25000" dirty="0">
                <a:solidFill>
                  <a:srgbClr val="FF0000"/>
                </a:solidFill>
                <a:latin typeface="Crimson Text"/>
              </a:rPr>
              <a:t>1</a:t>
            </a:r>
            <a:r>
              <a:rPr lang="en-US" altLang="zh-CN" b="1" i="1" dirty="0">
                <a:solidFill>
                  <a:srgbClr val="FF0000"/>
                </a:solidFill>
                <a:latin typeface="Crimson Text"/>
              </a:rPr>
              <a:t>(9) </a:t>
            </a:r>
            <a:r>
              <a:rPr lang="en-US" altLang="zh-CN" b="1" dirty="0">
                <a:solidFill>
                  <a:srgbClr val="FF0000"/>
                </a:solidFill>
                <a:latin typeface="Inconsolata"/>
              </a:rPr>
              <a:t>= 9 % 4 = 1</a:t>
            </a:r>
            <a:endParaRPr lang="zh-CN" alt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191569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7" grpId="0" animBg="1"/>
      <p:bldP spid="61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9BBCCEF-D42F-420B-9CC2-98A9815DB6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Linear Hashing</a:t>
            </a:r>
            <a:endParaRPr lang="zh-CN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2905825-8EE0-4CF0-A05E-CAFDF944FB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287298-F2F1-4772-A7AB-4288850AEF89}" type="datetime1">
              <a:rPr lang="zh-CN" altLang="en-US" smtClean="0"/>
              <a:t>2024/5/8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ED664A2-5898-4C25-86F3-E969A94A39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Hash Indices</a:t>
            </a: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34B9AF0-AA69-4CFE-BBF2-A55EB4555B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5CA875-76FA-4283-B5BE-070B4D16A27E}" type="slidenum">
              <a:rPr lang="zh-CN" altLang="en-US" smtClean="0"/>
              <a:t>32</a:t>
            </a:fld>
            <a:endParaRPr lang="zh-CN" altLang="en-US"/>
          </a:p>
        </p:txBody>
      </p:sp>
      <p:sp>
        <p:nvSpPr>
          <p:cNvPr id="8" name="内容占位符 7">
            <a:extLst>
              <a:ext uri="{FF2B5EF4-FFF2-40B4-BE49-F238E27FC236}">
                <a16:creationId xmlns:a16="http://schemas.microsoft.com/office/drawing/2014/main" id="{13D5DB0C-A129-4A7C-89EE-91B1014FC0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393017" cy="4351338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  <a:spcBef>
                <a:spcPts val="1800"/>
              </a:spcBef>
            </a:pPr>
            <a:r>
              <a:rPr lang="en-US" altLang="zh-CN" b="1" dirty="0">
                <a:solidFill>
                  <a:srgbClr val="FF0000"/>
                </a:solidFill>
              </a:rPr>
              <a:t>Splitting</a:t>
            </a:r>
            <a:r>
              <a:rPr lang="en-US" altLang="zh-CN" dirty="0"/>
              <a:t> buckets based on the split pointer will eventually get to all overflowed buckets.</a:t>
            </a:r>
          </a:p>
          <a:p>
            <a:pPr lvl="1">
              <a:lnSpc>
                <a:spcPct val="100000"/>
              </a:lnSpc>
              <a:spcBef>
                <a:spcPts val="1800"/>
              </a:spcBef>
            </a:pPr>
            <a:r>
              <a:rPr lang="en-US" altLang="zh-CN" dirty="0"/>
              <a:t>When the pointer reaches the last slot, delete the first hash function and move back to beginning.</a:t>
            </a:r>
          </a:p>
          <a:p>
            <a:pPr>
              <a:lnSpc>
                <a:spcPct val="100000"/>
              </a:lnSpc>
              <a:spcBef>
                <a:spcPts val="1800"/>
              </a:spcBef>
            </a:pPr>
            <a:r>
              <a:rPr lang="en-US" altLang="zh-CN" dirty="0"/>
              <a:t>The pointer can also move </a:t>
            </a:r>
            <a:r>
              <a:rPr lang="en-US" altLang="zh-CN" b="1" dirty="0">
                <a:solidFill>
                  <a:srgbClr val="FF0000"/>
                </a:solidFill>
              </a:rPr>
              <a:t>backwards</a:t>
            </a:r>
            <a:r>
              <a:rPr lang="en-US" altLang="zh-CN" dirty="0"/>
              <a:t> when buckets are empty.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48412037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9BBCCEF-D42F-420B-9CC2-98A9815DB6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Linear Hashing</a:t>
            </a:r>
            <a:endParaRPr lang="zh-CN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2905825-8EE0-4CF0-A05E-CAFDF944FB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C0EA55-CCE7-4CA2-8D25-DC1A4C095F48}" type="datetime1">
              <a:rPr lang="zh-CN" altLang="en-US" smtClean="0"/>
              <a:t>2024/5/8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ED664A2-5898-4C25-86F3-E969A94A39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altLang="zh-CN"/>
              <a:t>Hash Indices</a:t>
            </a: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34B9AF0-AA69-4CFE-BBF2-A55EB4555B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5CA875-76FA-4283-B5BE-070B4D16A27E}" type="slidenum">
              <a:rPr lang="zh-CN" altLang="en-US" smtClean="0"/>
              <a:t>33</a:t>
            </a:fld>
            <a:endParaRPr lang="zh-CN" altLang="en-US"/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F7CFF25C-12CE-407F-87E3-81133BE304C8}"/>
              </a:ext>
            </a:extLst>
          </p:cNvPr>
          <p:cNvGrpSpPr/>
          <p:nvPr/>
        </p:nvGrpSpPr>
        <p:grpSpPr>
          <a:xfrm>
            <a:off x="3983229" y="1785539"/>
            <a:ext cx="1597070" cy="1085593"/>
            <a:chOff x="3120764" y="1928099"/>
            <a:chExt cx="1597070" cy="1085593"/>
          </a:xfrm>
        </p:grpSpPr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9DD2C9B2-7A77-41FB-AF7D-A6C280ABA039}"/>
                </a:ext>
              </a:extLst>
            </p:cNvPr>
            <p:cNvSpPr/>
            <p:nvPr/>
          </p:nvSpPr>
          <p:spPr>
            <a:xfrm>
              <a:off x="3120764" y="1928099"/>
              <a:ext cx="1597070" cy="1085593"/>
            </a:xfrm>
            <a:prstGeom prst="rect">
              <a:avLst/>
            </a:prstGeom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矩形 8">
              <a:extLst>
                <a:ext uri="{FF2B5EF4-FFF2-40B4-BE49-F238E27FC236}">
                  <a16:creationId xmlns:a16="http://schemas.microsoft.com/office/drawing/2014/main" id="{0E7DB8D6-3C78-4AF8-9952-BB7500DE45FA}"/>
                </a:ext>
              </a:extLst>
            </p:cNvPr>
            <p:cNvSpPr/>
            <p:nvPr/>
          </p:nvSpPr>
          <p:spPr>
            <a:xfrm>
              <a:off x="3251519" y="2029839"/>
              <a:ext cx="1326466" cy="244586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4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8</a:t>
              </a:r>
              <a:endParaRPr lang="zh-CN" altLang="en-US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" name="矩形 10">
              <a:extLst>
                <a:ext uri="{FF2B5EF4-FFF2-40B4-BE49-F238E27FC236}">
                  <a16:creationId xmlns:a16="http://schemas.microsoft.com/office/drawing/2014/main" id="{A468E8D4-4AE3-479A-99AE-73187116092C}"/>
                </a:ext>
              </a:extLst>
            </p:cNvPr>
            <p:cNvSpPr/>
            <p:nvPr/>
          </p:nvSpPr>
          <p:spPr>
            <a:xfrm>
              <a:off x="3251519" y="2677089"/>
              <a:ext cx="1326466" cy="244586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2" name="矩形 21">
              <a:extLst>
                <a:ext uri="{FF2B5EF4-FFF2-40B4-BE49-F238E27FC236}">
                  <a16:creationId xmlns:a16="http://schemas.microsoft.com/office/drawing/2014/main" id="{9F0A11C6-1E0E-4BA1-A041-8423A80ADE65}"/>
                </a:ext>
              </a:extLst>
            </p:cNvPr>
            <p:cNvSpPr/>
            <p:nvPr/>
          </p:nvSpPr>
          <p:spPr>
            <a:xfrm>
              <a:off x="3251519" y="2353464"/>
              <a:ext cx="1326466" cy="244586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A8F2B301-0401-4DE0-A790-17FD885726F1}"/>
              </a:ext>
            </a:extLst>
          </p:cNvPr>
          <p:cNvGrpSpPr/>
          <p:nvPr/>
        </p:nvGrpSpPr>
        <p:grpSpPr>
          <a:xfrm>
            <a:off x="3983229" y="2962637"/>
            <a:ext cx="1597070" cy="1085593"/>
            <a:chOff x="3120764" y="1928099"/>
            <a:chExt cx="1597070" cy="1085593"/>
          </a:xfrm>
        </p:grpSpPr>
        <p:sp>
          <p:nvSpPr>
            <p:cNvPr id="25" name="矩形 24">
              <a:extLst>
                <a:ext uri="{FF2B5EF4-FFF2-40B4-BE49-F238E27FC236}">
                  <a16:creationId xmlns:a16="http://schemas.microsoft.com/office/drawing/2014/main" id="{8E64044D-7EE3-4418-9233-70933F0B3FA4}"/>
                </a:ext>
              </a:extLst>
            </p:cNvPr>
            <p:cNvSpPr/>
            <p:nvPr/>
          </p:nvSpPr>
          <p:spPr>
            <a:xfrm>
              <a:off x="3120764" y="1928099"/>
              <a:ext cx="1597070" cy="1085593"/>
            </a:xfrm>
            <a:prstGeom prst="rect">
              <a:avLst/>
            </a:prstGeom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6" name="矩形 25">
              <a:extLst>
                <a:ext uri="{FF2B5EF4-FFF2-40B4-BE49-F238E27FC236}">
                  <a16:creationId xmlns:a16="http://schemas.microsoft.com/office/drawing/2014/main" id="{3B7D9748-8966-4F1E-9D3A-E966B84DF98B}"/>
                </a:ext>
              </a:extLst>
            </p:cNvPr>
            <p:cNvSpPr/>
            <p:nvPr/>
          </p:nvSpPr>
          <p:spPr>
            <a:xfrm>
              <a:off x="3251519" y="2029839"/>
              <a:ext cx="1326466" cy="244586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4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5</a:t>
              </a:r>
              <a:endParaRPr lang="zh-CN" altLang="en-US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7" name="矩形 26">
              <a:extLst>
                <a:ext uri="{FF2B5EF4-FFF2-40B4-BE49-F238E27FC236}">
                  <a16:creationId xmlns:a16="http://schemas.microsoft.com/office/drawing/2014/main" id="{B4FFE470-7A43-4443-8558-3B64C4C75B6C}"/>
                </a:ext>
              </a:extLst>
            </p:cNvPr>
            <p:cNvSpPr/>
            <p:nvPr/>
          </p:nvSpPr>
          <p:spPr>
            <a:xfrm>
              <a:off x="3251519" y="2677089"/>
              <a:ext cx="1326466" cy="244586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4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13</a:t>
              </a:r>
              <a:endParaRPr lang="zh-CN" altLang="en-US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8" name="矩形 27">
              <a:extLst>
                <a:ext uri="{FF2B5EF4-FFF2-40B4-BE49-F238E27FC236}">
                  <a16:creationId xmlns:a16="http://schemas.microsoft.com/office/drawing/2014/main" id="{70C780C4-0F9F-46AB-9B75-A41DBB7C9E83}"/>
                </a:ext>
              </a:extLst>
            </p:cNvPr>
            <p:cNvSpPr/>
            <p:nvPr/>
          </p:nvSpPr>
          <p:spPr>
            <a:xfrm>
              <a:off x="3251519" y="2353464"/>
              <a:ext cx="1326466" cy="244586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4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9</a:t>
              </a:r>
              <a:endParaRPr lang="zh-CN" altLang="en-US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29" name="组合 28">
            <a:extLst>
              <a:ext uri="{FF2B5EF4-FFF2-40B4-BE49-F238E27FC236}">
                <a16:creationId xmlns:a16="http://schemas.microsoft.com/office/drawing/2014/main" id="{AB7D4DA5-6BFF-4B22-92AF-64EEE45E476E}"/>
              </a:ext>
            </a:extLst>
          </p:cNvPr>
          <p:cNvGrpSpPr/>
          <p:nvPr/>
        </p:nvGrpSpPr>
        <p:grpSpPr>
          <a:xfrm>
            <a:off x="3974950" y="4130116"/>
            <a:ext cx="1597070" cy="1085593"/>
            <a:chOff x="3120764" y="1928099"/>
            <a:chExt cx="1597070" cy="1085593"/>
          </a:xfrm>
        </p:grpSpPr>
        <p:sp>
          <p:nvSpPr>
            <p:cNvPr id="30" name="矩形 29">
              <a:extLst>
                <a:ext uri="{FF2B5EF4-FFF2-40B4-BE49-F238E27FC236}">
                  <a16:creationId xmlns:a16="http://schemas.microsoft.com/office/drawing/2014/main" id="{F042259E-C5A9-4C47-A14F-D76DD2163449}"/>
                </a:ext>
              </a:extLst>
            </p:cNvPr>
            <p:cNvSpPr/>
            <p:nvPr/>
          </p:nvSpPr>
          <p:spPr>
            <a:xfrm>
              <a:off x="3120764" y="1928099"/>
              <a:ext cx="1597070" cy="1085593"/>
            </a:xfrm>
            <a:prstGeom prst="rect">
              <a:avLst/>
            </a:prstGeom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1" name="矩形 30">
              <a:extLst>
                <a:ext uri="{FF2B5EF4-FFF2-40B4-BE49-F238E27FC236}">
                  <a16:creationId xmlns:a16="http://schemas.microsoft.com/office/drawing/2014/main" id="{CFE52B74-A3C0-4F33-938A-827402025101}"/>
                </a:ext>
              </a:extLst>
            </p:cNvPr>
            <p:cNvSpPr/>
            <p:nvPr/>
          </p:nvSpPr>
          <p:spPr>
            <a:xfrm>
              <a:off x="3251519" y="2029839"/>
              <a:ext cx="1326466" cy="244586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4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6</a:t>
              </a:r>
              <a:endParaRPr lang="zh-CN" altLang="en-US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2" name="矩形 31">
              <a:extLst>
                <a:ext uri="{FF2B5EF4-FFF2-40B4-BE49-F238E27FC236}">
                  <a16:creationId xmlns:a16="http://schemas.microsoft.com/office/drawing/2014/main" id="{9DE5FE26-28FA-4A6D-ADAE-AA94959430F6}"/>
                </a:ext>
              </a:extLst>
            </p:cNvPr>
            <p:cNvSpPr/>
            <p:nvPr/>
          </p:nvSpPr>
          <p:spPr>
            <a:xfrm>
              <a:off x="3251519" y="2677089"/>
              <a:ext cx="1326466" cy="244586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3" name="矩形 32">
              <a:extLst>
                <a:ext uri="{FF2B5EF4-FFF2-40B4-BE49-F238E27FC236}">
                  <a16:creationId xmlns:a16="http://schemas.microsoft.com/office/drawing/2014/main" id="{F7659D25-0593-45AA-93D9-4B7502D5FE42}"/>
                </a:ext>
              </a:extLst>
            </p:cNvPr>
            <p:cNvSpPr/>
            <p:nvPr/>
          </p:nvSpPr>
          <p:spPr>
            <a:xfrm>
              <a:off x="3251519" y="2353464"/>
              <a:ext cx="1326466" cy="244586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34" name="组合 33">
            <a:extLst>
              <a:ext uri="{FF2B5EF4-FFF2-40B4-BE49-F238E27FC236}">
                <a16:creationId xmlns:a16="http://schemas.microsoft.com/office/drawing/2014/main" id="{EE20B405-6E43-4E87-A925-7A94CE04AC11}"/>
              </a:ext>
            </a:extLst>
          </p:cNvPr>
          <p:cNvGrpSpPr/>
          <p:nvPr/>
        </p:nvGrpSpPr>
        <p:grpSpPr>
          <a:xfrm>
            <a:off x="3970403" y="5296762"/>
            <a:ext cx="1597070" cy="1085593"/>
            <a:chOff x="3120764" y="1928099"/>
            <a:chExt cx="1597070" cy="1085593"/>
          </a:xfrm>
        </p:grpSpPr>
        <p:sp>
          <p:nvSpPr>
            <p:cNvPr id="35" name="矩形 34">
              <a:extLst>
                <a:ext uri="{FF2B5EF4-FFF2-40B4-BE49-F238E27FC236}">
                  <a16:creationId xmlns:a16="http://schemas.microsoft.com/office/drawing/2014/main" id="{1D08EEFC-C1DA-4024-94A2-657D610B6176}"/>
                </a:ext>
              </a:extLst>
            </p:cNvPr>
            <p:cNvSpPr/>
            <p:nvPr/>
          </p:nvSpPr>
          <p:spPr>
            <a:xfrm>
              <a:off x="3120764" y="1928099"/>
              <a:ext cx="1597070" cy="1085593"/>
            </a:xfrm>
            <a:prstGeom prst="rect">
              <a:avLst/>
            </a:prstGeom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6" name="矩形 35">
              <a:extLst>
                <a:ext uri="{FF2B5EF4-FFF2-40B4-BE49-F238E27FC236}">
                  <a16:creationId xmlns:a16="http://schemas.microsoft.com/office/drawing/2014/main" id="{666ABB10-656B-41EE-826D-8D4F4A1E9930}"/>
                </a:ext>
              </a:extLst>
            </p:cNvPr>
            <p:cNvSpPr/>
            <p:nvPr/>
          </p:nvSpPr>
          <p:spPr>
            <a:xfrm>
              <a:off x="3251519" y="2029839"/>
              <a:ext cx="1326466" cy="244586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4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7</a:t>
              </a:r>
              <a:endParaRPr lang="zh-CN" altLang="en-US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7" name="矩形 36">
              <a:extLst>
                <a:ext uri="{FF2B5EF4-FFF2-40B4-BE49-F238E27FC236}">
                  <a16:creationId xmlns:a16="http://schemas.microsoft.com/office/drawing/2014/main" id="{1C592B3C-9CDB-4E94-9586-9983ECFE1E06}"/>
                </a:ext>
              </a:extLst>
            </p:cNvPr>
            <p:cNvSpPr/>
            <p:nvPr/>
          </p:nvSpPr>
          <p:spPr>
            <a:xfrm>
              <a:off x="3251519" y="2677089"/>
              <a:ext cx="1326466" cy="244586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8" name="矩形 37">
              <a:extLst>
                <a:ext uri="{FF2B5EF4-FFF2-40B4-BE49-F238E27FC236}">
                  <a16:creationId xmlns:a16="http://schemas.microsoft.com/office/drawing/2014/main" id="{28A016A7-A959-4D9B-AE3E-CDEF9166E6DD}"/>
                </a:ext>
              </a:extLst>
            </p:cNvPr>
            <p:cNvSpPr/>
            <p:nvPr/>
          </p:nvSpPr>
          <p:spPr>
            <a:xfrm>
              <a:off x="3251519" y="2353464"/>
              <a:ext cx="1326466" cy="244586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4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11</a:t>
              </a:r>
              <a:endParaRPr lang="zh-CN" altLang="en-US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43" name="矩形 42">
            <a:extLst>
              <a:ext uri="{FF2B5EF4-FFF2-40B4-BE49-F238E27FC236}">
                <a16:creationId xmlns:a16="http://schemas.microsoft.com/office/drawing/2014/main" id="{AAB6DA76-BC38-4996-9044-32BD0E4A0295}"/>
              </a:ext>
            </a:extLst>
          </p:cNvPr>
          <p:cNvSpPr/>
          <p:nvPr/>
        </p:nvSpPr>
        <p:spPr>
          <a:xfrm>
            <a:off x="339310" y="5544540"/>
            <a:ext cx="2908151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b="1" i="1" dirty="0">
                <a:solidFill>
                  <a:srgbClr val="FF0000"/>
                </a:solidFill>
                <a:latin typeface="Crimson Text"/>
              </a:rPr>
              <a:t>hash</a:t>
            </a:r>
            <a:r>
              <a:rPr lang="en-US" altLang="zh-CN" sz="2400" b="1" baseline="-25000" dirty="0">
                <a:solidFill>
                  <a:srgbClr val="FF0000"/>
                </a:solidFill>
                <a:latin typeface="Crimson Text"/>
              </a:rPr>
              <a:t>1</a:t>
            </a:r>
            <a:r>
              <a:rPr lang="en-US" altLang="zh-CN" sz="2400" b="1" i="1" dirty="0">
                <a:solidFill>
                  <a:srgbClr val="FF0000"/>
                </a:solidFill>
                <a:latin typeface="Crimson Text"/>
              </a:rPr>
              <a:t>(key) = key % n</a:t>
            </a:r>
            <a:endParaRPr lang="zh-CN" altLang="en-US" sz="2400" dirty="0">
              <a:solidFill>
                <a:srgbClr val="FF0000"/>
              </a:solidFill>
            </a:endParaRPr>
          </a:p>
        </p:txBody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C712B760-4D9B-4F7F-A1B3-575B70ACB14C}"/>
              </a:ext>
            </a:extLst>
          </p:cNvPr>
          <p:cNvSpPr/>
          <p:nvPr/>
        </p:nvSpPr>
        <p:spPr>
          <a:xfrm>
            <a:off x="314038" y="2008672"/>
            <a:ext cx="143454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b="1" i="1" dirty="0">
                <a:solidFill>
                  <a:srgbClr val="FF0000"/>
                </a:solidFill>
                <a:latin typeface="Crimson Text"/>
              </a:rPr>
              <a:t>Split Pointer</a:t>
            </a:r>
            <a:endParaRPr lang="zh-CN" altLang="en-US" dirty="0">
              <a:solidFill>
                <a:srgbClr val="FF0000"/>
              </a:solidFill>
            </a:endParaRPr>
          </a:p>
        </p:txBody>
      </p:sp>
      <p:grpSp>
        <p:nvGrpSpPr>
          <p:cNvPr id="45" name="组合 44">
            <a:extLst>
              <a:ext uri="{FF2B5EF4-FFF2-40B4-BE49-F238E27FC236}">
                <a16:creationId xmlns:a16="http://schemas.microsoft.com/office/drawing/2014/main" id="{232CDEFB-2E87-4A2F-B5CF-8951B8E7D222}"/>
              </a:ext>
            </a:extLst>
          </p:cNvPr>
          <p:cNvGrpSpPr/>
          <p:nvPr/>
        </p:nvGrpSpPr>
        <p:grpSpPr>
          <a:xfrm>
            <a:off x="2115329" y="3215915"/>
            <a:ext cx="479511" cy="1395532"/>
            <a:chOff x="1626762" y="2964260"/>
            <a:chExt cx="479511" cy="1395532"/>
          </a:xfrm>
        </p:grpSpPr>
        <p:sp>
          <p:nvSpPr>
            <p:cNvPr id="46" name="矩形 45">
              <a:extLst>
                <a:ext uri="{FF2B5EF4-FFF2-40B4-BE49-F238E27FC236}">
                  <a16:creationId xmlns:a16="http://schemas.microsoft.com/office/drawing/2014/main" id="{A7CB772C-F832-4EFA-B806-7B5969E6B53B}"/>
                </a:ext>
              </a:extLst>
            </p:cNvPr>
            <p:cNvSpPr/>
            <p:nvPr/>
          </p:nvSpPr>
          <p:spPr>
            <a:xfrm>
              <a:off x="1626762" y="2964260"/>
              <a:ext cx="479511" cy="348883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b="1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0</a:t>
              </a:r>
              <a:endParaRPr lang="zh-CN" altLang="en-US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7" name="矩形 46">
              <a:extLst>
                <a:ext uri="{FF2B5EF4-FFF2-40B4-BE49-F238E27FC236}">
                  <a16:creationId xmlns:a16="http://schemas.microsoft.com/office/drawing/2014/main" id="{CEF3D8FE-BA2F-4BAF-9771-853397C09FEC}"/>
                </a:ext>
              </a:extLst>
            </p:cNvPr>
            <p:cNvSpPr/>
            <p:nvPr/>
          </p:nvSpPr>
          <p:spPr>
            <a:xfrm>
              <a:off x="1626762" y="3313143"/>
              <a:ext cx="479511" cy="348883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b="1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</a:t>
              </a:r>
              <a:endParaRPr lang="zh-CN" altLang="en-US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8" name="矩形 47">
              <a:extLst>
                <a:ext uri="{FF2B5EF4-FFF2-40B4-BE49-F238E27FC236}">
                  <a16:creationId xmlns:a16="http://schemas.microsoft.com/office/drawing/2014/main" id="{937F1EDB-F61B-47F4-A685-18507080A34E}"/>
                </a:ext>
              </a:extLst>
            </p:cNvPr>
            <p:cNvSpPr/>
            <p:nvPr/>
          </p:nvSpPr>
          <p:spPr>
            <a:xfrm>
              <a:off x="1626762" y="3662026"/>
              <a:ext cx="479511" cy="348883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b="1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2</a:t>
              </a:r>
              <a:endParaRPr lang="zh-CN" altLang="en-US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9" name="矩形 48">
              <a:extLst>
                <a:ext uri="{FF2B5EF4-FFF2-40B4-BE49-F238E27FC236}">
                  <a16:creationId xmlns:a16="http://schemas.microsoft.com/office/drawing/2014/main" id="{9217AC55-5718-48DD-9B43-8D9DB0C1F661}"/>
                </a:ext>
              </a:extLst>
            </p:cNvPr>
            <p:cNvSpPr/>
            <p:nvPr/>
          </p:nvSpPr>
          <p:spPr>
            <a:xfrm>
              <a:off x="1626762" y="4010909"/>
              <a:ext cx="479511" cy="348883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b="1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3</a:t>
              </a:r>
              <a:endParaRPr lang="zh-CN" altLang="en-US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cxnSp>
        <p:nvCxnSpPr>
          <p:cNvPr id="56" name="连接符: 曲线 55">
            <a:extLst>
              <a:ext uri="{FF2B5EF4-FFF2-40B4-BE49-F238E27FC236}">
                <a16:creationId xmlns:a16="http://schemas.microsoft.com/office/drawing/2014/main" id="{DE6F5C0A-2E0E-4223-8305-515B09AE8DF0}"/>
              </a:ext>
            </a:extLst>
          </p:cNvPr>
          <p:cNvCxnSpPr>
            <a:cxnSpLocks/>
            <a:stCxn id="48" idx="3"/>
            <a:endCxn id="30" idx="1"/>
          </p:cNvCxnSpPr>
          <p:nvPr/>
        </p:nvCxnSpPr>
        <p:spPr>
          <a:xfrm>
            <a:off x="2594840" y="4088123"/>
            <a:ext cx="1380110" cy="584790"/>
          </a:xfrm>
          <a:prstGeom prst="curvedConnector3">
            <a:avLst/>
          </a:prstGeom>
          <a:ln w="38100">
            <a:solidFill>
              <a:srgbClr val="FF0000"/>
            </a:solidFill>
            <a:headEnd type="oval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连接符: 曲线 18">
            <a:extLst>
              <a:ext uri="{FF2B5EF4-FFF2-40B4-BE49-F238E27FC236}">
                <a16:creationId xmlns:a16="http://schemas.microsoft.com/office/drawing/2014/main" id="{3E14C3CE-1F6A-461E-86A3-7B85608221F8}"/>
              </a:ext>
            </a:extLst>
          </p:cNvPr>
          <p:cNvCxnSpPr>
            <a:cxnSpLocks/>
            <a:stCxn id="46" idx="3"/>
            <a:endCxn id="7" idx="1"/>
          </p:cNvCxnSpPr>
          <p:nvPr/>
        </p:nvCxnSpPr>
        <p:spPr>
          <a:xfrm flipV="1">
            <a:off x="2594840" y="2328336"/>
            <a:ext cx="1388389" cy="1062021"/>
          </a:xfrm>
          <a:prstGeom prst="curvedConnector3">
            <a:avLst>
              <a:gd name="adj1" fmla="val 50000"/>
            </a:avLst>
          </a:prstGeom>
          <a:ln w="38100">
            <a:solidFill>
              <a:srgbClr val="FF0000"/>
            </a:solidFill>
            <a:headEnd type="oval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连接符: 曲线 19">
            <a:extLst>
              <a:ext uri="{FF2B5EF4-FFF2-40B4-BE49-F238E27FC236}">
                <a16:creationId xmlns:a16="http://schemas.microsoft.com/office/drawing/2014/main" id="{CA527AE1-C3F0-4E3A-A9ED-54A861CBF67D}"/>
              </a:ext>
            </a:extLst>
          </p:cNvPr>
          <p:cNvCxnSpPr>
            <a:cxnSpLocks/>
            <a:stCxn id="47" idx="3"/>
            <a:endCxn id="25" idx="1"/>
          </p:cNvCxnSpPr>
          <p:nvPr/>
        </p:nvCxnSpPr>
        <p:spPr>
          <a:xfrm flipV="1">
            <a:off x="2594840" y="3505434"/>
            <a:ext cx="1388389" cy="233806"/>
          </a:xfrm>
          <a:prstGeom prst="curvedConnector3">
            <a:avLst>
              <a:gd name="adj1" fmla="val 50000"/>
            </a:avLst>
          </a:prstGeom>
          <a:ln w="38100">
            <a:solidFill>
              <a:srgbClr val="FF0000"/>
            </a:solidFill>
            <a:headEnd type="oval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矩形 63">
            <a:extLst>
              <a:ext uri="{FF2B5EF4-FFF2-40B4-BE49-F238E27FC236}">
                <a16:creationId xmlns:a16="http://schemas.microsoft.com/office/drawing/2014/main" id="{AD19BEAC-3566-4A11-9032-BE2CA8E9A5DF}"/>
              </a:ext>
            </a:extLst>
          </p:cNvPr>
          <p:cNvSpPr/>
          <p:nvPr/>
        </p:nvSpPr>
        <p:spPr>
          <a:xfrm>
            <a:off x="8521141" y="1846484"/>
            <a:ext cx="3187155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b="1" dirty="0">
                <a:latin typeface="Inconsolata"/>
              </a:rPr>
              <a:t>Delete 20</a:t>
            </a:r>
          </a:p>
          <a:p>
            <a:r>
              <a:rPr lang="en-US" altLang="zh-CN" b="1" i="1" dirty="0">
                <a:solidFill>
                  <a:srgbClr val="FF0000"/>
                </a:solidFill>
                <a:latin typeface="Crimson Text"/>
              </a:rPr>
              <a:t>hash</a:t>
            </a:r>
            <a:r>
              <a:rPr lang="en-US" altLang="zh-CN" b="1" i="1" baseline="-25000" dirty="0">
                <a:solidFill>
                  <a:srgbClr val="FF0000"/>
                </a:solidFill>
                <a:latin typeface="Crimson Text"/>
              </a:rPr>
              <a:t>1</a:t>
            </a:r>
            <a:r>
              <a:rPr lang="en-US" altLang="zh-CN" b="1" i="1" dirty="0">
                <a:solidFill>
                  <a:srgbClr val="FF0000"/>
                </a:solidFill>
                <a:latin typeface="Crimson Text"/>
              </a:rPr>
              <a:t>(20) </a:t>
            </a:r>
            <a:r>
              <a:rPr lang="en-US" altLang="zh-CN" b="1" dirty="0">
                <a:solidFill>
                  <a:srgbClr val="FF0000"/>
                </a:solidFill>
                <a:latin typeface="Inconsolata"/>
              </a:rPr>
              <a:t>= 20 % 4 = 0</a:t>
            </a:r>
            <a:endParaRPr lang="zh-CN" altLang="en-US" dirty="0">
              <a:solidFill>
                <a:srgbClr val="FF0000"/>
              </a:solidFill>
            </a:endParaRPr>
          </a:p>
        </p:txBody>
      </p:sp>
      <p:grpSp>
        <p:nvGrpSpPr>
          <p:cNvPr id="50" name="组合 49">
            <a:extLst>
              <a:ext uri="{FF2B5EF4-FFF2-40B4-BE49-F238E27FC236}">
                <a16:creationId xmlns:a16="http://schemas.microsoft.com/office/drawing/2014/main" id="{4C9C8D87-8447-4926-A309-E35D4DD5BAFA}"/>
              </a:ext>
            </a:extLst>
          </p:cNvPr>
          <p:cNvGrpSpPr/>
          <p:nvPr/>
        </p:nvGrpSpPr>
        <p:grpSpPr>
          <a:xfrm>
            <a:off x="6182979" y="2959928"/>
            <a:ext cx="1597070" cy="1085593"/>
            <a:chOff x="3120764" y="1928099"/>
            <a:chExt cx="1597070" cy="1085593"/>
          </a:xfrm>
        </p:grpSpPr>
        <p:sp>
          <p:nvSpPr>
            <p:cNvPr id="51" name="矩形 50">
              <a:extLst>
                <a:ext uri="{FF2B5EF4-FFF2-40B4-BE49-F238E27FC236}">
                  <a16:creationId xmlns:a16="http://schemas.microsoft.com/office/drawing/2014/main" id="{C3EEB18C-9CC9-4B71-8154-222C8805C8EA}"/>
                </a:ext>
              </a:extLst>
            </p:cNvPr>
            <p:cNvSpPr/>
            <p:nvPr/>
          </p:nvSpPr>
          <p:spPr>
            <a:xfrm>
              <a:off x="3120764" y="1928099"/>
              <a:ext cx="1597070" cy="1085593"/>
            </a:xfrm>
            <a:prstGeom prst="rect">
              <a:avLst/>
            </a:prstGeom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2" name="矩形 51">
              <a:extLst>
                <a:ext uri="{FF2B5EF4-FFF2-40B4-BE49-F238E27FC236}">
                  <a16:creationId xmlns:a16="http://schemas.microsoft.com/office/drawing/2014/main" id="{A8716EAC-7DC5-4561-8933-20770D1A59E1}"/>
                </a:ext>
              </a:extLst>
            </p:cNvPr>
            <p:cNvSpPr/>
            <p:nvPr/>
          </p:nvSpPr>
          <p:spPr>
            <a:xfrm>
              <a:off x="3251519" y="2029839"/>
              <a:ext cx="1326466" cy="244586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4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17</a:t>
              </a:r>
              <a:endParaRPr lang="zh-CN" altLang="en-US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3" name="矩形 52">
              <a:extLst>
                <a:ext uri="{FF2B5EF4-FFF2-40B4-BE49-F238E27FC236}">
                  <a16:creationId xmlns:a16="http://schemas.microsoft.com/office/drawing/2014/main" id="{3A00454B-CEE6-476B-A956-51D655260146}"/>
                </a:ext>
              </a:extLst>
            </p:cNvPr>
            <p:cNvSpPr/>
            <p:nvPr/>
          </p:nvSpPr>
          <p:spPr>
            <a:xfrm>
              <a:off x="3251519" y="2677089"/>
              <a:ext cx="1326466" cy="244586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4" name="矩形 53">
              <a:extLst>
                <a:ext uri="{FF2B5EF4-FFF2-40B4-BE49-F238E27FC236}">
                  <a16:creationId xmlns:a16="http://schemas.microsoft.com/office/drawing/2014/main" id="{7B71EF36-D0AB-4E27-BCDA-B47DA16CEDA3}"/>
                </a:ext>
              </a:extLst>
            </p:cNvPr>
            <p:cNvSpPr/>
            <p:nvPr/>
          </p:nvSpPr>
          <p:spPr>
            <a:xfrm>
              <a:off x="3251519" y="2353464"/>
              <a:ext cx="1326466" cy="244586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cxnSp>
        <p:nvCxnSpPr>
          <p:cNvPr id="55" name="连接符: 曲线 54">
            <a:extLst>
              <a:ext uri="{FF2B5EF4-FFF2-40B4-BE49-F238E27FC236}">
                <a16:creationId xmlns:a16="http://schemas.microsoft.com/office/drawing/2014/main" id="{4ACC862F-3265-4490-A92E-B3D91350F288}"/>
              </a:ext>
            </a:extLst>
          </p:cNvPr>
          <p:cNvCxnSpPr>
            <a:cxnSpLocks/>
            <a:stCxn id="25" idx="3"/>
            <a:endCxn id="51" idx="1"/>
          </p:cNvCxnSpPr>
          <p:nvPr/>
        </p:nvCxnSpPr>
        <p:spPr>
          <a:xfrm flipV="1">
            <a:off x="5580299" y="3502725"/>
            <a:ext cx="602680" cy="2709"/>
          </a:xfrm>
          <a:prstGeom prst="curvedConnector3">
            <a:avLst>
              <a:gd name="adj1" fmla="val 50000"/>
            </a:avLst>
          </a:prstGeom>
          <a:ln w="38100">
            <a:solidFill>
              <a:srgbClr val="FF0000"/>
            </a:solidFill>
            <a:headEnd type="oval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矩形 11">
            <a:extLst>
              <a:ext uri="{FF2B5EF4-FFF2-40B4-BE49-F238E27FC236}">
                <a16:creationId xmlns:a16="http://schemas.microsoft.com/office/drawing/2014/main" id="{38EEA0AE-2D72-434C-9807-7EFBD8FE9A4F}"/>
              </a:ext>
            </a:extLst>
          </p:cNvPr>
          <p:cNvSpPr/>
          <p:nvPr/>
        </p:nvSpPr>
        <p:spPr>
          <a:xfrm>
            <a:off x="6432942" y="4092188"/>
            <a:ext cx="112279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b="1" i="1" dirty="0">
                <a:solidFill>
                  <a:srgbClr val="FF0000"/>
                </a:solidFill>
                <a:latin typeface="Museo Sans"/>
              </a:rPr>
              <a:t>Overflow!</a:t>
            </a:r>
            <a:endParaRPr lang="zh-CN" altLang="en-US" b="1" dirty="0">
              <a:solidFill>
                <a:srgbClr val="FF0000"/>
              </a:solidFill>
            </a:endParaRPr>
          </a:p>
        </p:txBody>
      </p:sp>
      <p:sp>
        <p:nvSpPr>
          <p:cNvPr id="58" name="矩形 57">
            <a:extLst>
              <a:ext uri="{FF2B5EF4-FFF2-40B4-BE49-F238E27FC236}">
                <a16:creationId xmlns:a16="http://schemas.microsoft.com/office/drawing/2014/main" id="{260A2FE2-4513-4940-BB6E-0AC48102C918}"/>
              </a:ext>
            </a:extLst>
          </p:cNvPr>
          <p:cNvSpPr/>
          <p:nvPr/>
        </p:nvSpPr>
        <p:spPr>
          <a:xfrm>
            <a:off x="2115329" y="4611447"/>
            <a:ext cx="479511" cy="348883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  <a:endParaRPr lang="zh-CN" altLang="en-US" b="1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21" name="连接符: 曲线 20">
            <a:extLst>
              <a:ext uri="{FF2B5EF4-FFF2-40B4-BE49-F238E27FC236}">
                <a16:creationId xmlns:a16="http://schemas.microsoft.com/office/drawing/2014/main" id="{D2FAF302-55C1-4264-A1DF-850ADFE39EE3}"/>
              </a:ext>
            </a:extLst>
          </p:cNvPr>
          <p:cNvCxnSpPr>
            <a:cxnSpLocks/>
            <a:stCxn id="49" idx="3"/>
            <a:endCxn id="35" idx="1"/>
          </p:cNvCxnSpPr>
          <p:nvPr/>
        </p:nvCxnSpPr>
        <p:spPr>
          <a:xfrm>
            <a:off x="2594840" y="4437006"/>
            <a:ext cx="1375563" cy="1402553"/>
          </a:xfrm>
          <a:prstGeom prst="curvedConnector3">
            <a:avLst/>
          </a:prstGeom>
          <a:ln w="38100">
            <a:solidFill>
              <a:srgbClr val="FF0000"/>
            </a:solidFill>
            <a:headEnd type="oval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矩形 58">
            <a:extLst>
              <a:ext uri="{FF2B5EF4-FFF2-40B4-BE49-F238E27FC236}">
                <a16:creationId xmlns:a16="http://schemas.microsoft.com/office/drawing/2014/main" id="{D4910F66-1A59-47DF-9D6F-CE24AB408D0B}"/>
              </a:ext>
            </a:extLst>
          </p:cNvPr>
          <p:cNvSpPr/>
          <p:nvPr/>
        </p:nvSpPr>
        <p:spPr>
          <a:xfrm>
            <a:off x="339310" y="5900831"/>
            <a:ext cx="2908151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b="1" i="1" dirty="0">
                <a:solidFill>
                  <a:srgbClr val="FF0000"/>
                </a:solidFill>
                <a:latin typeface="Crimson Text"/>
              </a:rPr>
              <a:t>hash</a:t>
            </a:r>
            <a:r>
              <a:rPr lang="en-US" altLang="zh-CN" sz="2400" b="1" baseline="-25000" dirty="0">
                <a:solidFill>
                  <a:srgbClr val="FF0000"/>
                </a:solidFill>
                <a:latin typeface="Crimson Text"/>
              </a:rPr>
              <a:t>2</a:t>
            </a:r>
            <a:r>
              <a:rPr lang="en-US" altLang="zh-CN" sz="2400" b="1" i="1" dirty="0">
                <a:solidFill>
                  <a:srgbClr val="FF0000"/>
                </a:solidFill>
                <a:latin typeface="Crimson Text"/>
              </a:rPr>
              <a:t>(key) = key % 2n</a:t>
            </a:r>
            <a:endParaRPr lang="zh-CN" altLang="en-US" sz="2400" dirty="0">
              <a:solidFill>
                <a:srgbClr val="FF0000"/>
              </a:solidFill>
            </a:endParaRPr>
          </a:p>
        </p:txBody>
      </p:sp>
      <p:grpSp>
        <p:nvGrpSpPr>
          <p:cNvPr id="60" name="组合 59">
            <a:extLst>
              <a:ext uri="{FF2B5EF4-FFF2-40B4-BE49-F238E27FC236}">
                <a16:creationId xmlns:a16="http://schemas.microsoft.com/office/drawing/2014/main" id="{378E2973-2E2A-4E4D-A751-756788F29A1F}"/>
              </a:ext>
            </a:extLst>
          </p:cNvPr>
          <p:cNvGrpSpPr/>
          <p:nvPr/>
        </p:nvGrpSpPr>
        <p:grpSpPr>
          <a:xfrm>
            <a:off x="6178432" y="5280829"/>
            <a:ext cx="1597070" cy="1085593"/>
            <a:chOff x="3120764" y="1928099"/>
            <a:chExt cx="1597070" cy="1085593"/>
          </a:xfrm>
        </p:grpSpPr>
        <p:sp>
          <p:nvSpPr>
            <p:cNvPr id="62" name="矩形 61">
              <a:extLst>
                <a:ext uri="{FF2B5EF4-FFF2-40B4-BE49-F238E27FC236}">
                  <a16:creationId xmlns:a16="http://schemas.microsoft.com/office/drawing/2014/main" id="{07E793CA-DFBD-4FA0-A733-E11F74D36F94}"/>
                </a:ext>
              </a:extLst>
            </p:cNvPr>
            <p:cNvSpPr/>
            <p:nvPr/>
          </p:nvSpPr>
          <p:spPr>
            <a:xfrm>
              <a:off x="3120764" y="1928099"/>
              <a:ext cx="1597070" cy="1085593"/>
            </a:xfrm>
            <a:prstGeom prst="rect">
              <a:avLst/>
            </a:prstGeom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7" name="矩形 66">
              <a:extLst>
                <a:ext uri="{FF2B5EF4-FFF2-40B4-BE49-F238E27FC236}">
                  <a16:creationId xmlns:a16="http://schemas.microsoft.com/office/drawing/2014/main" id="{87A1789F-FD25-4EA9-82B1-21542FF66EBD}"/>
                </a:ext>
              </a:extLst>
            </p:cNvPr>
            <p:cNvSpPr/>
            <p:nvPr/>
          </p:nvSpPr>
          <p:spPr>
            <a:xfrm>
              <a:off x="3251519" y="2029839"/>
              <a:ext cx="1326466" cy="244586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400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20</a:t>
              </a:r>
              <a:endParaRPr lang="zh-CN" altLang="en-US" sz="1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8" name="矩形 67">
              <a:extLst>
                <a:ext uri="{FF2B5EF4-FFF2-40B4-BE49-F238E27FC236}">
                  <a16:creationId xmlns:a16="http://schemas.microsoft.com/office/drawing/2014/main" id="{C31E2AF4-4729-4C6F-9A90-BFBF127DE784}"/>
                </a:ext>
              </a:extLst>
            </p:cNvPr>
            <p:cNvSpPr/>
            <p:nvPr/>
          </p:nvSpPr>
          <p:spPr>
            <a:xfrm>
              <a:off x="3251519" y="2677089"/>
              <a:ext cx="1326466" cy="244586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9" name="矩形 68">
              <a:extLst>
                <a:ext uri="{FF2B5EF4-FFF2-40B4-BE49-F238E27FC236}">
                  <a16:creationId xmlns:a16="http://schemas.microsoft.com/office/drawing/2014/main" id="{2B3662CF-18DE-4C7A-8C8A-45397FFB95E2}"/>
                </a:ext>
              </a:extLst>
            </p:cNvPr>
            <p:cNvSpPr/>
            <p:nvPr/>
          </p:nvSpPr>
          <p:spPr>
            <a:xfrm>
              <a:off x="3251519" y="2353464"/>
              <a:ext cx="1326466" cy="244586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cxnSp>
        <p:nvCxnSpPr>
          <p:cNvPr id="70" name="连接符: 曲线 69">
            <a:extLst>
              <a:ext uri="{FF2B5EF4-FFF2-40B4-BE49-F238E27FC236}">
                <a16:creationId xmlns:a16="http://schemas.microsoft.com/office/drawing/2014/main" id="{817C21DE-6C87-4CC9-ABD2-D1715C3173EA}"/>
              </a:ext>
            </a:extLst>
          </p:cNvPr>
          <p:cNvCxnSpPr>
            <a:cxnSpLocks/>
            <a:stCxn id="58" idx="3"/>
            <a:endCxn id="62" idx="1"/>
          </p:cNvCxnSpPr>
          <p:nvPr/>
        </p:nvCxnSpPr>
        <p:spPr>
          <a:xfrm>
            <a:off x="2594840" y="4785889"/>
            <a:ext cx="3583592" cy="1037737"/>
          </a:xfrm>
          <a:prstGeom prst="curvedConnector3">
            <a:avLst>
              <a:gd name="adj1" fmla="val 28548"/>
            </a:avLst>
          </a:prstGeom>
          <a:ln w="38100">
            <a:solidFill>
              <a:srgbClr val="FF0000"/>
            </a:solidFill>
            <a:headEnd type="oval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6" name="箭头: 右 65">
            <a:extLst>
              <a:ext uri="{FF2B5EF4-FFF2-40B4-BE49-F238E27FC236}">
                <a16:creationId xmlns:a16="http://schemas.microsoft.com/office/drawing/2014/main" id="{95D66C8D-9DEF-4B8F-8488-ACE77977CA32}"/>
              </a:ext>
            </a:extLst>
          </p:cNvPr>
          <p:cNvSpPr/>
          <p:nvPr/>
        </p:nvSpPr>
        <p:spPr>
          <a:xfrm>
            <a:off x="584311" y="3517782"/>
            <a:ext cx="447001" cy="482725"/>
          </a:xfrm>
          <a:prstGeom prst="rightArrow">
            <a:avLst/>
          </a:prstGeom>
          <a:solidFill>
            <a:schemeClr val="bg1">
              <a:lumMod val="5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solidFill>
                  <a:schemeClr val="tx1"/>
                </a:solidFill>
              </a:rPr>
              <a:t>1</a:t>
            </a:r>
            <a:endParaRPr lang="zh-CN" altLang="en-US" b="1" dirty="0">
              <a:solidFill>
                <a:schemeClr val="tx1"/>
              </a:solidFill>
            </a:endParaRPr>
          </a:p>
        </p:txBody>
      </p:sp>
      <p:cxnSp>
        <p:nvCxnSpPr>
          <p:cNvPr id="76" name="直接连接符 75">
            <a:extLst>
              <a:ext uri="{FF2B5EF4-FFF2-40B4-BE49-F238E27FC236}">
                <a16:creationId xmlns:a16="http://schemas.microsoft.com/office/drawing/2014/main" id="{D16280A4-5575-4CDA-961A-5B6151C7C2F1}"/>
              </a:ext>
            </a:extLst>
          </p:cNvPr>
          <p:cNvCxnSpPr/>
          <p:nvPr/>
        </p:nvCxnSpPr>
        <p:spPr>
          <a:xfrm>
            <a:off x="1271390" y="2779115"/>
            <a:ext cx="0" cy="2494401"/>
          </a:xfrm>
          <a:prstGeom prst="line">
            <a:avLst/>
          </a:prstGeom>
          <a:ln w="50800">
            <a:solidFill>
              <a:schemeClr val="bg1">
                <a:lumMod val="50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7" name="箭头: 右 76">
            <a:extLst>
              <a:ext uri="{FF2B5EF4-FFF2-40B4-BE49-F238E27FC236}">
                <a16:creationId xmlns:a16="http://schemas.microsoft.com/office/drawing/2014/main" id="{3E9F9E4A-3DDD-484D-8BE3-66DF32266E10}"/>
              </a:ext>
            </a:extLst>
          </p:cNvPr>
          <p:cNvSpPr/>
          <p:nvPr/>
        </p:nvSpPr>
        <p:spPr>
          <a:xfrm>
            <a:off x="1707188" y="3227335"/>
            <a:ext cx="308113" cy="305815"/>
          </a:xfrm>
          <a:prstGeom prst="right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9179FCDC-7FF3-4A9F-B8D6-E02A67FFA866}"/>
              </a:ext>
            </a:extLst>
          </p:cNvPr>
          <p:cNvCxnSpPr>
            <a:cxnSpLocks/>
          </p:cNvCxnSpPr>
          <p:nvPr/>
        </p:nvCxnSpPr>
        <p:spPr>
          <a:xfrm>
            <a:off x="314038" y="3564798"/>
            <a:ext cx="2411557" cy="0"/>
          </a:xfrm>
          <a:prstGeom prst="line">
            <a:avLst/>
          </a:prstGeom>
          <a:ln w="12700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8915618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9BBCCEF-D42F-420B-9CC2-98A9815DB6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Linear Hashing</a:t>
            </a:r>
            <a:endParaRPr lang="zh-CN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2905825-8EE0-4CF0-A05E-CAFDF944FB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04FEA-0947-450B-B0DD-57D388ACF6CA}" type="datetime1">
              <a:rPr lang="zh-CN" altLang="en-US" smtClean="0"/>
              <a:t>2024/5/8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ED664A2-5898-4C25-86F3-E969A94A39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altLang="zh-CN"/>
              <a:t>Hash Indices</a:t>
            </a: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34B9AF0-AA69-4CFE-BBF2-A55EB4555B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5CA875-76FA-4283-B5BE-070B4D16A27E}" type="slidenum">
              <a:rPr lang="zh-CN" altLang="en-US" smtClean="0"/>
              <a:t>34</a:t>
            </a:fld>
            <a:endParaRPr lang="zh-CN" altLang="en-US"/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F7CFF25C-12CE-407F-87E3-81133BE304C8}"/>
              </a:ext>
            </a:extLst>
          </p:cNvPr>
          <p:cNvGrpSpPr/>
          <p:nvPr/>
        </p:nvGrpSpPr>
        <p:grpSpPr>
          <a:xfrm>
            <a:off x="3983229" y="1785539"/>
            <a:ext cx="1597070" cy="1085593"/>
            <a:chOff x="3120764" y="1928099"/>
            <a:chExt cx="1597070" cy="1085593"/>
          </a:xfrm>
        </p:grpSpPr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9DD2C9B2-7A77-41FB-AF7D-A6C280ABA039}"/>
                </a:ext>
              </a:extLst>
            </p:cNvPr>
            <p:cNvSpPr/>
            <p:nvPr/>
          </p:nvSpPr>
          <p:spPr>
            <a:xfrm>
              <a:off x="3120764" y="1928099"/>
              <a:ext cx="1597070" cy="1085593"/>
            </a:xfrm>
            <a:prstGeom prst="rect">
              <a:avLst/>
            </a:prstGeom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矩形 8">
              <a:extLst>
                <a:ext uri="{FF2B5EF4-FFF2-40B4-BE49-F238E27FC236}">
                  <a16:creationId xmlns:a16="http://schemas.microsoft.com/office/drawing/2014/main" id="{0E7DB8D6-3C78-4AF8-9952-BB7500DE45FA}"/>
                </a:ext>
              </a:extLst>
            </p:cNvPr>
            <p:cNvSpPr/>
            <p:nvPr/>
          </p:nvSpPr>
          <p:spPr>
            <a:xfrm>
              <a:off x="3251519" y="2029839"/>
              <a:ext cx="1326466" cy="244586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4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8</a:t>
              </a:r>
              <a:endParaRPr lang="zh-CN" altLang="en-US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" name="矩形 10">
              <a:extLst>
                <a:ext uri="{FF2B5EF4-FFF2-40B4-BE49-F238E27FC236}">
                  <a16:creationId xmlns:a16="http://schemas.microsoft.com/office/drawing/2014/main" id="{A468E8D4-4AE3-479A-99AE-73187116092C}"/>
                </a:ext>
              </a:extLst>
            </p:cNvPr>
            <p:cNvSpPr/>
            <p:nvPr/>
          </p:nvSpPr>
          <p:spPr>
            <a:xfrm>
              <a:off x="3251519" y="2677089"/>
              <a:ext cx="1326466" cy="244586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2" name="矩形 21">
              <a:extLst>
                <a:ext uri="{FF2B5EF4-FFF2-40B4-BE49-F238E27FC236}">
                  <a16:creationId xmlns:a16="http://schemas.microsoft.com/office/drawing/2014/main" id="{9F0A11C6-1E0E-4BA1-A041-8423A80ADE65}"/>
                </a:ext>
              </a:extLst>
            </p:cNvPr>
            <p:cNvSpPr/>
            <p:nvPr/>
          </p:nvSpPr>
          <p:spPr>
            <a:xfrm>
              <a:off x="3251519" y="2353464"/>
              <a:ext cx="1326466" cy="244586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A8F2B301-0401-4DE0-A790-17FD885726F1}"/>
              </a:ext>
            </a:extLst>
          </p:cNvPr>
          <p:cNvGrpSpPr/>
          <p:nvPr/>
        </p:nvGrpSpPr>
        <p:grpSpPr>
          <a:xfrm>
            <a:off x="3983229" y="2962637"/>
            <a:ext cx="1597070" cy="1085593"/>
            <a:chOff x="3120764" y="1928099"/>
            <a:chExt cx="1597070" cy="1085593"/>
          </a:xfrm>
        </p:grpSpPr>
        <p:sp>
          <p:nvSpPr>
            <p:cNvPr id="25" name="矩形 24">
              <a:extLst>
                <a:ext uri="{FF2B5EF4-FFF2-40B4-BE49-F238E27FC236}">
                  <a16:creationId xmlns:a16="http://schemas.microsoft.com/office/drawing/2014/main" id="{8E64044D-7EE3-4418-9233-70933F0B3FA4}"/>
                </a:ext>
              </a:extLst>
            </p:cNvPr>
            <p:cNvSpPr/>
            <p:nvPr/>
          </p:nvSpPr>
          <p:spPr>
            <a:xfrm>
              <a:off x="3120764" y="1928099"/>
              <a:ext cx="1597070" cy="1085593"/>
            </a:xfrm>
            <a:prstGeom prst="rect">
              <a:avLst/>
            </a:prstGeom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6" name="矩形 25">
              <a:extLst>
                <a:ext uri="{FF2B5EF4-FFF2-40B4-BE49-F238E27FC236}">
                  <a16:creationId xmlns:a16="http://schemas.microsoft.com/office/drawing/2014/main" id="{3B7D9748-8966-4F1E-9D3A-E966B84DF98B}"/>
                </a:ext>
              </a:extLst>
            </p:cNvPr>
            <p:cNvSpPr/>
            <p:nvPr/>
          </p:nvSpPr>
          <p:spPr>
            <a:xfrm>
              <a:off x="3251519" y="2029839"/>
              <a:ext cx="1326466" cy="244586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4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5</a:t>
              </a:r>
              <a:endParaRPr lang="zh-CN" altLang="en-US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7" name="矩形 26">
              <a:extLst>
                <a:ext uri="{FF2B5EF4-FFF2-40B4-BE49-F238E27FC236}">
                  <a16:creationId xmlns:a16="http://schemas.microsoft.com/office/drawing/2014/main" id="{B4FFE470-7A43-4443-8558-3B64C4C75B6C}"/>
                </a:ext>
              </a:extLst>
            </p:cNvPr>
            <p:cNvSpPr/>
            <p:nvPr/>
          </p:nvSpPr>
          <p:spPr>
            <a:xfrm>
              <a:off x="3251519" y="2677089"/>
              <a:ext cx="1326466" cy="244586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4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13</a:t>
              </a:r>
              <a:endParaRPr lang="zh-CN" altLang="en-US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8" name="矩形 27">
              <a:extLst>
                <a:ext uri="{FF2B5EF4-FFF2-40B4-BE49-F238E27FC236}">
                  <a16:creationId xmlns:a16="http://schemas.microsoft.com/office/drawing/2014/main" id="{70C780C4-0F9F-46AB-9B75-A41DBB7C9E83}"/>
                </a:ext>
              </a:extLst>
            </p:cNvPr>
            <p:cNvSpPr/>
            <p:nvPr/>
          </p:nvSpPr>
          <p:spPr>
            <a:xfrm>
              <a:off x="3251519" y="2353464"/>
              <a:ext cx="1326466" cy="244586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4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9</a:t>
              </a:r>
              <a:endParaRPr lang="zh-CN" altLang="en-US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29" name="组合 28">
            <a:extLst>
              <a:ext uri="{FF2B5EF4-FFF2-40B4-BE49-F238E27FC236}">
                <a16:creationId xmlns:a16="http://schemas.microsoft.com/office/drawing/2014/main" id="{AB7D4DA5-6BFF-4B22-92AF-64EEE45E476E}"/>
              </a:ext>
            </a:extLst>
          </p:cNvPr>
          <p:cNvGrpSpPr/>
          <p:nvPr/>
        </p:nvGrpSpPr>
        <p:grpSpPr>
          <a:xfrm>
            <a:off x="3974950" y="4130116"/>
            <a:ext cx="1597070" cy="1085593"/>
            <a:chOff x="3120764" y="1928099"/>
            <a:chExt cx="1597070" cy="1085593"/>
          </a:xfrm>
        </p:grpSpPr>
        <p:sp>
          <p:nvSpPr>
            <p:cNvPr id="30" name="矩形 29">
              <a:extLst>
                <a:ext uri="{FF2B5EF4-FFF2-40B4-BE49-F238E27FC236}">
                  <a16:creationId xmlns:a16="http://schemas.microsoft.com/office/drawing/2014/main" id="{F042259E-C5A9-4C47-A14F-D76DD2163449}"/>
                </a:ext>
              </a:extLst>
            </p:cNvPr>
            <p:cNvSpPr/>
            <p:nvPr/>
          </p:nvSpPr>
          <p:spPr>
            <a:xfrm>
              <a:off x="3120764" y="1928099"/>
              <a:ext cx="1597070" cy="1085593"/>
            </a:xfrm>
            <a:prstGeom prst="rect">
              <a:avLst/>
            </a:prstGeom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1" name="矩形 30">
              <a:extLst>
                <a:ext uri="{FF2B5EF4-FFF2-40B4-BE49-F238E27FC236}">
                  <a16:creationId xmlns:a16="http://schemas.microsoft.com/office/drawing/2014/main" id="{CFE52B74-A3C0-4F33-938A-827402025101}"/>
                </a:ext>
              </a:extLst>
            </p:cNvPr>
            <p:cNvSpPr/>
            <p:nvPr/>
          </p:nvSpPr>
          <p:spPr>
            <a:xfrm>
              <a:off x="3251519" y="2029839"/>
              <a:ext cx="1326466" cy="244586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4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6</a:t>
              </a:r>
              <a:endParaRPr lang="zh-CN" altLang="en-US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2" name="矩形 31">
              <a:extLst>
                <a:ext uri="{FF2B5EF4-FFF2-40B4-BE49-F238E27FC236}">
                  <a16:creationId xmlns:a16="http://schemas.microsoft.com/office/drawing/2014/main" id="{9DE5FE26-28FA-4A6D-ADAE-AA94959430F6}"/>
                </a:ext>
              </a:extLst>
            </p:cNvPr>
            <p:cNvSpPr/>
            <p:nvPr/>
          </p:nvSpPr>
          <p:spPr>
            <a:xfrm>
              <a:off x="3251519" y="2677089"/>
              <a:ext cx="1326466" cy="244586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3" name="矩形 32">
              <a:extLst>
                <a:ext uri="{FF2B5EF4-FFF2-40B4-BE49-F238E27FC236}">
                  <a16:creationId xmlns:a16="http://schemas.microsoft.com/office/drawing/2014/main" id="{F7659D25-0593-45AA-93D9-4B7502D5FE42}"/>
                </a:ext>
              </a:extLst>
            </p:cNvPr>
            <p:cNvSpPr/>
            <p:nvPr/>
          </p:nvSpPr>
          <p:spPr>
            <a:xfrm>
              <a:off x="3251519" y="2353464"/>
              <a:ext cx="1326466" cy="244586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34" name="组合 33">
            <a:extLst>
              <a:ext uri="{FF2B5EF4-FFF2-40B4-BE49-F238E27FC236}">
                <a16:creationId xmlns:a16="http://schemas.microsoft.com/office/drawing/2014/main" id="{EE20B405-6E43-4E87-A925-7A94CE04AC11}"/>
              </a:ext>
            </a:extLst>
          </p:cNvPr>
          <p:cNvGrpSpPr/>
          <p:nvPr/>
        </p:nvGrpSpPr>
        <p:grpSpPr>
          <a:xfrm>
            <a:off x="3970403" y="5296762"/>
            <a:ext cx="1597070" cy="1085593"/>
            <a:chOff x="3120764" y="1928099"/>
            <a:chExt cx="1597070" cy="1085593"/>
          </a:xfrm>
        </p:grpSpPr>
        <p:sp>
          <p:nvSpPr>
            <p:cNvPr id="35" name="矩形 34">
              <a:extLst>
                <a:ext uri="{FF2B5EF4-FFF2-40B4-BE49-F238E27FC236}">
                  <a16:creationId xmlns:a16="http://schemas.microsoft.com/office/drawing/2014/main" id="{1D08EEFC-C1DA-4024-94A2-657D610B6176}"/>
                </a:ext>
              </a:extLst>
            </p:cNvPr>
            <p:cNvSpPr/>
            <p:nvPr/>
          </p:nvSpPr>
          <p:spPr>
            <a:xfrm>
              <a:off x="3120764" y="1928099"/>
              <a:ext cx="1597070" cy="1085593"/>
            </a:xfrm>
            <a:prstGeom prst="rect">
              <a:avLst/>
            </a:prstGeom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6" name="矩形 35">
              <a:extLst>
                <a:ext uri="{FF2B5EF4-FFF2-40B4-BE49-F238E27FC236}">
                  <a16:creationId xmlns:a16="http://schemas.microsoft.com/office/drawing/2014/main" id="{666ABB10-656B-41EE-826D-8D4F4A1E9930}"/>
                </a:ext>
              </a:extLst>
            </p:cNvPr>
            <p:cNvSpPr/>
            <p:nvPr/>
          </p:nvSpPr>
          <p:spPr>
            <a:xfrm>
              <a:off x="3251519" y="2029839"/>
              <a:ext cx="1326466" cy="244586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4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7</a:t>
              </a:r>
              <a:endParaRPr lang="zh-CN" altLang="en-US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7" name="矩形 36">
              <a:extLst>
                <a:ext uri="{FF2B5EF4-FFF2-40B4-BE49-F238E27FC236}">
                  <a16:creationId xmlns:a16="http://schemas.microsoft.com/office/drawing/2014/main" id="{1C592B3C-9CDB-4E94-9586-9983ECFE1E06}"/>
                </a:ext>
              </a:extLst>
            </p:cNvPr>
            <p:cNvSpPr/>
            <p:nvPr/>
          </p:nvSpPr>
          <p:spPr>
            <a:xfrm>
              <a:off x="3251519" y="2677089"/>
              <a:ext cx="1326466" cy="244586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8" name="矩形 37">
              <a:extLst>
                <a:ext uri="{FF2B5EF4-FFF2-40B4-BE49-F238E27FC236}">
                  <a16:creationId xmlns:a16="http://schemas.microsoft.com/office/drawing/2014/main" id="{28A016A7-A959-4D9B-AE3E-CDEF9166E6DD}"/>
                </a:ext>
              </a:extLst>
            </p:cNvPr>
            <p:cNvSpPr/>
            <p:nvPr/>
          </p:nvSpPr>
          <p:spPr>
            <a:xfrm>
              <a:off x="3251519" y="2353464"/>
              <a:ext cx="1326466" cy="244586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4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11</a:t>
              </a:r>
              <a:endParaRPr lang="zh-CN" altLang="en-US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43" name="矩形 42">
            <a:extLst>
              <a:ext uri="{FF2B5EF4-FFF2-40B4-BE49-F238E27FC236}">
                <a16:creationId xmlns:a16="http://schemas.microsoft.com/office/drawing/2014/main" id="{AAB6DA76-BC38-4996-9044-32BD0E4A0295}"/>
              </a:ext>
            </a:extLst>
          </p:cNvPr>
          <p:cNvSpPr/>
          <p:nvPr/>
        </p:nvSpPr>
        <p:spPr>
          <a:xfrm>
            <a:off x="339310" y="5544540"/>
            <a:ext cx="2908151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b="1" i="1" dirty="0">
                <a:solidFill>
                  <a:srgbClr val="FF0000"/>
                </a:solidFill>
                <a:latin typeface="Crimson Text"/>
              </a:rPr>
              <a:t>hash</a:t>
            </a:r>
            <a:r>
              <a:rPr lang="en-US" altLang="zh-CN" sz="2400" b="1" baseline="-25000" dirty="0">
                <a:solidFill>
                  <a:srgbClr val="FF0000"/>
                </a:solidFill>
                <a:latin typeface="Crimson Text"/>
              </a:rPr>
              <a:t>1</a:t>
            </a:r>
            <a:r>
              <a:rPr lang="en-US" altLang="zh-CN" sz="2400" b="1" i="1" dirty="0">
                <a:solidFill>
                  <a:srgbClr val="FF0000"/>
                </a:solidFill>
                <a:latin typeface="Crimson Text"/>
              </a:rPr>
              <a:t>(key) = key % n</a:t>
            </a:r>
            <a:endParaRPr lang="zh-CN" altLang="en-US" sz="2400" dirty="0">
              <a:solidFill>
                <a:srgbClr val="FF0000"/>
              </a:solidFill>
            </a:endParaRPr>
          </a:p>
        </p:txBody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C712B760-4D9B-4F7F-A1B3-575B70ACB14C}"/>
              </a:ext>
            </a:extLst>
          </p:cNvPr>
          <p:cNvSpPr/>
          <p:nvPr/>
        </p:nvSpPr>
        <p:spPr>
          <a:xfrm>
            <a:off x="314038" y="2008672"/>
            <a:ext cx="143454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b="1" i="1" dirty="0">
                <a:solidFill>
                  <a:srgbClr val="FF0000"/>
                </a:solidFill>
                <a:latin typeface="Crimson Text"/>
              </a:rPr>
              <a:t>Split Pointer</a:t>
            </a:r>
            <a:endParaRPr lang="zh-CN" altLang="en-US" dirty="0">
              <a:solidFill>
                <a:srgbClr val="FF0000"/>
              </a:solidFill>
            </a:endParaRPr>
          </a:p>
        </p:txBody>
      </p:sp>
      <p:grpSp>
        <p:nvGrpSpPr>
          <p:cNvPr id="45" name="组合 44">
            <a:extLst>
              <a:ext uri="{FF2B5EF4-FFF2-40B4-BE49-F238E27FC236}">
                <a16:creationId xmlns:a16="http://schemas.microsoft.com/office/drawing/2014/main" id="{232CDEFB-2E87-4A2F-B5CF-8951B8E7D222}"/>
              </a:ext>
            </a:extLst>
          </p:cNvPr>
          <p:cNvGrpSpPr/>
          <p:nvPr/>
        </p:nvGrpSpPr>
        <p:grpSpPr>
          <a:xfrm>
            <a:off x="2115329" y="3215915"/>
            <a:ext cx="479511" cy="1395532"/>
            <a:chOff x="1626762" y="2964260"/>
            <a:chExt cx="479511" cy="1395532"/>
          </a:xfrm>
        </p:grpSpPr>
        <p:sp>
          <p:nvSpPr>
            <p:cNvPr id="46" name="矩形 45">
              <a:extLst>
                <a:ext uri="{FF2B5EF4-FFF2-40B4-BE49-F238E27FC236}">
                  <a16:creationId xmlns:a16="http://schemas.microsoft.com/office/drawing/2014/main" id="{A7CB772C-F832-4EFA-B806-7B5969E6B53B}"/>
                </a:ext>
              </a:extLst>
            </p:cNvPr>
            <p:cNvSpPr/>
            <p:nvPr/>
          </p:nvSpPr>
          <p:spPr>
            <a:xfrm>
              <a:off x="1626762" y="2964260"/>
              <a:ext cx="479511" cy="348883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b="1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0</a:t>
              </a:r>
              <a:endParaRPr lang="zh-CN" altLang="en-US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7" name="矩形 46">
              <a:extLst>
                <a:ext uri="{FF2B5EF4-FFF2-40B4-BE49-F238E27FC236}">
                  <a16:creationId xmlns:a16="http://schemas.microsoft.com/office/drawing/2014/main" id="{CEF3D8FE-BA2F-4BAF-9771-853397C09FEC}"/>
                </a:ext>
              </a:extLst>
            </p:cNvPr>
            <p:cNvSpPr/>
            <p:nvPr/>
          </p:nvSpPr>
          <p:spPr>
            <a:xfrm>
              <a:off x="1626762" y="3313143"/>
              <a:ext cx="479511" cy="348883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b="1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</a:t>
              </a:r>
              <a:endParaRPr lang="zh-CN" altLang="en-US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8" name="矩形 47">
              <a:extLst>
                <a:ext uri="{FF2B5EF4-FFF2-40B4-BE49-F238E27FC236}">
                  <a16:creationId xmlns:a16="http://schemas.microsoft.com/office/drawing/2014/main" id="{937F1EDB-F61B-47F4-A685-18507080A34E}"/>
                </a:ext>
              </a:extLst>
            </p:cNvPr>
            <p:cNvSpPr/>
            <p:nvPr/>
          </p:nvSpPr>
          <p:spPr>
            <a:xfrm>
              <a:off x="1626762" y="3662026"/>
              <a:ext cx="479511" cy="348883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b="1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2</a:t>
              </a:r>
              <a:endParaRPr lang="zh-CN" altLang="en-US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9" name="矩形 48">
              <a:extLst>
                <a:ext uri="{FF2B5EF4-FFF2-40B4-BE49-F238E27FC236}">
                  <a16:creationId xmlns:a16="http://schemas.microsoft.com/office/drawing/2014/main" id="{9217AC55-5718-48DD-9B43-8D9DB0C1F661}"/>
                </a:ext>
              </a:extLst>
            </p:cNvPr>
            <p:cNvSpPr/>
            <p:nvPr/>
          </p:nvSpPr>
          <p:spPr>
            <a:xfrm>
              <a:off x="1626762" y="4010909"/>
              <a:ext cx="479511" cy="348883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b="1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3</a:t>
              </a:r>
              <a:endParaRPr lang="zh-CN" altLang="en-US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cxnSp>
        <p:nvCxnSpPr>
          <p:cNvPr id="56" name="连接符: 曲线 55">
            <a:extLst>
              <a:ext uri="{FF2B5EF4-FFF2-40B4-BE49-F238E27FC236}">
                <a16:creationId xmlns:a16="http://schemas.microsoft.com/office/drawing/2014/main" id="{DE6F5C0A-2E0E-4223-8305-515B09AE8DF0}"/>
              </a:ext>
            </a:extLst>
          </p:cNvPr>
          <p:cNvCxnSpPr>
            <a:cxnSpLocks/>
            <a:stCxn id="48" idx="3"/>
            <a:endCxn id="30" idx="1"/>
          </p:cNvCxnSpPr>
          <p:nvPr/>
        </p:nvCxnSpPr>
        <p:spPr>
          <a:xfrm>
            <a:off x="2594840" y="4088123"/>
            <a:ext cx="1380110" cy="584790"/>
          </a:xfrm>
          <a:prstGeom prst="curvedConnector3">
            <a:avLst/>
          </a:prstGeom>
          <a:ln w="38100">
            <a:solidFill>
              <a:srgbClr val="FF0000"/>
            </a:solidFill>
            <a:headEnd type="oval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连接符: 曲线 18">
            <a:extLst>
              <a:ext uri="{FF2B5EF4-FFF2-40B4-BE49-F238E27FC236}">
                <a16:creationId xmlns:a16="http://schemas.microsoft.com/office/drawing/2014/main" id="{3E14C3CE-1F6A-461E-86A3-7B85608221F8}"/>
              </a:ext>
            </a:extLst>
          </p:cNvPr>
          <p:cNvCxnSpPr>
            <a:cxnSpLocks/>
            <a:stCxn id="46" idx="3"/>
            <a:endCxn id="7" idx="1"/>
          </p:cNvCxnSpPr>
          <p:nvPr/>
        </p:nvCxnSpPr>
        <p:spPr>
          <a:xfrm flipV="1">
            <a:off x="2594840" y="2328336"/>
            <a:ext cx="1388389" cy="1062021"/>
          </a:xfrm>
          <a:prstGeom prst="curvedConnector3">
            <a:avLst>
              <a:gd name="adj1" fmla="val 50000"/>
            </a:avLst>
          </a:prstGeom>
          <a:ln w="38100">
            <a:solidFill>
              <a:srgbClr val="FF0000"/>
            </a:solidFill>
            <a:headEnd type="oval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连接符: 曲线 19">
            <a:extLst>
              <a:ext uri="{FF2B5EF4-FFF2-40B4-BE49-F238E27FC236}">
                <a16:creationId xmlns:a16="http://schemas.microsoft.com/office/drawing/2014/main" id="{CA527AE1-C3F0-4E3A-A9ED-54A861CBF67D}"/>
              </a:ext>
            </a:extLst>
          </p:cNvPr>
          <p:cNvCxnSpPr>
            <a:cxnSpLocks/>
            <a:stCxn id="47" idx="3"/>
            <a:endCxn id="25" idx="1"/>
          </p:cNvCxnSpPr>
          <p:nvPr/>
        </p:nvCxnSpPr>
        <p:spPr>
          <a:xfrm flipV="1">
            <a:off x="2594840" y="3505434"/>
            <a:ext cx="1388389" cy="233806"/>
          </a:xfrm>
          <a:prstGeom prst="curvedConnector3">
            <a:avLst>
              <a:gd name="adj1" fmla="val 50000"/>
            </a:avLst>
          </a:prstGeom>
          <a:ln w="38100">
            <a:solidFill>
              <a:srgbClr val="FF0000"/>
            </a:solidFill>
            <a:headEnd type="oval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矩形 63">
            <a:extLst>
              <a:ext uri="{FF2B5EF4-FFF2-40B4-BE49-F238E27FC236}">
                <a16:creationId xmlns:a16="http://schemas.microsoft.com/office/drawing/2014/main" id="{AD19BEAC-3566-4A11-9032-BE2CA8E9A5DF}"/>
              </a:ext>
            </a:extLst>
          </p:cNvPr>
          <p:cNvSpPr/>
          <p:nvPr/>
        </p:nvSpPr>
        <p:spPr>
          <a:xfrm>
            <a:off x="8521141" y="1846484"/>
            <a:ext cx="3187155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b="1" dirty="0">
                <a:latin typeface="Inconsolata"/>
              </a:rPr>
              <a:t>Delete 20</a:t>
            </a:r>
          </a:p>
          <a:p>
            <a:r>
              <a:rPr lang="en-US" altLang="zh-CN" b="1" i="1" dirty="0">
                <a:solidFill>
                  <a:srgbClr val="FF0000"/>
                </a:solidFill>
                <a:latin typeface="Crimson Text"/>
              </a:rPr>
              <a:t>hash</a:t>
            </a:r>
            <a:r>
              <a:rPr lang="en-US" altLang="zh-CN" b="1" i="1" baseline="-25000" dirty="0">
                <a:solidFill>
                  <a:srgbClr val="FF0000"/>
                </a:solidFill>
                <a:latin typeface="Crimson Text"/>
              </a:rPr>
              <a:t>1</a:t>
            </a:r>
            <a:r>
              <a:rPr lang="en-US" altLang="zh-CN" b="1" i="1" dirty="0">
                <a:solidFill>
                  <a:srgbClr val="FF0000"/>
                </a:solidFill>
                <a:latin typeface="Crimson Text"/>
              </a:rPr>
              <a:t>(20) </a:t>
            </a:r>
            <a:r>
              <a:rPr lang="en-US" altLang="zh-CN" b="1" dirty="0">
                <a:solidFill>
                  <a:srgbClr val="FF0000"/>
                </a:solidFill>
                <a:latin typeface="Inconsolata"/>
              </a:rPr>
              <a:t>= 20 % 4 = 0</a:t>
            </a:r>
          </a:p>
          <a:p>
            <a:r>
              <a:rPr lang="en-US" altLang="zh-CN" b="1" i="1" dirty="0">
                <a:solidFill>
                  <a:srgbClr val="FF0000"/>
                </a:solidFill>
                <a:latin typeface="Crimson Text"/>
              </a:rPr>
              <a:t>hash</a:t>
            </a:r>
            <a:r>
              <a:rPr lang="en-US" altLang="zh-CN" b="1" i="1" baseline="-25000" dirty="0">
                <a:solidFill>
                  <a:srgbClr val="FF0000"/>
                </a:solidFill>
                <a:latin typeface="Crimson Text"/>
              </a:rPr>
              <a:t>2</a:t>
            </a:r>
            <a:r>
              <a:rPr lang="en-US" altLang="zh-CN" b="1" i="1" dirty="0">
                <a:solidFill>
                  <a:srgbClr val="FF0000"/>
                </a:solidFill>
                <a:latin typeface="Crimson Text"/>
              </a:rPr>
              <a:t>(20) </a:t>
            </a:r>
            <a:r>
              <a:rPr lang="en-US" altLang="zh-CN" b="1" dirty="0">
                <a:solidFill>
                  <a:srgbClr val="FF0000"/>
                </a:solidFill>
                <a:latin typeface="Inconsolata"/>
              </a:rPr>
              <a:t>= 20 % 8 = 4</a:t>
            </a:r>
            <a:endParaRPr lang="zh-CN" altLang="en-US" dirty="0">
              <a:solidFill>
                <a:srgbClr val="FF0000"/>
              </a:solidFill>
            </a:endParaRPr>
          </a:p>
        </p:txBody>
      </p:sp>
      <p:grpSp>
        <p:nvGrpSpPr>
          <p:cNvPr id="50" name="组合 49">
            <a:extLst>
              <a:ext uri="{FF2B5EF4-FFF2-40B4-BE49-F238E27FC236}">
                <a16:creationId xmlns:a16="http://schemas.microsoft.com/office/drawing/2014/main" id="{4C9C8D87-8447-4926-A309-E35D4DD5BAFA}"/>
              </a:ext>
            </a:extLst>
          </p:cNvPr>
          <p:cNvGrpSpPr/>
          <p:nvPr/>
        </p:nvGrpSpPr>
        <p:grpSpPr>
          <a:xfrm>
            <a:off x="6182979" y="2959928"/>
            <a:ext cx="1597070" cy="1085593"/>
            <a:chOff x="3120764" y="1928099"/>
            <a:chExt cx="1597070" cy="1085593"/>
          </a:xfrm>
        </p:grpSpPr>
        <p:sp>
          <p:nvSpPr>
            <p:cNvPr id="51" name="矩形 50">
              <a:extLst>
                <a:ext uri="{FF2B5EF4-FFF2-40B4-BE49-F238E27FC236}">
                  <a16:creationId xmlns:a16="http://schemas.microsoft.com/office/drawing/2014/main" id="{C3EEB18C-9CC9-4B71-8154-222C8805C8EA}"/>
                </a:ext>
              </a:extLst>
            </p:cNvPr>
            <p:cNvSpPr/>
            <p:nvPr/>
          </p:nvSpPr>
          <p:spPr>
            <a:xfrm>
              <a:off x="3120764" y="1928099"/>
              <a:ext cx="1597070" cy="1085593"/>
            </a:xfrm>
            <a:prstGeom prst="rect">
              <a:avLst/>
            </a:prstGeom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2" name="矩形 51">
              <a:extLst>
                <a:ext uri="{FF2B5EF4-FFF2-40B4-BE49-F238E27FC236}">
                  <a16:creationId xmlns:a16="http://schemas.microsoft.com/office/drawing/2014/main" id="{A8716EAC-7DC5-4561-8933-20770D1A59E1}"/>
                </a:ext>
              </a:extLst>
            </p:cNvPr>
            <p:cNvSpPr/>
            <p:nvPr/>
          </p:nvSpPr>
          <p:spPr>
            <a:xfrm>
              <a:off x="3251519" y="2029839"/>
              <a:ext cx="1326466" cy="244586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4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17</a:t>
              </a:r>
              <a:endParaRPr lang="zh-CN" altLang="en-US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3" name="矩形 52">
              <a:extLst>
                <a:ext uri="{FF2B5EF4-FFF2-40B4-BE49-F238E27FC236}">
                  <a16:creationId xmlns:a16="http://schemas.microsoft.com/office/drawing/2014/main" id="{3A00454B-CEE6-476B-A956-51D655260146}"/>
                </a:ext>
              </a:extLst>
            </p:cNvPr>
            <p:cNvSpPr/>
            <p:nvPr/>
          </p:nvSpPr>
          <p:spPr>
            <a:xfrm>
              <a:off x="3251519" y="2677089"/>
              <a:ext cx="1326466" cy="244586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4" name="矩形 53">
              <a:extLst>
                <a:ext uri="{FF2B5EF4-FFF2-40B4-BE49-F238E27FC236}">
                  <a16:creationId xmlns:a16="http://schemas.microsoft.com/office/drawing/2014/main" id="{7B71EF36-D0AB-4E27-BCDA-B47DA16CEDA3}"/>
                </a:ext>
              </a:extLst>
            </p:cNvPr>
            <p:cNvSpPr/>
            <p:nvPr/>
          </p:nvSpPr>
          <p:spPr>
            <a:xfrm>
              <a:off x="3251519" y="2353464"/>
              <a:ext cx="1326466" cy="244586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cxnSp>
        <p:nvCxnSpPr>
          <p:cNvPr id="55" name="连接符: 曲线 54">
            <a:extLst>
              <a:ext uri="{FF2B5EF4-FFF2-40B4-BE49-F238E27FC236}">
                <a16:creationId xmlns:a16="http://schemas.microsoft.com/office/drawing/2014/main" id="{4ACC862F-3265-4490-A92E-B3D91350F288}"/>
              </a:ext>
            </a:extLst>
          </p:cNvPr>
          <p:cNvCxnSpPr>
            <a:cxnSpLocks/>
            <a:stCxn id="25" idx="3"/>
            <a:endCxn id="51" idx="1"/>
          </p:cNvCxnSpPr>
          <p:nvPr/>
        </p:nvCxnSpPr>
        <p:spPr>
          <a:xfrm flipV="1">
            <a:off x="5580299" y="3502725"/>
            <a:ext cx="602680" cy="2709"/>
          </a:xfrm>
          <a:prstGeom prst="curvedConnector3">
            <a:avLst>
              <a:gd name="adj1" fmla="val 50000"/>
            </a:avLst>
          </a:prstGeom>
          <a:ln w="38100">
            <a:solidFill>
              <a:srgbClr val="FF0000"/>
            </a:solidFill>
            <a:headEnd type="oval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矩形 11">
            <a:extLst>
              <a:ext uri="{FF2B5EF4-FFF2-40B4-BE49-F238E27FC236}">
                <a16:creationId xmlns:a16="http://schemas.microsoft.com/office/drawing/2014/main" id="{38EEA0AE-2D72-434C-9807-7EFBD8FE9A4F}"/>
              </a:ext>
            </a:extLst>
          </p:cNvPr>
          <p:cNvSpPr/>
          <p:nvPr/>
        </p:nvSpPr>
        <p:spPr>
          <a:xfrm>
            <a:off x="6432942" y="4092188"/>
            <a:ext cx="112279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b="1" i="1" dirty="0">
                <a:solidFill>
                  <a:srgbClr val="FF0000"/>
                </a:solidFill>
                <a:latin typeface="Museo Sans"/>
              </a:rPr>
              <a:t>Overflow!</a:t>
            </a:r>
            <a:endParaRPr lang="zh-CN" altLang="en-US" b="1" dirty="0">
              <a:solidFill>
                <a:srgbClr val="FF0000"/>
              </a:solidFill>
            </a:endParaRPr>
          </a:p>
        </p:txBody>
      </p:sp>
      <p:sp>
        <p:nvSpPr>
          <p:cNvPr id="58" name="矩形 57">
            <a:extLst>
              <a:ext uri="{FF2B5EF4-FFF2-40B4-BE49-F238E27FC236}">
                <a16:creationId xmlns:a16="http://schemas.microsoft.com/office/drawing/2014/main" id="{260A2FE2-4513-4940-BB6E-0AC48102C918}"/>
              </a:ext>
            </a:extLst>
          </p:cNvPr>
          <p:cNvSpPr/>
          <p:nvPr/>
        </p:nvSpPr>
        <p:spPr>
          <a:xfrm>
            <a:off x="2115329" y="4611447"/>
            <a:ext cx="479511" cy="348883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  <a:endParaRPr lang="zh-CN" altLang="en-US" b="1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21" name="连接符: 曲线 20">
            <a:extLst>
              <a:ext uri="{FF2B5EF4-FFF2-40B4-BE49-F238E27FC236}">
                <a16:creationId xmlns:a16="http://schemas.microsoft.com/office/drawing/2014/main" id="{D2FAF302-55C1-4264-A1DF-850ADFE39EE3}"/>
              </a:ext>
            </a:extLst>
          </p:cNvPr>
          <p:cNvCxnSpPr>
            <a:cxnSpLocks/>
            <a:stCxn id="49" idx="3"/>
            <a:endCxn id="35" idx="1"/>
          </p:cNvCxnSpPr>
          <p:nvPr/>
        </p:nvCxnSpPr>
        <p:spPr>
          <a:xfrm>
            <a:off x="2594840" y="4437006"/>
            <a:ext cx="1375563" cy="1402553"/>
          </a:xfrm>
          <a:prstGeom prst="curvedConnector3">
            <a:avLst/>
          </a:prstGeom>
          <a:ln w="38100">
            <a:solidFill>
              <a:srgbClr val="FF0000"/>
            </a:solidFill>
            <a:headEnd type="oval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矩形 58">
            <a:extLst>
              <a:ext uri="{FF2B5EF4-FFF2-40B4-BE49-F238E27FC236}">
                <a16:creationId xmlns:a16="http://schemas.microsoft.com/office/drawing/2014/main" id="{D4910F66-1A59-47DF-9D6F-CE24AB408D0B}"/>
              </a:ext>
            </a:extLst>
          </p:cNvPr>
          <p:cNvSpPr/>
          <p:nvPr/>
        </p:nvSpPr>
        <p:spPr>
          <a:xfrm>
            <a:off x="339310" y="5900831"/>
            <a:ext cx="2908151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b="1" i="1" dirty="0">
                <a:solidFill>
                  <a:srgbClr val="FF0000"/>
                </a:solidFill>
                <a:latin typeface="Crimson Text"/>
              </a:rPr>
              <a:t>hash</a:t>
            </a:r>
            <a:r>
              <a:rPr lang="en-US" altLang="zh-CN" sz="2400" b="1" baseline="-25000" dirty="0">
                <a:solidFill>
                  <a:srgbClr val="FF0000"/>
                </a:solidFill>
                <a:latin typeface="Crimson Text"/>
              </a:rPr>
              <a:t>2</a:t>
            </a:r>
            <a:r>
              <a:rPr lang="en-US" altLang="zh-CN" sz="2400" b="1" i="1" dirty="0">
                <a:solidFill>
                  <a:srgbClr val="FF0000"/>
                </a:solidFill>
                <a:latin typeface="Crimson Text"/>
              </a:rPr>
              <a:t>(key) = key % 2n</a:t>
            </a:r>
            <a:endParaRPr lang="zh-CN" altLang="en-US" sz="2400" dirty="0">
              <a:solidFill>
                <a:srgbClr val="FF0000"/>
              </a:solidFill>
            </a:endParaRPr>
          </a:p>
        </p:txBody>
      </p:sp>
      <p:grpSp>
        <p:nvGrpSpPr>
          <p:cNvPr id="60" name="组合 59">
            <a:extLst>
              <a:ext uri="{FF2B5EF4-FFF2-40B4-BE49-F238E27FC236}">
                <a16:creationId xmlns:a16="http://schemas.microsoft.com/office/drawing/2014/main" id="{378E2973-2E2A-4E4D-A751-756788F29A1F}"/>
              </a:ext>
            </a:extLst>
          </p:cNvPr>
          <p:cNvGrpSpPr/>
          <p:nvPr/>
        </p:nvGrpSpPr>
        <p:grpSpPr>
          <a:xfrm>
            <a:off x="6178432" y="5280829"/>
            <a:ext cx="1597070" cy="1085593"/>
            <a:chOff x="3120764" y="1928099"/>
            <a:chExt cx="1597070" cy="1085593"/>
          </a:xfrm>
        </p:grpSpPr>
        <p:sp>
          <p:nvSpPr>
            <p:cNvPr id="62" name="矩形 61">
              <a:extLst>
                <a:ext uri="{FF2B5EF4-FFF2-40B4-BE49-F238E27FC236}">
                  <a16:creationId xmlns:a16="http://schemas.microsoft.com/office/drawing/2014/main" id="{07E793CA-DFBD-4FA0-A733-E11F74D36F94}"/>
                </a:ext>
              </a:extLst>
            </p:cNvPr>
            <p:cNvSpPr/>
            <p:nvPr/>
          </p:nvSpPr>
          <p:spPr>
            <a:xfrm>
              <a:off x="3120764" y="1928099"/>
              <a:ext cx="1597070" cy="1085593"/>
            </a:xfrm>
            <a:prstGeom prst="rect">
              <a:avLst/>
            </a:prstGeom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7" name="矩形 66">
              <a:extLst>
                <a:ext uri="{FF2B5EF4-FFF2-40B4-BE49-F238E27FC236}">
                  <a16:creationId xmlns:a16="http://schemas.microsoft.com/office/drawing/2014/main" id="{87A1789F-FD25-4EA9-82B1-21542FF66EBD}"/>
                </a:ext>
              </a:extLst>
            </p:cNvPr>
            <p:cNvSpPr/>
            <p:nvPr/>
          </p:nvSpPr>
          <p:spPr>
            <a:xfrm>
              <a:off x="3251519" y="2029839"/>
              <a:ext cx="1326466" cy="244586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8" name="矩形 67">
              <a:extLst>
                <a:ext uri="{FF2B5EF4-FFF2-40B4-BE49-F238E27FC236}">
                  <a16:creationId xmlns:a16="http://schemas.microsoft.com/office/drawing/2014/main" id="{C31E2AF4-4729-4C6F-9A90-BFBF127DE784}"/>
                </a:ext>
              </a:extLst>
            </p:cNvPr>
            <p:cNvSpPr/>
            <p:nvPr/>
          </p:nvSpPr>
          <p:spPr>
            <a:xfrm>
              <a:off x="3251519" y="2677089"/>
              <a:ext cx="1326466" cy="244586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9" name="矩形 68">
              <a:extLst>
                <a:ext uri="{FF2B5EF4-FFF2-40B4-BE49-F238E27FC236}">
                  <a16:creationId xmlns:a16="http://schemas.microsoft.com/office/drawing/2014/main" id="{2B3662CF-18DE-4C7A-8C8A-45397FFB95E2}"/>
                </a:ext>
              </a:extLst>
            </p:cNvPr>
            <p:cNvSpPr/>
            <p:nvPr/>
          </p:nvSpPr>
          <p:spPr>
            <a:xfrm>
              <a:off x="3251519" y="2353464"/>
              <a:ext cx="1326466" cy="244586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cxnSp>
        <p:nvCxnSpPr>
          <p:cNvPr id="70" name="连接符: 曲线 69">
            <a:extLst>
              <a:ext uri="{FF2B5EF4-FFF2-40B4-BE49-F238E27FC236}">
                <a16:creationId xmlns:a16="http://schemas.microsoft.com/office/drawing/2014/main" id="{817C21DE-6C87-4CC9-ABD2-D1715C3173EA}"/>
              </a:ext>
            </a:extLst>
          </p:cNvPr>
          <p:cNvCxnSpPr>
            <a:cxnSpLocks/>
            <a:stCxn id="58" idx="3"/>
            <a:endCxn id="62" idx="1"/>
          </p:cNvCxnSpPr>
          <p:nvPr/>
        </p:nvCxnSpPr>
        <p:spPr>
          <a:xfrm>
            <a:off x="2594840" y="4785889"/>
            <a:ext cx="3583592" cy="1037737"/>
          </a:xfrm>
          <a:prstGeom prst="curvedConnector3">
            <a:avLst>
              <a:gd name="adj1" fmla="val 28548"/>
            </a:avLst>
          </a:prstGeom>
          <a:ln w="38100">
            <a:solidFill>
              <a:srgbClr val="FF0000"/>
            </a:solidFill>
            <a:headEnd type="oval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6" name="箭头: 右 65">
            <a:extLst>
              <a:ext uri="{FF2B5EF4-FFF2-40B4-BE49-F238E27FC236}">
                <a16:creationId xmlns:a16="http://schemas.microsoft.com/office/drawing/2014/main" id="{95D66C8D-9DEF-4B8F-8488-ACE77977CA32}"/>
              </a:ext>
            </a:extLst>
          </p:cNvPr>
          <p:cNvSpPr/>
          <p:nvPr/>
        </p:nvSpPr>
        <p:spPr>
          <a:xfrm>
            <a:off x="584311" y="3517782"/>
            <a:ext cx="447001" cy="482725"/>
          </a:xfrm>
          <a:prstGeom prst="rightArrow">
            <a:avLst/>
          </a:prstGeom>
          <a:solidFill>
            <a:schemeClr val="bg1">
              <a:lumMod val="5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solidFill>
                  <a:schemeClr val="tx1"/>
                </a:solidFill>
              </a:rPr>
              <a:t>1</a:t>
            </a:r>
            <a:endParaRPr lang="zh-CN" altLang="en-US" b="1" dirty="0">
              <a:solidFill>
                <a:schemeClr val="tx1"/>
              </a:solidFill>
            </a:endParaRPr>
          </a:p>
        </p:txBody>
      </p:sp>
      <p:cxnSp>
        <p:nvCxnSpPr>
          <p:cNvPr id="76" name="直接连接符 75">
            <a:extLst>
              <a:ext uri="{FF2B5EF4-FFF2-40B4-BE49-F238E27FC236}">
                <a16:creationId xmlns:a16="http://schemas.microsoft.com/office/drawing/2014/main" id="{D16280A4-5575-4CDA-961A-5B6151C7C2F1}"/>
              </a:ext>
            </a:extLst>
          </p:cNvPr>
          <p:cNvCxnSpPr/>
          <p:nvPr/>
        </p:nvCxnSpPr>
        <p:spPr>
          <a:xfrm>
            <a:off x="1271390" y="2779115"/>
            <a:ext cx="0" cy="2494401"/>
          </a:xfrm>
          <a:prstGeom prst="line">
            <a:avLst/>
          </a:prstGeom>
          <a:ln w="50800">
            <a:solidFill>
              <a:schemeClr val="bg1">
                <a:lumMod val="50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7" name="箭头: 右 76">
            <a:extLst>
              <a:ext uri="{FF2B5EF4-FFF2-40B4-BE49-F238E27FC236}">
                <a16:creationId xmlns:a16="http://schemas.microsoft.com/office/drawing/2014/main" id="{3E9F9E4A-3DDD-484D-8BE3-66DF32266E10}"/>
              </a:ext>
            </a:extLst>
          </p:cNvPr>
          <p:cNvSpPr/>
          <p:nvPr/>
        </p:nvSpPr>
        <p:spPr>
          <a:xfrm>
            <a:off x="1676461" y="4632980"/>
            <a:ext cx="308113" cy="305815"/>
          </a:xfrm>
          <a:prstGeom prst="right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9179FCDC-7FF3-4A9F-B8D6-E02A67FFA866}"/>
              </a:ext>
            </a:extLst>
          </p:cNvPr>
          <p:cNvCxnSpPr>
            <a:cxnSpLocks/>
          </p:cNvCxnSpPr>
          <p:nvPr/>
        </p:nvCxnSpPr>
        <p:spPr>
          <a:xfrm>
            <a:off x="314038" y="3564798"/>
            <a:ext cx="2411557" cy="0"/>
          </a:xfrm>
          <a:prstGeom prst="line">
            <a:avLst/>
          </a:prstGeom>
          <a:ln w="12700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矩形: 圆角 60">
            <a:extLst>
              <a:ext uri="{FF2B5EF4-FFF2-40B4-BE49-F238E27FC236}">
                <a16:creationId xmlns:a16="http://schemas.microsoft.com/office/drawing/2014/main" id="{8123A8D3-FC31-459B-A583-03BBD11E55ED}"/>
              </a:ext>
            </a:extLst>
          </p:cNvPr>
          <p:cNvSpPr/>
          <p:nvPr/>
        </p:nvSpPr>
        <p:spPr>
          <a:xfrm>
            <a:off x="6178432" y="5271031"/>
            <a:ext cx="1609896" cy="1101468"/>
          </a:xfrm>
          <a:prstGeom prst="roundRect">
            <a:avLst>
              <a:gd name="adj" fmla="val 5316"/>
            </a:avLst>
          </a:prstGeom>
          <a:solidFill>
            <a:srgbClr val="FF0000">
              <a:alpha val="20000"/>
            </a:srgbClr>
          </a:solidFill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790161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9BBCCEF-D42F-420B-9CC2-98A9815DB6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Linear Hashing</a:t>
            </a:r>
            <a:endParaRPr lang="zh-CN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2905825-8EE0-4CF0-A05E-CAFDF944FB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54D373-8D68-4B9E-AEE5-AE130F121BB4}" type="datetime1">
              <a:rPr lang="zh-CN" altLang="en-US" smtClean="0"/>
              <a:t>2024/5/8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ED664A2-5898-4C25-86F3-E969A94A39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altLang="zh-CN"/>
              <a:t>Hash Indices</a:t>
            </a: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34B9AF0-AA69-4CFE-BBF2-A55EB4555B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5CA875-76FA-4283-B5BE-070B4D16A27E}" type="slidenum">
              <a:rPr lang="zh-CN" altLang="en-US" smtClean="0"/>
              <a:t>35</a:t>
            </a:fld>
            <a:endParaRPr lang="zh-CN" altLang="en-US"/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F7CFF25C-12CE-407F-87E3-81133BE304C8}"/>
              </a:ext>
            </a:extLst>
          </p:cNvPr>
          <p:cNvGrpSpPr/>
          <p:nvPr/>
        </p:nvGrpSpPr>
        <p:grpSpPr>
          <a:xfrm>
            <a:off x="3983229" y="1785539"/>
            <a:ext cx="1597070" cy="1085593"/>
            <a:chOff x="3120764" y="1928099"/>
            <a:chExt cx="1597070" cy="1085593"/>
          </a:xfrm>
        </p:grpSpPr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9DD2C9B2-7A77-41FB-AF7D-A6C280ABA039}"/>
                </a:ext>
              </a:extLst>
            </p:cNvPr>
            <p:cNvSpPr/>
            <p:nvPr/>
          </p:nvSpPr>
          <p:spPr>
            <a:xfrm>
              <a:off x="3120764" y="1928099"/>
              <a:ext cx="1597070" cy="1085593"/>
            </a:xfrm>
            <a:prstGeom prst="rect">
              <a:avLst/>
            </a:prstGeom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矩形 8">
              <a:extLst>
                <a:ext uri="{FF2B5EF4-FFF2-40B4-BE49-F238E27FC236}">
                  <a16:creationId xmlns:a16="http://schemas.microsoft.com/office/drawing/2014/main" id="{0E7DB8D6-3C78-4AF8-9952-BB7500DE45FA}"/>
                </a:ext>
              </a:extLst>
            </p:cNvPr>
            <p:cNvSpPr/>
            <p:nvPr/>
          </p:nvSpPr>
          <p:spPr>
            <a:xfrm>
              <a:off x="3251519" y="2029839"/>
              <a:ext cx="1326466" cy="244586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4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8</a:t>
              </a:r>
              <a:endParaRPr lang="zh-CN" altLang="en-US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" name="矩形 10">
              <a:extLst>
                <a:ext uri="{FF2B5EF4-FFF2-40B4-BE49-F238E27FC236}">
                  <a16:creationId xmlns:a16="http://schemas.microsoft.com/office/drawing/2014/main" id="{A468E8D4-4AE3-479A-99AE-73187116092C}"/>
                </a:ext>
              </a:extLst>
            </p:cNvPr>
            <p:cNvSpPr/>
            <p:nvPr/>
          </p:nvSpPr>
          <p:spPr>
            <a:xfrm>
              <a:off x="3251519" y="2677089"/>
              <a:ext cx="1326466" cy="244586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2" name="矩形 21">
              <a:extLst>
                <a:ext uri="{FF2B5EF4-FFF2-40B4-BE49-F238E27FC236}">
                  <a16:creationId xmlns:a16="http://schemas.microsoft.com/office/drawing/2014/main" id="{9F0A11C6-1E0E-4BA1-A041-8423A80ADE65}"/>
                </a:ext>
              </a:extLst>
            </p:cNvPr>
            <p:cNvSpPr/>
            <p:nvPr/>
          </p:nvSpPr>
          <p:spPr>
            <a:xfrm>
              <a:off x="3251519" y="2353464"/>
              <a:ext cx="1326466" cy="244586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A8F2B301-0401-4DE0-A790-17FD885726F1}"/>
              </a:ext>
            </a:extLst>
          </p:cNvPr>
          <p:cNvGrpSpPr/>
          <p:nvPr/>
        </p:nvGrpSpPr>
        <p:grpSpPr>
          <a:xfrm>
            <a:off x="3983229" y="2962637"/>
            <a:ext cx="1597070" cy="1085593"/>
            <a:chOff x="3120764" y="1928099"/>
            <a:chExt cx="1597070" cy="1085593"/>
          </a:xfrm>
        </p:grpSpPr>
        <p:sp>
          <p:nvSpPr>
            <p:cNvPr id="25" name="矩形 24">
              <a:extLst>
                <a:ext uri="{FF2B5EF4-FFF2-40B4-BE49-F238E27FC236}">
                  <a16:creationId xmlns:a16="http://schemas.microsoft.com/office/drawing/2014/main" id="{8E64044D-7EE3-4418-9233-70933F0B3FA4}"/>
                </a:ext>
              </a:extLst>
            </p:cNvPr>
            <p:cNvSpPr/>
            <p:nvPr/>
          </p:nvSpPr>
          <p:spPr>
            <a:xfrm>
              <a:off x="3120764" y="1928099"/>
              <a:ext cx="1597070" cy="1085593"/>
            </a:xfrm>
            <a:prstGeom prst="rect">
              <a:avLst/>
            </a:prstGeom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6" name="矩形 25">
              <a:extLst>
                <a:ext uri="{FF2B5EF4-FFF2-40B4-BE49-F238E27FC236}">
                  <a16:creationId xmlns:a16="http://schemas.microsoft.com/office/drawing/2014/main" id="{3B7D9748-8966-4F1E-9D3A-E966B84DF98B}"/>
                </a:ext>
              </a:extLst>
            </p:cNvPr>
            <p:cNvSpPr/>
            <p:nvPr/>
          </p:nvSpPr>
          <p:spPr>
            <a:xfrm>
              <a:off x="3251519" y="2029839"/>
              <a:ext cx="1326466" cy="244586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4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5</a:t>
              </a:r>
              <a:endParaRPr lang="zh-CN" altLang="en-US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7" name="矩形 26">
              <a:extLst>
                <a:ext uri="{FF2B5EF4-FFF2-40B4-BE49-F238E27FC236}">
                  <a16:creationId xmlns:a16="http://schemas.microsoft.com/office/drawing/2014/main" id="{B4FFE470-7A43-4443-8558-3B64C4C75B6C}"/>
                </a:ext>
              </a:extLst>
            </p:cNvPr>
            <p:cNvSpPr/>
            <p:nvPr/>
          </p:nvSpPr>
          <p:spPr>
            <a:xfrm>
              <a:off x="3251519" y="2677089"/>
              <a:ext cx="1326466" cy="244586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4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13</a:t>
              </a:r>
              <a:endParaRPr lang="zh-CN" altLang="en-US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8" name="矩形 27">
              <a:extLst>
                <a:ext uri="{FF2B5EF4-FFF2-40B4-BE49-F238E27FC236}">
                  <a16:creationId xmlns:a16="http://schemas.microsoft.com/office/drawing/2014/main" id="{70C780C4-0F9F-46AB-9B75-A41DBB7C9E83}"/>
                </a:ext>
              </a:extLst>
            </p:cNvPr>
            <p:cNvSpPr/>
            <p:nvPr/>
          </p:nvSpPr>
          <p:spPr>
            <a:xfrm>
              <a:off x="3251519" y="2353464"/>
              <a:ext cx="1326466" cy="244586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4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9</a:t>
              </a:r>
              <a:endParaRPr lang="zh-CN" altLang="en-US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29" name="组合 28">
            <a:extLst>
              <a:ext uri="{FF2B5EF4-FFF2-40B4-BE49-F238E27FC236}">
                <a16:creationId xmlns:a16="http://schemas.microsoft.com/office/drawing/2014/main" id="{AB7D4DA5-6BFF-4B22-92AF-64EEE45E476E}"/>
              </a:ext>
            </a:extLst>
          </p:cNvPr>
          <p:cNvGrpSpPr/>
          <p:nvPr/>
        </p:nvGrpSpPr>
        <p:grpSpPr>
          <a:xfrm>
            <a:off x="3974950" y="4130116"/>
            <a:ext cx="1597070" cy="1085593"/>
            <a:chOff x="3120764" y="1928099"/>
            <a:chExt cx="1597070" cy="1085593"/>
          </a:xfrm>
        </p:grpSpPr>
        <p:sp>
          <p:nvSpPr>
            <p:cNvPr id="30" name="矩形 29">
              <a:extLst>
                <a:ext uri="{FF2B5EF4-FFF2-40B4-BE49-F238E27FC236}">
                  <a16:creationId xmlns:a16="http://schemas.microsoft.com/office/drawing/2014/main" id="{F042259E-C5A9-4C47-A14F-D76DD2163449}"/>
                </a:ext>
              </a:extLst>
            </p:cNvPr>
            <p:cNvSpPr/>
            <p:nvPr/>
          </p:nvSpPr>
          <p:spPr>
            <a:xfrm>
              <a:off x="3120764" y="1928099"/>
              <a:ext cx="1597070" cy="1085593"/>
            </a:xfrm>
            <a:prstGeom prst="rect">
              <a:avLst/>
            </a:prstGeom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1" name="矩形 30">
              <a:extLst>
                <a:ext uri="{FF2B5EF4-FFF2-40B4-BE49-F238E27FC236}">
                  <a16:creationId xmlns:a16="http://schemas.microsoft.com/office/drawing/2014/main" id="{CFE52B74-A3C0-4F33-938A-827402025101}"/>
                </a:ext>
              </a:extLst>
            </p:cNvPr>
            <p:cNvSpPr/>
            <p:nvPr/>
          </p:nvSpPr>
          <p:spPr>
            <a:xfrm>
              <a:off x="3251519" y="2029839"/>
              <a:ext cx="1326466" cy="244586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4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6</a:t>
              </a:r>
              <a:endParaRPr lang="zh-CN" altLang="en-US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2" name="矩形 31">
              <a:extLst>
                <a:ext uri="{FF2B5EF4-FFF2-40B4-BE49-F238E27FC236}">
                  <a16:creationId xmlns:a16="http://schemas.microsoft.com/office/drawing/2014/main" id="{9DE5FE26-28FA-4A6D-ADAE-AA94959430F6}"/>
                </a:ext>
              </a:extLst>
            </p:cNvPr>
            <p:cNvSpPr/>
            <p:nvPr/>
          </p:nvSpPr>
          <p:spPr>
            <a:xfrm>
              <a:off x="3251519" y="2677089"/>
              <a:ext cx="1326466" cy="244586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3" name="矩形 32">
              <a:extLst>
                <a:ext uri="{FF2B5EF4-FFF2-40B4-BE49-F238E27FC236}">
                  <a16:creationId xmlns:a16="http://schemas.microsoft.com/office/drawing/2014/main" id="{F7659D25-0593-45AA-93D9-4B7502D5FE42}"/>
                </a:ext>
              </a:extLst>
            </p:cNvPr>
            <p:cNvSpPr/>
            <p:nvPr/>
          </p:nvSpPr>
          <p:spPr>
            <a:xfrm>
              <a:off x="3251519" y="2353464"/>
              <a:ext cx="1326466" cy="244586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34" name="组合 33">
            <a:extLst>
              <a:ext uri="{FF2B5EF4-FFF2-40B4-BE49-F238E27FC236}">
                <a16:creationId xmlns:a16="http://schemas.microsoft.com/office/drawing/2014/main" id="{EE20B405-6E43-4E87-A925-7A94CE04AC11}"/>
              </a:ext>
            </a:extLst>
          </p:cNvPr>
          <p:cNvGrpSpPr/>
          <p:nvPr/>
        </p:nvGrpSpPr>
        <p:grpSpPr>
          <a:xfrm>
            <a:off x="3970403" y="5296762"/>
            <a:ext cx="1597070" cy="1085593"/>
            <a:chOff x="3120764" y="1928099"/>
            <a:chExt cx="1597070" cy="1085593"/>
          </a:xfrm>
        </p:grpSpPr>
        <p:sp>
          <p:nvSpPr>
            <p:cNvPr id="35" name="矩形 34">
              <a:extLst>
                <a:ext uri="{FF2B5EF4-FFF2-40B4-BE49-F238E27FC236}">
                  <a16:creationId xmlns:a16="http://schemas.microsoft.com/office/drawing/2014/main" id="{1D08EEFC-C1DA-4024-94A2-657D610B6176}"/>
                </a:ext>
              </a:extLst>
            </p:cNvPr>
            <p:cNvSpPr/>
            <p:nvPr/>
          </p:nvSpPr>
          <p:spPr>
            <a:xfrm>
              <a:off x="3120764" y="1928099"/>
              <a:ext cx="1597070" cy="1085593"/>
            </a:xfrm>
            <a:prstGeom prst="rect">
              <a:avLst/>
            </a:prstGeom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6" name="矩形 35">
              <a:extLst>
                <a:ext uri="{FF2B5EF4-FFF2-40B4-BE49-F238E27FC236}">
                  <a16:creationId xmlns:a16="http://schemas.microsoft.com/office/drawing/2014/main" id="{666ABB10-656B-41EE-826D-8D4F4A1E9930}"/>
                </a:ext>
              </a:extLst>
            </p:cNvPr>
            <p:cNvSpPr/>
            <p:nvPr/>
          </p:nvSpPr>
          <p:spPr>
            <a:xfrm>
              <a:off x="3251519" y="2029839"/>
              <a:ext cx="1326466" cy="244586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4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7</a:t>
              </a:r>
              <a:endParaRPr lang="zh-CN" altLang="en-US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7" name="矩形 36">
              <a:extLst>
                <a:ext uri="{FF2B5EF4-FFF2-40B4-BE49-F238E27FC236}">
                  <a16:creationId xmlns:a16="http://schemas.microsoft.com/office/drawing/2014/main" id="{1C592B3C-9CDB-4E94-9586-9983ECFE1E06}"/>
                </a:ext>
              </a:extLst>
            </p:cNvPr>
            <p:cNvSpPr/>
            <p:nvPr/>
          </p:nvSpPr>
          <p:spPr>
            <a:xfrm>
              <a:off x="3251519" y="2677089"/>
              <a:ext cx="1326466" cy="244586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8" name="矩形 37">
              <a:extLst>
                <a:ext uri="{FF2B5EF4-FFF2-40B4-BE49-F238E27FC236}">
                  <a16:creationId xmlns:a16="http://schemas.microsoft.com/office/drawing/2014/main" id="{28A016A7-A959-4D9B-AE3E-CDEF9166E6DD}"/>
                </a:ext>
              </a:extLst>
            </p:cNvPr>
            <p:cNvSpPr/>
            <p:nvPr/>
          </p:nvSpPr>
          <p:spPr>
            <a:xfrm>
              <a:off x="3251519" y="2353464"/>
              <a:ext cx="1326466" cy="244586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4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11</a:t>
              </a:r>
              <a:endParaRPr lang="zh-CN" altLang="en-US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43" name="矩形 42">
            <a:extLst>
              <a:ext uri="{FF2B5EF4-FFF2-40B4-BE49-F238E27FC236}">
                <a16:creationId xmlns:a16="http://schemas.microsoft.com/office/drawing/2014/main" id="{AAB6DA76-BC38-4996-9044-32BD0E4A0295}"/>
              </a:ext>
            </a:extLst>
          </p:cNvPr>
          <p:cNvSpPr/>
          <p:nvPr/>
        </p:nvSpPr>
        <p:spPr>
          <a:xfrm>
            <a:off x="339310" y="5544540"/>
            <a:ext cx="2908151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b="1" i="1" dirty="0">
                <a:solidFill>
                  <a:srgbClr val="FF0000"/>
                </a:solidFill>
                <a:latin typeface="Crimson Text"/>
              </a:rPr>
              <a:t>hash</a:t>
            </a:r>
            <a:r>
              <a:rPr lang="en-US" altLang="zh-CN" sz="2400" b="1" baseline="-25000" dirty="0">
                <a:solidFill>
                  <a:srgbClr val="FF0000"/>
                </a:solidFill>
                <a:latin typeface="Crimson Text"/>
              </a:rPr>
              <a:t>1</a:t>
            </a:r>
            <a:r>
              <a:rPr lang="en-US" altLang="zh-CN" sz="2400" b="1" i="1" dirty="0">
                <a:solidFill>
                  <a:srgbClr val="FF0000"/>
                </a:solidFill>
                <a:latin typeface="Crimson Text"/>
              </a:rPr>
              <a:t>(key) = key % n</a:t>
            </a:r>
            <a:endParaRPr lang="zh-CN" altLang="en-US" sz="2400" dirty="0">
              <a:solidFill>
                <a:srgbClr val="FF0000"/>
              </a:solidFill>
            </a:endParaRPr>
          </a:p>
        </p:txBody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C712B760-4D9B-4F7F-A1B3-575B70ACB14C}"/>
              </a:ext>
            </a:extLst>
          </p:cNvPr>
          <p:cNvSpPr/>
          <p:nvPr/>
        </p:nvSpPr>
        <p:spPr>
          <a:xfrm>
            <a:off x="314038" y="2008672"/>
            <a:ext cx="143454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b="1" i="1" dirty="0">
                <a:solidFill>
                  <a:srgbClr val="FF0000"/>
                </a:solidFill>
                <a:latin typeface="Crimson Text"/>
              </a:rPr>
              <a:t>Split Pointer</a:t>
            </a:r>
            <a:endParaRPr lang="zh-CN" altLang="en-US" dirty="0">
              <a:solidFill>
                <a:srgbClr val="FF0000"/>
              </a:solidFill>
            </a:endParaRPr>
          </a:p>
        </p:txBody>
      </p:sp>
      <p:grpSp>
        <p:nvGrpSpPr>
          <p:cNvPr id="45" name="组合 44">
            <a:extLst>
              <a:ext uri="{FF2B5EF4-FFF2-40B4-BE49-F238E27FC236}">
                <a16:creationId xmlns:a16="http://schemas.microsoft.com/office/drawing/2014/main" id="{232CDEFB-2E87-4A2F-B5CF-8951B8E7D222}"/>
              </a:ext>
            </a:extLst>
          </p:cNvPr>
          <p:cNvGrpSpPr/>
          <p:nvPr/>
        </p:nvGrpSpPr>
        <p:grpSpPr>
          <a:xfrm>
            <a:off x="2115329" y="3215915"/>
            <a:ext cx="479511" cy="1395532"/>
            <a:chOff x="1626762" y="2964260"/>
            <a:chExt cx="479511" cy="1395532"/>
          </a:xfrm>
        </p:grpSpPr>
        <p:sp>
          <p:nvSpPr>
            <p:cNvPr id="46" name="矩形 45">
              <a:extLst>
                <a:ext uri="{FF2B5EF4-FFF2-40B4-BE49-F238E27FC236}">
                  <a16:creationId xmlns:a16="http://schemas.microsoft.com/office/drawing/2014/main" id="{A7CB772C-F832-4EFA-B806-7B5969E6B53B}"/>
                </a:ext>
              </a:extLst>
            </p:cNvPr>
            <p:cNvSpPr/>
            <p:nvPr/>
          </p:nvSpPr>
          <p:spPr>
            <a:xfrm>
              <a:off x="1626762" y="2964260"/>
              <a:ext cx="479511" cy="348883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b="1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0</a:t>
              </a:r>
              <a:endParaRPr lang="zh-CN" altLang="en-US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7" name="矩形 46">
              <a:extLst>
                <a:ext uri="{FF2B5EF4-FFF2-40B4-BE49-F238E27FC236}">
                  <a16:creationId xmlns:a16="http://schemas.microsoft.com/office/drawing/2014/main" id="{CEF3D8FE-BA2F-4BAF-9771-853397C09FEC}"/>
                </a:ext>
              </a:extLst>
            </p:cNvPr>
            <p:cNvSpPr/>
            <p:nvPr/>
          </p:nvSpPr>
          <p:spPr>
            <a:xfrm>
              <a:off x="1626762" y="3313143"/>
              <a:ext cx="479511" cy="348883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b="1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</a:t>
              </a:r>
              <a:endParaRPr lang="zh-CN" altLang="en-US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8" name="矩形 47">
              <a:extLst>
                <a:ext uri="{FF2B5EF4-FFF2-40B4-BE49-F238E27FC236}">
                  <a16:creationId xmlns:a16="http://schemas.microsoft.com/office/drawing/2014/main" id="{937F1EDB-F61B-47F4-A685-18507080A34E}"/>
                </a:ext>
              </a:extLst>
            </p:cNvPr>
            <p:cNvSpPr/>
            <p:nvPr/>
          </p:nvSpPr>
          <p:spPr>
            <a:xfrm>
              <a:off x="1626762" y="3662026"/>
              <a:ext cx="479511" cy="348883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b="1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2</a:t>
              </a:r>
              <a:endParaRPr lang="zh-CN" altLang="en-US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9" name="矩形 48">
              <a:extLst>
                <a:ext uri="{FF2B5EF4-FFF2-40B4-BE49-F238E27FC236}">
                  <a16:creationId xmlns:a16="http://schemas.microsoft.com/office/drawing/2014/main" id="{9217AC55-5718-48DD-9B43-8D9DB0C1F661}"/>
                </a:ext>
              </a:extLst>
            </p:cNvPr>
            <p:cNvSpPr/>
            <p:nvPr/>
          </p:nvSpPr>
          <p:spPr>
            <a:xfrm>
              <a:off x="1626762" y="4010909"/>
              <a:ext cx="479511" cy="348883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b="1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3</a:t>
              </a:r>
              <a:endParaRPr lang="zh-CN" altLang="en-US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cxnSp>
        <p:nvCxnSpPr>
          <p:cNvPr id="56" name="连接符: 曲线 55">
            <a:extLst>
              <a:ext uri="{FF2B5EF4-FFF2-40B4-BE49-F238E27FC236}">
                <a16:creationId xmlns:a16="http://schemas.microsoft.com/office/drawing/2014/main" id="{DE6F5C0A-2E0E-4223-8305-515B09AE8DF0}"/>
              </a:ext>
            </a:extLst>
          </p:cNvPr>
          <p:cNvCxnSpPr>
            <a:cxnSpLocks/>
            <a:stCxn id="48" idx="3"/>
            <a:endCxn id="30" idx="1"/>
          </p:cNvCxnSpPr>
          <p:nvPr/>
        </p:nvCxnSpPr>
        <p:spPr>
          <a:xfrm>
            <a:off x="2594840" y="4088123"/>
            <a:ext cx="1380110" cy="584790"/>
          </a:xfrm>
          <a:prstGeom prst="curvedConnector3">
            <a:avLst/>
          </a:prstGeom>
          <a:ln w="38100">
            <a:solidFill>
              <a:srgbClr val="FF0000"/>
            </a:solidFill>
            <a:headEnd type="oval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连接符: 曲线 18">
            <a:extLst>
              <a:ext uri="{FF2B5EF4-FFF2-40B4-BE49-F238E27FC236}">
                <a16:creationId xmlns:a16="http://schemas.microsoft.com/office/drawing/2014/main" id="{3E14C3CE-1F6A-461E-86A3-7B85608221F8}"/>
              </a:ext>
            </a:extLst>
          </p:cNvPr>
          <p:cNvCxnSpPr>
            <a:cxnSpLocks/>
            <a:stCxn id="46" idx="3"/>
            <a:endCxn id="7" idx="1"/>
          </p:cNvCxnSpPr>
          <p:nvPr/>
        </p:nvCxnSpPr>
        <p:spPr>
          <a:xfrm flipV="1">
            <a:off x="2594840" y="2328336"/>
            <a:ext cx="1388389" cy="1062021"/>
          </a:xfrm>
          <a:prstGeom prst="curvedConnector3">
            <a:avLst>
              <a:gd name="adj1" fmla="val 50000"/>
            </a:avLst>
          </a:prstGeom>
          <a:ln w="38100">
            <a:solidFill>
              <a:srgbClr val="FF0000"/>
            </a:solidFill>
            <a:headEnd type="oval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连接符: 曲线 19">
            <a:extLst>
              <a:ext uri="{FF2B5EF4-FFF2-40B4-BE49-F238E27FC236}">
                <a16:creationId xmlns:a16="http://schemas.microsoft.com/office/drawing/2014/main" id="{CA527AE1-C3F0-4E3A-A9ED-54A861CBF67D}"/>
              </a:ext>
            </a:extLst>
          </p:cNvPr>
          <p:cNvCxnSpPr>
            <a:cxnSpLocks/>
            <a:stCxn id="47" idx="3"/>
            <a:endCxn id="25" idx="1"/>
          </p:cNvCxnSpPr>
          <p:nvPr/>
        </p:nvCxnSpPr>
        <p:spPr>
          <a:xfrm flipV="1">
            <a:off x="2594840" y="3505434"/>
            <a:ext cx="1388389" cy="233806"/>
          </a:xfrm>
          <a:prstGeom prst="curvedConnector3">
            <a:avLst>
              <a:gd name="adj1" fmla="val 50000"/>
            </a:avLst>
          </a:prstGeom>
          <a:ln w="38100">
            <a:solidFill>
              <a:srgbClr val="FF0000"/>
            </a:solidFill>
            <a:headEnd type="oval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矩形 63">
            <a:extLst>
              <a:ext uri="{FF2B5EF4-FFF2-40B4-BE49-F238E27FC236}">
                <a16:creationId xmlns:a16="http://schemas.microsoft.com/office/drawing/2014/main" id="{AD19BEAC-3566-4A11-9032-BE2CA8E9A5DF}"/>
              </a:ext>
            </a:extLst>
          </p:cNvPr>
          <p:cNvSpPr/>
          <p:nvPr/>
        </p:nvSpPr>
        <p:spPr>
          <a:xfrm>
            <a:off x="8521141" y="1846484"/>
            <a:ext cx="3187155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b="1" dirty="0">
                <a:latin typeface="Inconsolata"/>
              </a:rPr>
              <a:t>Delete 20</a:t>
            </a:r>
          </a:p>
          <a:p>
            <a:r>
              <a:rPr lang="en-US" altLang="zh-CN" b="1" i="1" dirty="0">
                <a:solidFill>
                  <a:srgbClr val="FF0000"/>
                </a:solidFill>
                <a:latin typeface="Crimson Text"/>
              </a:rPr>
              <a:t>hash</a:t>
            </a:r>
            <a:r>
              <a:rPr lang="en-US" altLang="zh-CN" b="1" i="1" baseline="-25000" dirty="0">
                <a:solidFill>
                  <a:srgbClr val="FF0000"/>
                </a:solidFill>
                <a:latin typeface="Crimson Text"/>
              </a:rPr>
              <a:t>1</a:t>
            </a:r>
            <a:r>
              <a:rPr lang="en-US" altLang="zh-CN" b="1" i="1" dirty="0">
                <a:solidFill>
                  <a:srgbClr val="FF0000"/>
                </a:solidFill>
                <a:latin typeface="Crimson Text"/>
              </a:rPr>
              <a:t>(20) </a:t>
            </a:r>
            <a:r>
              <a:rPr lang="en-US" altLang="zh-CN" b="1" dirty="0">
                <a:solidFill>
                  <a:srgbClr val="FF0000"/>
                </a:solidFill>
                <a:latin typeface="Inconsolata"/>
              </a:rPr>
              <a:t>= 20 % 4 = 0</a:t>
            </a:r>
          </a:p>
          <a:p>
            <a:r>
              <a:rPr lang="en-US" altLang="zh-CN" b="1" i="1" dirty="0">
                <a:solidFill>
                  <a:srgbClr val="FF0000"/>
                </a:solidFill>
                <a:latin typeface="Crimson Text"/>
              </a:rPr>
              <a:t>hash</a:t>
            </a:r>
            <a:r>
              <a:rPr lang="en-US" altLang="zh-CN" b="1" i="1" baseline="-25000" dirty="0">
                <a:solidFill>
                  <a:srgbClr val="FF0000"/>
                </a:solidFill>
                <a:latin typeface="Crimson Text"/>
              </a:rPr>
              <a:t>2</a:t>
            </a:r>
            <a:r>
              <a:rPr lang="en-US" altLang="zh-CN" b="1" i="1" dirty="0">
                <a:solidFill>
                  <a:srgbClr val="FF0000"/>
                </a:solidFill>
                <a:latin typeface="Crimson Text"/>
              </a:rPr>
              <a:t>(20) </a:t>
            </a:r>
            <a:r>
              <a:rPr lang="en-US" altLang="zh-CN" b="1" dirty="0">
                <a:solidFill>
                  <a:srgbClr val="FF0000"/>
                </a:solidFill>
                <a:latin typeface="Inconsolata"/>
              </a:rPr>
              <a:t>= 20 % 8 = 4</a:t>
            </a:r>
            <a:endParaRPr lang="zh-CN" altLang="en-US" dirty="0">
              <a:solidFill>
                <a:srgbClr val="FF0000"/>
              </a:solidFill>
            </a:endParaRPr>
          </a:p>
        </p:txBody>
      </p:sp>
      <p:grpSp>
        <p:nvGrpSpPr>
          <p:cNvPr id="50" name="组合 49">
            <a:extLst>
              <a:ext uri="{FF2B5EF4-FFF2-40B4-BE49-F238E27FC236}">
                <a16:creationId xmlns:a16="http://schemas.microsoft.com/office/drawing/2014/main" id="{4C9C8D87-8447-4926-A309-E35D4DD5BAFA}"/>
              </a:ext>
            </a:extLst>
          </p:cNvPr>
          <p:cNvGrpSpPr/>
          <p:nvPr/>
        </p:nvGrpSpPr>
        <p:grpSpPr>
          <a:xfrm>
            <a:off x="6182979" y="2959928"/>
            <a:ext cx="1597070" cy="1085593"/>
            <a:chOff x="3120764" y="1928099"/>
            <a:chExt cx="1597070" cy="1085593"/>
          </a:xfrm>
        </p:grpSpPr>
        <p:sp>
          <p:nvSpPr>
            <p:cNvPr id="51" name="矩形 50">
              <a:extLst>
                <a:ext uri="{FF2B5EF4-FFF2-40B4-BE49-F238E27FC236}">
                  <a16:creationId xmlns:a16="http://schemas.microsoft.com/office/drawing/2014/main" id="{C3EEB18C-9CC9-4B71-8154-222C8805C8EA}"/>
                </a:ext>
              </a:extLst>
            </p:cNvPr>
            <p:cNvSpPr/>
            <p:nvPr/>
          </p:nvSpPr>
          <p:spPr>
            <a:xfrm>
              <a:off x="3120764" y="1928099"/>
              <a:ext cx="1597070" cy="1085593"/>
            </a:xfrm>
            <a:prstGeom prst="rect">
              <a:avLst/>
            </a:prstGeom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2" name="矩形 51">
              <a:extLst>
                <a:ext uri="{FF2B5EF4-FFF2-40B4-BE49-F238E27FC236}">
                  <a16:creationId xmlns:a16="http://schemas.microsoft.com/office/drawing/2014/main" id="{A8716EAC-7DC5-4561-8933-20770D1A59E1}"/>
                </a:ext>
              </a:extLst>
            </p:cNvPr>
            <p:cNvSpPr/>
            <p:nvPr/>
          </p:nvSpPr>
          <p:spPr>
            <a:xfrm>
              <a:off x="3251519" y="2029839"/>
              <a:ext cx="1326466" cy="244586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4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17</a:t>
              </a:r>
              <a:endParaRPr lang="zh-CN" altLang="en-US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3" name="矩形 52">
              <a:extLst>
                <a:ext uri="{FF2B5EF4-FFF2-40B4-BE49-F238E27FC236}">
                  <a16:creationId xmlns:a16="http://schemas.microsoft.com/office/drawing/2014/main" id="{3A00454B-CEE6-476B-A956-51D655260146}"/>
                </a:ext>
              </a:extLst>
            </p:cNvPr>
            <p:cNvSpPr/>
            <p:nvPr/>
          </p:nvSpPr>
          <p:spPr>
            <a:xfrm>
              <a:off x="3251519" y="2677089"/>
              <a:ext cx="1326466" cy="244586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4" name="矩形 53">
              <a:extLst>
                <a:ext uri="{FF2B5EF4-FFF2-40B4-BE49-F238E27FC236}">
                  <a16:creationId xmlns:a16="http://schemas.microsoft.com/office/drawing/2014/main" id="{7B71EF36-D0AB-4E27-BCDA-B47DA16CEDA3}"/>
                </a:ext>
              </a:extLst>
            </p:cNvPr>
            <p:cNvSpPr/>
            <p:nvPr/>
          </p:nvSpPr>
          <p:spPr>
            <a:xfrm>
              <a:off x="3251519" y="2353464"/>
              <a:ext cx="1326466" cy="244586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400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21</a:t>
              </a:r>
              <a:endParaRPr lang="zh-CN" altLang="en-US" sz="1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cxnSp>
        <p:nvCxnSpPr>
          <p:cNvPr id="55" name="连接符: 曲线 54">
            <a:extLst>
              <a:ext uri="{FF2B5EF4-FFF2-40B4-BE49-F238E27FC236}">
                <a16:creationId xmlns:a16="http://schemas.microsoft.com/office/drawing/2014/main" id="{4ACC862F-3265-4490-A92E-B3D91350F288}"/>
              </a:ext>
            </a:extLst>
          </p:cNvPr>
          <p:cNvCxnSpPr>
            <a:cxnSpLocks/>
            <a:stCxn id="25" idx="3"/>
            <a:endCxn id="51" idx="1"/>
          </p:cNvCxnSpPr>
          <p:nvPr/>
        </p:nvCxnSpPr>
        <p:spPr>
          <a:xfrm flipV="1">
            <a:off x="5580299" y="3502725"/>
            <a:ext cx="602680" cy="2709"/>
          </a:xfrm>
          <a:prstGeom prst="curvedConnector3">
            <a:avLst>
              <a:gd name="adj1" fmla="val 50000"/>
            </a:avLst>
          </a:prstGeom>
          <a:ln w="38100">
            <a:solidFill>
              <a:srgbClr val="FF0000"/>
            </a:solidFill>
            <a:headEnd type="oval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矩形 11">
            <a:extLst>
              <a:ext uri="{FF2B5EF4-FFF2-40B4-BE49-F238E27FC236}">
                <a16:creationId xmlns:a16="http://schemas.microsoft.com/office/drawing/2014/main" id="{38EEA0AE-2D72-434C-9807-7EFBD8FE9A4F}"/>
              </a:ext>
            </a:extLst>
          </p:cNvPr>
          <p:cNvSpPr/>
          <p:nvPr/>
        </p:nvSpPr>
        <p:spPr>
          <a:xfrm>
            <a:off x="6432942" y="4092188"/>
            <a:ext cx="112279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b="1" i="1" dirty="0">
                <a:solidFill>
                  <a:srgbClr val="FF0000"/>
                </a:solidFill>
                <a:latin typeface="Museo Sans"/>
              </a:rPr>
              <a:t>Overflow!</a:t>
            </a:r>
            <a:endParaRPr lang="zh-CN" altLang="en-US" b="1" dirty="0">
              <a:solidFill>
                <a:srgbClr val="FF0000"/>
              </a:solidFill>
            </a:endParaRPr>
          </a:p>
        </p:txBody>
      </p:sp>
      <p:cxnSp>
        <p:nvCxnSpPr>
          <p:cNvPr id="21" name="连接符: 曲线 20">
            <a:extLst>
              <a:ext uri="{FF2B5EF4-FFF2-40B4-BE49-F238E27FC236}">
                <a16:creationId xmlns:a16="http://schemas.microsoft.com/office/drawing/2014/main" id="{D2FAF302-55C1-4264-A1DF-850ADFE39EE3}"/>
              </a:ext>
            </a:extLst>
          </p:cNvPr>
          <p:cNvCxnSpPr>
            <a:cxnSpLocks/>
            <a:stCxn id="49" idx="3"/>
            <a:endCxn id="35" idx="1"/>
          </p:cNvCxnSpPr>
          <p:nvPr/>
        </p:nvCxnSpPr>
        <p:spPr>
          <a:xfrm>
            <a:off x="2594840" y="4437006"/>
            <a:ext cx="1375563" cy="1402553"/>
          </a:xfrm>
          <a:prstGeom prst="curvedConnector3">
            <a:avLst/>
          </a:prstGeom>
          <a:ln w="38100">
            <a:solidFill>
              <a:srgbClr val="FF0000"/>
            </a:solidFill>
            <a:headEnd type="oval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6" name="箭头: 右 65">
            <a:extLst>
              <a:ext uri="{FF2B5EF4-FFF2-40B4-BE49-F238E27FC236}">
                <a16:creationId xmlns:a16="http://schemas.microsoft.com/office/drawing/2014/main" id="{95D66C8D-9DEF-4B8F-8488-ACE77977CA32}"/>
              </a:ext>
            </a:extLst>
          </p:cNvPr>
          <p:cNvSpPr/>
          <p:nvPr/>
        </p:nvSpPr>
        <p:spPr>
          <a:xfrm>
            <a:off x="614699" y="3082073"/>
            <a:ext cx="447001" cy="482725"/>
          </a:xfrm>
          <a:prstGeom prst="rightArrow">
            <a:avLst/>
          </a:prstGeom>
          <a:solidFill>
            <a:schemeClr val="bg1">
              <a:lumMod val="5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solidFill>
                  <a:schemeClr val="tx1"/>
                </a:solidFill>
              </a:rPr>
              <a:t>0</a:t>
            </a:r>
            <a:endParaRPr lang="zh-CN" altLang="en-US" b="1" dirty="0">
              <a:solidFill>
                <a:schemeClr val="tx1"/>
              </a:solidFill>
            </a:endParaRPr>
          </a:p>
        </p:txBody>
      </p:sp>
      <p:cxnSp>
        <p:nvCxnSpPr>
          <p:cNvPr id="76" name="直接连接符 75">
            <a:extLst>
              <a:ext uri="{FF2B5EF4-FFF2-40B4-BE49-F238E27FC236}">
                <a16:creationId xmlns:a16="http://schemas.microsoft.com/office/drawing/2014/main" id="{D16280A4-5575-4CDA-961A-5B6151C7C2F1}"/>
              </a:ext>
            </a:extLst>
          </p:cNvPr>
          <p:cNvCxnSpPr/>
          <p:nvPr/>
        </p:nvCxnSpPr>
        <p:spPr>
          <a:xfrm>
            <a:off x="1271390" y="2779115"/>
            <a:ext cx="0" cy="2494401"/>
          </a:xfrm>
          <a:prstGeom prst="line">
            <a:avLst/>
          </a:prstGeom>
          <a:ln w="50800">
            <a:solidFill>
              <a:schemeClr val="bg1">
                <a:lumMod val="50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7" name="箭头: 右 76">
            <a:extLst>
              <a:ext uri="{FF2B5EF4-FFF2-40B4-BE49-F238E27FC236}">
                <a16:creationId xmlns:a16="http://schemas.microsoft.com/office/drawing/2014/main" id="{3E9F9E4A-3DDD-484D-8BE3-66DF32266E10}"/>
              </a:ext>
            </a:extLst>
          </p:cNvPr>
          <p:cNvSpPr/>
          <p:nvPr/>
        </p:nvSpPr>
        <p:spPr>
          <a:xfrm>
            <a:off x="1714240" y="3597670"/>
            <a:ext cx="308113" cy="305815"/>
          </a:xfrm>
          <a:prstGeom prst="right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3" name="矩形 62">
            <a:extLst>
              <a:ext uri="{FF2B5EF4-FFF2-40B4-BE49-F238E27FC236}">
                <a16:creationId xmlns:a16="http://schemas.microsoft.com/office/drawing/2014/main" id="{8B433AF0-A04F-4F31-A0BD-204DA1AB8BBD}"/>
              </a:ext>
            </a:extLst>
          </p:cNvPr>
          <p:cNvSpPr/>
          <p:nvPr/>
        </p:nvSpPr>
        <p:spPr>
          <a:xfrm>
            <a:off x="8521141" y="2965891"/>
            <a:ext cx="312752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b="1" dirty="0">
                <a:latin typeface="Inconsolata"/>
              </a:rPr>
              <a:t>Insert 21</a:t>
            </a:r>
          </a:p>
          <a:p>
            <a:r>
              <a:rPr lang="en-US" altLang="zh-CN" b="1" i="1" dirty="0">
                <a:solidFill>
                  <a:srgbClr val="FF0000"/>
                </a:solidFill>
                <a:latin typeface="Crimson Text"/>
              </a:rPr>
              <a:t>hash</a:t>
            </a:r>
            <a:r>
              <a:rPr lang="en-US" altLang="zh-CN" b="1" i="1" baseline="-25000" dirty="0">
                <a:solidFill>
                  <a:srgbClr val="FF0000"/>
                </a:solidFill>
                <a:latin typeface="Crimson Text"/>
              </a:rPr>
              <a:t>1</a:t>
            </a:r>
            <a:r>
              <a:rPr lang="en-US" altLang="zh-CN" b="1" i="1" dirty="0">
                <a:solidFill>
                  <a:srgbClr val="FF0000"/>
                </a:solidFill>
                <a:latin typeface="Crimson Text"/>
              </a:rPr>
              <a:t>(21) = 21 % 4 = 1</a:t>
            </a:r>
            <a:endParaRPr lang="zh-CN" altLang="en-US" b="1" i="1" dirty="0">
              <a:solidFill>
                <a:srgbClr val="FF0000"/>
              </a:solidFill>
              <a:latin typeface="Crimson Text"/>
            </a:endParaRPr>
          </a:p>
        </p:txBody>
      </p:sp>
      <p:sp>
        <p:nvSpPr>
          <p:cNvPr id="65" name="矩形: 圆角 64">
            <a:extLst>
              <a:ext uri="{FF2B5EF4-FFF2-40B4-BE49-F238E27FC236}">
                <a16:creationId xmlns:a16="http://schemas.microsoft.com/office/drawing/2014/main" id="{9A1D4F90-2AAF-44BE-8108-4058DF9E014F}"/>
              </a:ext>
            </a:extLst>
          </p:cNvPr>
          <p:cNvSpPr/>
          <p:nvPr/>
        </p:nvSpPr>
        <p:spPr>
          <a:xfrm>
            <a:off x="6181542" y="2971134"/>
            <a:ext cx="1609896" cy="1101468"/>
          </a:xfrm>
          <a:prstGeom prst="roundRect">
            <a:avLst>
              <a:gd name="adj" fmla="val 5316"/>
            </a:avLst>
          </a:prstGeom>
          <a:solidFill>
            <a:srgbClr val="FF0000">
              <a:alpha val="20000"/>
            </a:srgbClr>
          </a:solidFill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3627678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9BBCCEF-D42F-420B-9CC2-98A9815DB6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Other </a:t>
            </a:r>
            <a:r>
              <a:rPr lang="en-US" altLang="zh-CN" dirty="0"/>
              <a:t>Type Indices</a:t>
            </a:r>
            <a:endParaRPr lang="zh-CN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F84941C-29D1-4B84-8B8C-61D804D3D57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2905825-8EE0-4CF0-A05E-CAFDF944FB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C97F33-13E5-423A-9397-D291D0B39EA9}" type="datetime1">
              <a:rPr lang="zh-CN" altLang="en-US" smtClean="0"/>
              <a:t>2024/5/8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ED664A2-5898-4C25-86F3-E969A94A39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Hash Indices</a:t>
            </a: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34B9AF0-AA69-4CFE-BBF2-A55EB4555B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5CA875-76FA-4283-B5BE-070B4D16A27E}" type="slidenum">
              <a:rPr lang="zh-CN" altLang="en-US" smtClean="0"/>
              <a:t>36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3157212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9BBCCEF-D42F-420B-9CC2-98A9815DB6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sz="4000" dirty="0"/>
              <a:t>Comparison of Ordered and Hashing</a:t>
            </a:r>
            <a:endParaRPr lang="zh-CN" altLang="en-US" sz="4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2905825-8EE0-4CF0-A05E-CAFDF944FB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7DCF9F-34BE-4C60-A850-9C0FB0D9F368}" type="datetime1">
              <a:rPr lang="zh-CN" altLang="en-US" smtClean="0"/>
              <a:t>2024/5/8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ED664A2-5898-4C25-86F3-E969A94A39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Hash Indices</a:t>
            </a: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34B9AF0-AA69-4CFE-BBF2-A55EB4555B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5CA875-76FA-4283-B5BE-070B4D16A27E}" type="slidenum">
              <a:rPr lang="zh-CN" altLang="en-US" smtClean="0"/>
              <a:t>37</a:t>
            </a:fld>
            <a:endParaRPr lang="zh-CN" altLang="en-US"/>
          </a:p>
        </p:txBody>
      </p:sp>
      <p:sp>
        <p:nvSpPr>
          <p:cNvPr id="8" name="内容占位符 7">
            <a:extLst>
              <a:ext uri="{FF2B5EF4-FFF2-40B4-BE49-F238E27FC236}">
                <a16:creationId xmlns:a16="http://schemas.microsoft.com/office/drawing/2014/main" id="{13D5DB0C-A129-4A7C-89EE-91B1014FC0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69164"/>
            <a:ext cx="10515600" cy="4587185"/>
          </a:xfrm>
        </p:spPr>
        <p:txBody>
          <a:bodyPr>
            <a:normAutofit fontScale="92500" lnSpcReduction="20000"/>
          </a:bodyPr>
          <a:lstStyle/>
          <a:p>
            <a:pPr>
              <a:lnSpc>
                <a:spcPct val="120000"/>
              </a:lnSpc>
              <a:spcBef>
                <a:spcPts val="1200"/>
              </a:spcBef>
            </a:pPr>
            <a:r>
              <a:rPr lang="en-US" altLang="zh-CN" sz="2400" dirty="0"/>
              <a:t>Cost of periodic </a:t>
            </a:r>
            <a:r>
              <a:rPr lang="en-US" altLang="zh-CN" sz="2400" b="1" dirty="0">
                <a:solidFill>
                  <a:srgbClr val="00B050"/>
                </a:solidFill>
              </a:rPr>
              <a:t>re-organization</a:t>
            </a:r>
          </a:p>
          <a:p>
            <a:pPr>
              <a:lnSpc>
                <a:spcPct val="120000"/>
              </a:lnSpc>
              <a:spcBef>
                <a:spcPts val="1200"/>
              </a:spcBef>
            </a:pPr>
            <a:r>
              <a:rPr lang="en-US" altLang="zh-CN" sz="2400" dirty="0"/>
              <a:t>Relative </a:t>
            </a:r>
            <a:r>
              <a:rPr lang="en-US" altLang="zh-CN" sz="2400" b="1" dirty="0">
                <a:solidFill>
                  <a:srgbClr val="00B050"/>
                </a:solidFill>
              </a:rPr>
              <a:t>frequency</a:t>
            </a:r>
            <a:r>
              <a:rPr lang="en-US" altLang="zh-CN" sz="2400" dirty="0"/>
              <a:t> of insertions and deletions</a:t>
            </a:r>
          </a:p>
          <a:p>
            <a:pPr>
              <a:lnSpc>
                <a:spcPct val="120000"/>
              </a:lnSpc>
              <a:spcBef>
                <a:spcPts val="1200"/>
              </a:spcBef>
            </a:pPr>
            <a:r>
              <a:rPr lang="en-US" altLang="zh-CN" sz="2400" b="1" dirty="0">
                <a:solidFill>
                  <a:srgbClr val="FF0000"/>
                </a:solidFill>
              </a:rPr>
              <a:t>Average</a:t>
            </a:r>
            <a:r>
              <a:rPr lang="en-US" altLang="zh-CN" sz="2400" dirty="0"/>
              <a:t> access time  </a:t>
            </a:r>
            <a:r>
              <a:rPr lang="en-US" altLang="zh-CN" sz="2400" dirty="0" err="1"/>
              <a:t>v.s</a:t>
            </a:r>
            <a:r>
              <a:rPr lang="en-US" altLang="zh-CN" sz="2400" dirty="0"/>
              <a:t>. </a:t>
            </a:r>
            <a:r>
              <a:rPr lang="en-US" altLang="zh-CN" sz="2400" b="1" dirty="0">
                <a:solidFill>
                  <a:srgbClr val="FF0000"/>
                </a:solidFill>
              </a:rPr>
              <a:t>Worst-case</a:t>
            </a:r>
            <a:r>
              <a:rPr lang="en-US" altLang="zh-CN" sz="2400" dirty="0"/>
              <a:t> access time</a:t>
            </a:r>
          </a:p>
          <a:p>
            <a:pPr>
              <a:lnSpc>
                <a:spcPct val="120000"/>
              </a:lnSpc>
              <a:spcBef>
                <a:spcPts val="1200"/>
              </a:spcBef>
            </a:pPr>
            <a:r>
              <a:rPr lang="en-US" altLang="zh-CN" sz="2400" dirty="0"/>
              <a:t>Expected type of queries:</a:t>
            </a:r>
          </a:p>
          <a:p>
            <a:pPr lvl="1">
              <a:lnSpc>
                <a:spcPct val="120000"/>
              </a:lnSpc>
              <a:spcBef>
                <a:spcPts val="1200"/>
              </a:spcBef>
            </a:pPr>
            <a:r>
              <a:rPr lang="en-US" altLang="zh-CN" sz="1800" b="1" dirty="0">
                <a:solidFill>
                  <a:srgbClr val="FF0000"/>
                </a:solidFill>
              </a:rPr>
              <a:t>Hashing</a:t>
            </a:r>
            <a:r>
              <a:rPr lang="en-US" altLang="zh-CN" sz="1800" dirty="0"/>
              <a:t> is generally better at retrieving records having a specified value of the </a:t>
            </a:r>
            <a:r>
              <a:rPr lang="en-US" altLang="zh-CN" sz="1800" b="1" dirty="0">
                <a:solidFill>
                  <a:srgbClr val="FF0000"/>
                </a:solidFill>
              </a:rPr>
              <a:t>key</a:t>
            </a:r>
            <a:r>
              <a:rPr lang="en-US" altLang="zh-CN" sz="1800" dirty="0"/>
              <a:t>.</a:t>
            </a:r>
          </a:p>
          <a:p>
            <a:pPr lvl="1">
              <a:lnSpc>
                <a:spcPct val="120000"/>
              </a:lnSpc>
              <a:spcBef>
                <a:spcPts val="1200"/>
              </a:spcBef>
            </a:pPr>
            <a:r>
              <a:rPr lang="en-US" altLang="zh-CN" sz="1800" dirty="0"/>
              <a:t>If </a:t>
            </a:r>
            <a:r>
              <a:rPr lang="en-US" altLang="zh-CN" sz="1800" b="1" dirty="0">
                <a:solidFill>
                  <a:srgbClr val="00B050"/>
                </a:solidFill>
              </a:rPr>
              <a:t>range</a:t>
            </a:r>
            <a:r>
              <a:rPr lang="en-US" altLang="zh-CN" sz="1800" dirty="0"/>
              <a:t> queries are common, </a:t>
            </a:r>
            <a:r>
              <a:rPr lang="en-US" altLang="zh-CN" sz="1800" b="1" dirty="0">
                <a:solidFill>
                  <a:srgbClr val="00B050"/>
                </a:solidFill>
              </a:rPr>
              <a:t>ordered</a:t>
            </a:r>
            <a:r>
              <a:rPr lang="en-US" altLang="zh-CN" sz="1800" dirty="0"/>
              <a:t> indices are to be preferred</a:t>
            </a:r>
          </a:p>
          <a:p>
            <a:pPr>
              <a:lnSpc>
                <a:spcPct val="120000"/>
              </a:lnSpc>
              <a:spcBef>
                <a:spcPts val="1200"/>
              </a:spcBef>
            </a:pPr>
            <a:r>
              <a:rPr lang="en-US" altLang="zh-CN" sz="2400" dirty="0"/>
              <a:t>In practice:</a:t>
            </a:r>
          </a:p>
          <a:p>
            <a:pPr lvl="1">
              <a:lnSpc>
                <a:spcPct val="120000"/>
              </a:lnSpc>
              <a:spcBef>
                <a:spcPts val="1200"/>
              </a:spcBef>
            </a:pPr>
            <a:r>
              <a:rPr lang="en-US" altLang="zh-CN" sz="1800" dirty="0"/>
              <a:t>PostgreSQL supports hash indices, but discourages use due to poor performance</a:t>
            </a:r>
          </a:p>
          <a:p>
            <a:pPr lvl="1">
              <a:lnSpc>
                <a:spcPct val="120000"/>
              </a:lnSpc>
              <a:spcBef>
                <a:spcPts val="1200"/>
              </a:spcBef>
            </a:pPr>
            <a:r>
              <a:rPr lang="en-US" altLang="zh-CN" sz="1800" dirty="0"/>
              <a:t>Oracle supports static hash organization, but not hash indices</a:t>
            </a:r>
          </a:p>
          <a:p>
            <a:pPr lvl="1">
              <a:lnSpc>
                <a:spcPct val="120000"/>
              </a:lnSpc>
              <a:spcBef>
                <a:spcPts val="1200"/>
              </a:spcBef>
            </a:pPr>
            <a:r>
              <a:rPr lang="en-US" altLang="zh-CN" sz="1800" dirty="0" err="1"/>
              <a:t>SQLServer</a:t>
            </a:r>
            <a:r>
              <a:rPr lang="en-US" altLang="zh-CN" sz="1800" dirty="0"/>
              <a:t> supports only B+-trees</a:t>
            </a:r>
          </a:p>
          <a:p>
            <a:pPr>
              <a:lnSpc>
                <a:spcPct val="120000"/>
              </a:lnSpc>
              <a:spcBef>
                <a:spcPts val="1200"/>
              </a:spcBef>
            </a:pPr>
            <a:endParaRPr lang="zh-CN" altLang="en-US" sz="2400" dirty="0"/>
          </a:p>
        </p:txBody>
      </p:sp>
    </p:spTree>
    <p:extLst>
      <p:ext uri="{BB962C8B-B14F-4D97-AF65-F5344CB8AC3E}">
        <p14:creationId xmlns:p14="http://schemas.microsoft.com/office/powerpoint/2010/main" val="3828064123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9BBCCEF-D42F-420B-9CC2-98A9815DB6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Covering indices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2905825-8EE0-4CF0-A05E-CAFDF944FB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98675E-1DA6-4014-A7DE-44E1A7A2A8FC}" type="datetime1">
              <a:rPr lang="zh-CN" altLang="en-US" smtClean="0"/>
              <a:t>2024/5/8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ED664A2-5898-4C25-86F3-E969A94A39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Hash Indices</a:t>
            </a: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34B9AF0-AA69-4CFE-BBF2-A55EB4555B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5CA875-76FA-4283-B5BE-070B4D16A27E}" type="slidenum">
              <a:rPr lang="zh-CN" altLang="en-US" smtClean="0"/>
              <a:t>38</a:t>
            </a:fld>
            <a:endParaRPr lang="zh-CN" altLang="en-US"/>
          </a:p>
        </p:txBody>
      </p:sp>
      <p:sp>
        <p:nvSpPr>
          <p:cNvPr id="8" name="内容占位符 7">
            <a:extLst>
              <a:ext uri="{FF2B5EF4-FFF2-40B4-BE49-F238E27FC236}">
                <a16:creationId xmlns:a16="http://schemas.microsoft.com/office/drawing/2014/main" id="{13D5DB0C-A129-4A7C-89EE-91B1014FC0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00000"/>
              </a:lnSpc>
              <a:spcBef>
                <a:spcPts val="1800"/>
              </a:spcBef>
            </a:pPr>
            <a:r>
              <a:rPr lang="en-US" altLang="zh-CN" dirty="0"/>
              <a:t>Add extra attributes to index, so (some) queries can avoid fetching the actual records</a:t>
            </a:r>
          </a:p>
          <a:p>
            <a:pPr lvl="1">
              <a:lnSpc>
                <a:spcPct val="100000"/>
              </a:lnSpc>
              <a:spcBef>
                <a:spcPts val="1800"/>
              </a:spcBef>
            </a:pPr>
            <a:r>
              <a:rPr lang="en-US" altLang="zh-CN" dirty="0"/>
              <a:t>Store extra attributes only at leaf</a:t>
            </a:r>
          </a:p>
          <a:p>
            <a:pPr lvl="2">
              <a:lnSpc>
                <a:spcPct val="100000"/>
              </a:lnSpc>
              <a:spcBef>
                <a:spcPts val="1800"/>
              </a:spcBef>
            </a:pPr>
            <a:r>
              <a:rPr lang="en-US" altLang="zh-CN" dirty="0"/>
              <a:t>Why?</a:t>
            </a:r>
          </a:p>
          <a:p>
            <a:pPr>
              <a:lnSpc>
                <a:spcPct val="100000"/>
              </a:lnSpc>
              <a:spcBef>
                <a:spcPts val="1800"/>
              </a:spcBef>
            </a:pPr>
            <a:r>
              <a:rPr lang="en-US" altLang="zh-CN" dirty="0"/>
              <a:t>Particularly useful for secondary indices </a:t>
            </a:r>
          </a:p>
          <a:p>
            <a:pPr lvl="1">
              <a:lnSpc>
                <a:spcPct val="100000"/>
              </a:lnSpc>
              <a:spcBef>
                <a:spcPts val="1800"/>
              </a:spcBef>
            </a:pPr>
            <a:r>
              <a:rPr lang="en-US" altLang="zh-CN" dirty="0"/>
              <a:t>Why?</a:t>
            </a:r>
          </a:p>
        </p:txBody>
      </p:sp>
    </p:spTree>
    <p:extLst>
      <p:ext uri="{BB962C8B-B14F-4D97-AF65-F5344CB8AC3E}">
        <p14:creationId xmlns:p14="http://schemas.microsoft.com/office/powerpoint/2010/main" val="1732877543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9BBCCEF-D42F-420B-9CC2-98A9815DB6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Write Optimized Indices</a:t>
            </a:r>
            <a:endParaRPr lang="zh-CN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2905825-8EE0-4CF0-A05E-CAFDF944FB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09EFBB-6DD9-4023-A499-7CA5D6638158}" type="datetime1">
              <a:rPr lang="zh-CN" altLang="en-US" smtClean="0"/>
              <a:t>2024/5/8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ED664A2-5898-4C25-86F3-E969A94A39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Hash Indices</a:t>
            </a: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34B9AF0-AA69-4CFE-BBF2-A55EB4555B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5CA875-76FA-4283-B5BE-070B4D16A27E}" type="slidenum">
              <a:rPr lang="zh-CN" altLang="en-US" smtClean="0"/>
              <a:t>39</a:t>
            </a:fld>
            <a:endParaRPr lang="zh-CN" altLang="en-US"/>
          </a:p>
        </p:txBody>
      </p:sp>
      <p:sp>
        <p:nvSpPr>
          <p:cNvPr id="8" name="内容占位符 7">
            <a:extLst>
              <a:ext uri="{FF2B5EF4-FFF2-40B4-BE49-F238E27FC236}">
                <a16:creationId xmlns:a16="http://schemas.microsoft.com/office/drawing/2014/main" id="{13D5DB0C-A129-4A7C-89EE-91B1014FC0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00000"/>
              </a:lnSpc>
              <a:spcBef>
                <a:spcPts val="1200"/>
              </a:spcBef>
            </a:pPr>
            <a:r>
              <a:rPr lang="en-US" altLang="zh-CN" dirty="0"/>
              <a:t>Performance of  B+-trees can be poor for </a:t>
            </a:r>
            <a:r>
              <a:rPr lang="en-US" altLang="zh-CN" b="1" dirty="0">
                <a:solidFill>
                  <a:srgbClr val="FF0000"/>
                </a:solidFill>
              </a:rPr>
              <a:t>write-intensive</a:t>
            </a:r>
            <a:r>
              <a:rPr lang="en-US" altLang="zh-CN" dirty="0"/>
              <a:t> workloads</a:t>
            </a:r>
          </a:p>
          <a:p>
            <a:pPr lvl="1">
              <a:lnSpc>
                <a:spcPct val="100000"/>
              </a:lnSpc>
              <a:spcBef>
                <a:spcPts val="1200"/>
              </a:spcBef>
            </a:pPr>
            <a:r>
              <a:rPr lang="en-US" altLang="zh-CN" dirty="0"/>
              <a:t>One I/O per leaf, assuming all internal nodes are in memory</a:t>
            </a:r>
          </a:p>
          <a:p>
            <a:pPr lvl="1">
              <a:lnSpc>
                <a:spcPct val="100000"/>
              </a:lnSpc>
              <a:spcBef>
                <a:spcPts val="1200"/>
              </a:spcBef>
            </a:pPr>
            <a:r>
              <a:rPr lang="en-US" altLang="zh-CN" dirty="0"/>
              <a:t>With magnetic disks, &lt; 100 inserts per second per disk</a:t>
            </a:r>
          </a:p>
          <a:p>
            <a:pPr lvl="1">
              <a:lnSpc>
                <a:spcPct val="100000"/>
              </a:lnSpc>
              <a:spcBef>
                <a:spcPts val="1200"/>
              </a:spcBef>
            </a:pPr>
            <a:r>
              <a:rPr lang="en-US" altLang="zh-CN" dirty="0"/>
              <a:t>With flash memory, one page overwrite per insert</a:t>
            </a:r>
          </a:p>
          <a:p>
            <a:pPr>
              <a:lnSpc>
                <a:spcPct val="100000"/>
              </a:lnSpc>
              <a:spcBef>
                <a:spcPts val="1200"/>
              </a:spcBef>
            </a:pPr>
            <a:r>
              <a:rPr lang="en-US" altLang="zh-CN" dirty="0"/>
              <a:t>Two approaches to reducing cost of writes</a:t>
            </a:r>
          </a:p>
          <a:p>
            <a:pPr lvl="1">
              <a:lnSpc>
                <a:spcPct val="100000"/>
              </a:lnSpc>
              <a:spcBef>
                <a:spcPts val="1200"/>
              </a:spcBef>
            </a:pPr>
            <a:r>
              <a:rPr lang="en-US" altLang="zh-CN" dirty="0"/>
              <a:t>Log-structured merge tree</a:t>
            </a:r>
          </a:p>
          <a:p>
            <a:pPr lvl="1">
              <a:lnSpc>
                <a:spcPct val="100000"/>
              </a:lnSpc>
              <a:spcBef>
                <a:spcPts val="1200"/>
              </a:spcBef>
            </a:pPr>
            <a:r>
              <a:rPr lang="en-US" altLang="zh-CN" dirty="0"/>
              <a:t>Buffer tree</a:t>
            </a:r>
          </a:p>
        </p:txBody>
      </p:sp>
    </p:spTree>
    <p:extLst>
      <p:ext uri="{BB962C8B-B14F-4D97-AF65-F5344CB8AC3E}">
        <p14:creationId xmlns:p14="http://schemas.microsoft.com/office/powerpoint/2010/main" val="2296588452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9BBCCEF-D42F-420B-9CC2-98A9815DB6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Log Structured Merge (LSM) Tree</a:t>
            </a:r>
            <a:endParaRPr lang="zh-CN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2905825-8EE0-4CF0-A05E-CAFDF944FB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F58F81-0F4D-485E-9B39-21CCD6D73FD7}" type="datetime1">
              <a:rPr lang="zh-CN" altLang="en-US" smtClean="0"/>
              <a:t>2024/5/8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ED664A2-5898-4C25-86F3-E969A94A39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Hash Indices</a:t>
            </a: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34B9AF0-AA69-4CFE-BBF2-A55EB4555B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5CA875-76FA-4283-B5BE-070B4D16A27E}" type="slidenum">
              <a:rPr lang="zh-CN" altLang="en-US" smtClean="0"/>
              <a:t>40</a:t>
            </a:fld>
            <a:endParaRPr lang="zh-CN" altLang="en-US"/>
          </a:p>
        </p:txBody>
      </p:sp>
      <p:pic>
        <p:nvPicPr>
          <p:cNvPr id="7" name="Content Placeholder 8">
            <a:extLst>
              <a:ext uri="{FF2B5EF4-FFF2-40B4-BE49-F238E27FC236}">
                <a16:creationId xmlns:a16="http://schemas.microsoft.com/office/drawing/2014/main" id="{7C9DEE5C-FDE9-4B72-A2F6-10A27D9567E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 bwMode="auto">
          <a:xfrm>
            <a:off x="8723243" y="2829287"/>
            <a:ext cx="2772520" cy="23884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Content Placeholder 9">
            <a:extLst>
              <a:ext uri="{FF2B5EF4-FFF2-40B4-BE49-F238E27FC236}">
                <a16:creationId xmlns:a16="http://schemas.microsoft.com/office/drawing/2014/main" id="{1BB37E69-7A67-409D-BCB4-8F948CB967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42915"/>
            <a:ext cx="7885043" cy="4513435"/>
          </a:xfrm>
        </p:spPr>
        <p:txBody>
          <a:bodyPr>
            <a:normAutofit fontScale="92500" lnSpcReduction="20000"/>
          </a:bodyPr>
          <a:lstStyle/>
          <a:p>
            <a:pPr>
              <a:lnSpc>
                <a:spcPct val="110000"/>
              </a:lnSpc>
              <a:spcBef>
                <a:spcPts val="1800"/>
              </a:spcBef>
            </a:pPr>
            <a:r>
              <a:rPr lang="en-IN" sz="2400" dirty="0"/>
              <a:t>Consider </a:t>
            </a:r>
            <a:r>
              <a:rPr lang="en-IN" sz="2400" b="1" dirty="0">
                <a:solidFill>
                  <a:srgbClr val="FF0000"/>
                </a:solidFill>
              </a:rPr>
              <a:t>only</a:t>
            </a:r>
            <a:r>
              <a:rPr lang="en-IN" sz="2400" dirty="0"/>
              <a:t> inserts/queries for now</a:t>
            </a:r>
          </a:p>
          <a:p>
            <a:pPr>
              <a:lnSpc>
                <a:spcPct val="110000"/>
              </a:lnSpc>
              <a:spcBef>
                <a:spcPts val="1800"/>
              </a:spcBef>
            </a:pPr>
            <a:r>
              <a:rPr lang="en-IN" sz="2400" dirty="0"/>
              <a:t>Records inserted first into in-memory tree (L</a:t>
            </a:r>
            <a:r>
              <a:rPr lang="en-IN" sz="3200" baseline="-25000" dirty="0"/>
              <a:t>0</a:t>
            </a:r>
            <a:r>
              <a:rPr lang="en-IN" sz="2400" dirty="0"/>
              <a:t> tree)</a:t>
            </a:r>
          </a:p>
          <a:p>
            <a:pPr>
              <a:lnSpc>
                <a:spcPct val="110000"/>
              </a:lnSpc>
              <a:spcBef>
                <a:spcPts val="1800"/>
              </a:spcBef>
            </a:pPr>
            <a:r>
              <a:rPr lang="en-IN" sz="2400" dirty="0"/>
              <a:t>When in-memory tree is full, records </a:t>
            </a:r>
            <a:br>
              <a:rPr lang="en-IN" sz="2400" dirty="0"/>
            </a:br>
            <a:r>
              <a:rPr lang="en-IN" sz="2400" b="1" dirty="0">
                <a:solidFill>
                  <a:srgbClr val="FF0000"/>
                </a:solidFill>
              </a:rPr>
              <a:t>moved</a:t>
            </a:r>
            <a:r>
              <a:rPr lang="en-IN" sz="2400" dirty="0"/>
              <a:t> to disk (L</a:t>
            </a:r>
            <a:r>
              <a:rPr lang="en-IN" sz="3200" baseline="-25000" dirty="0"/>
              <a:t>1</a:t>
            </a:r>
            <a:r>
              <a:rPr lang="en-IN" sz="2400" dirty="0"/>
              <a:t> tree)</a:t>
            </a:r>
          </a:p>
          <a:p>
            <a:pPr lvl="1">
              <a:lnSpc>
                <a:spcPct val="110000"/>
              </a:lnSpc>
              <a:spcBef>
                <a:spcPts val="1800"/>
              </a:spcBef>
            </a:pPr>
            <a:r>
              <a:rPr lang="en-IN" dirty="0"/>
              <a:t>B</a:t>
            </a:r>
            <a:r>
              <a:rPr lang="en-IN" sz="3200" baseline="30000" dirty="0"/>
              <a:t>+</a:t>
            </a:r>
            <a:r>
              <a:rPr lang="en-IN" dirty="0"/>
              <a:t>-tree constructed using bottom-up build by merging existing L</a:t>
            </a:r>
            <a:r>
              <a:rPr lang="en-IN" sz="3200" baseline="-25000" dirty="0"/>
              <a:t>1</a:t>
            </a:r>
            <a:r>
              <a:rPr lang="en-IN" dirty="0"/>
              <a:t> tree with records from L</a:t>
            </a:r>
            <a:r>
              <a:rPr lang="en-IN" sz="3200" baseline="-25000" dirty="0"/>
              <a:t>0</a:t>
            </a:r>
            <a:r>
              <a:rPr lang="en-IN" dirty="0"/>
              <a:t> tree</a:t>
            </a:r>
          </a:p>
          <a:p>
            <a:pPr>
              <a:lnSpc>
                <a:spcPct val="110000"/>
              </a:lnSpc>
              <a:spcBef>
                <a:spcPts val="1800"/>
              </a:spcBef>
            </a:pPr>
            <a:r>
              <a:rPr lang="en-IN" sz="2400" dirty="0"/>
              <a:t>When L</a:t>
            </a:r>
            <a:r>
              <a:rPr lang="en-IN" sz="3200" baseline="-25000" dirty="0"/>
              <a:t>1</a:t>
            </a:r>
            <a:r>
              <a:rPr lang="en-IN" sz="2400" dirty="0"/>
              <a:t> tree exceeds some threshold, merge into L</a:t>
            </a:r>
            <a:r>
              <a:rPr lang="en-IN" sz="3200" baseline="-25000" dirty="0"/>
              <a:t>2</a:t>
            </a:r>
            <a:r>
              <a:rPr lang="en-IN" sz="2400" dirty="0"/>
              <a:t> tree</a:t>
            </a:r>
          </a:p>
          <a:p>
            <a:pPr lvl="1">
              <a:lnSpc>
                <a:spcPct val="110000"/>
              </a:lnSpc>
              <a:spcBef>
                <a:spcPts val="1800"/>
              </a:spcBef>
            </a:pPr>
            <a:r>
              <a:rPr lang="en-IN" dirty="0"/>
              <a:t>And so on for more levels</a:t>
            </a:r>
          </a:p>
          <a:p>
            <a:pPr lvl="1">
              <a:lnSpc>
                <a:spcPct val="110000"/>
              </a:lnSpc>
              <a:spcBef>
                <a:spcPts val="1800"/>
              </a:spcBef>
            </a:pPr>
            <a:r>
              <a:rPr lang="en-IN" dirty="0"/>
              <a:t>Size </a:t>
            </a:r>
            <a:r>
              <a:rPr lang="en-IN" b="1" dirty="0">
                <a:solidFill>
                  <a:srgbClr val="FF0000"/>
                </a:solidFill>
              </a:rPr>
              <a:t>threshold</a:t>
            </a:r>
            <a:r>
              <a:rPr lang="en-IN" dirty="0"/>
              <a:t> for L</a:t>
            </a:r>
            <a:r>
              <a:rPr lang="en-IN" sz="3200" baseline="-25000" dirty="0"/>
              <a:t>i+1</a:t>
            </a:r>
            <a:r>
              <a:rPr lang="en-IN" dirty="0"/>
              <a:t> tree is </a:t>
            </a:r>
            <a:r>
              <a:rPr lang="en-IN" i="1" dirty="0"/>
              <a:t>k </a:t>
            </a:r>
            <a:r>
              <a:rPr lang="en-IN" dirty="0"/>
              <a:t>times size threshold for L</a:t>
            </a:r>
            <a:r>
              <a:rPr lang="en-IN" sz="3200" baseline="-25000" dirty="0"/>
              <a:t>i</a:t>
            </a:r>
            <a:r>
              <a:rPr lang="en-IN" dirty="0"/>
              <a:t> tree </a:t>
            </a:r>
          </a:p>
        </p:txBody>
      </p:sp>
    </p:spTree>
    <p:extLst>
      <p:ext uri="{BB962C8B-B14F-4D97-AF65-F5344CB8AC3E}">
        <p14:creationId xmlns:p14="http://schemas.microsoft.com/office/powerpoint/2010/main" val="222772774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9BBCCEF-D42F-420B-9CC2-98A9815DB6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LSM Tree </a:t>
            </a:r>
            <a:endParaRPr lang="zh-CN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2905825-8EE0-4CF0-A05E-CAFDF944FB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175E9C-9940-40B6-B013-55930936BAAD}" type="datetime1">
              <a:rPr lang="zh-CN" altLang="en-US" smtClean="0"/>
              <a:t>2024/5/8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ED664A2-5898-4C25-86F3-E969A94A39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Hash Indices</a:t>
            </a: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34B9AF0-AA69-4CFE-BBF2-A55EB4555B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5CA875-76FA-4283-B5BE-070B4D16A27E}" type="slidenum">
              <a:rPr lang="zh-CN" altLang="en-US" smtClean="0"/>
              <a:t>41</a:t>
            </a:fld>
            <a:endParaRPr lang="zh-CN" altLang="en-US"/>
          </a:p>
        </p:txBody>
      </p:sp>
      <p:sp>
        <p:nvSpPr>
          <p:cNvPr id="8" name="内容占位符 7">
            <a:extLst>
              <a:ext uri="{FF2B5EF4-FFF2-40B4-BE49-F238E27FC236}">
                <a16:creationId xmlns:a16="http://schemas.microsoft.com/office/drawing/2014/main" id="{13D5DB0C-A129-4A7C-89EE-91B1014FC0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lnSpc>
                <a:spcPct val="120000"/>
              </a:lnSpc>
              <a:spcBef>
                <a:spcPts val="1200"/>
              </a:spcBef>
            </a:pPr>
            <a:r>
              <a:rPr lang="en-IN" altLang="zh-CN" sz="2400" dirty="0"/>
              <a:t>Benefits of LSM approach</a:t>
            </a:r>
          </a:p>
          <a:p>
            <a:pPr lvl="1">
              <a:lnSpc>
                <a:spcPct val="120000"/>
              </a:lnSpc>
              <a:spcBef>
                <a:spcPts val="1200"/>
              </a:spcBef>
            </a:pPr>
            <a:r>
              <a:rPr lang="en-IN" altLang="zh-CN" dirty="0"/>
              <a:t>Inserts are done using only </a:t>
            </a:r>
            <a:r>
              <a:rPr lang="en-IN" altLang="zh-CN" b="1" dirty="0">
                <a:solidFill>
                  <a:srgbClr val="00B050"/>
                </a:solidFill>
              </a:rPr>
              <a:t>sequential</a:t>
            </a:r>
            <a:r>
              <a:rPr lang="en-IN" altLang="zh-CN" dirty="0"/>
              <a:t> I/O operations</a:t>
            </a:r>
          </a:p>
          <a:p>
            <a:pPr lvl="1">
              <a:lnSpc>
                <a:spcPct val="120000"/>
              </a:lnSpc>
              <a:spcBef>
                <a:spcPts val="1200"/>
              </a:spcBef>
            </a:pPr>
            <a:r>
              <a:rPr lang="en-IN" altLang="zh-CN" dirty="0"/>
              <a:t>Leaves are full, avoiding space </a:t>
            </a:r>
            <a:r>
              <a:rPr lang="en-IN" altLang="zh-CN" b="1" dirty="0">
                <a:solidFill>
                  <a:srgbClr val="00B050"/>
                </a:solidFill>
              </a:rPr>
              <a:t>wastage</a:t>
            </a:r>
          </a:p>
          <a:p>
            <a:pPr lvl="1">
              <a:lnSpc>
                <a:spcPct val="120000"/>
              </a:lnSpc>
              <a:spcBef>
                <a:spcPts val="1200"/>
              </a:spcBef>
            </a:pPr>
            <a:r>
              <a:rPr lang="en-IN" altLang="zh-CN" dirty="0"/>
              <a:t>Reduced number of I/O operations per record inserted as compared to normal B</a:t>
            </a:r>
            <a:r>
              <a:rPr lang="en-IN" altLang="zh-CN" sz="3200" baseline="30000" dirty="0"/>
              <a:t>+</a:t>
            </a:r>
            <a:r>
              <a:rPr lang="en-IN" altLang="zh-CN" dirty="0"/>
              <a:t>-tree (up to some size)</a:t>
            </a:r>
          </a:p>
          <a:p>
            <a:pPr>
              <a:lnSpc>
                <a:spcPct val="120000"/>
              </a:lnSpc>
              <a:spcBef>
                <a:spcPts val="1200"/>
              </a:spcBef>
            </a:pPr>
            <a:r>
              <a:rPr lang="en-IN" altLang="zh-CN" sz="2400" dirty="0"/>
              <a:t>Drawback of LSM approach</a:t>
            </a:r>
          </a:p>
          <a:p>
            <a:pPr lvl="1">
              <a:lnSpc>
                <a:spcPct val="120000"/>
              </a:lnSpc>
              <a:spcBef>
                <a:spcPts val="1200"/>
              </a:spcBef>
            </a:pPr>
            <a:r>
              <a:rPr lang="en-IN" altLang="zh-CN" dirty="0"/>
              <a:t>Queries have to search </a:t>
            </a:r>
            <a:r>
              <a:rPr lang="en-IN" altLang="zh-CN" b="1" dirty="0">
                <a:solidFill>
                  <a:srgbClr val="FF0000"/>
                </a:solidFill>
              </a:rPr>
              <a:t>multiple</a:t>
            </a:r>
            <a:r>
              <a:rPr lang="en-IN" altLang="zh-CN" dirty="0"/>
              <a:t> trees</a:t>
            </a:r>
          </a:p>
          <a:p>
            <a:pPr lvl="1">
              <a:lnSpc>
                <a:spcPct val="120000"/>
              </a:lnSpc>
              <a:spcBef>
                <a:spcPts val="1200"/>
              </a:spcBef>
            </a:pPr>
            <a:r>
              <a:rPr lang="en-IN" altLang="zh-CN" dirty="0"/>
              <a:t>Entire content of each level </a:t>
            </a:r>
            <a:r>
              <a:rPr lang="en-IN" altLang="zh-CN" b="1" dirty="0">
                <a:solidFill>
                  <a:srgbClr val="FF0000"/>
                </a:solidFill>
              </a:rPr>
              <a:t>copied</a:t>
            </a:r>
            <a:r>
              <a:rPr lang="en-IN" altLang="zh-CN" dirty="0"/>
              <a:t> multiple times</a:t>
            </a:r>
          </a:p>
        </p:txBody>
      </p:sp>
    </p:spTree>
    <p:extLst>
      <p:ext uri="{BB962C8B-B14F-4D97-AF65-F5344CB8AC3E}">
        <p14:creationId xmlns:p14="http://schemas.microsoft.com/office/powerpoint/2010/main" val="963288825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9BBCCEF-D42F-420B-9CC2-98A9815DB6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Buffer Tree</a:t>
            </a:r>
            <a:endParaRPr lang="zh-CN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2905825-8EE0-4CF0-A05E-CAFDF944FB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A9A482-82D8-488A-83DC-9F5BC1CA27DC}" type="datetime1">
              <a:rPr lang="zh-CN" altLang="en-US" smtClean="0"/>
              <a:t>2024/5/8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ED664A2-5898-4C25-86F3-E969A94A39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Hash Indices</a:t>
            </a: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34B9AF0-AA69-4CFE-BBF2-A55EB4555B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5CA875-76FA-4283-B5BE-070B4D16A27E}" type="slidenum">
              <a:rPr lang="zh-CN" altLang="en-US" smtClean="0"/>
              <a:t>42</a:t>
            </a:fld>
            <a:endParaRPr lang="zh-CN" altLang="en-US"/>
          </a:p>
        </p:txBody>
      </p:sp>
      <p:sp>
        <p:nvSpPr>
          <p:cNvPr id="8" name="内容占位符 7">
            <a:extLst>
              <a:ext uri="{FF2B5EF4-FFF2-40B4-BE49-F238E27FC236}">
                <a16:creationId xmlns:a16="http://schemas.microsoft.com/office/drawing/2014/main" id="{13D5DB0C-A129-4A7C-89EE-91B1014FC0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3346886"/>
          </a:xfrm>
        </p:spPr>
        <p:txBody>
          <a:bodyPr>
            <a:normAutofit fontScale="85000" lnSpcReduction="20000"/>
          </a:bodyPr>
          <a:lstStyle/>
          <a:p>
            <a:pPr>
              <a:lnSpc>
                <a:spcPct val="100000"/>
              </a:lnSpc>
              <a:spcBef>
                <a:spcPts val="1200"/>
              </a:spcBef>
            </a:pPr>
            <a:r>
              <a:rPr lang="en-IN" altLang="zh-CN" dirty="0"/>
              <a:t>Each internal node of B</a:t>
            </a:r>
            <a:r>
              <a:rPr lang="en-IN" altLang="zh-CN" sz="2000" baseline="30000" dirty="0"/>
              <a:t>+</a:t>
            </a:r>
            <a:r>
              <a:rPr lang="en-IN" altLang="zh-CN" dirty="0"/>
              <a:t>-tree has a </a:t>
            </a:r>
            <a:r>
              <a:rPr lang="en-IN" altLang="zh-CN" b="1" dirty="0">
                <a:solidFill>
                  <a:srgbClr val="00B050"/>
                </a:solidFill>
              </a:rPr>
              <a:t>buffer</a:t>
            </a:r>
            <a:r>
              <a:rPr lang="en-IN" altLang="zh-CN" dirty="0"/>
              <a:t> to store inserts</a:t>
            </a:r>
          </a:p>
          <a:p>
            <a:pPr lvl="1">
              <a:lnSpc>
                <a:spcPct val="100000"/>
              </a:lnSpc>
              <a:spcBef>
                <a:spcPts val="1200"/>
              </a:spcBef>
            </a:pPr>
            <a:r>
              <a:rPr lang="en-IN" altLang="zh-CN" dirty="0"/>
              <a:t>Inserts are moved to lower levels when buffer is full</a:t>
            </a:r>
          </a:p>
          <a:p>
            <a:pPr lvl="1">
              <a:lnSpc>
                <a:spcPct val="100000"/>
              </a:lnSpc>
              <a:spcBef>
                <a:spcPts val="1200"/>
              </a:spcBef>
            </a:pPr>
            <a:r>
              <a:rPr lang="en-IN" altLang="zh-CN" dirty="0"/>
              <a:t>With a large buffer, many records are moved to lower level each time</a:t>
            </a:r>
          </a:p>
          <a:p>
            <a:pPr lvl="1">
              <a:lnSpc>
                <a:spcPct val="100000"/>
              </a:lnSpc>
              <a:spcBef>
                <a:spcPts val="1200"/>
              </a:spcBef>
            </a:pPr>
            <a:r>
              <a:rPr lang="en-IN" altLang="zh-CN" dirty="0"/>
              <a:t>Per record </a:t>
            </a:r>
            <a:r>
              <a:rPr lang="en-IN" altLang="zh-CN" b="1" dirty="0">
                <a:solidFill>
                  <a:srgbClr val="00B050"/>
                </a:solidFill>
              </a:rPr>
              <a:t>I/O decreases </a:t>
            </a:r>
            <a:r>
              <a:rPr lang="en-IN" altLang="zh-CN" dirty="0"/>
              <a:t>correspondingly </a:t>
            </a:r>
          </a:p>
          <a:p>
            <a:pPr>
              <a:lnSpc>
                <a:spcPct val="100000"/>
              </a:lnSpc>
              <a:spcBef>
                <a:spcPts val="1200"/>
              </a:spcBef>
            </a:pPr>
            <a:r>
              <a:rPr lang="en-IN" altLang="zh-CN" dirty="0"/>
              <a:t>Benefits</a:t>
            </a:r>
          </a:p>
          <a:p>
            <a:pPr lvl="1">
              <a:lnSpc>
                <a:spcPct val="100000"/>
              </a:lnSpc>
              <a:spcBef>
                <a:spcPts val="1200"/>
              </a:spcBef>
            </a:pPr>
            <a:r>
              <a:rPr lang="en-IN" altLang="zh-CN" b="1" dirty="0">
                <a:solidFill>
                  <a:srgbClr val="00B050"/>
                </a:solidFill>
              </a:rPr>
              <a:t>Less</a:t>
            </a:r>
            <a:r>
              <a:rPr lang="en-IN" altLang="zh-CN" dirty="0"/>
              <a:t> overhead on queries</a:t>
            </a:r>
          </a:p>
          <a:p>
            <a:pPr lvl="1">
              <a:lnSpc>
                <a:spcPct val="100000"/>
              </a:lnSpc>
              <a:spcBef>
                <a:spcPts val="1200"/>
              </a:spcBef>
            </a:pPr>
            <a:r>
              <a:rPr lang="en-IN" altLang="zh-CN" dirty="0"/>
              <a:t>Can be used with any tree index structure</a:t>
            </a:r>
          </a:p>
          <a:p>
            <a:pPr lvl="1">
              <a:lnSpc>
                <a:spcPct val="100000"/>
              </a:lnSpc>
              <a:spcBef>
                <a:spcPts val="1200"/>
              </a:spcBef>
            </a:pPr>
            <a:r>
              <a:rPr lang="en-IN" altLang="zh-CN" dirty="0"/>
              <a:t>Used in PostgreSQL Generalized Search Tree (</a:t>
            </a:r>
            <a:r>
              <a:rPr lang="en-IN" altLang="zh-CN" dirty="0" err="1"/>
              <a:t>GiST</a:t>
            </a:r>
            <a:r>
              <a:rPr lang="en-IN" altLang="zh-CN" dirty="0"/>
              <a:t>) indices</a:t>
            </a:r>
          </a:p>
          <a:p>
            <a:pPr marL="0" indent="0">
              <a:lnSpc>
                <a:spcPct val="100000"/>
              </a:lnSpc>
              <a:spcBef>
                <a:spcPts val="1200"/>
              </a:spcBef>
              <a:buNone/>
            </a:pPr>
            <a:endParaRPr lang="zh-CN" altLang="en-US" dirty="0"/>
          </a:p>
        </p:txBody>
      </p:sp>
      <p:pic>
        <p:nvPicPr>
          <p:cNvPr id="7" name="Graphic 4">
            <a:extLst>
              <a:ext uri="{FF2B5EF4-FFF2-40B4-BE49-F238E27FC236}">
                <a16:creationId xmlns:a16="http://schemas.microsoft.com/office/drawing/2014/main" id="{467D5429-364D-40F7-B7D5-D91B9E7A7F2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447876" y="5172511"/>
            <a:ext cx="7653603" cy="10952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8568678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9BBCCEF-D42F-420B-9CC2-98A9815DB6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Bitmap Indices</a:t>
            </a:r>
            <a:endParaRPr lang="zh-CN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2905825-8EE0-4CF0-A05E-CAFDF944FB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ED154A-DF37-487E-AAB9-38F11DD9BF04}" type="datetime1">
              <a:rPr lang="zh-CN" altLang="en-US" smtClean="0"/>
              <a:t>2024/5/8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ED664A2-5898-4C25-86F3-E969A94A39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Hash Indices</a:t>
            </a: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34B9AF0-AA69-4CFE-BBF2-A55EB4555B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5CA875-76FA-4283-B5BE-070B4D16A27E}" type="slidenum">
              <a:rPr lang="zh-CN" altLang="en-US" smtClean="0"/>
              <a:t>43</a:t>
            </a:fld>
            <a:endParaRPr lang="zh-CN" altLang="en-US"/>
          </a:p>
        </p:txBody>
      </p:sp>
      <p:pic>
        <p:nvPicPr>
          <p:cNvPr id="7" name="Picture 7">
            <a:extLst>
              <a:ext uri="{FF2B5EF4-FFF2-40B4-BE49-F238E27FC236}">
                <a16:creationId xmlns:a16="http://schemas.microsoft.com/office/drawing/2014/main" id="{43130CD4-41BC-4454-8254-EF49E724BEB8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15758" y="1994451"/>
            <a:ext cx="9160484" cy="400905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71598861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14395</TotalTime>
  <Words>2671</Words>
  <Application>Microsoft Macintosh PowerPoint</Application>
  <PresentationFormat>宽屏</PresentationFormat>
  <Paragraphs>703</Paragraphs>
  <Slides>43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43</vt:i4>
      </vt:variant>
    </vt:vector>
  </HeadingPairs>
  <TitlesOfParts>
    <vt:vector size="54" baseType="lpstr">
      <vt:lpstr>-apple-system</vt:lpstr>
      <vt:lpstr>等线</vt:lpstr>
      <vt:lpstr>Crimson Text</vt:lpstr>
      <vt:lpstr>CrimsonText-Bold</vt:lpstr>
      <vt:lpstr>CrimsonText-BoldItalic</vt:lpstr>
      <vt:lpstr>Museo Sans</vt:lpstr>
      <vt:lpstr>NimbusRomDOT-Reg</vt:lpstr>
      <vt:lpstr>Arial</vt:lpstr>
      <vt:lpstr>Inconsolata</vt:lpstr>
      <vt:lpstr>Wingdings</vt:lpstr>
      <vt:lpstr>Office 主题​​</vt:lpstr>
      <vt:lpstr>Hash Indices</vt:lpstr>
      <vt:lpstr>Hash Table</vt:lpstr>
      <vt:lpstr>Static Hash Table</vt:lpstr>
      <vt:lpstr>Hash Table</vt:lpstr>
      <vt:lpstr>Hash Functions</vt:lpstr>
      <vt:lpstr>Hash Functions</vt:lpstr>
      <vt:lpstr>Hash Function Benchmark</vt:lpstr>
      <vt:lpstr>Hashing Schemes</vt:lpstr>
      <vt:lpstr>Chained Hashing</vt:lpstr>
      <vt:lpstr>Chained Hashing</vt:lpstr>
      <vt:lpstr>Linear Probe Hashing</vt:lpstr>
      <vt:lpstr>Linear Probe Hashing</vt:lpstr>
      <vt:lpstr>Robin Hood Hashing</vt:lpstr>
      <vt:lpstr>Linear Probe Hashing</vt:lpstr>
      <vt:lpstr>Linear Probe Hashing</vt:lpstr>
      <vt:lpstr>Cuckoo Hashing</vt:lpstr>
      <vt:lpstr>Cuckoo Hashing</vt:lpstr>
      <vt:lpstr>Cuckoo Hashing</vt:lpstr>
      <vt:lpstr>Extendible Hashing</vt:lpstr>
      <vt:lpstr>Extendable Hashing</vt:lpstr>
      <vt:lpstr>Extendable Hashing</vt:lpstr>
      <vt:lpstr>Extendable Hashing</vt:lpstr>
      <vt:lpstr>Extendable Hashing</vt:lpstr>
      <vt:lpstr>Extendable Hashing</vt:lpstr>
      <vt:lpstr>Linear Hashing</vt:lpstr>
      <vt:lpstr>Linear Hashing</vt:lpstr>
      <vt:lpstr>Linear Hashing</vt:lpstr>
      <vt:lpstr>Linear Hashing</vt:lpstr>
      <vt:lpstr>Linear Hashing</vt:lpstr>
      <vt:lpstr>Linear Hashing</vt:lpstr>
      <vt:lpstr>Linear Hashing</vt:lpstr>
      <vt:lpstr>Linear Hashing</vt:lpstr>
      <vt:lpstr>Linear Hashing</vt:lpstr>
      <vt:lpstr>Linear Hashing</vt:lpstr>
      <vt:lpstr>Linear Hashing</vt:lpstr>
      <vt:lpstr>Other Type Indices</vt:lpstr>
      <vt:lpstr>Comparison of Ordered and Hashing</vt:lpstr>
      <vt:lpstr>Covering indices</vt:lpstr>
      <vt:lpstr>Write Optimized Indices</vt:lpstr>
      <vt:lpstr>Log Structured Merge (LSM) Tree</vt:lpstr>
      <vt:lpstr>LSM Tree </vt:lpstr>
      <vt:lpstr>Buffer Tree</vt:lpstr>
      <vt:lpstr>Bitmap Indices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Xueqing Gong</dc:creator>
  <cp:lastModifiedBy>Junjie Yao</cp:lastModifiedBy>
  <cp:revision>531</cp:revision>
  <dcterms:created xsi:type="dcterms:W3CDTF">2019-10-29T09:57:08Z</dcterms:created>
  <dcterms:modified xsi:type="dcterms:W3CDTF">2024-05-08T00:34:19Z</dcterms:modified>
</cp:coreProperties>
</file>