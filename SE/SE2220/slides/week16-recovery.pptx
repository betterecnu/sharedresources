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9" r:id="rId1"/>
  </p:sldMasterIdLst>
  <p:notesMasterIdLst>
    <p:notesMasterId r:id="rId49"/>
  </p:notesMasterIdLst>
  <p:sldIdLst>
    <p:sldId id="256" r:id="rId2"/>
    <p:sldId id="417" r:id="rId3"/>
    <p:sldId id="260" r:id="rId4"/>
    <p:sldId id="263" r:id="rId5"/>
    <p:sldId id="262" r:id="rId6"/>
    <p:sldId id="265" r:id="rId7"/>
    <p:sldId id="318" r:id="rId8"/>
    <p:sldId id="266" r:id="rId9"/>
    <p:sldId id="267" r:id="rId10"/>
    <p:sldId id="418" r:id="rId11"/>
    <p:sldId id="419" r:id="rId12"/>
    <p:sldId id="272" r:id="rId13"/>
    <p:sldId id="273" r:id="rId14"/>
    <p:sldId id="420" r:id="rId15"/>
    <p:sldId id="271" r:id="rId16"/>
    <p:sldId id="275" r:id="rId17"/>
    <p:sldId id="276" r:id="rId18"/>
    <p:sldId id="285" r:id="rId19"/>
    <p:sldId id="286" r:id="rId20"/>
    <p:sldId id="287" r:id="rId21"/>
    <p:sldId id="421" r:id="rId22"/>
    <p:sldId id="288" r:id="rId23"/>
    <p:sldId id="422" r:id="rId24"/>
    <p:sldId id="424" r:id="rId25"/>
    <p:sldId id="425" r:id="rId26"/>
    <p:sldId id="426" r:id="rId27"/>
    <p:sldId id="427" r:id="rId28"/>
    <p:sldId id="428" r:id="rId29"/>
    <p:sldId id="429" r:id="rId30"/>
    <p:sldId id="430" r:id="rId31"/>
    <p:sldId id="431" r:id="rId32"/>
    <p:sldId id="432" r:id="rId33"/>
    <p:sldId id="434" r:id="rId34"/>
    <p:sldId id="436" r:id="rId35"/>
    <p:sldId id="437" r:id="rId36"/>
    <p:sldId id="291" r:id="rId37"/>
    <p:sldId id="292" r:id="rId38"/>
    <p:sldId id="408" r:id="rId39"/>
    <p:sldId id="409" r:id="rId40"/>
    <p:sldId id="410" r:id="rId41"/>
    <p:sldId id="411" r:id="rId42"/>
    <p:sldId id="412" r:id="rId43"/>
    <p:sldId id="413" r:id="rId44"/>
    <p:sldId id="261" r:id="rId45"/>
    <p:sldId id="415" r:id="rId46"/>
    <p:sldId id="414" r:id="rId47"/>
    <p:sldId id="416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  <a:srgbClr val="B2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0755" autoAdjust="0"/>
  </p:normalViewPr>
  <p:slideViewPr>
    <p:cSldViewPr snapToGrid="0">
      <p:cViewPr varScale="1">
        <p:scale>
          <a:sx n="128" d="100"/>
          <a:sy n="128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C7C27-0E44-4290-A7B1-6D6F9A15BBB6}" type="datetimeFigureOut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581F6-8C05-464A-A316-5949FBD120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886992" y="0"/>
            <a:ext cx="2971009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886992" y="8686404"/>
            <a:ext cx="2971009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993" tIns="0" rIns="18993" bIns="0" anchor="b">
            <a:prstTxWarp prst="textNoShape">
              <a:avLst/>
            </a:prstTxWarp>
          </a:bodyPr>
          <a:lstStyle/>
          <a:p>
            <a:pPr algn="r" defTabSz="914822"/>
            <a:r>
              <a:rPr lang="en-US" sz="1000" i="1" dirty="0">
                <a:latin typeface="Book Antiqua" charset="0"/>
              </a:rPr>
              <a:t>7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" y="8686404"/>
            <a:ext cx="2972591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" y="0"/>
            <a:ext cx="2972591" cy="45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166" tIns="45583" rIns="91166" bIns="45583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9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391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04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25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27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48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27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94964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86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89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096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30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301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325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529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4BF3913C-03C0-4DD1-8A1E-2EA9FC276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3667967"/>
            <a:ext cx="3175000" cy="2921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26640F0-29EB-4D05-984D-60BE6FED0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ACE81C-946D-4E24-981F-5DE21BD5D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7B225-EE9E-434E-AD70-00CDCB0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0ED2-80C6-4B4B-8291-EB8B971E6DC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3649B8-B927-47AF-82EB-5F59ED1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73DF2-AF77-44AD-B985-9A5CFC79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A7EC1-AE80-4979-A7D6-C87185D6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284FD-8087-4D82-8FD3-8F055885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447675" indent="-447675">
              <a:buClr>
                <a:srgbClr val="FF0000"/>
              </a:buClr>
              <a:buFont typeface="Wingdings" panose="05000000000000000000" pitchFamily="2" charset="2"/>
              <a:buChar char="p"/>
              <a:defRPr/>
            </a:lvl1pPr>
            <a:lvl2pPr marL="808038" indent="-350838">
              <a:buClr>
                <a:srgbClr val="0066FF"/>
              </a:buClr>
              <a:buFont typeface="Wingdings" panose="05000000000000000000" pitchFamily="2" charset="2"/>
              <a:buChar char="l"/>
              <a:defRPr/>
            </a:lvl2pPr>
            <a:lvl3pPr marL="1254125" indent="-339725">
              <a:buClr>
                <a:srgbClr val="00B050"/>
              </a:buClr>
              <a:buSzPct val="60000"/>
              <a:buFont typeface="Wingdings" panose="05000000000000000000" pitchFamily="2" charset="2"/>
              <a:buChar char="u"/>
              <a:defRPr/>
            </a:lvl3pPr>
            <a:lvl4pPr marL="1616075" indent="-244475">
              <a:buClr>
                <a:srgbClr val="7030A0"/>
              </a:buClr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6126D6-36F6-41DF-A825-F1E8FBB9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6A0B-377F-48BD-9C2A-525922EF769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6CEFF-0837-4190-9625-9533CCD6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5D5BF-5D06-45F3-8ED0-281B61D3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 descr="http://old.ecnu.edu.cn/site/identity/images/a4.gif">
            <a:extLst>
              <a:ext uri="{FF2B5EF4-FFF2-40B4-BE49-F238E27FC236}">
                <a16:creationId xmlns:a16="http://schemas.microsoft.com/office/drawing/2014/main" id="{5595DAAA-AB55-4A84-ADB5-02FA029E12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099" y="371597"/>
            <a:ext cx="1325561" cy="132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1F915F-2E6C-4469-BE1B-3DEED6DFAA85}"/>
              </a:ext>
            </a:extLst>
          </p:cNvPr>
          <p:cNvCxnSpPr>
            <a:cxnSpLocks/>
          </p:cNvCxnSpPr>
          <p:nvPr userDrawn="1"/>
        </p:nvCxnSpPr>
        <p:spPr>
          <a:xfrm>
            <a:off x="850640" y="1573762"/>
            <a:ext cx="9680497" cy="0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D48080-F667-4226-B356-BBC3C92937C4}"/>
              </a:ext>
            </a:extLst>
          </p:cNvPr>
          <p:cNvCxnSpPr>
            <a:cxnSpLocks/>
          </p:cNvCxnSpPr>
          <p:nvPr userDrawn="1"/>
        </p:nvCxnSpPr>
        <p:spPr>
          <a:xfrm>
            <a:off x="5257006" y="1639083"/>
            <a:ext cx="6049352" cy="0"/>
          </a:xfrm>
          <a:prstGeom prst="line">
            <a:avLst/>
          </a:prstGeom>
          <a:ln w="50800">
            <a:solidFill>
              <a:srgbClr val="B20537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B1E1CF1-8B7F-4EA2-92C8-2B4817076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996904" y="1583091"/>
            <a:ext cx="309454" cy="1"/>
          </a:xfrm>
          <a:prstGeom prst="line">
            <a:avLst/>
          </a:prstGeom>
          <a:ln w="25400">
            <a:solidFill>
              <a:srgbClr val="B205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59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4DB1-E92B-4113-82FE-530FDCC6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D509C0-436C-468D-B618-A02B7C51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C0C03-EC12-4489-B7B6-4F2A8231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8295-EE61-463F-BB1D-01875930AE2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DFF40-9B68-4F2F-8CD0-7AAE71E00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A13B-154D-4455-B12D-03EFA34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F1D83-F900-45B8-B37E-052B07F3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78C22-1F69-43ED-95E7-FF654B3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8B764C-5F12-4AC1-B7A8-98C672330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E8530-CA80-4659-8EEC-3FAABA20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21EA-5F61-4E49-AEC4-DB5854E4B01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F6450F-45CB-43FD-8482-8DB88379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DCE72-5275-43EA-ABE5-F76BFF0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2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D0A51B-BC75-4FCA-9436-EF78B564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B5BBD-D06F-4A36-B7A2-701789111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97B718-9D21-42BC-8681-01DA5D7DC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78318-E4A8-4C85-B659-5222495A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D809B-D7DF-4155-97EB-8E179A20D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D92687-48A0-4338-800A-C5DFDD7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E14F6-A113-4B1C-82EA-DA11285065D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E863C7-5439-4EF1-A21D-5E53501C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4E9EC9-403E-4D16-B568-9A9A4CB33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67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F30F9-6409-4212-89F8-11CDA167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7F5E84-DD0E-408A-BF4D-15867859F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46972-B155-4C44-A72A-D106A92C8451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1CA323-9181-44B4-85A3-3C2F7D11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3F7471-B90E-467F-910F-52202B78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52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A7D63A-5BFD-499F-B3EA-463127E6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DC86-9E3F-4878-BA59-296D7530B3E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E59A3-DD05-4D90-96DC-686CB517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4B72-0D71-4D0F-BB90-83EAA438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9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5C962-3DDF-4D21-8468-6B248102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3BD7E-88DC-4D87-BF3D-D55FF0186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E8564-7092-4141-AD63-AAC23E8B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893888-8F45-487B-923D-D4472215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5941B-F564-44AD-A90E-8008434F62D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44FAC-6EEA-44B4-A4F1-653CB1CA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3FA2B3-11DB-4BEE-84C8-2311B0A2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6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FA414-D77C-4B82-8529-656C313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31F53-4CC4-46DC-8E70-3572E64FB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67C09-3FA3-4589-B78F-DCBEAED52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89F04E-67F4-4F68-B37D-A00A57E9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3FA0-3AE9-4D92-9A53-C70576640AA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ECEA-4528-4530-A522-778BBB9C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C5F91-AAED-4F20-AF2C-9D1FF649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3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6D1D9-B232-4A42-AB69-863156B1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3A2D74-7775-4D3C-9091-9BAA39C8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2DD2D-FDAC-4A32-B731-E3842FF1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BB638-2995-4000-8CF9-9ECEB476584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9388B-1355-49B2-B918-3CEE22470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7334B-18F2-480F-8F95-682C88A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4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B35CB8-CD11-431D-8FCF-85C153D2E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EF1E3-5F13-4B29-B438-6C1D20D6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A534A-6E71-4D12-AD85-7E28669D1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4861-CDB3-4788-9B99-32C62370B5A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D16A3-5950-48B1-80C7-09517A34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AEE19-5033-4C14-A64A-F63DEA78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9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8034C-A9C2-4DAC-9DB6-29CEC9FA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F32A96-A572-45D8-B504-F225478C5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144EE8-4BFD-44E6-ACC4-C609EAA85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6BF512F-AB6E-45C9-8F8A-8B3A8015F488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B2F3-D1DF-4CD8-BACC-8EA9D9565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03E20-0C80-4229-8EE6-4E74029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E75A79-C12E-4282-8451-1BC984B858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1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47675" indent="-447675" algn="l" defTabSz="914400" rtl="0" eaLnBrk="1" latinLnBrk="0" hangingPunct="1">
        <a:lnSpc>
          <a:spcPct val="90000"/>
        </a:lnSpc>
        <a:spcBef>
          <a:spcPts val="1000"/>
        </a:spcBef>
        <a:buClr>
          <a:srgbClr val="FF0000"/>
        </a:buClr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rgbClr val="0066FF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1800" indent="-330200" algn="l" defTabSz="914400" rtl="0" eaLnBrk="1" latinLnBrk="0" hangingPunct="1">
        <a:lnSpc>
          <a:spcPct val="90000"/>
        </a:lnSpc>
        <a:spcBef>
          <a:spcPts val="500"/>
        </a:spcBef>
        <a:buClr>
          <a:srgbClr val="00B0F0"/>
        </a:buClr>
        <a:buSzPct val="80000"/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54238" indent="-3254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91A7B-F351-49FF-9E1D-E0348C33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89" y="1047719"/>
            <a:ext cx="10152736" cy="1344608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Database Recovery</a:t>
            </a:r>
            <a:endParaRPr lang="zh-CN" altLang="en-US" sz="4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B5AC91-97D4-4848-9A24-2C940C7DC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7644"/>
            <a:ext cx="9144000" cy="1055818"/>
          </a:xfrm>
        </p:spPr>
        <p:txBody>
          <a:bodyPr>
            <a:normAutofit/>
          </a:bodyPr>
          <a:lstStyle/>
          <a:p>
            <a:r>
              <a:rPr lang="en-US" altLang="zh-CN"/>
              <a:t>SEI.ECNU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1434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75728-F4A0-493D-A681-F251751E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ARIES Algorithm</a:t>
            </a:r>
            <a:endParaRPr lang="zh-CN" altLang="en-US" sz="48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F5EA43-6878-4EDF-8218-5E1C0DEF3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F6BBC-5C4E-4366-9131-0AF8B35D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8383-4302-4251-9376-E1A893858FBC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939ACA-EAD4-49B9-8FCE-68130C9E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AC014-7039-4F30-960A-6AA38B6E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5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E7509-0229-4100-9560-F01EB6AD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Disk-oriented Logging &amp; Recovery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8B3046-F574-4E93-9B9F-26B398F23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The “gold standard” for physical logging &amp; recovery in a disk-oriented DBMS is </a:t>
            </a:r>
            <a:r>
              <a:rPr lang="en-US" altLang="zh-CN" b="1" dirty="0">
                <a:solidFill>
                  <a:srgbClr val="00B050"/>
                </a:solidFill>
              </a:rPr>
              <a:t>ARIES</a:t>
            </a:r>
            <a:r>
              <a:rPr lang="en-US" altLang="zh-CN" dirty="0"/>
              <a:t>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lgorithms for 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ecovery and </a:t>
            </a:r>
            <a:r>
              <a:rPr lang="en-US" altLang="zh-CN" b="1" dirty="0">
                <a:solidFill>
                  <a:srgbClr val="FF0000"/>
                </a:solidFill>
              </a:rPr>
              <a:t>I</a:t>
            </a:r>
            <a:r>
              <a:rPr lang="en-US" altLang="zh-CN" dirty="0"/>
              <a:t>solation </a:t>
            </a:r>
            <a:r>
              <a:rPr lang="en-US" altLang="zh-CN" b="1" dirty="0">
                <a:solidFill>
                  <a:srgbClr val="FF0000"/>
                </a:solidFill>
              </a:rPr>
              <a:t>E</a:t>
            </a:r>
            <a:r>
              <a:rPr lang="en-US" altLang="zh-CN" dirty="0"/>
              <a:t>xploiting 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emantics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Invented by IBM Research in the early 1990s.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Relies on </a:t>
            </a:r>
            <a:r>
              <a:rPr lang="en-US" altLang="zh-CN" b="1" dirty="0">
                <a:solidFill>
                  <a:srgbClr val="00B050"/>
                </a:solidFill>
              </a:rPr>
              <a:t>STEAL</a:t>
            </a:r>
            <a:r>
              <a:rPr lang="en-US" altLang="zh-CN" dirty="0"/>
              <a:t> and </a:t>
            </a:r>
            <a:r>
              <a:rPr lang="en-US" altLang="zh-CN" b="1" dirty="0">
                <a:solidFill>
                  <a:srgbClr val="00B050"/>
                </a:solidFill>
              </a:rPr>
              <a:t>NO-FORCE</a:t>
            </a:r>
            <a:r>
              <a:rPr lang="en-US" altLang="zh-CN" dirty="0"/>
              <a:t> buffer pool management policies.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A6E324-2270-43B2-BCDF-6BFE56351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863E1-370C-4FEF-A950-49CE33F5C89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465820-FED5-4831-BAFC-76923914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10DBF3-4311-48AA-B3CB-CA5EDC62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D68344-8998-4B93-BF1F-48FF4CFA24E3}"/>
              </a:ext>
            </a:extLst>
          </p:cNvPr>
          <p:cNvSpPr/>
          <p:nvPr/>
        </p:nvSpPr>
        <p:spPr>
          <a:xfrm>
            <a:off x="707065" y="5710019"/>
            <a:ext cx="92751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ARIES: A TRANSACTION RECOVERY METHOD SUPPORTING FINE-GRANULARITY LOCKING </a:t>
            </a:r>
          </a:p>
          <a:p>
            <a:r>
              <a:rPr lang="en-US" altLang="zh-CN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PARTIAL ROLLBACKS USING WRITE-AHEAD LOGGING</a:t>
            </a:r>
          </a:p>
          <a:p>
            <a:r>
              <a:rPr lang="en-US" altLang="zh-CN" sz="1200" dirty="0">
                <a:solidFill>
                  <a:srgbClr val="8181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ACM Transactions on Database Systems 1992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18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Execution History</a:t>
            </a:r>
          </a:p>
        </p:txBody>
      </p:sp>
      <p:cxnSp>
        <p:nvCxnSpPr>
          <p:cNvPr id="5" name="Straight Connector 4"/>
          <p:cNvCxnSpPr/>
          <p:nvPr/>
        </p:nvCxnSpPr>
        <p:spPr>
          <a:xfrm rot="5400000">
            <a:off x="5011323" y="3930289"/>
            <a:ext cx="363736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4800" y="2356156"/>
            <a:ext cx="353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Update</a:t>
            </a:r>
            <a:r>
              <a:rPr lang="en-US" sz="2400" dirty="0"/>
              <a:t>: T1 writes P5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700480" y="2629940"/>
            <a:ext cx="259046" cy="12173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0484" y="2371268"/>
            <a:ext cx="116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10</a:t>
            </a:r>
          </a:p>
        </p:txBody>
      </p:sp>
      <p:grpSp>
        <p:nvGrpSpPr>
          <p:cNvPr id="3" name="Group 32"/>
          <p:cNvGrpSpPr/>
          <p:nvPr/>
        </p:nvGrpSpPr>
        <p:grpSpPr>
          <a:xfrm>
            <a:off x="5589688" y="2928811"/>
            <a:ext cx="5023092" cy="473838"/>
            <a:chOff x="2850772" y="2684263"/>
            <a:chExt cx="4697134" cy="473838"/>
          </a:xfrm>
        </p:grpSpPr>
        <p:sp>
          <p:nvSpPr>
            <p:cNvPr id="9" name="TextBox 8"/>
            <p:cNvSpPr txBox="1"/>
            <p:nvPr/>
          </p:nvSpPr>
          <p:spPr>
            <a:xfrm>
              <a:off x="4340664" y="2696436"/>
              <a:ext cx="32072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Update</a:t>
              </a:r>
              <a:r>
                <a:rPr lang="en-US" sz="2400" dirty="0"/>
                <a:t>: T2 writes P3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 flipV="1">
              <a:off x="3894890" y="2945873"/>
              <a:ext cx="259046" cy="12173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850772" y="2684263"/>
              <a:ext cx="1167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20</a:t>
              </a:r>
            </a:p>
          </p:txBody>
        </p:sp>
      </p:grpSp>
      <p:grpSp>
        <p:nvGrpSpPr>
          <p:cNvPr id="4" name="Group 33"/>
          <p:cNvGrpSpPr/>
          <p:nvPr/>
        </p:nvGrpSpPr>
        <p:grpSpPr>
          <a:xfrm>
            <a:off x="5642832" y="3475913"/>
            <a:ext cx="4699210" cy="504377"/>
            <a:chOff x="2848696" y="3231366"/>
            <a:chExt cx="4699210" cy="504377"/>
          </a:xfrm>
        </p:grpSpPr>
        <p:sp>
          <p:nvSpPr>
            <p:cNvPr id="15" name="TextBox 14"/>
            <p:cNvSpPr txBox="1"/>
            <p:nvPr/>
          </p:nvSpPr>
          <p:spPr>
            <a:xfrm>
              <a:off x="2848696" y="3231366"/>
              <a:ext cx="1167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30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 flipV="1">
              <a:off x="3906344" y="3568754"/>
              <a:ext cx="259046" cy="12173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340664" y="3274078"/>
              <a:ext cx="32072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T2 </a:t>
              </a:r>
              <a:r>
                <a:rPr lang="en-US" sz="2400" b="1" dirty="0"/>
                <a:t>Commit</a:t>
              </a:r>
            </a:p>
          </p:txBody>
        </p:sp>
      </p:grpSp>
      <p:grpSp>
        <p:nvGrpSpPr>
          <p:cNvPr id="7" name="Group 34"/>
          <p:cNvGrpSpPr/>
          <p:nvPr/>
        </p:nvGrpSpPr>
        <p:grpSpPr>
          <a:xfrm>
            <a:off x="5642832" y="3945602"/>
            <a:ext cx="4716374" cy="502524"/>
            <a:chOff x="2848696" y="3701054"/>
            <a:chExt cx="4716374" cy="502524"/>
          </a:xfrm>
        </p:grpSpPr>
        <p:sp>
          <p:nvSpPr>
            <p:cNvPr id="16" name="TextBox 15"/>
            <p:cNvSpPr txBox="1"/>
            <p:nvPr/>
          </p:nvSpPr>
          <p:spPr>
            <a:xfrm>
              <a:off x="2848696" y="3701054"/>
              <a:ext cx="1167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40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 flipV="1">
              <a:off x="3904268" y="4020684"/>
              <a:ext cx="259046" cy="12173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357828" y="3741913"/>
              <a:ext cx="32072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T2 </a:t>
              </a:r>
              <a:r>
                <a:rPr lang="en-US" sz="2400" b="1" dirty="0"/>
                <a:t>End</a:t>
              </a:r>
            </a:p>
          </p:txBody>
        </p:sp>
      </p:grpSp>
      <p:cxnSp>
        <p:nvCxnSpPr>
          <p:cNvPr id="24" name="Straight Connector 23"/>
          <p:cNvCxnSpPr/>
          <p:nvPr/>
        </p:nvCxnSpPr>
        <p:spPr>
          <a:xfrm flipV="1">
            <a:off x="6681240" y="4852108"/>
            <a:ext cx="259046" cy="12173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35"/>
          <p:cNvGrpSpPr/>
          <p:nvPr/>
        </p:nvGrpSpPr>
        <p:grpSpPr>
          <a:xfrm>
            <a:off x="5625668" y="4573337"/>
            <a:ext cx="4987112" cy="489450"/>
            <a:chOff x="2831532" y="4328789"/>
            <a:chExt cx="4987112" cy="489450"/>
          </a:xfrm>
        </p:grpSpPr>
        <p:sp>
          <p:nvSpPr>
            <p:cNvPr id="22" name="TextBox 21"/>
            <p:cNvSpPr txBox="1"/>
            <p:nvPr/>
          </p:nvSpPr>
          <p:spPr>
            <a:xfrm>
              <a:off x="2831532" y="4356574"/>
              <a:ext cx="1167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50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40664" y="4328789"/>
              <a:ext cx="3477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Update</a:t>
              </a:r>
              <a:r>
                <a:rPr lang="en-US" sz="2400" dirty="0"/>
                <a:t>: T3 writes P1</a:t>
              </a:r>
            </a:p>
          </p:txBody>
        </p:sp>
      </p:grpSp>
      <p:grpSp>
        <p:nvGrpSpPr>
          <p:cNvPr id="21" name="Group 36"/>
          <p:cNvGrpSpPr/>
          <p:nvPr/>
        </p:nvGrpSpPr>
        <p:grpSpPr>
          <a:xfrm>
            <a:off x="5625668" y="5160212"/>
            <a:ext cx="4987112" cy="472289"/>
            <a:chOff x="2831532" y="4915665"/>
            <a:chExt cx="4987112" cy="472289"/>
          </a:xfrm>
        </p:grpSpPr>
        <p:sp>
          <p:nvSpPr>
            <p:cNvPr id="28" name="TextBox 27"/>
            <p:cNvSpPr txBox="1"/>
            <p:nvPr/>
          </p:nvSpPr>
          <p:spPr>
            <a:xfrm>
              <a:off x="2831532" y="4926289"/>
              <a:ext cx="1167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60</a:t>
              </a:r>
            </a:p>
          </p:txBody>
        </p:sp>
        <p:cxnSp>
          <p:nvCxnSpPr>
            <p:cNvPr id="29" name="Straight Connector 28"/>
            <p:cNvCxnSpPr/>
            <p:nvPr/>
          </p:nvCxnSpPr>
          <p:spPr>
            <a:xfrm flipV="1">
              <a:off x="3904268" y="5194436"/>
              <a:ext cx="259046" cy="12173"/>
            </a:xfrm>
            <a:prstGeom prst="line">
              <a:avLst/>
            </a:prstGeom>
            <a:ln w="63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340664" y="4915665"/>
              <a:ext cx="3477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Update</a:t>
              </a:r>
              <a:r>
                <a:rPr lang="en-US" sz="2400" dirty="0"/>
                <a:t>: T3 writes P3</a:t>
              </a:r>
            </a:p>
          </p:txBody>
        </p:sp>
      </p:grpSp>
      <p:sp>
        <p:nvSpPr>
          <p:cNvPr id="32" name="Lightning Bolt 31"/>
          <p:cNvSpPr/>
          <p:nvPr/>
        </p:nvSpPr>
        <p:spPr>
          <a:xfrm>
            <a:off x="6418163" y="5332933"/>
            <a:ext cx="701947" cy="902305"/>
          </a:xfrm>
          <a:prstGeom prst="lightningBolt">
            <a:avLst/>
          </a:prstGeom>
          <a:gradFill flip="none" rotWithShape="1">
            <a:gsLst>
              <a:gs pos="0">
                <a:srgbClr val="FFFF00"/>
              </a:gs>
              <a:gs pos="100000">
                <a:srgbClr val="FFFFFF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1">
                    <a:shade val="95000"/>
                    <a:satMod val="105000"/>
                  </a:schemeClr>
                </a:gs>
                <a:gs pos="100000">
                  <a:srgbClr val="FFFFFF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5982442" y="5749764"/>
            <a:ext cx="4205124" cy="615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69850" h="38100" prst="cross"/>
            </a:sp3d>
          </a:bodyPr>
          <a:lstStyle/>
          <a:p>
            <a:pPr algn="ctr"/>
            <a:r>
              <a:rPr lang="en-US" sz="3400" b="1" dirty="0">
                <a:solidFill>
                  <a:srgbClr val="FF0000"/>
                </a:solidFill>
                <a:effectLst>
                  <a:glow rad="101600">
                    <a:srgbClr val="FFFF00">
                      <a:alpha val="75000"/>
                    </a:srgbClr>
                  </a:glow>
                  <a:reflection stA="50000" endPos="75000" dist="12700" dir="5400000" sy="-100000" algn="bl" rotWithShape="0"/>
                </a:effectLst>
              </a:rPr>
              <a:t>CRASH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2142958"/>
            <a:ext cx="4348900" cy="1200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/>
              <a:t>Analysis: </a:t>
            </a:r>
            <a:r>
              <a:rPr lang="en-US" sz="2400" dirty="0"/>
              <a:t>Identify </a:t>
            </a:r>
            <a:r>
              <a:rPr lang="en-US" sz="2400" b="1" dirty="0">
                <a:solidFill>
                  <a:srgbClr val="00B0F0"/>
                </a:solidFill>
              </a:rPr>
              <a:t>dirty pages </a:t>
            </a:r>
            <a:r>
              <a:rPr lang="en-US" sz="2400" dirty="0"/>
              <a:t>in the buffer pool at time of crash and </a:t>
            </a:r>
            <a:r>
              <a:rPr lang="en-US" sz="2400" b="1" dirty="0">
                <a:solidFill>
                  <a:srgbClr val="00B0F0"/>
                </a:solidFill>
              </a:rPr>
              <a:t>active </a:t>
            </a:r>
            <a:r>
              <a:rPr lang="en-US" sz="2400" b="1" dirty="0" err="1">
                <a:solidFill>
                  <a:srgbClr val="00B0F0"/>
                </a:solidFill>
              </a:rPr>
              <a:t>TXs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8200" y="3619636"/>
            <a:ext cx="434890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/>
              <a:t>Redo: </a:t>
            </a:r>
            <a:r>
              <a:rPr lang="en-US" sz="2400" dirty="0"/>
              <a:t>Redo all the writes (even if they didn’t go to disk!)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674347"/>
            <a:ext cx="434731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/>
              <a:t>Undo: </a:t>
            </a:r>
            <a:r>
              <a:rPr lang="en-US" sz="2400" dirty="0"/>
              <a:t>Which transactions need to be aborted?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9688" y="1773855"/>
            <a:ext cx="3417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og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equence </a:t>
            </a:r>
            <a:r>
              <a:rPr lang="en-US" sz="14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umber</a:t>
            </a:r>
          </a:p>
        </p:txBody>
      </p:sp>
      <p:sp>
        <p:nvSpPr>
          <p:cNvPr id="23" name="日期占位符 22">
            <a:extLst>
              <a:ext uri="{FF2B5EF4-FFF2-40B4-BE49-F238E27FC236}">
                <a16:creationId xmlns:a16="http://schemas.microsoft.com/office/drawing/2014/main" id="{2DF7DD51-ACC4-4C7E-9B59-32300452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DE22-C2B4-453F-82CE-74500458697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26" name="页脚占位符 25">
            <a:extLst>
              <a:ext uri="{FF2B5EF4-FFF2-40B4-BE49-F238E27FC236}">
                <a16:creationId xmlns:a16="http://schemas.microsoft.com/office/drawing/2014/main" id="{6DF35F31-A3AD-45E3-9C9A-70144B9B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0EAAAC20-DF27-430F-A993-2D725C1A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32" grpId="0" animBg="1"/>
      <p:bldP spid="38" grpId="0"/>
      <p:bldP spid="40" grpId="0" animBg="1"/>
      <p:bldP spid="41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Recovering From a Crash: Aries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92595"/>
            <a:ext cx="10437628" cy="4268972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Main Idea: </a:t>
            </a:r>
            <a:r>
              <a:rPr lang="en-US" i="1" dirty="0"/>
              <a:t>Repeat history using the log</a:t>
            </a:r>
            <a:r>
              <a:rPr lang="en-US" dirty="0"/>
              <a:t>. 3 Phases.</a:t>
            </a:r>
          </a:p>
          <a:p>
            <a:pPr marL="971550" lvl="1" indent="-514350">
              <a:lnSpc>
                <a:spcPct val="10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200" b="1" u="sng" dirty="0"/>
              <a:t>Analysis</a:t>
            </a:r>
            <a:r>
              <a:rPr lang="en-US" sz="3200" dirty="0"/>
              <a:t>: Find the earliest transactions that were active at the time of the crash</a:t>
            </a:r>
          </a:p>
          <a:p>
            <a:pPr marL="971550" lvl="1" indent="-514350">
              <a:lnSpc>
                <a:spcPct val="10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200" b="1" u="sng" dirty="0"/>
              <a:t>Redo</a:t>
            </a:r>
            <a:r>
              <a:rPr lang="en-US" sz="3200" dirty="0"/>
              <a:t>: Put the DB back into the state at the time of the crash by redoing operations in the log.</a:t>
            </a:r>
          </a:p>
          <a:p>
            <a:pPr marL="971550" lvl="1" indent="-514350">
              <a:lnSpc>
                <a:spcPct val="10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200" b="1" u="sng" dirty="0"/>
              <a:t>Undo:</a:t>
            </a:r>
            <a:r>
              <a:rPr lang="en-US" sz="3200" dirty="0"/>
              <a:t> Abort those </a:t>
            </a:r>
            <a:r>
              <a:rPr lang="en-US" sz="3200" dirty="0" err="1"/>
              <a:t>TXs</a:t>
            </a:r>
            <a:r>
              <a:rPr lang="en-US" sz="3200" dirty="0"/>
              <a:t> still in flight!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44AEE8-3ED5-4A13-9C10-742860DF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C88C-D3E8-4A6D-9091-3A66CE3FC82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8F11BA-4F31-4A78-A5F6-BBC8267B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8B9859-7A80-4DE2-B14B-07FB0422E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Basic Idea: Logging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859902"/>
            <a:ext cx="10515600" cy="4197998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Record REDO and UNDO  for every update, in a </a:t>
            </a:r>
            <a:r>
              <a:rPr lang="en-US" i="1" dirty="0"/>
              <a:t>log.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Sequential writes to log (</a:t>
            </a:r>
            <a:r>
              <a:rPr lang="en-US" b="1" u="sng" dirty="0">
                <a:solidFill>
                  <a:srgbClr val="00B050"/>
                </a:solidFill>
              </a:rPr>
              <a:t>put it on a separate disk</a:t>
            </a:r>
            <a:r>
              <a:rPr lang="en-US" dirty="0"/>
              <a:t>).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Minimal info (diff) written to log, so multiple updates fit in a single log page.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u="sng" dirty="0"/>
              <a:t>Log</a:t>
            </a:r>
            <a:r>
              <a:rPr lang="en-US" dirty="0"/>
              <a:t>: An ordered list of REDO/UNDO actions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Log record contains: 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en-US" sz="2400" dirty="0">
                <a:solidFill>
                  <a:srgbClr val="0000FF"/>
                </a:solidFill>
              </a:rPr>
              <a:t>&lt;XID, </a:t>
            </a:r>
            <a:r>
              <a:rPr lang="en-US" sz="2400" dirty="0" err="1">
                <a:solidFill>
                  <a:srgbClr val="0000FF"/>
                </a:solidFill>
              </a:rPr>
              <a:t>pageID</a:t>
            </a:r>
            <a:r>
              <a:rPr lang="en-US" sz="2400" dirty="0">
                <a:solidFill>
                  <a:srgbClr val="0000FF"/>
                </a:solidFill>
              </a:rPr>
              <a:t>, offset, length, old data, new data&gt;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and additional control info (which we’ll see soon).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A7B619-BD01-44E5-A19E-A2244A12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4BA7C-C94B-454D-941D-59A87A45357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E88ACA-D4DF-44F5-98A6-DBE0D38F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E0FADD-8F85-4B49-B230-E415DA91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Structures of ARIES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89757-0CC3-45F1-A692-2D963EFE4E88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流程图: 磁盘 6">
            <a:extLst>
              <a:ext uri="{FF2B5EF4-FFF2-40B4-BE49-F238E27FC236}">
                <a16:creationId xmlns:a16="http://schemas.microsoft.com/office/drawing/2014/main" id="{AC123747-3D48-4320-A041-E9586F81C2B2}"/>
              </a:ext>
            </a:extLst>
          </p:cNvPr>
          <p:cNvSpPr/>
          <p:nvPr/>
        </p:nvSpPr>
        <p:spPr>
          <a:xfrm>
            <a:off x="8160684" y="4115027"/>
            <a:ext cx="3020494" cy="2374996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054E9C-AF36-49B6-9E5F-DB018132B9F3}"/>
              </a:ext>
            </a:extLst>
          </p:cNvPr>
          <p:cNvGrpSpPr/>
          <p:nvPr/>
        </p:nvGrpSpPr>
        <p:grpSpPr>
          <a:xfrm>
            <a:off x="4549970" y="4167639"/>
            <a:ext cx="2716695" cy="2181915"/>
            <a:chOff x="4549970" y="4167639"/>
            <a:chExt cx="2716695" cy="218191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1F86AAB-0512-4A0A-A507-0743B31CD300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14B293E-D102-4204-830C-71124258B5D4}"/>
                </a:ext>
              </a:extLst>
            </p:cNvPr>
            <p:cNvSpPr txBox="1"/>
            <p:nvPr/>
          </p:nvSpPr>
          <p:spPr>
            <a:xfrm>
              <a:off x="5156744" y="4167639"/>
              <a:ext cx="1428596" cy="385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Buffer Pool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流程图: 磁盘 18">
            <a:extLst>
              <a:ext uri="{FF2B5EF4-FFF2-40B4-BE49-F238E27FC236}">
                <a16:creationId xmlns:a16="http://schemas.microsoft.com/office/drawing/2014/main" id="{125F989A-A24C-44DA-A898-97523D6CD2A6}"/>
              </a:ext>
            </a:extLst>
          </p:cNvPr>
          <p:cNvSpPr/>
          <p:nvPr/>
        </p:nvSpPr>
        <p:spPr>
          <a:xfrm>
            <a:off x="8160684" y="1810254"/>
            <a:ext cx="3020494" cy="2121757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C3683B-171C-4D9E-AF9B-BFF934FA7EBA}"/>
              </a:ext>
            </a:extLst>
          </p:cNvPr>
          <p:cNvGrpSpPr/>
          <p:nvPr/>
        </p:nvGrpSpPr>
        <p:grpSpPr>
          <a:xfrm>
            <a:off x="4549970" y="1810254"/>
            <a:ext cx="2716695" cy="2181915"/>
            <a:chOff x="4549970" y="4167639"/>
            <a:chExt cx="2716695" cy="2181915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A1DA1460-941D-4827-BA6B-BEFAFF8BC7FB}"/>
                </a:ext>
              </a:extLst>
            </p:cNvPr>
            <p:cNvSpPr/>
            <p:nvPr/>
          </p:nvSpPr>
          <p:spPr>
            <a:xfrm>
              <a:off x="4549970" y="4174435"/>
              <a:ext cx="2716695" cy="2175119"/>
            </a:xfrm>
            <a:prstGeom prst="roundRect">
              <a:avLst>
                <a:gd name="adj" fmla="val 7155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65D4754-9D87-476E-881E-7E402924A763}"/>
                </a:ext>
              </a:extLst>
            </p:cNvPr>
            <p:cNvSpPr txBox="1"/>
            <p:nvPr/>
          </p:nvSpPr>
          <p:spPr>
            <a:xfrm>
              <a:off x="5156744" y="4167639"/>
              <a:ext cx="1437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WAL Buffer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63F45C6-35EB-4168-B798-7447C73A549A}"/>
              </a:ext>
            </a:extLst>
          </p:cNvPr>
          <p:cNvSpPr txBox="1"/>
          <p:nvPr/>
        </p:nvSpPr>
        <p:spPr>
          <a:xfrm>
            <a:off x="9097697" y="430419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2B6304-195C-4288-9BEE-6FCE09D21795}"/>
              </a:ext>
            </a:extLst>
          </p:cNvPr>
          <p:cNvSpPr txBox="1"/>
          <p:nvPr/>
        </p:nvSpPr>
        <p:spPr>
          <a:xfrm>
            <a:off x="9174641" y="19298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3CE9B2C-27BE-4DAB-9B8C-F38B930CE3A1}"/>
              </a:ext>
            </a:extLst>
          </p:cNvPr>
          <p:cNvGrpSpPr/>
          <p:nvPr/>
        </p:nvGrpSpPr>
        <p:grpSpPr>
          <a:xfrm>
            <a:off x="5272974" y="2272606"/>
            <a:ext cx="1383863" cy="1223264"/>
            <a:chOff x="5272974" y="2272606"/>
            <a:chExt cx="1383863" cy="1337462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5082E73-37C1-4226-9211-C269CF20EE39}"/>
                </a:ext>
              </a:extLst>
            </p:cNvPr>
            <p:cNvSpPr/>
            <p:nvPr/>
          </p:nvSpPr>
          <p:spPr>
            <a:xfrm>
              <a:off x="5272974" y="2272606"/>
              <a:ext cx="1383863" cy="133746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47EAC73-0DE2-49EC-8ED6-8D7B52512F7B}"/>
                </a:ext>
              </a:extLst>
            </p:cNvPr>
            <p:cNvSpPr txBox="1"/>
            <p:nvPr/>
          </p:nvSpPr>
          <p:spPr>
            <a:xfrm>
              <a:off x="5333716" y="2324044"/>
              <a:ext cx="1257966" cy="26920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LSN</a:t>
              </a:r>
              <a:r>
                <a:rPr lang="en-US" altLang="zh-CN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:&lt;T</a:t>
              </a:r>
              <a:r>
                <a:rPr lang="en-US" altLang="zh-CN" sz="1000" b="1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sz="1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BEGIN&gt;</a:t>
              </a:r>
              <a:endParaRPr lang="zh-CN" altLang="en-US" sz="1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A3EE3740-01C6-49F5-B6AE-81325FC7C98E}"/>
              </a:ext>
            </a:extLst>
          </p:cNvPr>
          <p:cNvSpPr/>
          <p:nvPr/>
        </p:nvSpPr>
        <p:spPr>
          <a:xfrm>
            <a:off x="5346473" y="4683605"/>
            <a:ext cx="1232452" cy="10701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312E1D6-8EFC-4C1F-836C-9D2EEDB29E5B}"/>
              </a:ext>
            </a:extLst>
          </p:cNvPr>
          <p:cNvSpPr txBox="1"/>
          <p:nvPr/>
        </p:nvSpPr>
        <p:spPr>
          <a:xfrm>
            <a:off x="5334000" y="2551687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LSN</a:t>
            </a:r>
            <a:r>
              <a:rPr lang="en-US" altLang="zh-CN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:&lt;T</a:t>
            </a:r>
            <a:r>
              <a:rPr lang="en-US" altLang="zh-CN" sz="1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A, 1, 8&gt;</a:t>
            </a:r>
            <a:endParaRPr lang="zh-CN" altLang="en-US" sz="100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BC43F6A-1926-4BCC-9B3B-BA642BAF21F4}"/>
              </a:ext>
            </a:extLst>
          </p:cNvPr>
          <p:cNvSpPr txBox="1"/>
          <p:nvPr/>
        </p:nvSpPr>
        <p:spPr>
          <a:xfrm>
            <a:off x="5334000" y="2798213"/>
            <a:ext cx="1257966" cy="2539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LSN</a:t>
            </a:r>
            <a:r>
              <a:rPr lang="en-US" altLang="zh-CN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:&lt;T</a:t>
            </a:r>
            <a:r>
              <a:rPr lang="en-US" altLang="zh-CN" sz="10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B, 5, 9&gt;</a:t>
            </a:r>
            <a:endParaRPr lang="zh-CN" altLang="en-US" sz="1000" b="1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2F34ADD-5E07-4CEB-B209-18DA7C4A8283}"/>
              </a:ext>
            </a:extLst>
          </p:cNvPr>
          <p:cNvSpPr/>
          <p:nvPr/>
        </p:nvSpPr>
        <p:spPr>
          <a:xfrm>
            <a:off x="891294" y="1810254"/>
            <a:ext cx="2958019" cy="4539300"/>
          </a:xfrm>
          <a:prstGeom prst="roundRect">
            <a:avLst>
              <a:gd name="adj" fmla="val 7155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B98A74E-AB9A-4BFD-AB72-A8644606D9B9}"/>
              </a:ext>
            </a:extLst>
          </p:cNvPr>
          <p:cNvSpPr txBox="1"/>
          <p:nvPr/>
        </p:nvSpPr>
        <p:spPr>
          <a:xfrm>
            <a:off x="1476266" y="2081670"/>
            <a:ext cx="146706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flushedLSN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7A963C3-8F5E-466E-8893-151D827DC332}"/>
              </a:ext>
            </a:extLst>
          </p:cNvPr>
          <p:cNvGrpSpPr/>
          <p:nvPr/>
        </p:nvGrpSpPr>
        <p:grpSpPr>
          <a:xfrm>
            <a:off x="9174641" y="5000580"/>
            <a:ext cx="1070970" cy="877654"/>
            <a:chOff x="9054707" y="5232032"/>
            <a:chExt cx="1232452" cy="107011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D4F8773-A445-4120-A2E5-0C06D2B7558F}"/>
                </a:ext>
              </a:extLst>
            </p:cNvPr>
            <p:cNvSpPr/>
            <p:nvPr/>
          </p:nvSpPr>
          <p:spPr>
            <a:xfrm>
              <a:off x="9054707" y="5232032"/>
              <a:ext cx="1232452" cy="1070113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58A8A4D-2DCA-44DE-86BF-6ACEC0D91251}"/>
                </a:ext>
              </a:extLst>
            </p:cNvPr>
            <p:cNvSpPr/>
            <p:nvPr/>
          </p:nvSpPr>
          <p:spPr>
            <a:xfrm>
              <a:off x="9054707" y="5232032"/>
              <a:ext cx="111345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pageLSN</a:t>
              </a:r>
              <a:r>
                <a:rPr lang="en-US" altLang="zh-CN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2D229CCF-1AFC-441B-812F-9221C2F1F80F}"/>
              </a:ext>
            </a:extLst>
          </p:cNvPr>
          <p:cNvSpPr/>
          <p:nvPr/>
        </p:nvSpPr>
        <p:spPr>
          <a:xfrm>
            <a:off x="8842009" y="5972045"/>
            <a:ext cx="1859016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MasterRecord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对话气泡: 圆角矩形 43">
            <a:extLst>
              <a:ext uri="{FF2B5EF4-FFF2-40B4-BE49-F238E27FC236}">
                <a16:creationId xmlns:a16="http://schemas.microsoft.com/office/drawing/2014/main" id="{CB96A1C6-171A-47DC-8B9D-26C5BF24D78C}"/>
              </a:ext>
            </a:extLst>
          </p:cNvPr>
          <p:cNvSpPr/>
          <p:nvPr/>
        </p:nvSpPr>
        <p:spPr>
          <a:xfrm>
            <a:off x="592414" y="1282166"/>
            <a:ext cx="2840629" cy="528088"/>
          </a:xfrm>
          <a:prstGeom prst="wedgeRoundRectCallout">
            <a:avLst>
              <a:gd name="adj1" fmla="val 20499"/>
              <a:gd name="adj2" fmla="val 100987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 LSN in log on disk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对话气泡: 圆角矩形 45">
            <a:extLst>
              <a:ext uri="{FF2B5EF4-FFF2-40B4-BE49-F238E27FC236}">
                <a16:creationId xmlns:a16="http://schemas.microsoft.com/office/drawing/2014/main" id="{A300AD61-9141-4CA7-9C96-4468519444EE}"/>
              </a:ext>
            </a:extLst>
          </p:cNvPr>
          <p:cNvSpPr/>
          <p:nvPr/>
        </p:nvSpPr>
        <p:spPr>
          <a:xfrm>
            <a:off x="9068207" y="4152048"/>
            <a:ext cx="2840629" cy="528088"/>
          </a:xfrm>
          <a:prstGeom prst="wedgeRoundRectCallout">
            <a:avLst>
              <a:gd name="adj1" fmla="val -20888"/>
              <a:gd name="adj2" fmla="val 122189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Newest update to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i="1" baseline="-25000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altLang="en-US" baseline="-250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对话气泡: 圆角矩形 46">
            <a:extLst>
              <a:ext uri="{FF2B5EF4-FFF2-40B4-BE49-F238E27FC236}">
                <a16:creationId xmlns:a16="http://schemas.microsoft.com/office/drawing/2014/main" id="{5BF5ED57-BC44-4563-8544-CA4B47294E9A}"/>
              </a:ext>
            </a:extLst>
          </p:cNvPr>
          <p:cNvSpPr/>
          <p:nvPr/>
        </p:nvSpPr>
        <p:spPr>
          <a:xfrm>
            <a:off x="5556922" y="6156711"/>
            <a:ext cx="3046394" cy="528088"/>
          </a:xfrm>
          <a:prstGeom prst="wedgeRoundRectCallout">
            <a:avLst>
              <a:gd name="adj1" fmla="val 56500"/>
              <a:gd name="adj2" fmla="val -55676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LSN of latest checkpoint</a:t>
            </a:r>
            <a:endParaRPr lang="en-US" altLang="en-US" baseline="-250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A60124B-5C2E-41C1-A0A9-3DEA53B4B214}"/>
              </a:ext>
            </a:extLst>
          </p:cNvPr>
          <p:cNvSpPr/>
          <p:nvPr/>
        </p:nvSpPr>
        <p:spPr>
          <a:xfrm>
            <a:off x="5369793" y="4667520"/>
            <a:ext cx="967563" cy="252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pageLSN</a:t>
            </a:r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BEDCBF23-7DFB-4EF1-A961-EB27E9253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459375"/>
              </p:ext>
            </p:extLst>
          </p:nvPr>
        </p:nvGraphicFramePr>
        <p:xfrm>
          <a:off x="1070347" y="3329088"/>
          <a:ext cx="2341978" cy="822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C576B3-1AC5-4C0F-B8F6-4EA5007672E9}"/>
              </a:ext>
            </a:extLst>
          </p:cNvPr>
          <p:cNvSpPr txBox="1"/>
          <p:nvPr/>
        </p:nvSpPr>
        <p:spPr>
          <a:xfrm>
            <a:off x="1024861" y="2960143"/>
            <a:ext cx="1975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Dirty Page Table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0038763-DDF9-4415-9E5F-07BBDD203DD8}"/>
              </a:ext>
            </a:extLst>
          </p:cNvPr>
          <p:cNvSpPr txBox="1"/>
          <p:nvPr/>
        </p:nvSpPr>
        <p:spPr>
          <a:xfrm>
            <a:off x="1024861" y="4421002"/>
            <a:ext cx="2129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Transaction Table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32B13A92-B84C-47E9-BC66-0EB3C2212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53405"/>
              </p:ext>
            </p:extLst>
          </p:nvPr>
        </p:nvGraphicFramePr>
        <p:xfrm>
          <a:off x="1070347" y="4793732"/>
          <a:ext cx="2341977" cy="822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065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78065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780659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</a:tbl>
          </a:graphicData>
        </a:graphic>
      </p:graphicFrame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5D9E2A6E-076C-4735-9308-5651F53BE4AA}"/>
              </a:ext>
            </a:extLst>
          </p:cNvPr>
          <p:cNvSpPr/>
          <p:nvPr/>
        </p:nvSpPr>
        <p:spPr>
          <a:xfrm>
            <a:off x="190637" y="3763347"/>
            <a:ext cx="3116960" cy="716017"/>
          </a:xfrm>
          <a:prstGeom prst="wedgeRoundRectCallout">
            <a:avLst>
              <a:gd name="adj1" fmla="val 31664"/>
              <a:gd name="adj2" fmla="val -76243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Oldest update to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i="1" baseline="-25000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altLang="zh-CN" b="1" i="1" baseline="-250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it was last flushed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对话气泡: 圆角矩形 51">
            <a:extLst>
              <a:ext uri="{FF2B5EF4-FFF2-40B4-BE49-F238E27FC236}">
                <a16:creationId xmlns:a16="http://schemas.microsoft.com/office/drawing/2014/main" id="{7BA9AA83-DA27-48F8-8BBF-30EBBCB69573}"/>
              </a:ext>
            </a:extLst>
          </p:cNvPr>
          <p:cNvSpPr/>
          <p:nvPr/>
        </p:nvSpPr>
        <p:spPr>
          <a:xfrm>
            <a:off x="590194" y="5569860"/>
            <a:ext cx="2703094" cy="535282"/>
          </a:xfrm>
          <a:prstGeom prst="wedgeRoundRectCallout">
            <a:avLst>
              <a:gd name="adj1" fmla="val 16476"/>
              <a:gd name="adj2" fmla="val -141320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Latest record of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b="1" i="1" baseline="-25000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altLang="en-US" baseline="-250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43263FC-D43F-421B-88EC-7FE9501E391A}"/>
              </a:ext>
            </a:extLst>
          </p:cNvPr>
          <p:cNvSpPr/>
          <p:nvPr/>
        </p:nvSpPr>
        <p:spPr>
          <a:xfrm>
            <a:off x="8510936" y="2687525"/>
            <a:ext cx="900082" cy="88736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18096DB-A657-41EE-92CB-7FF02692CA49}"/>
              </a:ext>
            </a:extLst>
          </p:cNvPr>
          <p:cNvSpPr/>
          <p:nvPr/>
        </p:nvSpPr>
        <p:spPr>
          <a:xfrm>
            <a:off x="9917200" y="2678645"/>
            <a:ext cx="900082" cy="88736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1FF8E85-8A4C-45AD-863A-B54F47C9749F}"/>
              </a:ext>
            </a:extLst>
          </p:cNvPr>
          <p:cNvSpPr txBox="1"/>
          <p:nvPr/>
        </p:nvSpPr>
        <p:spPr>
          <a:xfrm>
            <a:off x="9469594" y="288423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F3BE0CD-7A51-4CE3-8982-9094D5DFEE01}"/>
              </a:ext>
            </a:extLst>
          </p:cNvPr>
          <p:cNvCxnSpPr>
            <a:stCxn id="43" idx="3"/>
          </p:cNvCxnSpPr>
          <p:nvPr/>
        </p:nvCxnSpPr>
        <p:spPr>
          <a:xfrm>
            <a:off x="2943334" y="2266336"/>
            <a:ext cx="6973866" cy="1229534"/>
          </a:xfrm>
          <a:prstGeom prst="curvedConnector3">
            <a:avLst>
              <a:gd name="adj1" fmla="val 21546"/>
            </a:avLst>
          </a:prstGeom>
          <a:ln w="254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对话气泡: 圆角矩形 55">
            <a:extLst>
              <a:ext uri="{FF2B5EF4-FFF2-40B4-BE49-F238E27FC236}">
                <a16:creationId xmlns:a16="http://schemas.microsoft.com/office/drawing/2014/main" id="{BC2E46C6-B732-44F7-BC87-4C924338CAC9}"/>
              </a:ext>
            </a:extLst>
          </p:cNvPr>
          <p:cNvSpPr/>
          <p:nvPr/>
        </p:nvSpPr>
        <p:spPr>
          <a:xfrm>
            <a:off x="6136590" y="1285977"/>
            <a:ext cx="3197164" cy="968387"/>
          </a:xfrm>
          <a:prstGeom prst="wedgeRoundRectCallout">
            <a:avLst>
              <a:gd name="adj1" fmla="val -37675"/>
              <a:gd name="adj2" fmla="val 73630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log record has a globally unique log sequence number (LSN)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1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6" grpId="0" animBg="1"/>
      <p:bldP spid="47" grpId="0" animBg="1"/>
      <p:bldP spid="51" grpId="0" animBg="1"/>
      <p:bldP spid="52" grpId="0" animBg="1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xfrm>
            <a:off x="765323" y="483394"/>
            <a:ext cx="4415062" cy="1104900"/>
          </a:xfrm>
          <a:noFill/>
          <a:ln/>
        </p:spPr>
        <p:txBody>
          <a:bodyPr>
            <a:normAutofit/>
          </a:bodyPr>
          <a:lstStyle/>
          <a:p>
            <a:r>
              <a:rPr lang="en-US" dirty="0"/>
              <a:t>WAL &amp; The Log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18920" y="1900047"/>
            <a:ext cx="8763000" cy="4281484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Each </a:t>
            </a:r>
            <a:r>
              <a:rPr lang="en-US" i="1" u="sng" dirty="0"/>
              <a:t>data page</a:t>
            </a:r>
            <a:r>
              <a:rPr lang="en-US" i="1" dirty="0"/>
              <a:t> </a:t>
            </a:r>
            <a:r>
              <a:rPr lang="en-US" dirty="0"/>
              <a:t>contains a </a:t>
            </a:r>
            <a:r>
              <a:rPr lang="en-US" dirty="0" err="1"/>
              <a:t>pageLSN</a:t>
            </a:r>
            <a:r>
              <a:rPr lang="en-US" dirty="0"/>
              <a:t>.</a:t>
            </a:r>
            <a:endParaRPr lang="en-US" sz="2400" dirty="0"/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most recent </a:t>
            </a:r>
            <a:r>
              <a:rPr lang="en-US" i="1" dirty="0"/>
              <a:t>log record </a:t>
            </a:r>
            <a:r>
              <a:rPr lang="en-US" dirty="0"/>
              <a:t>for an update to that page.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System keeps track of </a:t>
            </a:r>
            <a:r>
              <a:rPr lang="en-US" dirty="0" err="1"/>
              <a:t>flushedLSN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/>
              <a:t>The max LSN flushed so far.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u="sng" dirty="0"/>
              <a:t>WAL</a:t>
            </a:r>
            <a:r>
              <a:rPr lang="en-US" dirty="0"/>
              <a:t>:  </a:t>
            </a:r>
            <a:r>
              <a:rPr lang="en-US" i="1" dirty="0"/>
              <a:t>Before</a:t>
            </a:r>
            <a:r>
              <a:rPr lang="en-US" dirty="0"/>
              <a:t> a page is written,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dirty="0" err="1"/>
              <a:t>pageLSN</a:t>
            </a:r>
            <a:r>
              <a:rPr lang="en-US" dirty="0"/>
              <a:t> </a:t>
            </a:r>
            <a:r>
              <a:rPr lang="en-US" dirty="0">
                <a:latin typeface="Symbol" charset="2"/>
              </a:rPr>
              <a:t>£ </a:t>
            </a:r>
            <a:r>
              <a:rPr lang="en-US" dirty="0" err="1"/>
              <a:t>flushedLSN</a:t>
            </a:r>
            <a:endParaRPr lang="en-US" dirty="0"/>
          </a:p>
        </p:txBody>
      </p:sp>
      <p:sp>
        <p:nvSpPr>
          <p:cNvPr id="19506" name="Rectangle 50"/>
          <p:cNvSpPr>
            <a:spLocks noChangeArrowheads="1"/>
          </p:cNvSpPr>
          <p:nvPr/>
        </p:nvSpPr>
        <p:spPr bwMode="auto">
          <a:xfrm>
            <a:off x="10972924" y="1903571"/>
            <a:ext cx="368300" cy="26543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07" name="Rectangle 51"/>
          <p:cNvSpPr>
            <a:spLocks noChangeArrowheads="1"/>
          </p:cNvSpPr>
          <p:nvPr/>
        </p:nvSpPr>
        <p:spPr bwMode="auto">
          <a:xfrm>
            <a:off x="10972924" y="4570571"/>
            <a:ext cx="368300" cy="10541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8659938" y="4862671"/>
            <a:ext cx="1157287" cy="1676400"/>
            <a:chOff x="3923" y="3020"/>
            <a:chExt cx="729" cy="1056"/>
          </a:xfrm>
        </p:grpSpPr>
        <p:sp>
          <p:nvSpPr>
            <p:cNvPr id="19508" name="Rectangle 52"/>
            <p:cNvSpPr>
              <a:spLocks noChangeArrowheads="1"/>
            </p:cNvSpPr>
            <p:nvPr/>
          </p:nvSpPr>
          <p:spPr bwMode="auto">
            <a:xfrm>
              <a:off x="3940" y="3028"/>
              <a:ext cx="712" cy="1048"/>
            </a:xfrm>
            <a:prstGeom prst="rect">
              <a:avLst/>
            </a:prstGeom>
            <a:noFill/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09" name="Rectangle 53"/>
            <p:cNvSpPr>
              <a:spLocks noChangeArrowheads="1"/>
            </p:cNvSpPr>
            <p:nvPr/>
          </p:nvSpPr>
          <p:spPr bwMode="auto">
            <a:xfrm>
              <a:off x="3923" y="3020"/>
              <a:ext cx="66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600" b="1" dirty="0" err="1">
                  <a:solidFill>
                    <a:srgbClr val="CF0E30"/>
                  </a:solidFill>
                  <a:latin typeface="Book Antiqua" charset="0"/>
                </a:rPr>
                <a:t>pageLSN</a:t>
              </a:r>
              <a:endParaRPr lang="en-US" sz="1600" b="1" dirty="0">
                <a:solidFill>
                  <a:srgbClr val="CF0E30"/>
                </a:solidFill>
                <a:latin typeface="Book Antiqua" charset="0"/>
              </a:endParaRPr>
            </a:p>
          </p:txBody>
        </p:sp>
      </p:grpSp>
      <p:sp>
        <p:nvSpPr>
          <p:cNvPr id="19511" name="Line 55"/>
          <p:cNvSpPr>
            <a:spLocks noChangeShapeType="1"/>
          </p:cNvSpPr>
          <p:nvPr/>
        </p:nvSpPr>
        <p:spPr bwMode="auto">
          <a:xfrm>
            <a:off x="6873552" y="3429000"/>
            <a:ext cx="3991422" cy="1135221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stealth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12" name="Line 56"/>
          <p:cNvSpPr>
            <a:spLocks noChangeShapeType="1"/>
          </p:cNvSpPr>
          <p:nvPr/>
        </p:nvSpPr>
        <p:spPr bwMode="auto">
          <a:xfrm flipV="1">
            <a:off x="9683874" y="4018121"/>
            <a:ext cx="1270000" cy="10160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stealth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13" name="Rectangle 57"/>
          <p:cNvSpPr>
            <a:spLocks noChangeArrowheads="1"/>
          </p:cNvSpPr>
          <p:nvPr/>
        </p:nvSpPr>
        <p:spPr bwMode="auto">
          <a:xfrm>
            <a:off x="9193337" y="2173446"/>
            <a:ext cx="1772922" cy="64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00B7A5"/>
                </a:solidFill>
                <a:latin typeface="Book Antiqua" charset="0"/>
              </a:rPr>
              <a:t>Log records</a:t>
            </a:r>
          </a:p>
          <a:p>
            <a:pPr algn="l"/>
            <a:r>
              <a:rPr lang="en-US" b="1">
                <a:solidFill>
                  <a:srgbClr val="00B7A5"/>
                </a:solidFill>
                <a:latin typeface="Book Antiqua" charset="0"/>
              </a:rPr>
              <a:t>flushed to disk</a:t>
            </a:r>
          </a:p>
        </p:txBody>
      </p:sp>
      <p:sp>
        <p:nvSpPr>
          <p:cNvPr id="19514" name="Rectangle 58"/>
          <p:cNvSpPr>
            <a:spLocks noChangeArrowheads="1"/>
          </p:cNvSpPr>
          <p:nvPr/>
        </p:nvSpPr>
        <p:spPr bwMode="auto">
          <a:xfrm>
            <a:off x="9802938" y="4916646"/>
            <a:ext cx="1215077" cy="64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accent2"/>
                </a:solidFill>
                <a:latin typeface="Book Antiqua" charset="0"/>
              </a:rPr>
              <a:t>“Log tail”</a:t>
            </a:r>
          </a:p>
          <a:p>
            <a:pPr algn="l"/>
            <a:r>
              <a:rPr lang="en-US" b="1">
                <a:solidFill>
                  <a:schemeClr val="accent2"/>
                </a:solidFill>
                <a:latin typeface="Book Antiqua" charset="0"/>
              </a:rPr>
              <a:t>  in RAM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5FB2C58-7D5F-42AB-8DE8-E8252B58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BC593-8DBC-45D7-AA5C-B8E335C5C53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4F9E57DF-20EB-4A28-B449-CFDA4ED7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A465E451-8E08-48EF-A975-BDE6745E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Log Records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208295" y="1974850"/>
            <a:ext cx="6525208" cy="4381500"/>
          </a:xfrm>
          <a:noFill/>
          <a:ln/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Font typeface="Wingdings" charset="2"/>
              <a:buNone/>
            </a:pPr>
            <a:r>
              <a:rPr lang="en-US" dirty="0"/>
              <a:t>Possible log record types: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solidFill>
                  <a:schemeClr val="accent1"/>
                </a:solidFill>
              </a:rPr>
              <a:t>Update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solidFill>
                  <a:schemeClr val="accent1"/>
                </a:solidFill>
              </a:rPr>
              <a:t>Commit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solidFill>
                  <a:schemeClr val="accent1"/>
                </a:solidFill>
              </a:rPr>
              <a:t>Abort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solidFill>
                  <a:schemeClr val="accent1"/>
                </a:solidFill>
              </a:rPr>
              <a:t>End </a:t>
            </a:r>
            <a:r>
              <a:rPr lang="en-US" dirty="0"/>
              <a:t>(signifies end of commit or abort)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b="1" dirty="0">
                <a:solidFill>
                  <a:schemeClr val="accent1"/>
                </a:solidFill>
              </a:rPr>
              <a:t>Compensation Log Records (</a:t>
            </a:r>
            <a:r>
              <a:rPr lang="en-US" b="1" dirty="0" err="1">
                <a:solidFill>
                  <a:schemeClr val="accent1"/>
                </a:solidFill>
              </a:rPr>
              <a:t>CLRs</a:t>
            </a:r>
            <a:r>
              <a:rPr lang="en-US" b="1" dirty="0">
                <a:solidFill>
                  <a:schemeClr val="accent1"/>
                </a:solidFill>
              </a:rPr>
              <a:t>)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for UNDO actions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339978" y="2536306"/>
            <a:ext cx="1992313" cy="3140075"/>
            <a:chOff x="1282" y="1582"/>
            <a:chExt cx="1255" cy="1978"/>
          </a:xfrm>
        </p:grpSpPr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1282" y="1582"/>
              <a:ext cx="870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 dirty="0" err="1">
                  <a:solidFill>
                    <a:schemeClr val="tx2"/>
                  </a:solidFill>
                  <a:latin typeface="Arial" charset="0"/>
                </a:rPr>
                <a:t>prevLSN</a:t>
              </a:r>
              <a:endParaRPr lang="en-US" sz="2400" dirty="0">
                <a:solidFill>
                  <a:schemeClr val="tx2"/>
                </a:solidFill>
                <a:latin typeface="Arial" charset="0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1282" y="1823"/>
              <a:ext cx="442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XID</a:t>
              </a: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1282" y="2063"/>
              <a:ext cx="485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type</a:t>
              </a: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1282" y="2543"/>
              <a:ext cx="646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length</a:t>
              </a: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282" y="2303"/>
              <a:ext cx="742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pageID</a:t>
              </a: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1282" y="2784"/>
              <a:ext cx="591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offset</a:t>
              </a: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1282" y="3024"/>
              <a:ext cx="1255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>
                  <a:solidFill>
                    <a:schemeClr val="tx2"/>
                  </a:solidFill>
                  <a:latin typeface="Arial" charset="0"/>
                </a:rPr>
                <a:t>before-image</a:t>
              </a: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282" y="3266"/>
              <a:ext cx="1094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400" dirty="0">
                  <a:solidFill>
                    <a:schemeClr val="tx2"/>
                  </a:solidFill>
                  <a:latin typeface="Arial" charset="0"/>
                </a:rPr>
                <a:t>after-image</a:t>
              </a:r>
            </a:p>
          </p:txBody>
        </p:sp>
      </p:grp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892178" y="2001319"/>
            <a:ext cx="3077767" cy="520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solidFill>
                  <a:srgbClr val="0000FF"/>
                </a:solidFill>
                <a:latin typeface="Book Antiqua" charset="0"/>
              </a:rPr>
              <a:t>LogRecord fields:</a:t>
            </a:r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2133602" y="4085705"/>
            <a:ext cx="0" cy="5207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21" name="Line 17"/>
          <p:cNvSpPr>
            <a:spLocks noChangeShapeType="1"/>
          </p:cNvSpPr>
          <p:nvPr/>
        </p:nvSpPr>
        <p:spPr bwMode="auto">
          <a:xfrm>
            <a:off x="2133602" y="4771505"/>
            <a:ext cx="0" cy="5207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 flipH="1" flipV="1">
            <a:off x="2051052" y="4682605"/>
            <a:ext cx="88900" cy="889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 flipV="1">
            <a:off x="2063752" y="4606405"/>
            <a:ext cx="63500" cy="889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 flipV="1">
            <a:off x="2139952" y="3844405"/>
            <a:ext cx="215900" cy="241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25" name="Line 21"/>
          <p:cNvSpPr>
            <a:spLocks noChangeShapeType="1"/>
          </p:cNvSpPr>
          <p:nvPr/>
        </p:nvSpPr>
        <p:spPr bwMode="auto">
          <a:xfrm flipH="1" flipV="1">
            <a:off x="2127252" y="5292205"/>
            <a:ext cx="241300" cy="2413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893766" y="4134918"/>
            <a:ext cx="1185271" cy="119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Book Antiqua" charset="0"/>
              </a:rPr>
              <a:t>update</a:t>
            </a:r>
            <a:endParaRPr lang="en-US" sz="2400" dirty="0">
              <a:solidFill>
                <a:srgbClr val="0000FF"/>
              </a:solidFill>
              <a:latin typeface="Book Antiqua" charset="0"/>
            </a:endParaRPr>
          </a:p>
          <a:p>
            <a:pPr algn="l"/>
            <a:r>
              <a:rPr lang="en-US" sz="2400" dirty="0">
                <a:solidFill>
                  <a:srgbClr val="0000FF"/>
                </a:solidFill>
                <a:latin typeface="Book Antiqua" charset="0"/>
              </a:rPr>
              <a:t>records</a:t>
            </a:r>
          </a:p>
          <a:p>
            <a:pPr algn="l"/>
            <a:r>
              <a:rPr lang="en-US" sz="2400" dirty="0">
                <a:solidFill>
                  <a:srgbClr val="0000FF"/>
                </a:solidFill>
                <a:latin typeface="Book Antiqua" charset="0"/>
              </a:rPr>
              <a:t>only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2F8786-E7B7-41B1-8DF1-18843D14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FD6AF-D428-4CCD-8C1F-28284B45211E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7FA4D1-97AD-4D0D-A79B-BC4CEAD5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77731C-1025-4E32-A753-099155FB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 Execution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Assumptions: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All log records fit within a single page.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Disk writes are atomic.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Single-versioned tuples with Strict 2PL.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b="1" dirty="0"/>
              <a:t>STEAL</a:t>
            </a:r>
            <a:r>
              <a:rPr lang="en-US" altLang="zh-CN" sz="2000" dirty="0"/>
              <a:t> + </a:t>
            </a:r>
            <a:r>
              <a:rPr lang="en-US" altLang="zh-CN" sz="2000" b="1" dirty="0"/>
              <a:t>NO-FORCE</a:t>
            </a:r>
            <a:r>
              <a:rPr lang="en-US" altLang="zh-CN" sz="2000" dirty="0"/>
              <a:t> buffer management with WAL.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Update the </a:t>
            </a:r>
            <a:r>
              <a:rPr lang="en-US" altLang="zh-CN" sz="2400" b="1" dirty="0" err="1">
                <a:solidFill>
                  <a:srgbClr val="0000FF"/>
                </a:solidFill>
              </a:rPr>
              <a:t>pageLSN</a:t>
            </a:r>
            <a:r>
              <a:rPr lang="en-US" altLang="zh-CN" sz="2400" dirty="0"/>
              <a:t> when a </a:t>
            </a:r>
            <a:r>
              <a:rPr lang="en-US" altLang="zh-CN" sz="2400" dirty="0" err="1"/>
              <a:t>txn</a:t>
            </a:r>
            <a:r>
              <a:rPr lang="en-US" altLang="zh-CN" sz="2400" dirty="0"/>
              <a:t> modifies a record in the page.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Update the </a:t>
            </a:r>
            <a:r>
              <a:rPr lang="en-US" altLang="zh-CN" sz="2400" b="1" dirty="0" err="1">
                <a:solidFill>
                  <a:srgbClr val="0000FF"/>
                </a:solidFill>
              </a:rPr>
              <a:t>flushedLSN</a:t>
            </a:r>
            <a:r>
              <a:rPr lang="en-US" altLang="zh-CN" sz="2400" dirty="0"/>
              <a:t> in memory when the DBMS writes out the WAL buffer to disk.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52C97-6ADC-41BE-BAE0-07C99667366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346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Transaction Commit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Write </a:t>
            </a:r>
            <a:r>
              <a:rPr lang="en-US" altLang="zh-CN" sz="2400" b="1" dirty="0">
                <a:solidFill>
                  <a:srgbClr val="0000FF"/>
                </a:solidFill>
              </a:rPr>
              <a:t>COMMIT</a:t>
            </a:r>
            <a:r>
              <a:rPr lang="en-US" altLang="zh-CN" sz="2400" dirty="0"/>
              <a:t> record to log.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All log records up to </a:t>
            </a:r>
            <a:r>
              <a:rPr lang="en-US" altLang="zh-CN" sz="2400" dirty="0" err="1"/>
              <a:t>txn's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COMMIT</a:t>
            </a:r>
            <a:r>
              <a:rPr lang="en-US" altLang="zh-CN" sz="2400" dirty="0"/>
              <a:t> record are flushed to disk.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Log flushes are </a:t>
            </a:r>
            <a:r>
              <a:rPr lang="en-US" altLang="zh-CN" sz="2000" b="1" u="sng" dirty="0"/>
              <a:t>sequential</a:t>
            </a:r>
            <a:r>
              <a:rPr lang="en-US" altLang="zh-CN" sz="2000" dirty="0"/>
              <a:t>, </a:t>
            </a:r>
            <a:r>
              <a:rPr lang="en-US" altLang="zh-CN" sz="2000" b="1" u="sng" dirty="0"/>
              <a:t>synchronous</a:t>
            </a:r>
            <a:r>
              <a:rPr lang="en-US" altLang="zh-CN" sz="2000" dirty="0"/>
              <a:t> writes to disk.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Many log records per log page.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2400" dirty="0"/>
              <a:t>When the commit succeeds, write a special </a:t>
            </a:r>
            <a:r>
              <a:rPr lang="en-US" altLang="zh-CN" sz="2400" b="1" dirty="0">
                <a:solidFill>
                  <a:srgbClr val="0000FF"/>
                </a:solidFill>
              </a:rPr>
              <a:t>TXN-END</a:t>
            </a:r>
            <a:r>
              <a:rPr lang="en-US" altLang="zh-CN" sz="2400" dirty="0"/>
              <a:t> record to log.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/>
              <a:t>This does not need to be flushed immediately.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D29E9-2D1E-4BD3-ABFD-0551F40ED47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B80B261-CB07-4483-8030-67ACA4B27A0A}"/>
              </a:ext>
            </a:extLst>
          </p:cNvPr>
          <p:cNvSpPr txBox="1"/>
          <p:nvPr/>
        </p:nvSpPr>
        <p:spPr>
          <a:xfrm>
            <a:off x="838200" y="5772020"/>
            <a:ext cx="10515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Transaction is committed once commit record is on stable storage</a:t>
            </a:r>
          </a:p>
        </p:txBody>
      </p:sp>
    </p:spTree>
    <p:extLst>
      <p:ext uri="{BB962C8B-B14F-4D97-AF65-F5344CB8AC3E}">
        <p14:creationId xmlns:p14="http://schemas.microsoft.com/office/powerpoint/2010/main" val="4103532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Simple Transaction Abort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199" y="1798637"/>
            <a:ext cx="10458061" cy="4378227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For now, consider an explicit abort of a </a:t>
            </a:r>
            <a:r>
              <a:rPr lang="en-US" dirty="0" err="1"/>
              <a:t>Txn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No crash involved.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Idea: “play back” the log in reverse order, </a:t>
            </a:r>
            <a:r>
              <a:rPr lang="en-US" sz="2400" dirty="0" err="1"/>
              <a:t>UNDO</a:t>
            </a:r>
            <a:r>
              <a:rPr lang="en-US" dirty="0" err="1"/>
              <a:t>ing</a:t>
            </a:r>
            <a:r>
              <a:rPr lang="en-US" dirty="0"/>
              <a:t> updates.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Get </a:t>
            </a:r>
            <a:r>
              <a:rPr lang="en-US" b="1" dirty="0" err="1">
                <a:solidFill>
                  <a:srgbClr val="0000FF"/>
                </a:solidFill>
              </a:rPr>
              <a:t>lastLSN</a:t>
            </a:r>
            <a:r>
              <a:rPr lang="en-US" dirty="0"/>
              <a:t> of the </a:t>
            </a:r>
            <a:r>
              <a:rPr lang="en-US" dirty="0" err="1"/>
              <a:t>Txn</a:t>
            </a:r>
            <a:r>
              <a:rPr lang="en-US" dirty="0"/>
              <a:t> from transaction table.</a:t>
            </a:r>
            <a:endParaRPr lang="en-US" dirty="0">
              <a:solidFill>
                <a:schemeClr val="accent2"/>
              </a:solidFill>
            </a:endParaRP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Can follow chain of log records backward via the </a:t>
            </a:r>
            <a:r>
              <a:rPr lang="en-US" b="1" dirty="0" err="1">
                <a:solidFill>
                  <a:srgbClr val="0000FF"/>
                </a:solidFill>
              </a:rPr>
              <a:t>prevLSN</a:t>
            </a:r>
            <a:r>
              <a:rPr lang="en-US" dirty="0"/>
              <a:t> field.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Before starting UNDO, write an </a:t>
            </a:r>
            <a:r>
              <a:rPr lang="en-US" b="1" i="1" dirty="0">
                <a:solidFill>
                  <a:srgbClr val="0000FF"/>
                </a:solidFill>
              </a:rPr>
              <a:t>CLR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For recovering from crash during UNDO!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D14D45-ACF7-49BB-9DA0-2450DBB8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EEBCC-78B2-496B-A9E6-962AAA71D50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A04606-4FD7-4C05-B352-6A65B05F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5DA402-A474-45A0-822E-37945482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2209800" y="5625549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4648200" y="5625549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title"/>
          </p:nvPr>
        </p:nvSpPr>
        <p:spPr>
          <a:xfrm>
            <a:off x="895740" y="398106"/>
            <a:ext cx="4170363" cy="1104900"/>
          </a:xfrm>
          <a:noFill/>
          <a:ln/>
        </p:spPr>
        <p:txBody>
          <a:bodyPr/>
          <a:lstStyle/>
          <a:p>
            <a:r>
              <a:rPr lang="en-US" dirty="0"/>
              <a:t>Abort, cont.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760529"/>
            <a:ext cx="10594910" cy="2947625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400" dirty="0"/>
              <a:t>To perform </a:t>
            </a:r>
            <a:r>
              <a:rPr lang="en-US" sz="2000" dirty="0"/>
              <a:t>UNDO</a:t>
            </a:r>
            <a:r>
              <a:rPr lang="en-US" sz="2400" dirty="0"/>
              <a:t>, must have a </a:t>
            </a:r>
            <a:r>
              <a:rPr lang="en-US" sz="2400" b="1" dirty="0">
                <a:solidFill>
                  <a:srgbClr val="0000FF"/>
                </a:solidFill>
              </a:rPr>
              <a:t>lock</a:t>
            </a:r>
            <a:r>
              <a:rPr lang="en-US" sz="2400" dirty="0"/>
              <a:t> on data!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400" dirty="0"/>
              <a:t>Before restoring old value of a page, write a CLR (Continue logging)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sz="2000" dirty="0"/>
              <a:t>CLR has one extra field: </a:t>
            </a:r>
            <a:r>
              <a:rPr lang="en-US" sz="2000" b="1" dirty="0" err="1">
                <a:solidFill>
                  <a:srgbClr val="0000FF"/>
                </a:solidFill>
              </a:rPr>
              <a:t>undonextLSN</a:t>
            </a:r>
            <a:endParaRPr lang="en-US" sz="2000" b="1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sz="2000" dirty="0"/>
              <a:t>CLRs </a:t>
            </a:r>
            <a:r>
              <a:rPr lang="en-US" sz="2000" b="1" i="1" dirty="0"/>
              <a:t>never</a:t>
            </a:r>
            <a:r>
              <a:rPr lang="en-US" sz="2000" b="1" dirty="0"/>
              <a:t>  </a:t>
            </a:r>
            <a:r>
              <a:rPr lang="en-US" sz="2000" dirty="0"/>
              <a:t>be UNDO, but possibly REDO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400" dirty="0"/>
              <a:t>At end of </a:t>
            </a:r>
            <a:r>
              <a:rPr lang="en-US" sz="2000" dirty="0"/>
              <a:t>UNDO</a:t>
            </a:r>
            <a:r>
              <a:rPr lang="en-US" sz="2400" dirty="0"/>
              <a:t>, write an “</a:t>
            </a:r>
            <a:r>
              <a:rPr lang="en-US" sz="2400" b="1" dirty="0">
                <a:solidFill>
                  <a:srgbClr val="0000FF"/>
                </a:solidFill>
              </a:rPr>
              <a:t>TXN-END</a:t>
            </a:r>
            <a:r>
              <a:rPr lang="en-US" sz="2400" dirty="0"/>
              <a:t>” log record.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963E66-1CB1-4527-B679-9BD9554ED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829E5-E5A9-42C4-BF77-29CF0152787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B3C949-9BA4-4D9F-B009-B3A51626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01C669-1796-493D-9DB3-2A6FDC25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13</a:t>
            </a:fld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A053306-0D3B-488B-AA4E-1D7D9F4BB426}"/>
              </a:ext>
            </a:extLst>
          </p:cNvPr>
          <p:cNvCxnSpPr>
            <a:cxnSpLocks/>
          </p:cNvCxnSpPr>
          <p:nvPr/>
        </p:nvCxnSpPr>
        <p:spPr>
          <a:xfrm flipV="1">
            <a:off x="836335" y="5058703"/>
            <a:ext cx="10924969" cy="103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43AA28BD-5769-4DFA-BF14-73727904940C}"/>
              </a:ext>
            </a:extLst>
          </p:cNvPr>
          <p:cNvGrpSpPr/>
          <p:nvPr/>
        </p:nvGrpSpPr>
        <p:grpSpPr>
          <a:xfrm>
            <a:off x="826787" y="4781704"/>
            <a:ext cx="1154413" cy="897820"/>
            <a:chOff x="826787" y="5404555"/>
            <a:chExt cx="1154413" cy="897820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80F7660-AE67-4522-9BA6-4765E21D77ED}"/>
                </a:ext>
              </a:extLst>
            </p:cNvPr>
            <p:cNvGrpSpPr/>
            <p:nvPr/>
          </p:nvGrpSpPr>
          <p:grpSpPr>
            <a:xfrm>
              <a:off x="836335" y="5562052"/>
              <a:ext cx="1144865" cy="740323"/>
              <a:chOff x="836335" y="5562052"/>
              <a:chExt cx="1144865" cy="740323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EB30CEFB-2C3A-4A7F-AF24-25B3434F917B}"/>
                  </a:ext>
                </a:extLst>
              </p:cNvPr>
              <p:cNvSpPr/>
              <p:nvPr/>
            </p:nvSpPr>
            <p:spPr>
              <a:xfrm>
                <a:off x="1338471" y="5562052"/>
                <a:ext cx="251790" cy="2781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CAD8D34-9073-40AC-8FB3-06C3FBBC445A}"/>
                  </a:ext>
                </a:extLst>
              </p:cNvPr>
              <p:cNvSpPr txBox="1"/>
              <p:nvPr/>
            </p:nvSpPr>
            <p:spPr>
              <a:xfrm>
                <a:off x="836335" y="5840710"/>
                <a:ext cx="11448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LSN: 100</a:t>
                </a:r>
              </a:p>
              <a:p>
                <a:r>
                  <a:rPr lang="en-US" altLang="zh-CN" sz="1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prevLSN</a:t>
                </a:r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nil</a:t>
                </a:r>
                <a:endParaRPr lang="zh-CN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6257143-25A0-455D-9457-528FFE221D17}"/>
                </a:ext>
              </a:extLst>
            </p:cNvPr>
            <p:cNvSpPr txBox="1"/>
            <p:nvPr/>
          </p:nvSpPr>
          <p:spPr>
            <a:xfrm>
              <a:off x="826787" y="5404555"/>
              <a:ext cx="61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Begin</a:t>
              </a:r>
              <a:endPara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FE29E539-276B-4A4A-9DDF-4075AC1F2C78}"/>
              </a:ext>
            </a:extLst>
          </p:cNvPr>
          <p:cNvGrpSpPr/>
          <p:nvPr/>
        </p:nvGrpSpPr>
        <p:grpSpPr>
          <a:xfrm>
            <a:off x="5020239" y="4810760"/>
            <a:ext cx="4082718" cy="1245894"/>
            <a:chOff x="5020239" y="5433611"/>
            <a:chExt cx="4082718" cy="1245894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89D17FBD-6F89-49DC-855F-C41A8F48E120}"/>
                </a:ext>
              </a:extLst>
            </p:cNvPr>
            <p:cNvGrpSpPr/>
            <p:nvPr/>
          </p:nvGrpSpPr>
          <p:grpSpPr>
            <a:xfrm>
              <a:off x="7523679" y="5549840"/>
              <a:ext cx="1579278" cy="1129665"/>
              <a:chOff x="836335" y="5542042"/>
              <a:chExt cx="1579278" cy="1129665"/>
            </a:xfrm>
          </p:grpSpPr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F51D6DF5-3B27-4CA3-934D-D06B00CB2440}"/>
                  </a:ext>
                </a:extLst>
              </p:cNvPr>
              <p:cNvSpPr/>
              <p:nvPr/>
            </p:nvSpPr>
            <p:spPr>
              <a:xfrm>
                <a:off x="1648503" y="5542042"/>
                <a:ext cx="251790" cy="278190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67EB30A-4BB6-4B73-8722-155189B10384}"/>
                  </a:ext>
                </a:extLst>
              </p:cNvPr>
              <p:cNvSpPr txBox="1"/>
              <p:nvPr/>
            </p:nvSpPr>
            <p:spPr>
              <a:xfrm>
                <a:off x="836335" y="5840710"/>
                <a:ext cx="157927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LSN: 200</a:t>
                </a:r>
              </a:p>
              <a:p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</a:t>
                </a:r>
                <a:r>
                  <a:rPr lang="en-US" altLang="zh-CN" sz="12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prevLSN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190</a:t>
                </a:r>
              </a:p>
              <a:p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altLang="zh-CN" sz="12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undoLSN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150</a:t>
                </a:r>
              </a:p>
              <a:p>
                <a:r>
                  <a:rPr lang="en-US" altLang="zh-CN" sz="12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undonextLSN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120 </a:t>
                </a:r>
                <a:endParaRPr lang="zh-CN" altLang="en-US" sz="12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58" name="连接符: 肘形 17">
              <a:extLst>
                <a:ext uri="{FF2B5EF4-FFF2-40B4-BE49-F238E27FC236}">
                  <a16:creationId xmlns:a16="http://schemas.microsoft.com/office/drawing/2014/main" id="{B789774F-14F1-4934-8B65-3712C926792D}"/>
                </a:ext>
              </a:extLst>
            </p:cNvPr>
            <p:cNvCxnSpPr>
              <a:cxnSpLocks/>
              <a:stCxn id="56" idx="3"/>
              <a:endCxn id="40" idx="5"/>
            </p:cNvCxnSpPr>
            <p:nvPr/>
          </p:nvCxnSpPr>
          <p:spPr>
            <a:xfrm rot="5400000">
              <a:off x="6688078" y="4119451"/>
              <a:ext cx="16804" cy="3352482"/>
            </a:xfrm>
            <a:prstGeom prst="curvedConnector3">
              <a:avLst>
                <a:gd name="adj1" fmla="val 1702833"/>
              </a:avLst>
            </a:prstGeom>
            <a:ln w="1270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连接符: 肘形 17">
              <a:extLst>
                <a:ext uri="{FF2B5EF4-FFF2-40B4-BE49-F238E27FC236}">
                  <a16:creationId xmlns:a16="http://schemas.microsoft.com/office/drawing/2014/main" id="{6FC6B4E6-E03C-4E07-806D-52A462496F5D}"/>
                </a:ext>
              </a:extLst>
            </p:cNvPr>
            <p:cNvCxnSpPr>
              <a:cxnSpLocks/>
              <a:stCxn id="56" idx="1"/>
              <a:endCxn id="43" idx="7"/>
            </p:cNvCxnSpPr>
            <p:nvPr/>
          </p:nvCxnSpPr>
          <p:spPr>
            <a:xfrm rot="16200000" flipH="1" flipV="1">
              <a:off x="7623473" y="4853543"/>
              <a:ext cx="12212" cy="1486285"/>
            </a:xfrm>
            <a:prstGeom prst="curvedConnector3">
              <a:avLst>
                <a:gd name="adj1" fmla="val -2205536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CA218062-E4A0-41B2-BB4A-854116EAB136}"/>
                </a:ext>
              </a:extLst>
            </p:cNvPr>
            <p:cNvSpPr txBox="1"/>
            <p:nvPr/>
          </p:nvSpPr>
          <p:spPr>
            <a:xfrm>
              <a:off x="7818253" y="5433611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CLR</a:t>
              </a:r>
              <a:endParaRPr lang="zh-CN" alt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EDB9432-BF1D-4066-B1B2-9018503A5927}"/>
              </a:ext>
            </a:extLst>
          </p:cNvPr>
          <p:cNvGrpSpPr/>
          <p:nvPr/>
        </p:nvGrpSpPr>
        <p:grpSpPr>
          <a:xfrm>
            <a:off x="1553387" y="4810447"/>
            <a:ext cx="2058791" cy="869077"/>
            <a:chOff x="1553387" y="5433298"/>
            <a:chExt cx="2058791" cy="869077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4146F38-2B4D-4AE2-B486-D3BD7D61EC4D}"/>
                </a:ext>
              </a:extLst>
            </p:cNvPr>
            <p:cNvGrpSpPr/>
            <p:nvPr/>
          </p:nvGrpSpPr>
          <p:grpSpPr>
            <a:xfrm>
              <a:off x="2446474" y="5562052"/>
              <a:ext cx="1165704" cy="740323"/>
              <a:chOff x="836335" y="5562052"/>
              <a:chExt cx="1165704" cy="740323"/>
            </a:xfrm>
          </p:grpSpPr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AAD07CB3-B2D4-40D7-9AA5-A646B47110ED}"/>
                  </a:ext>
                </a:extLst>
              </p:cNvPr>
              <p:cNvSpPr/>
              <p:nvPr/>
            </p:nvSpPr>
            <p:spPr>
              <a:xfrm>
                <a:off x="1338471" y="5562052"/>
                <a:ext cx="251790" cy="2781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856E973-BF04-44E3-BBCC-D75C905621FF}"/>
                  </a:ext>
                </a:extLst>
              </p:cNvPr>
              <p:cNvSpPr txBox="1"/>
              <p:nvPr/>
            </p:nvSpPr>
            <p:spPr>
              <a:xfrm>
                <a:off x="836335" y="5840710"/>
                <a:ext cx="1165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LSN: 120</a:t>
                </a:r>
              </a:p>
              <a:p>
                <a:r>
                  <a:rPr lang="en-US" altLang="zh-CN" sz="1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prevLSN</a:t>
                </a:r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100</a:t>
                </a:r>
                <a:endParaRPr lang="zh-CN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52" name="连接符: 肘形 17">
              <a:extLst>
                <a:ext uri="{FF2B5EF4-FFF2-40B4-BE49-F238E27FC236}">
                  <a16:creationId xmlns:a16="http://schemas.microsoft.com/office/drawing/2014/main" id="{D80EBE25-60A1-432F-93E3-26FF81A17069}"/>
                </a:ext>
              </a:extLst>
            </p:cNvPr>
            <p:cNvCxnSpPr>
              <a:cxnSpLocks/>
              <a:stCxn id="37" idx="1"/>
              <a:endCxn id="14" idx="7"/>
            </p:cNvCxnSpPr>
            <p:nvPr/>
          </p:nvCxnSpPr>
          <p:spPr>
            <a:xfrm rot="16200000" flipV="1">
              <a:off x="2266123" y="4883430"/>
              <a:ext cx="6626" cy="1432097"/>
            </a:xfrm>
            <a:prstGeom prst="curvedConnector3">
              <a:avLst>
                <a:gd name="adj1" fmla="val 4164896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17C0B372-0959-47D8-B4EF-17BE685D28B1}"/>
                </a:ext>
              </a:extLst>
            </p:cNvPr>
            <p:cNvSpPr txBox="1"/>
            <p:nvPr/>
          </p:nvSpPr>
          <p:spPr>
            <a:xfrm>
              <a:off x="2322409" y="5433298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Update</a:t>
              </a:r>
              <a:endPara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4FCA286-1D2A-451B-8030-F303D2C5BC42}"/>
              </a:ext>
            </a:extLst>
          </p:cNvPr>
          <p:cNvGrpSpPr/>
          <p:nvPr/>
        </p:nvGrpSpPr>
        <p:grpSpPr>
          <a:xfrm>
            <a:off x="3163526" y="4822114"/>
            <a:ext cx="2305365" cy="862002"/>
            <a:chOff x="3163526" y="5444965"/>
            <a:chExt cx="2305365" cy="862002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B1C330D2-CF52-4AC0-A266-F790E675F2CD}"/>
                </a:ext>
              </a:extLst>
            </p:cNvPr>
            <p:cNvGrpSpPr/>
            <p:nvPr/>
          </p:nvGrpSpPr>
          <p:grpSpPr>
            <a:xfrm>
              <a:off x="4303187" y="5566644"/>
              <a:ext cx="1165704" cy="740323"/>
              <a:chOff x="836335" y="5562052"/>
              <a:chExt cx="1165704" cy="740323"/>
            </a:xfrm>
          </p:grpSpPr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843EE726-5A7D-4915-B3B1-850179828CF9}"/>
                  </a:ext>
                </a:extLst>
              </p:cNvPr>
              <p:cNvSpPr/>
              <p:nvPr/>
            </p:nvSpPr>
            <p:spPr>
              <a:xfrm>
                <a:off x="1338471" y="5562052"/>
                <a:ext cx="251790" cy="2781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F87F1843-B5FD-4886-B809-6B9CA274D946}"/>
                  </a:ext>
                </a:extLst>
              </p:cNvPr>
              <p:cNvSpPr txBox="1"/>
              <p:nvPr/>
            </p:nvSpPr>
            <p:spPr>
              <a:xfrm>
                <a:off x="836335" y="5840710"/>
                <a:ext cx="1165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LSN: 150</a:t>
                </a:r>
              </a:p>
              <a:p>
                <a:r>
                  <a:rPr lang="en-US" altLang="zh-CN" sz="1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prevLSN</a:t>
                </a:r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120</a:t>
                </a:r>
                <a:endParaRPr lang="zh-CN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49" name="连接符: 肘形 17">
              <a:extLst>
                <a:ext uri="{FF2B5EF4-FFF2-40B4-BE49-F238E27FC236}">
                  <a16:creationId xmlns:a16="http://schemas.microsoft.com/office/drawing/2014/main" id="{9532CE04-3BE7-4DB0-AFA4-3EA9C5B3CAD8}"/>
                </a:ext>
              </a:extLst>
            </p:cNvPr>
            <p:cNvCxnSpPr>
              <a:cxnSpLocks/>
              <a:stCxn id="40" idx="1"/>
              <a:endCxn id="37" idx="7"/>
            </p:cNvCxnSpPr>
            <p:nvPr/>
          </p:nvCxnSpPr>
          <p:spPr>
            <a:xfrm rot="16200000" flipV="1">
              <a:off x="3997253" y="4762439"/>
              <a:ext cx="11218" cy="1678671"/>
            </a:xfrm>
            <a:prstGeom prst="curvedConnector3">
              <a:avLst>
                <a:gd name="adj1" fmla="val 250096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A3E9C4ED-1544-44A4-AEF3-D3B40823F2D9}"/>
                </a:ext>
              </a:extLst>
            </p:cNvPr>
            <p:cNvSpPr txBox="1"/>
            <p:nvPr/>
          </p:nvSpPr>
          <p:spPr>
            <a:xfrm>
              <a:off x="4180397" y="5444965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Update</a:t>
              </a:r>
              <a:endPara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CC4AB33-1702-4469-806B-937B9ABB557C}"/>
              </a:ext>
            </a:extLst>
          </p:cNvPr>
          <p:cNvGrpSpPr/>
          <p:nvPr/>
        </p:nvGrpSpPr>
        <p:grpSpPr>
          <a:xfrm>
            <a:off x="5020239" y="4822095"/>
            <a:ext cx="2314849" cy="857429"/>
            <a:chOff x="5020239" y="5444946"/>
            <a:chExt cx="2314849" cy="857429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46EC73B7-E853-48C9-A869-6A5A0164BEBD}"/>
                </a:ext>
              </a:extLst>
            </p:cNvPr>
            <p:cNvGrpSpPr/>
            <p:nvPr/>
          </p:nvGrpSpPr>
          <p:grpSpPr>
            <a:xfrm>
              <a:off x="6169384" y="5562052"/>
              <a:ext cx="1165704" cy="740323"/>
              <a:chOff x="836335" y="5562052"/>
              <a:chExt cx="1165704" cy="740323"/>
            </a:xfrm>
          </p:grpSpPr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695E41C7-DD27-4143-A8E1-35F82F936A26}"/>
                  </a:ext>
                </a:extLst>
              </p:cNvPr>
              <p:cNvSpPr/>
              <p:nvPr/>
            </p:nvSpPr>
            <p:spPr>
              <a:xfrm>
                <a:off x="1338471" y="5562052"/>
                <a:ext cx="251790" cy="2781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1D6B821-BC66-4889-8033-0427AEAD67ED}"/>
                  </a:ext>
                </a:extLst>
              </p:cNvPr>
              <p:cNvSpPr txBox="1"/>
              <p:nvPr/>
            </p:nvSpPr>
            <p:spPr>
              <a:xfrm>
                <a:off x="836335" y="5840710"/>
                <a:ext cx="1165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LSN: 190</a:t>
                </a:r>
              </a:p>
              <a:p>
                <a:r>
                  <a:rPr lang="en-US" altLang="zh-CN" sz="1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prevLSN</a:t>
                </a:r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150</a:t>
                </a:r>
                <a:endParaRPr lang="zh-CN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8" name="连接符: 肘形 17">
              <a:extLst>
                <a:ext uri="{FF2B5EF4-FFF2-40B4-BE49-F238E27FC236}">
                  <a16:creationId xmlns:a16="http://schemas.microsoft.com/office/drawing/2014/main" id="{EE181C4E-3640-44F3-966A-49B918E7E32D}"/>
                </a:ext>
              </a:extLst>
            </p:cNvPr>
            <p:cNvCxnSpPr>
              <a:cxnSpLocks/>
              <a:stCxn id="43" idx="1"/>
              <a:endCxn id="40" idx="7"/>
            </p:cNvCxnSpPr>
            <p:nvPr/>
          </p:nvCxnSpPr>
          <p:spPr>
            <a:xfrm rot="16200000" flipV="1">
              <a:off x="5863300" y="4757697"/>
              <a:ext cx="2034" cy="1688155"/>
            </a:xfrm>
            <a:prstGeom prst="curvedConnector3">
              <a:avLst>
                <a:gd name="adj1" fmla="val 133418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A5BA2128-D91E-4E68-8283-6A8C0AF58F93}"/>
                </a:ext>
              </a:extLst>
            </p:cNvPr>
            <p:cNvSpPr txBox="1"/>
            <p:nvPr/>
          </p:nvSpPr>
          <p:spPr>
            <a:xfrm>
              <a:off x="6134711" y="5444946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Abort</a:t>
              </a:r>
              <a:endParaRPr lang="zh-CN" alt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2700F13-661D-4A82-97E2-F470EC0A9208}"/>
              </a:ext>
            </a:extLst>
          </p:cNvPr>
          <p:cNvGrpSpPr/>
          <p:nvPr/>
        </p:nvGrpSpPr>
        <p:grpSpPr>
          <a:xfrm>
            <a:off x="3163526" y="4830736"/>
            <a:ext cx="7450899" cy="1233531"/>
            <a:chOff x="3163526" y="5453587"/>
            <a:chExt cx="7450899" cy="1233531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9826B296-1702-424F-88CC-C087380B6CAC}"/>
                </a:ext>
              </a:extLst>
            </p:cNvPr>
            <p:cNvGrpSpPr/>
            <p:nvPr/>
          </p:nvGrpSpPr>
          <p:grpSpPr>
            <a:xfrm>
              <a:off x="9035147" y="5557453"/>
              <a:ext cx="1579278" cy="1129665"/>
              <a:chOff x="836335" y="5542042"/>
              <a:chExt cx="1579278" cy="1129665"/>
            </a:xfrm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037DF49-354E-4DCB-A3A2-DA8F9221F47C}"/>
                  </a:ext>
                </a:extLst>
              </p:cNvPr>
              <p:cNvSpPr/>
              <p:nvPr/>
            </p:nvSpPr>
            <p:spPr>
              <a:xfrm>
                <a:off x="1648503" y="5542042"/>
                <a:ext cx="251790" cy="278190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9E1429F8-8950-455F-A483-18645A7F1F68}"/>
                  </a:ext>
                </a:extLst>
              </p:cNvPr>
              <p:cNvSpPr txBox="1"/>
              <p:nvPr/>
            </p:nvSpPr>
            <p:spPr>
              <a:xfrm>
                <a:off x="836335" y="5840710"/>
                <a:ext cx="157927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LSN: 210</a:t>
                </a:r>
              </a:p>
              <a:p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</a:t>
                </a:r>
                <a:r>
                  <a:rPr lang="en-US" altLang="zh-CN" sz="12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prevLSN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200</a:t>
                </a:r>
              </a:p>
              <a:p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altLang="zh-CN" sz="12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undoLSN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120</a:t>
                </a:r>
              </a:p>
              <a:p>
                <a:r>
                  <a:rPr lang="en-US" altLang="zh-CN" sz="1200" b="1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undonextLSN</a:t>
                </a:r>
                <a:r>
                  <a:rPr lang="en-US" altLang="zh-CN" sz="12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100 </a:t>
                </a:r>
                <a:endParaRPr lang="zh-CN" altLang="en-US" sz="12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64" name="连接符: 肘形 17">
              <a:extLst>
                <a:ext uri="{FF2B5EF4-FFF2-40B4-BE49-F238E27FC236}">
                  <a16:creationId xmlns:a16="http://schemas.microsoft.com/office/drawing/2014/main" id="{DCCC4DED-6E33-448A-BAD7-61EF0AE7CFA1}"/>
                </a:ext>
              </a:extLst>
            </p:cNvPr>
            <p:cNvCxnSpPr>
              <a:cxnSpLocks/>
              <a:stCxn id="62" idx="3"/>
              <a:endCxn id="37" idx="5"/>
            </p:cNvCxnSpPr>
            <p:nvPr/>
          </p:nvCxnSpPr>
          <p:spPr>
            <a:xfrm rot="5400000" flipH="1">
              <a:off x="6522844" y="2433559"/>
              <a:ext cx="2027" cy="6720663"/>
            </a:xfrm>
            <a:prstGeom prst="curvedConnector3">
              <a:avLst>
                <a:gd name="adj1" fmla="val -13287617"/>
              </a:avLst>
            </a:prstGeom>
            <a:ln w="1270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连接符: 肘形 17">
              <a:extLst>
                <a:ext uri="{FF2B5EF4-FFF2-40B4-BE49-F238E27FC236}">
                  <a16:creationId xmlns:a16="http://schemas.microsoft.com/office/drawing/2014/main" id="{B4013A6E-F6C8-4496-A6EC-9425F82D785C}"/>
                </a:ext>
              </a:extLst>
            </p:cNvPr>
            <p:cNvCxnSpPr>
              <a:cxnSpLocks/>
              <a:stCxn id="62" idx="1"/>
              <a:endCxn id="56" idx="7"/>
            </p:cNvCxnSpPr>
            <p:nvPr/>
          </p:nvCxnSpPr>
          <p:spPr>
            <a:xfrm rot="16200000" flipV="1">
              <a:off x="9210357" y="4924361"/>
              <a:ext cx="14239" cy="1333426"/>
            </a:xfrm>
            <a:prstGeom prst="curvedConnector3">
              <a:avLst>
                <a:gd name="adj1" fmla="val 199156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962F2F59-BE96-46B0-ADC7-384FC0A07C20}"/>
                </a:ext>
              </a:extLst>
            </p:cNvPr>
            <p:cNvSpPr txBox="1"/>
            <p:nvPr/>
          </p:nvSpPr>
          <p:spPr>
            <a:xfrm>
              <a:off x="9369133" y="5453587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CLR</a:t>
              </a:r>
              <a:endParaRPr lang="zh-CN" alt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3989EB26-8191-4355-A535-603ACAF196D0}"/>
              </a:ext>
            </a:extLst>
          </p:cNvPr>
          <p:cNvGrpSpPr/>
          <p:nvPr/>
        </p:nvGrpSpPr>
        <p:grpSpPr>
          <a:xfrm>
            <a:off x="10062231" y="4777897"/>
            <a:ext cx="1620485" cy="910232"/>
            <a:chOff x="10062231" y="5400748"/>
            <a:chExt cx="1620485" cy="910232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38EB3C00-F6AD-49A8-9447-86405B712DDD}"/>
                </a:ext>
              </a:extLst>
            </p:cNvPr>
            <p:cNvGrpSpPr/>
            <p:nvPr/>
          </p:nvGrpSpPr>
          <p:grpSpPr>
            <a:xfrm>
              <a:off x="10517012" y="5570657"/>
              <a:ext cx="1165704" cy="740323"/>
              <a:chOff x="836335" y="5562052"/>
              <a:chExt cx="1165704" cy="740323"/>
            </a:xfrm>
          </p:grpSpPr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0DE91DAA-DD29-471D-B06F-A90EC64E226D}"/>
                  </a:ext>
                </a:extLst>
              </p:cNvPr>
              <p:cNvSpPr/>
              <p:nvPr/>
            </p:nvSpPr>
            <p:spPr>
              <a:xfrm>
                <a:off x="1338471" y="5562052"/>
                <a:ext cx="251790" cy="2781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7067B7DA-8A8E-4820-B762-B704CF1DE60D}"/>
                  </a:ext>
                </a:extLst>
              </p:cNvPr>
              <p:cNvSpPr txBox="1"/>
              <p:nvPr/>
            </p:nvSpPr>
            <p:spPr>
              <a:xfrm>
                <a:off x="836335" y="5840710"/>
                <a:ext cx="1165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LSN: 250</a:t>
                </a:r>
              </a:p>
              <a:p>
                <a:r>
                  <a:rPr lang="en-US" altLang="zh-CN" sz="1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prevLSN</a:t>
                </a:r>
                <a:r>
                  <a:rPr lang="en-US" altLang="zh-CN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210</a:t>
                </a:r>
                <a:endParaRPr lang="zh-CN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7" name="连接符: 肘形 17">
              <a:extLst>
                <a:ext uri="{FF2B5EF4-FFF2-40B4-BE49-F238E27FC236}">
                  <a16:creationId xmlns:a16="http://schemas.microsoft.com/office/drawing/2014/main" id="{916F09D5-9D2E-4F61-A7AA-D0992E2A715D}"/>
                </a:ext>
              </a:extLst>
            </p:cNvPr>
            <p:cNvCxnSpPr>
              <a:cxnSpLocks/>
              <a:stCxn id="84" idx="1"/>
              <a:endCxn id="62" idx="7"/>
            </p:cNvCxnSpPr>
            <p:nvPr/>
          </p:nvCxnSpPr>
          <p:spPr>
            <a:xfrm rot="16200000" flipV="1">
              <a:off x="10549212" y="5104586"/>
              <a:ext cx="19830" cy="993791"/>
            </a:xfrm>
            <a:prstGeom prst="curvedConnector3">
              <a:avLst>
                <a:gd name="adj1" fmla="val 145824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E6236D9-8ADD-4636-88A4-D1341A7DC7AB}"/>
                </a:ext>
              </a:extLst>
            </p:cNvPr>
            <p:cNvSpPr txBox="1"/>
            <p:nvPr/>
          </p:nvSpPr>
          <p:spPr>
            <a:xfrm>
              <a:off x="10577287" y="5400748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End</a:t>
              </a:r>
              <a:endParaRPr lang="zh-CN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Non-Fuzzy Checkpointing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199" y="1798637"/>
            <a:ext cx="10458061" cy="4378227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The DBMS </a:t>
            </a:r>
            <a:r>
              <a:rPr lang="en-US" b="1" dirty="0">
                <a:solidFill>
                  <a:srgbClr val="FF0000"/>
                </a:solidFill>
              </a:rPr>
              <a:t>halts</a:t>
            </a:r>
            <a:r>
              <a:rPr lang="en-US" dirty="0"/>
              <a:t> everything when it takes a checkpoint to ensure a consistent snapshot: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Halt the start of any new </a:t>
            </a:r>
            <a:r>
              <a:rPr lang="en-US" dirty="0" err="1"/>
              <a:t>txns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Wait until all active </a:t>
            </a:r>
            <a:r>
              <a:rPr lang="en-US" dirty="0" err="1"/>
              <a:t>txns</a:t>
            </a:r>
            <a:r>
              <a:rPr lang="en-US" dirty="0"/>
              <a:t> finish executing.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Flushes dirty pages on disk.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This is bad for runtime performance but makes recovery trivially </a:t>
            </a:r>
            <a:r>
              <a:rPr lang="en-US" b="1" dirty="0">
                <a:solidFill>
                  <a:srgbClr val="0000FF"/>
                </a:solidFill>
              </a:rPr>
              <a:t>easy</a:t>
            </a:r>
            <a:r>
              <a:rPr lang="en-US" dirty="0"/>
              <a:t>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D14D45-ACF7-49BB-9DA0-2450DBB8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03AD-254D-4666-87FB-A6002B2E232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A04606-4FD7-4C05-B352-6A65B05F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5DA402-A474-45A0-822E-37945482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646980"/>
      </p:ext>
    </p:extLst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Fuzzy Checkpointing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199" y="1754156"/>
            <a:ext cx="10515599" cy="4602194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Allows active </a:t>
            </a:r>
            <a:r>
              <a:rPr lang="en-US" dirty="0" err="1"/>
              <a:t>txns</a:t>
            </a:r>
            <a:r>
              <a:rPr lang="en-US" dirty="0"/>
              <a:t> to continue the run while the system flushes dirty pages to disk.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Log for Checkpoint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b="1" dirty="0" err="1">
                <a:solidFill>
                  <a:srgbClr val="00B0F0"/>
                </a:solidFill>
              </a:rPr>
              <a:t>begin_checkpoint</a:t>
            </a:r>
            <a:r>
              <a:rPr lang="en-US" dirty="0"/>
              <a:t> record:  Indicates when </a:t>
            </a:r>
            <a:r>
              <a:rPr lang="en-US" dirty="0" err="1"/>
              <a:t>chkpt</a:t>
            </a:r>
            <a:r>
              <a:rPr lang="en-US" dirty="0"/>
              <a:t> began.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b="1" dirty="0" err="1">
                <a:solidFill>
                  <a:srgbClr val="00B0F0"/>
                </a:solidFill>
              </a:rPr>
              <a:t>end_checkpoint</a:t>
            </a:r>
            <a:r>
              <a:rPr lang="en-US" dirty="0"/>
              <a:t> record:  Contains </a:t>
            </a:r>
            <a:r>
              <a:rPr lang="en-US" b="1" i="1" dirty="0" err="1">
                <a:solidFill>
                  <a:srgbClr val="00B050"/>
                </a:solidFill>
              </a:rPr>
              <a:t>Txn</a:t>
            </a:r>
            <a:r>
              <a:rPr lang="en-US" b="1" i="1" dirty="0">
                <a:solidFill>
                  <a:srgbClr val="00B050"/>
                </a:solidFill>
              </a:rPr>
              <a:t> Table </a:t>
            </a:r>
            <a:r>
              <a:rPr lang="en-US" dirty="0"/>
              <a:t>and </a:t>
            </a:r>
            <a:r>
              <a:rPr lang="en-US" b="1" i="1" dirty="0">
                <a:solidFill>
                  <a:srgbClr val="00B050"/>
                </a:solidFill>
              </a:rPr>
              <a:t>Dirty Page Table</a:t>
            </a:r>
            <a:r>
              <a:rPr lang="en-US" dirty="0"/>
              <a:t>. 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These tables accurate only as of the time of the </a:t>
            </a:r>
            <a:r>
              <a:rPr lang="en-US" dirty="0" err="1"/>
              <a:t>begin_checkpoint</a:t>
            </a:r>
            <a:r>
              <a:rPr lang="en-US" dirty="0"/>
              <a:t> record</a:t>
            </a:r>
          </a:p>
          <a:p>
            <a:pPr lvl="2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No attempt to force dirty pages to disk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Store LSN of </a:t>
            </a:r>
            <a:r>
              <a:rPr lang="en-US" dirty="0" err="1"/>
              <a:t>chkpt</a:t>
            </a:r>
            <a:r>
              <a:rPr lang="en-US" dirty="0"/>
              <a:t> record in a safe place (</a:t>
            </a:r>
            <a:r>
              <a:rPr lang="en-US" i="1" dirty="0"/>
              <a:t>master </a:t>
            </a:r>
            <a:r>
              <a:rPr lang="en-US" dirty="0"/>
              <a:t>record).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26E0B5-A672-43BB-8012-8DED8EEF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2DAE-8636-4384-9063-B28C511B102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7770DB-4582-42CF-AE8A-EDF4F46B4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E2E08-FE57-4CBC-A75D-4B60F360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CC3B22-D215-479B-BACA-4355A1BE5267}"/>
              </a:ext>
            </a:extLst>
          </p:cNvPr>
          <p:cNvSpPr/>
          <p:nvPr/>
        </p:nvSpPr>
        <p:spPr>
          <a:xfrm>
            <a:off x="8817663" y="416034"/>
            <a:ext cx="2802835" cy="583236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A, 100, 120&gt;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100, 120&gt;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CHECKPOINT-BEGIN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A, 120, 130&gt;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CHECKPOINT-END</a:t>
            </a:r>
            <a:endParaRPr lang="en-US" altLang="zh-CN" sz="16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ATT={T</a:t>
            </a:r>
            <a:r>
              <a:rPr lang="en-US" altLang="zh-CN" sz="16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  <a:endParaRPr lang="en-US" altLang="zh-CN" sz="16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DPT={P</a:t>
            </a:r>
            <a:r>
              <a:rPr lang="en-US" altLang="zh-CN" sz="16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B, 200, 400&gt;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CHECKPOINT-BEGIN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B, 10, 12&gt;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CHECKPOINT-END</a:t>
            </a:r>
            <a:endParaRPr lang="en-US" altLang="zh-CN" sz="16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ATT={T</a:t>
            </a:r>
            <a:r>
              <a:rPr lang="en-US" altLang="zh-CN" sz="16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  <a:endParaRPr lang="en-US" altLang="zh-CN" sz="16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DPT={P</a:t>
            </a:r>
            <a:r>
              <a:rPr lang="en-US" altLang="zh-CN" sz="1600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398604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Crash Recovery: Big Picture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6246537" y="1886263"/>
            <a:ext cx="5128448" cy="447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</a:bodyPr>
          <a:lstStyle/>
          <a:p>
            <a:pPr marL="342900" indent="-342900">
              <a:spcBef>
                <a:spcPts val="1200"/>
              </a:spcBef>
              <a:buClr>
                <a:schemeClr val="tx1"/>
              </a:buClr>
              <a:buSzPct val="75000"/>
            </a:pPr>
            <a:r>
              <a:rPr lang="en-US" sz="2800" dirty="0">
                <a:latin typeface="Book Antiqua" charset="0"/>
              </a:rPr>
              <a:t>- Start from a checkpoint (found via master record).</a:t>
            </a:r>
          </a:p>
          <a:p>
            <a:pPr marL="342900" indent="-342900">
              <a:spcBef>
                <a:spcPts val="1200"/>
              </a:spcBef>
              <a:buClr>
                <a:schemeClr val="tx1"/>
              </a:buClr>
              <a:buSzPct val="75000"/>
            </a:pPr>
            <a:r>
              <a:rPr lang="en-US" sz="2800" dirty="0">
                <a:latin typeface="Book Antiqua" charset="0"/>
              </a:rPr>
              <a:t>- Need to:</a:t>
            </a:r>
          </a:p>
          <a:p>
            <a:pPr marL="742950" lvl="1" indent="-285750">
              <a:spcBef>
                <a:spcPts val="1200"/>
              </a:spcBef>
              <a:buClr>
                <a:schemeClr val="tx1"/>
              </a:buClr>
              <a:buFontTx/>
              <a:buChar char="–"/>
            </a:pPr>
            <a:r>
              <a:rPr lang="en-US" dirty="0">
                <a:latin typeface="Book Antiqua" charset="0"/>
              </a:rPr>
              <a:t>Figure out which </a:t>
            </a:r>
            <a:r>
              <a:rPr lang="en-US" dirty="0" err="1">
                <a:latin typeface="Book Antiqua" charset="0"/>
              </a:rPr>
              <a:t>Txns</a:t>
            </a:r>
            <a:r>
              <a:rPr lang="en-US" dirty="0">
                <a:latin typeface="Book Antiqua" charset="0"/>
              </a:rPr>
              <a:t> committed since checkpoint, which failed (</a:t>
            </a:r>
            <a:r>
              <a:rPr lang="en-US" dirty="0">
                <a:solidFill>
                  <a:srgbClr val="0000FF"/>
                </a:solidFill>
                <a:latin typeface="Book Antiqua" charset="0"/>
              </a:rPr>
              <a:t>Analysis</a:t>
            </a:r>
            <a:r>
              <a:rPr lang="en-US" dirty="0">
                <a:latin typeface="Book Antiqua" charset="0"/>
              </a:rPr>
              <a:t>).</a:t>
            </a:r>
          </a:p>
          <a:p>
            <a:pPr marL="742950" lvl="1" indent="-285750">
              <a:spcBef>
                <a:spcPts val="1200"/>
              </a:spcBef>
              <a:buClr>
                <a:schemeClr val="tx1"/>
              </a:buClr>
              <a:buFontTx/>
              <a:buChar char="–"/>
            </a:pPr>
            <a:r>
              <a:rPr lang="en-US" dirty="0">
                <a:solidFill>
                  <a:schemeClr val="accent2"/>
                </a:solidFill>
                <a:latin typeface="Book Antiqua" charset="0"/>
              </a:rPr>
              <a:t>REDO</a:t>
            </a:r>
            <a:r>
              <a:rPr lang="en-US" dirty="0">
                <a:latin typeface="Book Antiqua" charset="0"/>
              </a:rPr>
              <a:t> </a:t>
            </a:r>
            <a:r>
              <a:rPr lang="en-US" b="1" i="1" dirty="0">
                <a:latin typeface="Book Antiqua" charset="0"/>
              </a:rPr>
              <a:t>all</a:t>
            </a:r>
            <a:r>
              <a:rPr lang="en-US" dirty="0">
                <a:latin typeface="Book Antiqua" charset="0"/>
              </a:rPr>
              <a:t> actions.</a:t>
            </a:r>
          </a:p>
          <a:p>
            <a:pPr marL="1143000" lvl="2" indent="-228600">
              <a:spcBef>
                <a:spcPts val="1200"/>
              </a:spcBef>
              <a:buClr>
                <a:schemeClr val="tx1"/>
              </a:buClr>
              <a:buSzPct val="65000"/>
              <a:buFont typeface="Monotype Sorts" charset="2"/>
              <a:buChar char="u"/>
            </a:pPr>
            <a:r>
              <a:rPr lang="en-US" dirty="0">
                <a:latin typeface="Book Antiqua" charset="0"/>
              </a:rPr>
              <a:t>(repeat history)</a:t>
            </a:r>
          </a:p>
          <a:p>
            <a:pPr marL="742950" lvl="1" indent="-285750">
              <a:spcBef>
                <a:spcPts val="1200"/>
              </a:spcBef>
              <a:buClr>
                <a:schemeClr val="tx1"/>
              </a:buClr>
              <a:buFontTx/>
              <a:buChar char="–"/>
            </a:pPr>
            <a:r>
              <a:rPr lang="en-US" dirty="0">
                <a:solidFill>
                  <a:srgbClr val="009900"/>
                </a:solidFill>
                <a:latin typeface="Book Antiqua" charset="0"/>
              </a:rPr>
              <a:t>UNDO</a:t>
            </a:r>
            <a:r>
              <a:rPr lang="en-US" dirty="0">
                <a:latin typeface="Book Antiqua" charset="0"/>
              </a:rPr>
              <a:t> effects of failed </a:t>
            </a:r>
            <a:r>
              <a:rPr lang="en-US" dirty="0" err="1">
                <a:latin typeface="Book Antiqua" charset="0"/>
              </a:rPr>
              <a:t>Txns</a:t>
            </a:r>
            <a:r>
              <a:rPr lang="en-US" dirty="0">
                <a:latin typeface="Book Antiqua" charset="0"/>
              </a:rPr>
              <a:t>.</a:t>
            </a:r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>
            <a:off x="4096320" y="1778000"/>
            <a:ext cx="0" cy="4140200"/>
          </a:xfrm>
          <a:prstGeom prst="line">
            <a:avLst/>
          </a:prstGeom>
          <a:noFill/>
          <a:ln w="50800">
            <a:solidFill>
              <a:schemeClr val="tx2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auto">
          <a:xfrm>
            <a:off x="841457" y="1869496"/>
            <a:ext cx="2977450" cy="8284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Book Antiqua" charset="0"/>
              </a:rPr>
              <a:t>Oldest log rec. of </a:t>
            </a:r>
            <a:r>
              <a:rPr lang="en-US" sz="2400" b="1" dirty="0" err="1">
                <a:latin typeface="Book Antiqua" charset="0"/>
              </a:rPr>
              <a:t>Txns</a:t>
            </a:r>
            <a:r>
              <a:rPr lang="en-US" sz="2400" b="1" dirty="0">
                <a:latin typeface="Book Antiqua" charset="0"/>
              </a:rPr>
              <a:t> active at crash</a:t>
            </a: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817016" y="3246520"/>
            <a:ext cx="3039010" cy="8284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Book Antiqua" charset="0"/>
              </a:rPr>
              <a:t>Smallest </a:t>
            </a:r>
            <a:r>
              <a:rPr lang="en-US" sz="2400" b="1" dirty="0" err="1">
                <a:latin typeface="Book Antiqua" charset="0"/>
              </a:rPr>
              <a:t>recLSN</a:t>
            </a:r>
            <a:r>
              <a:rPr lang="en-US" sz="2400" b="1" dirty="0">
                <a:latin typeface="Book Antiqua" charset="0"/>
              </a:rPr>
              <a:t> in dirty page table</a:t>
            </a:r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auto">
          <a:xfrm>
            <a:off x="817016" y="5032210"/>
            <a:ext cx="3039010" cy="459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Book Antiqua" charset="0"/>
              </a:rPr>
              <a:t>Last Check Point</a:t>
            </a:r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3956620" y="22860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>
            <a:off x="3956620" y="36576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3956620" y="52578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3956620" y="6019800"/>
            <a:ext cx="279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03" name="Line 15"/>
          <p:cNvSpPr>
            <a:spLocks noChangeShapeType="1"/>
          </p:cNvSpPr>
          <p:nvPr/>
        </p:nvSpPr>
        <p:spPr bwMode="auto">
          <a:xfrm flipH="1">
            <a:off x="4508422" y="5257800"/>
            <a:ext cx="3958" cy="73660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stealth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4934520" y="3683000"/>
            <a:ext cx="0" cy="231140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 type="none" w="sm" len="sm"/>
            <a:tailEnd type="stealth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05" name="Line 17"/>
          <p:cNvSpPr>
            <a:spLocks noChangeShapeType="1"/>
          </p:cNvSpPr>
          <p:nvPr/>
        </p:nvSpPr>
        <p:spPr bwMode="auto">
          <a:xfrm flipH="1">
            <a:off x="5391719" y="2282894"/>
            <a:ext cx="16619" cy="3711506"/>
          </a:xfrm>
          <a:prstGeom prst="line">
            <a:avLst/>
          </a:prstGeom>
          <a:noFill/>
          <a:ln w="50800">
            <a:solidFill>
              <a:srgbClr val="009900"/>
            </a:solidFill>
            <a:round/>
            <a:headEnd type="stealth" w="med" len="med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4288759" y="5983613"/>
            <a:ext cx="426400" cy="45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rgbClr val="0000FF"/>
                </a:solidFill>
                <a:latin typeface="Book Antiqua" charset="0"/>
              </a:rPr>
              <a:t>A</a:t>
            </a:r>
          </a:p>
        </p:txBody>
      </p:sp>
      <p:sp>
        <p:nvSpPr>
          <p:cNvPr id="37907" name="Rectangle 19"/>
          <p:cNvSpPr>
            <a:spLocks noChangeArrowheads="1"/>
          </p:cNvSpPr>
          <p:nvPr/>
        </p:nvSpPr>
        <p:spPr bwMode="auto">
          <a:xfrm>
            <a:off x="4745960" y="5985201"/>
            <a:ext cx="3968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solidFill>
                  <a:schemeClr val="accent2"/>
                </a:solidFill>
                <a:latin typeface="Book Antiqua" charset="0"/>
              </a:rPr>
              <a:t>R</a:t>
            </a:r>
          </a:p>
        </p:txBody>
      </p:sp>
      <p:sp>
        <p:nvSpPr>
          <p:cNvPr id="37908" name="Rectangle 20"/>
          <p:cNvSpPr>
            <a:spLocks noChangeArrowheads="1"/>
          </p:cNvSpPr>
          <p:nvPr/>
        </p:nvSpPr>
        <p:spPr bwMode="auto">
          <a:xfrm>
            <a:off x="5203159" y="5985200"/>
            <a:ext cx="422142" cy="45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solidFill>
                  <a:srgbClr val="009900"/>
                </a:solidFill>
                <a:latin typeface="Book Antiqua" charset="0"/>
              </a:rPr>
              <a:t>U</a:t>
            </a:r>
          </a:p>
        </p:txBody>
      </p:sp>
      <p:cxnSp>
        <p:nvCxnSpPr>
          <p:cNvPr id="22" name="Straight Connector 21"/>
          <p:cNvCxnSpPr>
            <a:cxnSpLocks/>
            <a:stCxn id="37895" idx="3"/>
            <a:endCxn id="37905" idx="0"/>
          </p:cNvCxnSpPr>
          <p:nvPr/>
        </p:nvCxnSpPr>
        <p:spPr>
          <a:xfrm flipV="1">
            <a:off x="3818907" y="2282894"/>
            <a:ext cx="1589431" cy="8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cxnSpLocks/>
            <a:stCxn id="37896" idx="3"/>
          </p:cNvCxnSpPr>
          <p:nvPr/>
        </p:nvCxnSpPr>
        <p:spPr>
          <a:xfrm flipV="1">
            <a:off x="3856026" y="3653641"/>
            <a:ext cx="1078493" cy="7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  <a:stCxn id="37897" idx="3"/>
            <a:endCxn id="37903" idx="0"/>
          </p:cNvCxnSpPr>
          <p:nvPr/>
        </p:nvCxnSpPr>
        <p:spPr>
          <a:xfrm flipV="1">
            <a:off x="3856026" y="5257800"/>
            <a:ext cx="656354" cy="3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65071" y="5712024"/>
            <a:ext cx="2531249" cy="615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69850" h="38100" prst="cross"/>
            </a:sp3d>
          </a:bodyPr>
          <a:lstStyle/>
          <a:p>
            <a:pPr algn="ctr"/>
            <a:r>
              <a:rPr lang="en-US" sz="3400" b="1" dirty="0">
                <a:solidFill>
                  <a:srgbClr val="FF0000"/>
                </a:solidFill>
                <a:effectLst>
                  <a:glow rad="101600">
                    <a:srgbClr val="FFFF00">
                      <a:alpha val="75000"/>
                    </a:srgbClr>
                  </a:glow>
                  <a:reflection stA="50000" endPos="75000" dist="12700" dir="5400000" sy="-100000" algn="bl" rotWithShape="0"/>
                </a:effectLst>
              </a:rPr>
              <a:t>CRASH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0EA3D2-CE76-4E20-9EB8-D9F6718C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F18B-BEFE-47B7-A845-8DF81151A960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FDACAE-4F1C-4E11-893E-03C8BE29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39EDBF-68B8-4325-9882-F1FB851A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 animBg="1"/>
      <p:bldP spid="37896" grpId="0" animBg="1"/>
      <p:bldP spid="3789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Scan log </a:t>
            </a:r>
            <a:r>
              <a:rPr lang="en-US" altLang="zh-CN" b="1" dirty="0">
                <a:solidFill>
                  <a:srgbClr val="0000FF"/>
                </a:solidFill>
              </a:rPr>
              <a:t>forward</a:t>
            </a:r>
            <a:r>
              <a:rPr lang="en-US" altLang="zh-CN" dirty="0"/>
              <a:t> from last successful checkpoint.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If you find a </a:t>
            </a:r>
            <a:r>
              <a:rPr lang="en-US" altLang="zh-CN" b="1" dirty="0"/>
              <a:t>TXN-END </a:t>
            </a:r>
            <a:r>
              <a:rPr lang="en-US" altLang="zh-CN" dirty="0"/>
              <a:t>record, remove its corresponding </a:t>
            </a:r>
            <a:r>
              <a:rPr lang="en-US" altLang="zh-CN" dirty="0" err="1"/>
              <a:t>txn</a:t>
            </a:r>
            <a:r>
              <a:rPr lang="en-US" altLang="zh-CN" dirty="0"/>
              <a:t> from </a:t>
            </a:r>
            <a:r>
              <a:rPr lang="en-US" altLang="zh-CN" b="1" dirty="0"/>
              <a:t>Active Transaction Table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All other records: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Add </a:t>
            </a:r>
            <a:r>
              <a:rPr lang="en-US" altLang="zh-CN" dirty="0" err="1"/>
              <a:t>txn</a:t>
            </a:r>
            <a:r>
              <a:rPr lang="en-US" altLang="zh-CN" dirty="0"/>
              <a:t> to </a:t>
            </a:r>
            <a:r>
              <a:rPr lang="en-US" altLang="zh-CN" b="1" dirty="0"/>
              <a:t>ATT </a:t>
            </a:r>
            <a:r>
              <a:rPr lang="en-US" altLang="zh-CN" dirty="0"/>
              <a:t>with status </a:t>
            </a:r>
            <a:r>
              <a:rPr lang="en-US" altLang="zh-CN" b="1" dirty="0">
                <a:solidFill>
                  <a:srgbClr val="FF0000"/>
                </a:solidFill>
              </a:rPr>
              <a:t>UNDO</a:t>
            </a:r>
            <a:r>
              <a:rPr lang="en-US" altLang="zh-CN" dirty="0"/>
              <a:t>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On commit, change </a:t>
            </a:r>
            <a:r>
              <a:rPr lang="en-US" altLang="zh-CN" dirty="0" err="1"/>
              <a:t>txn</a:t>
            </a:r>
            <a:r>
              <a:rPr lang="en-US" altLang="zh-CN" dirty="0"/>
              <a:t> status to </a:t>
            </a:r>
            <a:r>
              <a:rPr lang="en-US" altLang="zh-CN" b="1" dirty="0">
                <a:solidFill>
                  <a:srgbClr val="FF0000"/>
                </a:solidFill>
              </a:rPr>
              <a:t>COMMIT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For </a:t>
            </a:r>
            <a:r>
              <a:rPr lang="en-US" altLang="zh-CN" b="1" dirty="0">
                <a:solidFill>
                  <a:srgbClr val="FF0000"/>
                </a:solidFill>
              </a:rPr>
              <a:t>UPDATE</a:t>
            </a:r>
            <a:r>
              <a:rPr lang="en-US" altLang="zh-CN" b="1" dirty="0"/>
              <a:t> </a:t>
            </a:r>
            <a:r>
              <a:rPr lang="en-US" altLang="zh-CN" dirty="0"/>
              <a:t>records: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If page </a:t>
            </a:r>
            <a:r>
              <a:rPr lang="en-US" altLang="zh-CN" b="1" dirty="0"/>
              <a:t>P </a:t>
            </a:r>
            <a:r>
              <a:rPr lang="en-US" altLang="zh-CN" dirty="0"/>
              <a:t>not in </a:t>
            </a:r>
            <a:r>
              <a:rPr lang="en-US" altLang="zh-CN" b="1" dirty="0"/>
              <a:t>Dirty Page Table </a:t>
            </a:r>
            <a:r>
              <a:rPr lang="en-US" altLang="zh-CN" dirty="0"/>
              <a:t>, add </a:t>
            </a:r>
            <a:r>
              <a:rPr lang="en-US" altLang="zh-CN" b="1" dirty="0"/>
              <a:t>P </a:t>
            </a:r>
            <a:r>
              <a:rPr lang="en-US" altLang="zh-CN" dirty="0"/>
              <a:t>to </a:t>
            </a:r>
            <a:r>
              <a:rPr lang="en-US" altLang="zh-CN" b="1" dirty="0"/>
              <a:t>DPT</a:t>
            </a:r>
            <a:r>
              <a:rPr lang="en-US" altLang="zh-CN" dirty="0"/>
              <a:t>, set its </a:t>
            </a:r>
            <a:r>
              <a:rPr lang="en-US" altLang="zh-CN" b="1" dirty="0" err="1">
                <a:solidFill>
                  <a:srgbClr val="FF0000"/>
                </a:solidFill>
              </a:rPr>
              <a:t>recLSN</a:t>
            </a:r>
            <a:r>
              <a:rPr lang="en-US" altLang="zh-CN" dirty="0"/>
              <a:t>=</a:t>
            </a:r>
            <a:r>
              <a:rPr lang="en-US" altLang="zh-CN" b="1" dirty="0">
                <a:solidFill>
                  <a:srgbClr val="FF0000"/>
                </a:solidFill>
              </a:rPr>
              <a:t>LSN</a:t>
            </a:r>
            <a:r>
              <a:rPr lang="en-US" altLang="zh-CN" dirty="0"/>
              <a:t>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56E250-1333-4C6F-AA62-BBD219F2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6BCBB-B50F-462F-B08E-CA495BD5F16A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F007EF-B9B6-4311-92CB-222AFDDC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D0AC9B-365D-4EAD-9C61-3A35930B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17</a:t>
            </a:fld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Analysis Phase</a:t>
            </a:r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675253"/>
            <a:ext cx="10515600" cy="1618861"/>
          </a:xfrm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At end of the Analysis Phase: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ATT identifies which </a:t>
            </a:r>
            <a:r>
              <a:rPr lang="en-US" dirty="0" err="1"/>
              <a:t>txns</a:t>
            </a:r>
            <a:r>
              <a:rPr lang="en-US" dirty="0"/>
              <a:t> were active at time of crash.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DPT identifies which dirty pages </a:t>
            </a:r>
            <a:r>
              <a:rPr lang="en-US" b="1" dirty="0">
                <a:solidFill>
                  <a:srgbClr val="0000FF"/>
                </a:solidFill>
              </a:rPr>
              <a:t>might not </a:t>
            </a:r>
            <a:r>
              <a:rPr lang="en-US" dirty="0"/>
              <a:t>have made it to disk.</a:t>
            </a:r>
            <a:endParaRPr lang="en-US" sz="24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102CEA-2E19-4FC3-B9E7-0882C566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38316-0754-4737-8F8D-8EC394881FF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8A6F94-74D6-4188-9C6C-A9B42E82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E6197-5D22-43CA-85DB-51023979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DECD2-8FF4-4F2B-9DD3-F049B34E7194}"/>
              </a:ext>
            </a:extLst>
          </p:cNvPr>
          <p:cNvSpPr/>
          <p:nvPr/>
        </p:nvSpPr>
        <p:spPr>
          <a:xfrm>
            <a:off x="1106557" y="3294114"/>
            <a:ext cx="2812773" cy="31085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010: &lt;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CHECKPOINT-BEGIN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⋮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020: &lt;T</a:t>
            </a:r>
            <a:r>
              <a:rPr lang="en-US" altLang="zh-CN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96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US" altLang="zh-CN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, A, 10, 15&gt;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⋮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030: &lt;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CHECKPOINT-END</a:t>
            </a:r>
          </a:p>
          <a:p>
            <a:pPr>
              <a:spcBef>
                <a:spcPts val="400"/>
              </a:spcBef>
            </a:pP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	ATT={T</a:t>
            </a:r>
            <a:r>
              <a:rPr lang="en-US" altLang="zh-CN" sz="1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96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,T</a:t>
            </a:r>
            <a:r>
              <a:rPr lang="en-US" altLang="zh-CN" sz="1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97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</a:p>
          <a:p>
            <a:pPr>
              <a:spcBef>
                <a:spcPts val="400"/>
              </a:spcBef>
            </a:pP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	DPT={P</a:t>
            </a:r>
            <a:r>
              <a:rPr lang="en-US" altLang="zh-CN" sz="1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,P</a:t>
            </a:r>
            <a:r>
              <a:rPr lang="en-US" altLang="zh-CN" sz="1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}&gt;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⋮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040: &lt;T</a:t>
            </a:r>
            <a:r>
              <a:rPr lang="en-US" altLang="zh-CN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96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⋮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050: &lt;T</a:t>
            </a:r>
            <a:r>
              <a:rPr lang="en-US" altLang="zh-CN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96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TXN-END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400"/>
              </a:spcBef>
            </a:pP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⋮</a:t>
            </a:r>
          </a:p>
          <a:p>
            <a:pPr>
              <a:spcBef>
                <a:spcPts val="400"/>
              </a:spcBef>
            </a:pPr>
            <a:r>
              <a:rPr lang="en-US" altLang="zh-C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CRASH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D62D973-D9F3-42FE-8899-6C68B99DE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779165"/>
              </p:ext>
            </p:extLst>
          </p:nvPr>
        </p:nvGraphicFramePr>
        <p:xfrm>
          <a:off x="5007114" y="3785020"/>
          <a:ext cx="5985564" cy="18645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0591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2153478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021495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31075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DPT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31075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31075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020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31075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020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002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31075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020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002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310754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020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</a:t>
                      </a:r>
                      <a:r>
                        <a:rPr lang="zh-CN" alt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</a:t>
                      </a:r>
                      <a:r>
                        <a:rPr lang="en-US" altLang="zh-CN" sz="14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002</a:t>
                      </a: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</a:tbl>
          </a:graphicData>
        </a:graphic>
      </p:graphicFrame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86214A3E-9A6F-4EB9-AF3C-95CC5B2B6721}"/>
              </a:ext>
            </a:extLst>
          </p:cNvPr>
          <p:cNvSpPr/>
          <p:nvPr/>
        </p:nvSpPr>
        <p:spPr>
          <a:xfrm>
            <a:off x="8610600" y="3563887"/>
            <a:ext cx="3116960" cy="716017"/>
          </a:xfrm>
          <a:prstGeom prst="wedgeRoundRectCallout">
            <a:avLst>
              <a:gd name="adj1" fmla="val -43165"/>
              <a:gd name="adj2" fmla="val 83853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Oldest update to </a:t>
            </a:r>
            <a:r>
              <a:rPr lang="en-US" altLang="zh-CN" b="1" i="1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altLang="zh-CN" b="1" i="1" baseline="-25000" dirty="0" err="1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n-US" altLang="zh-CN" b="1" i="1" baseline="-25000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 i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it was last flushed</a:t>
            </a:r>
            <a:endParaRPr lang="en-US" altLang="en-US" dirty="0">
              <a:solidFill>
                <a:srgbClr val="00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432328"/>
            <a:ext cx="7772400" cy="1104900"/>
          </a:xfrm>
          <a:noFill/>
          <a:ln/>
        </p:spPr>
        <p:txBody>
          <a:bodyPr/>
          <a:lstStyle/>
          <a:p>
            <a:r>
              <a:rPr lang="en-US" dirty="0"/>
              <a:t>REDO Phase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884784"/>
            <a:ext cx="10515600" cy="4363616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We</a:t>
            </a:r>
            <a:r>
              <a:rPr lang="en-US" i="1" dirty="0"/>
              <a:t> repeat history</a:t>
            </a:r>
            <a:r>
              <a:rPr lang="en-US" dirty="0"/>
              <a:t> to reconstruct state at crash: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Reapply </a:t>
            </a:r>
            <a:r>
              <a:rPr lang="en-US" b="1" i="1" dirty="0">
                <a:solidFill>
                  <a:srgbClr val="0000FF"/>
                </a:solidFill>
              </a:rPr>
              <a:t>all</a:t>
            </a:r>
            <a:r>
              <a:rPr lang="en-US" dirty="0"/>
              <a:t> updates (even of aborted </a:t>
            </a:r>
            <a:r>
              <a:rPr lang="en-US" dirty="0" err="1"/>
              <a:t>Txns</a:t>
            </a:r>
            <a:r>
              <a:rPr lang="en-US" dirty="0"/>
              <a:t>!), redo </a:t>
            </a:r>
            <a:r>
              <a:rPr lang="en-US" b="1" dirty="0">
                <a:solidFill>
                  <a:srgbClr val="0000FF"/>
                </a:solidFill>
              </a:rPr>
              <a:t>CLRs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To </a:t>
            </a:r>
            <a:r>
              <a:rPr lang="en-US" sz="2400" dirty="0"/>
              <a:t>REDO</a:t>
            </a:r>
            <a:r>
              <a:rPr lang="en-US" dirty="0"/>
              <a:t> an action: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Reapply logged action.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Set </a:t>
            </a:r>
            <a:r>
              <a:rPr lang="en-US" dirty="0" err="1"/>
              <a:t>pageLSN</a:t>
            </a:r>
            <a:r>
              <a:rPr lang="en-US" dirty="0"/>
              <a:t> to LSN.  </a:t>
            </a:r>
            <a:r>
              <a:rPr lang="en-US" b="1" dirty="0">
                <a:solidFill>
                  <a:srgbClr val="FF0000"/>
                </a:solidFill>
              </a:rPr>
              <a:t>No additional logging! no forced flushes!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There are techniques that allow the DBMS to avoid </a:t>
            </a:r>
            <a:r>
              <a:rPr lang="en-US" b="1" dirty="0">
                <a:solidFill>
                  <a:srgbClr val="0000FF"/>
                </a:solidFill>
              </a:rPr>
              <a:t>unnecessary</a:t>
            </a:r>
            <a:r>
              <a:rPr lang="en-US" dirty="0"/>
              <a:t> reads/writes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4DEB01-F7C9-453A-A772-E15837197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4E22B-B6CD-4FFE-B37F-155744AF014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F29F29-9671-454A-BED7-B18B00D3D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1CB874-303C-4927-BCC6-5C177D74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381004"/>
            <a:ext cx="7772400" cy="1104900"/>
          </a:xfrm>
          <a:noFill/>
          <a:ln/>
        </p:spPr>
        <p:txBody>
          <a:bodyPr/>
          <a:lstStyle/>
          <a:p>
            <a:r>
              <a:rPr lang="en-US" dirty="0"/>
              <a:t>The REDO Phase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10515600" cy="4527550"/>
          </a:xfrm>
          <a:noFill/>
          <a:ln/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dirty="0" err="1"/>
              <a:t>firstLSN</a:t>
            </a:r>
            <a:r>
              <a:rPr lang="en-US" dirty="0"/>
              <a:t> = </a:t>
            </a:r>
            <a:r>
              <a:rPr lang="en-US" b="1" dirty="0">
                <a:solidFill>
                  <a:srgbClr val="0000FF"/>
                </a:solidFill>
              </a:rPr>
              <a:t>min</a:t>
            </a:r>
            <a:r>
              <a:rPr lang="en-US" dirty="0"/>
              <a:t> {</a:t>
            </a:r>
            <a:r>
              <a:rPr lang="en-US" dirty="0" err="1"/>
              <a:t>recLSN</a:t>
            </a:r>
            <a:r>
              <a:rPr lang="en-US" dirty="0"/>
              <a:t> in DPT.} 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dirty="0"/>
              <a:t>Scan Forward from </a:t>
            </a:r>
            <a:r>
              <a:rPr lang="en-US" altLang="zh-CN" dirty="0" err="1"/>
              <a:t>firstLSN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dirty="0"/>
              <a:t>For each </a:t>
            </a:r>
            <a:r>
              <a:rPr lang="en-US" sz="2400" b="1" dirty="0">
                <a:solidFill>
                  <a:srgbClr val="0000FF"/>
                </a:solidFill>
              </a:rPr>
              <a:t>CLR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update</a:t>
            </a:r>
            <a:r>
              <a:rPr lang="en-US" dirty="0"/>
              <a:t> log </a:t>
            </a:r>
            <a:r>
              <a:rPr lang="en-US" dirty="0" err="1"/>
              <a:t>rec</a:t>
            </a:r>
            <a:r>
              <a:rPr lang="en-US" dirty="0"/>
              <a:t> LSN, </a:t>
            </a:r>
            <a:r>
              <a:rPr lang="en-US" sz="2400" dirty="0"/>
              <a:t>REDO</a:t>
            </a:r>
            <a:r>
              <a:rPr lang="en-US" dirty="0"/>
              <a:t> the action </a:t>
            </a:r>
            <a:r>
              <a:rPr lang="en-US" b="1" dirty="0">
                <a:solidFill>
                  <a:srgbClr val="FF0000"/>
                </a:solidFill>
              </a:rPr>
              <a:t>unless</a:t>
            </a:r>
            <a:r>
              <a:rPr lang="en-US" dirty="0"/>
              <a:t>:  </a:t>
            </a:r>
          </a:p>
          <a:p>
            <a:pPr marL="971550" lvl="1" indent="-514350">
              <a:lnSpc>
                <a:spcPct val="110000"/>
              </a:lnSpc>
              <a:spcBef>
                <a:spcPts val="1800"/>
              </a:spcBef>
              <a:buAutoNum type="arabicPeriod"/>
            </a:pPr>
            <a:r>
              <a:rPr lang="en-US" dirty="0"/>
              <a:t>Affected page is not in the Dirty Page Table, </a:t>
            </a:r>
            <a:r>
              <a:rPr lang="en-US" b="1" dirty="0"/>
              <a:t>or</a:t>
            </a:r>
          </a:p>
          <a:p>
            <a:pPr marL="971550" lvl="1" indent="-514350">
              <a:lnSpc>
                <a:spcPct val="110000"/>
              </a:lnSpc>
              <a:spcBef>
                <a:spcPts val="1800"/>
              </a:spcBef>
              <a:buAutoNum type="arabicPeriod"/>
            </a:pPr>
            <a:r>
              <a:rPr lang="en-US" dirty="0"/>
              <a:t>Affected page is in D.P.T., but has </a:t>
            </a:r>
            <a:r>
              <a:rPr lang="en-US" b="1" dirty="0" err="1">
                <a:solidFill>
                  <a:srgbClr val="FF0000"/>
                </a:solidFill>
              </a:rPr>
              <a:t>recLSN</a:t>
            </a:r>
            <a:r>
              <a:rPr lang="en-US" dirty="0"/>
              <a:t> &gt; LSN, </a:t>
            </a:r>
            <a:r>
              <a:rPr lang="en-US" b="1" dirty="0"/>
              <a:t>or</a:t>
            </a:r>
          </a:p>
          <a:p>
            <a:pPr marL="971550" lvl="1" indent="-514350">
              <a:lnSpc>
                <a:spcPct val="110000"/>
              </a:lnSpc>
              <a:spcBef>
                <a:spcPts val="1800"/>
              </a:spcBef>
              <a:buAutoNum type="arabicPeriod"/>
            </a:pPr>
            <a:r>
              <a:rPr lang="en-US" b="1" dirty="0" err="1">
                <a:solidFill>
                  <a:srgbClr val="FF0000"/>
                </a:solidFill>
              </a:rPr>
              <a:t>pageLSN</a:t>
            </a:r>
            <a:r>
              <a:rPr lang="en-US" dirty="0"/>
              <a:t> (on disk) </a:t>
            </a:r>
            <a:r>
              <a:rPr lang="en-US" dirty="0">
                <a:latin typeface="Symbol" charset="2"/>
              </a:rPr>
              <a:t>³ </a:t>
            </a:r>
            <a:r>
              <a:rPr lang="en-US" dirty="0"/>
              <a:t>LSN.</a:t>
            </a:r>
          </a:p>
          <a:p>
            <a:pPr marL="611187" indent="-514350">
              <a:lnSpc>
                <a:spcPct val="110000"/>
              </a:lnSpc>
              <a:spcBef>
                <a:spcPts val="1800"/>
              </a:spcBef>
            </a:pPr>
            <a:r>
              <a:rPr lang="en-US" dirty="0"/>
              <a:t>At the end of Redo Phase, write </a:t>
            </a:r>
            <a:r>
              <a:rPr lang="en-US" b="1" dirty="0">
                <a:solidFill>
                  <a:srgbClr val="0000FF"/>
                </a:solidFill>
              </a:rPr>
              <a:t>TXN-END</a:t>
            </a:r>
            <a:r>
              <a:rPr lang="en-US" dirty="0"/>
              <a:t> log records for all </a:t>
            </a:r>
            <a:r>
              <a:rPr lang="en-US" dirty="0" err="1"/>
              <a:t>txns</a:t>
            </a:r>
            <a:r>
              <a:rPr lang="en-US" dirty="0"/>
              <a:t> with status </a:t>
            </a:r>
            <a:r>
              <a:rPr lang="en-US" b="1" dirty="0">
                <a:solidFill>
                  <a:srgbClr val="0000FF"/>
                </a:solidFill>
              </a:rPr>
              <a:t>C</a:t>
            </a:r>
            <a:r>
              <a:rPr lang="en-US" dirty="0"/>
              <a:t> and remove them from the ATT.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88005A-FF0A-4416-BF8B-7555DCE4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B3E9E-7888-4217-AD16-F064DE4F96CA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F24ABC-7E7C-43BC-8B8C-C79D2E51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CD57D-E73A-406A-A734-3BDA1E0E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UNDO Phase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D338E-6007-4685-B707-13D151D5B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dirty="0"/>
              <a:t>Undo all </a:t>
            </a:r>
            <a:r>
              <a:rPr lang="en-US" altLang="zh-CN" sz="3200" dirty="0" err="1"/>
              <a:t>txns</a:t>
            </a:r>
            <a:r>
              <a:rPr lang="en-US" altLang="zh-CN" sz="3200" dirty="0"/>
              <a:t> that were </a:t>
            </a:r>
            <a:r>
              <a:rPr lang="en-US" altLang="zh-CN" sz="3200" b="1" dirty="0">
                <a:solidFill>
                  <a:srgbClr val="FF0000"/>
                </a:solidFill>
              </a:rPr>
              <a:t>active</a:t>
            </a:r>
            <a:r>
              <a:rPr lang="en-US" altLang="zh-CN" sz="3200" dirty="0"/>
              <a:t> at the time of crash and therefore will never commit.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sz="2800" dirty="0"/>
              <a:t>These are all the </a:t>
            </a:r>
            <a:r>
              <a:rPr lang="en-US" altLang="zh-CN" sz="2800" dirty="0" err="1"/>
              <a:t>txns</a:t>
            </a:r>
            <a:r>
              <a:rPr lang="en-US" altLang="zh-CN" sz="2800" dirty="0"/>
              <a:t> with </a:t>
            </a:r>
            <a:r>
              <a:rPr lang="en-US" altLang="zh-CN" sz="2800" b="1" dirty="0">
                <a:solidFill>
                  <a:srgbClr val="FF0000"/>
                </a:solidFill>
              </a:rPr>
              <a:t>U</a:t>
            </a:r>
            <a:r>
              <a:rPr lang="en-US" altLang="zh-CN" sz="2800" dirty="0"/>
              <a:t> status in the ATT after the Analysis Phase.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dirty="0"/>
              <a:t>Process them in </a:t>
            </a:r>
            <a:r>
              <a:rPr lang="en-US" altLang="zh-CN" sz="3200" b="1" dirty="0">
                <a:solidFill>
                  <a:srgbClr val="0000FF"/>
                </a:solidFill>
              </a:rPr>
              <a:t>reverse</a:t>
            </a:r>
            <a:r>
              <a:rPr lang="en-US" altLang="zh-CN" sz="3200" dirty="0"/>
              <a:t> LSN order using the </a:t>
            </a:r>
            <a:r>
              <a:rPr lang="en-US" altLang="zh-CN" sz="3200" b="1" dirty="0" err="1">
                <a:solidFill>
                  <a:srgbClr val="0000FF"/>
                </a:solidFill>
              </a:rPr>
              <a:t>lastLSN</a:t>
            </a:r>
            <a:r>
              <a:rPr lang="en-US" altLang="zh-CN" sz="3200" dirty="0"/>
              <a:t> to speed up traversal.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sz="3200" dirty="0"/>
              <a:t>Write a </a:t>
            </a:r>
            <a:r>
              <a:rPr lang="en-US" altLang="zh-CN" sz="3200" b="1" dirty="0">
                <a:solidFill>
                  <a:srgbClr val="0000FF"/>
                </a:solidFill>
              </a:rPr>
              <a:t>CLR</a:t>
            </a:r>
            <a:r>
              <a:rPr lang="en-US" altLang="zh-CN" sz="3200" dirty="0"/>
              <a:t> for every modification.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29890-F772-4F20-A15B-A508D6201D6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05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UNDO Phase</a:t>
            </a:r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38200" y="1752598"/>
            <a:ext cx="10515600" cy="4654827"/>
          </a:xfrm>
          <a:noFill/>
          <a:ln/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Font typeface="Wingdings" charset="2"/>
              <a:buNone/>
            </a:pPr>
            <a:r>
              <a:rPr lang="en-US" b="1" i="1" dirty="0" err="1">
                <a:solidFill>
                  <a:srgbClr val="0000FF"/>
                </a:solidFill>
              </a:rPr>
              <a:t>ToUndo</a:t>
            </a:r>
            <a:r>
              <a:rPr lang="en-US" i="1" dirty="0"/>
              <a:t>={ </a:t>
            </a:r>
            <a:r>
              <a:rPr lang="en-US" i="1" dirty="0" err="1"/>
              <a:t>lsn</a:t>
            </a:r>
            <a:r>
              <a:rPr lang="en-US" i="1" dirty="0"/>
              <a:t> | </a:t>
            </a:r>
            <a:r>
              <a:rPr lang="en-US" i="1" dirty="0" err="1"/>
              <a:t>lsn</a:t>
            </a:r>
            <a:r>
              <a:rPr lang="en-US" i="1" dirty="0"/>
              <a:t> is the </a:t>
            </a:r>
            <a:r>
              <a:rPr lang="en-US" i="1" dirty="0" err="1"/>
              <a:t>lastLSN</a:t>
            </a:r>
            <a:r>
              <a:rPr lang="en-US" i="1" dirty="0"/>
              <a:t> of </a:t>
            </a:r>
            <a:r>
              <a:rPr lang="en-US" altLang="zh-CN" i="1" dirty="0"/>
              <a:t>a </a:t>
            </a:r>
            <a:r>
              <a:rPr lang="en-US" altLang="zh-CN" i="1" dirty="0" err="1"/>
              <a:t>txn</a:t>
            </a:r>
            <a:r>
              <a:rPr lang="en-US" altLang="zh-CN" i="1" dirty="0"/>
              <a:t> with U status in the ATT </a:t>
            </a:r>
            <a:r>
              <a:rPr lang="en-US" i="1" dirty="0"/>
              <a:t>}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charset="2"/>
              <a:buNone/>
            </a:pPr>
            <a:r>
              <a:rPr lang="en-US" b="1" i="1" dirty="0"/>
              <a:t>Repeat</a:t>
            </a:r>
            <a:r>
              <a:rPr lang="en-US" i="1" dirty="0"/>
              <a:t>:</a:t>
            </a:r>
          </a:p>
          <a:p>
            <a:pPr marL="914400" lvl="1" indent="-457200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i="1" dirty="0"/>
              <a:t>Choose </a:t>
            </a:r>
            <a:r>
              <a:rPr lang="en-US" b="1" i="1" dirty="0">
                <a:solidFill>
                  <a:srgbClr val="FF0000"/>
                </a:solidFill>
              </a:rPr>
              <a:t>largest</a:t>
            </a:r>
            <a:r>
              <a:rPr lang="en-US" i="1" dirty="0"/>
              <a:t> LSN among </a:t>
            </a:r>
            <a:r>
              <a:rPr lang="en-US" i="1" dirty="0" err="1"/>
              <a:t>ToUndo</a:t>
            </a:r>
            <a:r>
              <a:rPr lang="en-US" i="1" dirty="0"/>
              <a:t>.</a:t>
            </a:r>
          </a:p>
          <a:p>
            <a:pPr marL="914400" lvl="1" indent="-457200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i="1" dirty="0"/>
              <a:t>If this LSN is a </a:t>
            </a:r>
            <a:r>
              <a:rPr lang="en-US" b="1" i="1" dirty="0"/>
              <a:t>CLR</a:t>
            </a:r>
            <a:r>
              <a:rPr lang="en-US" i="1" dirty="0"/>
              <a:t> and </a:t>
            </a:r>
            <a:r>
              <a:rPr lang="en-US" b="1" i="1" dirty="0" err="1"/>
              <a:t>undonextLSN</a:t>
            </a:r>
            <a:r>
              <a:rPr lang="en-US" b="1" i="1" dirty="0"/>
              <a:t>==NULL</a:t>
            </a:r>
          </a:p>
          <a:p>
            <a:pPr lvl="2">
              <a:lnSpc>
                <a:spcPct val="110000"/>
              </a:lnSpc>
              <a:spcBef>
                <a:spcPts val="1200"/>
              </a:spcBef>
            </a:pPr>
            <a:r>
              <a:rPr lang="en-US" sz="2400" i="1" dirty="0"/>
              <a:t>Write an </a:t>
            </a:r>
            <a:r>
              <a:rPr lang="en-US" sz="2400" b="1" i="1" dirty="0">
                <a:solidFill>
                  <a:srgbClr val="0000FF"/>
                </a:solidFill>
              </a:rPr>
              <a:t>TXN-End</a:t>
            </a:r>
            <a:r>
              <a:rPr lang="en-US" sz="2400" i="1" dirty="0"/>
              <a:t> record for this </a:t>
            </a:r>
            <a:r>
              <a:rPr lang="en-US" sz="2400" i="1" dirty="0" err="1"/>
              <a:t>txn</a:t>
            </a:r>
            <a:r>
              <a:rPr lang="en-US" sz="2400" i="1" dirty="0"/>
              <a:t>.</a:t>
            </a:r>
          </a:p>
          <a:p>
            <a:pPr marL="914400" lvl="1" indent="-457200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i="1" dirty="0"/>
              <a:t>If this LSN is a </a:t>
            </a:r>
            <a:r>
              <a:rPr lang="en-US" b="1" i="1" dirty="0"/>
              <a:t>CLR</a:t>
            </a:r>
            <a:r>
              <a:rPr lang="en-US" i="1" dirty="0"/>
              <a:t>, and </a:t>
            </a:r>
            <a:r>
              <a:rPr lang="en-US" b="1" i="1" dirty="0" err="1"/>
              <a:t>undonextLSN</a:t>
            </a:r>
            <a:r>
              <a:rPr lang="en-US" b="1" i="1" dirty="0"/>
              <a:t> != NULL</a:t>
            </a:r>
          </a:p>
          <a:p>
            <a:pPr lvl="2">
              <a:lnSpc>
                <a:spcPct val="110000"/>
              </a:lnSpc>
              <a:spcBef>
                <a:spcPts val="1200"/>
              </a:spcBef>
            </a:pPr>
            <a:r>
              <a:rPr lang="en-US" sz="2400" i="1" dirty="0"/>
              <a:t>Add </a:t>
            </a:r>
            <a:r>
              <a:rPr lang="en-US" sz="2400" b="1" i="1" dirty="0" err="1">
                <a:solidFill>
                  <a:srgbClr val="0000FF"/>
                </a:solidFill>
              </a:rPr>
              <a:t>undonextLSN</a:t>
            </a:r>
            <a:r>
              <a:rPr lang="en-US" sz="2400" i="1" dirty="0"/>
              <a:t> to </a:t>
            </a:r>
            <a:r>
              <a:rPr lang="en-US" sz="2400" i="1" dirty="0" err="1"/>
              <a:t>ToUndo</a:t>
            </a:r>
            <a:r>
              <a:rPr lang="en-US" sz="2400" i="1" dirty="0"/>
              <a:t> </a:t>
            </a:r>
          </a:p>
          <a:p>
            <a:pPr marL="914400" lvl="1" indent="-457200">
              <a:lnSpc>
                <a:spcPct val="11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i="1" dirty="0"/>
              <a:t>Else this LSN is an </a:t>
            </a:r>
            <a:r>
              <a:rPr lang="en-US" b="1" i="1" dirty="0"/>
              <a:t>update</a:t>
            </a:r>
            <a:r>
              <a:rPr lang="en-US" i="1" dirty="0"/>
              <a:t>.  </a:t>
            </a:r>
          </a:p>
          <a:p>
            <a:pPr lvl="2">
              <a:lnSpc>
                <a:spcPct val="110000"/>
              </a:lnSpc>
              <a:spcBef>
                <a:spcPts val="1200"/>
              </a:spcBef>
            </a:pPr>
            <a:r>
              <a:rPr lang="en-US" sz="2400" b="1" i="1" dirty="0">
                <a:solidFill>
                  <a:srgbClr val="0000FF"/>
                </a:solidFill>
              </a:rPr>
              <a:t>Undo</a:t>
            </a:r>
            <a:r>
              <a:rPr lang="en-US" sz="2400" i="1" dirty="0"/>
              <a:t> the update, write a </a:t>
            </a:r>
            <a:r>
              <a:rPr lang="en-US" sz="2400" b="1" i="1" dirty="0">
                <a:solidFill>
                  <a:srgbClr val="0000FF"/>
                </a:solidFill>
              </a:rPr>
              <a:t>CLR</a:t>
            </a:r>
            <a:r>
              <a:rPr lang="en-US" sz="2400" i="1" dirty="0"/>
              <a:t>, add </a:t>
            </a:r>
            <a:r>
              <a:rPr lang="en-US" sz="2400" b="1" i="1" dirty="0" err="1">
                <a:solidFill>
                  <a:srgbClr val="0000FF"/>
                </a:solidFill>
              </a:rPr>
              <a:t>prevLSN</a:t>
            </a:r>
            <a:r>
              <a:rPr lang="en-US" sz="2400" i="1" dirty="0"/>
              <a:t> to </a:t>
            </a:r>
            <a:r>
              <a:rPr lang="en-US" sz="2400" i="1" dirty="0" err="1"/>
              <a:t>ToUndo</a:t>
            </a:r>
            <a:r>
              <a:rPr lang="en-US" sz="2400" i="1" dirty="0"/>
              <a:t>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Wingdings" charset="2"/>
              <a:buNone/>
            </a:pPr>
            <a:r>
              <a:rPr lang="en-US" b="1" i="1" dirty="0"/>
              <a:t>Until</a:t>
            </a:r>
            <a:r>
              <a:rPr lang="en-US" i="1" dirty="0"/>
              <a:t> </a:t>
            </a:r>
            <a:r>
              <a:rPr lang="en-US" i="1" dirty="0" err="1"/>
              <a:t>ToUndo</a:t>
            </a:r>
            <a:r>
              <a:rPr lang="en-US" i="1" dirty="0"/>
              <a:t> is empty.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F4F671-3FB3-4A96-ABEC-E5B40D8D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3BBD-F52C-4609-96B5-63D52EB3096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9551B4-B1E7-425A-BB96-50A8FB8F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AC29EC-9676-4B71-8A22-584908A3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811B1-DA2A-4981-9B4F-6A9FEEA150F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23</a:t>
            </a:fld>
            <a:endParaRPr lang="zh-CN" alt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1238A5B-94A4-46DA-8749-6587AF6CA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764919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18" name="图形 17" descr="闪电">
            <a:extLst>
              <a:ext uri="{FF2B5EF4-FFF2-40B4-BE49-F238E27FC236}">
                <a16:creationId xmlns:a16="http://schemas.microsoft.com/office/drawing/2014/main" id="{2586E049-80A0-4292-9C8F-A40A78B7A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EE329D4-A954-4EA6-9AD2-FE13AE179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935128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FA637D30-A4AA-4891-A696-D4E138AFE958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B0FA31-757E-4113-BC5E-4083E72650B9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F0A6FAF-E9FB-4596-8549-3EA746253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801172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2831602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174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79ACE5EF-E484-4867-B8F4-E89614889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707706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3CCE1-1F16-437C-A927-64AF1C621448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3420160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459D862-7B1F-4C2F-87F0-2A64AB9F9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366991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22DEA516-8869-465B-B3E4-941496786FAC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A26DB17-5EEE-410D-A159-A7C449351198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50F6BE6-58D5-4B3E-B434-91FC6B4B0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404815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pic>
        <p:nvPicPr>
          <p:cNvPr id="20" name="图形 19" descr="闪电">
            <a:extLst>
              <a:ext uri="{FF2B5EF4-FFF2-40B4-BE49-F238E27FC236}">
                <a16:creationId xmlns:a16="http://schemas.microsoft.com/office/drawing/2014/main" id="{DB2896F5-7997-43BF-8EF4-2B079F001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76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4C323-906D-46F4-888D-8234109136EC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3669175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add/modify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145237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004296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F657393F-D086-462F-8871-427975979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0" name="图形 19" descr="闪电">
            <a:extLst>
              <a:ext uri="{FF2B5EF4-FFF2-40B4-BE49-F238E27FC236}">
                <a16:creationId xmlns:a16="http://schemas.microsoft.com/office/drawing/2014/main" id="{749AA667-4E9D-434B-BC7B-9445283B4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52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270-B382-4520-BD7B-2D41F1F8F27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3955559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add/modify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35253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18141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877CB0E-FE70-4079-B403-03AE53656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0" name="图形 19" descr="闪电">
            <a:extLst>
              <a:ext uri="{FF2B5EF4-FFF2-40B4-BE49-F238E27FC236}">
                <a16:creationId xmlns:a16="http://schemas.microsoft.com/office/drawing/2014/main" id="{5D4A434A-EB22-4798-9849-EE39723AC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07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45490-4167-4A55-BFE2-FC706EF991D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4220597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add/modify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523807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319169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6E3F1CE-AE50-40F3-B1B3-BBA115463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0" name="图形 19" descr="闪电">
            <a:extLst>
              <a:ext uri="{FF2B5EF4-FFF2-40B4-BE49-F238E27FC236}">
                <a16:creationId xmlns:a16="http://schemas.microsoft.com/office/drawing/2014/main" id="{E8B59E13-30E1-4813-86B1-5F39AD502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14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D2EFA-233E-4F76-A3DB-C2B23951A2C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4486868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add/modify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48811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723235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AECDB1AC-3350-473C-9B87-6D60CC6BF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0" name="图形 19" descr="闪电">
            <a:extLst>
              <a:ext uri="{FF2B5EF4-FFF2-40B4-BE49-F238E27FC236}">
                <a16:creationId xmlns:a16="http://schemas.microsoft.com/office/drawing/2014/main" id="{6D2395EA-E967-4CC1-9339-403E60F2B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37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7CB8-9FC2-4AEF-8068-A1777F294F9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4793053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add/modify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44178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961781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248A36F5-4061-4B26-BD57-6093FFA90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0" name="图形 19" descr="闪电">
            <a:extLst>
              <a:ext uri="{FF2B5EF4-FFF2-40B4-BE49-F238E27FC236}">
                <a16:creationId xmlns:a16="http://schemas.microsoft.com/office/drawing/2014/main" id="{351F5CAC-2081-4D8E-858C-17AE85800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1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Analysis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CCE95-6E88-4A5E-8547-71226388F89F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5052778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D31F41-1E5A-491D-A979-F8323B8F5B4B}"/>
              </a:ext>
            </a:extLst>
          </p:cNvPr>
          <p:cNvSpPr/>
          <p:nvPr/>
        </p:nvSpPr>
        <p:spPr>
          <a:xfrm>
            <a:off x="833665" y="4355802"/>
            <a:ext cx="4911599" cy="20005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1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last checkpoint.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from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ABORT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CLR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add/modify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add/modify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COMMIT) to ATT.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add (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txn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, UNDO) to ATT,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add P to DPT, set its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recLSN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=LSN</a:t>
            </a:r>
            <a:endParaRPr lang="zh-CN" alt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83340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391449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61252C1E-D0BE-455C-AD0B-5EB5979AA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0" name="图形 19" descr="闪电">
            <a:extLst>
              <a:ext uri="{FF2B5EF4-FFF2-40B4-BE49-F238E27FC236}">
                <a16:creationId xmlns:a16="http://schemas.microsoft.com/office/drawing/2014/main" id="{68F47D81-DEEB-4E92-B30B-F4115D4B8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34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Redo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A65B7-0AF2-4635-BFE2-81F969C28BAC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3413597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531027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254938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343A196-C84B-4BD2-814B-FC087A99D106}"/>
              </a:ext>
            </a:extLst>
          </p:cNvPr>
          <p:cNvSpPr/>
          <p:nvPr/>
        </p:nvSpPr>
        <p:spPr>
          <a:xfrm>
            <a:off x="495717" y="4524984"/>
            <a:ext cx="5143084" cy="17697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400" dirty="0" err="1"/>
              <a:t>firstLSN</a:t>
            </a:r>
            <a:r>
              <a:rPr lang="en-US" altLang="zh-CN" sz="1400" dirty="0"/>
              <a:t> = </a:t>
            </a:r>
            <a:r>
              <a:rPr lang="en-US" altLang="zh-CN" sz="1400" b="1" dirty="0">
                <a:solidFill>
                  <a:srgbClr val="0000FF"/>
                </a:solidFill>
              </a:rPr>
              <a:t>min</a:t>
            </a:r>
            <a:r>
              <a:rPr lang="en-US" altLang="zh-CN" sz="1400" dirty="0"/>
              <a:t> {</a:t>
            </a:r>
            <a:r>
              <a:rPr lang="en-US" altLang="zh-CN" sz="1400" dirty="0" err="1"/>
              <a:t>recLSN</a:t>
            </a:r>
            <a:r>
              <a:rPr lang="en-US" altLang="zh-CN" sz="1400" dirty="0"/>
              <a:t> in DPT.}  Scan Forward from </a:t>
            </a:r>
            <a:r>
              <a:rPr lang="en-US" altLang="zh-CN" sz="1400" dirty="0" err="1"/>
              <a:t>firstLSN</a:t>
            </a:r>
            <a:r>
              <a:rPr lang="en-US" altLang="zh-CN" sz="1400" dirty="0"/>
              <a:t>.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For each </a:t>
            </a:r>
            <a:r>
              <a:rPr lang="en-US" altLang="zh-CN" sz="1400" b="1" dirty="0">
                <a:solidFill>
                  <a:srgbClr val="0000FF"/>
                </a:solidFill>
              </a:rPr>
              <a:t>CLR</a:t>
            </a:r>
            <a:r>
              <a:rPr lang="en-US" altLang="zh-CN" sz="1400" dirty="0"/>
              <a:t> or </a:t>
            </a:r>
            <a:r>
              <a:rPr lang="en-US" altLang="zh-CN" sz="1400" b="1" dirty="0">
                <a:solidFill>
                  <a:srgbClr val="0000FF"/>
                </a:solidFill>
              </a:rPr>
              <a:t>update</a:t>
            </a:r>
            <a:r>
              <a:rPr lang="en-US" altLang="zh-CN" sz="1400" dirty="0"/>
              <a:t> log rec LSN, REDO the action </a:t>
            </a:r>
            <a:r>
              <a:rPr lang="en-US" altLang="zh-CN" sz="1400" b="1" dirty="0">
                <a:solidFill>
                  <a:srgbClr val="FF0000"/>
                </a:solidFill>
              </a:rPr>
              <a:t>unless</a:t>
            </a:r>
            <a:r>
              <a:rPr lang="en-US" altLang="zh-CN" sz="1400" dirty="0"/>
              <a:t>:  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zh-CN" sz="1400" dirty="0"/>
              <a:t>Affected page is not in DPT, </a:t>
            </a:r>
            <a:r>
              <a:rPr lang="en-US" altLang="zh-CN" sz="1400" b="1" dirty="0"/>
              <a:t>or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zh-CN" sz="1400" dirty="0"/>
              <a:t>Affected page is in D.P.T., but has </a:t>
            </a:r>
            <a:r>
              <a:rPr lang="en-US" altLang="zh-CN" sz="1400" b="1" dirty="0" err="1">
                <a:solidFill>
                  <a:srgbClr val="FF0000"/>
                </a:solidFill>
              </a:rPr>
              <a:t>recLSN</a:t>
            </a:r>
            <a:r>
              <a:rPr lang="en-US" altLang="zh-CN" sz="1400" dirty="0"/>
              <a:t> &gt; LSN, </a:t>
            </a:r>
            <a:r>
              <a:rPr lang="en-US" altLang="zh-CN" sz="1400" b="1" dirty="0"/>
              <a:t>or</a:t>
            </a:r>
          </a:p>
          <a:p>
            <a:pPr marL="971550" lvl="1" indent="-514350">
              <a:spcBef>
                <a:spcPts val="600"/>
              </a:spcBef>
              <a:buAutoNum type="arabicPeriod"/>
            </a:pPr>
            <a:r>
              <a:rPr lang="en-US" altLang="zh-CN" sz="1400" b="1" dirty="0" err="1">
                <a:solidFill>
                  <a:srgbClr val="FF0000"/>
                </a:solidFill>
              </a:rPr>
              <a:t>pageLSN</a:t>
            </a:r>
            <a:r>
              <a:rPr lang="en-US" altLang="zh-CN" sz="1400" dirty="0"/>
              <a:t> (on disk) </a:t>
            </a:r>
            <a:r>
              <a:rPr lang="en-US" altLang="zh-CN" sz="1400" dirty="0">
                <a:latin typeface="Symbol" charset="2"/>
              </a:rPr>
              <a:t>³ </a:t>
            </a:r>
            <a:r>
              <a:rPr lang="en-US" altLang="zh-CN" sz="1400" dirty="0"/>
              <a:t>LSN.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Write </a:t>
            </a:r>
            <a:r>
              <a:rPr lang="en-US" altLang="zh-CN" sz="1400" b="1" dirty="0">
                <a:solidFill>
                  <a:srgbClr val="0000FF"/>
                </a:solidFill>
              </a:rPr>
              <a:t>TXN-END</a:t>
            </a:r>
            <a:r>
              <a:rPr lang="en-US" altLang="zh-CN" sz="1400" dirty="0"/>
              <a:t> for </a:t>
            </a:r>
            <a:r>
              <a:rPr lang="en-US" altLang="zh-CN" sz="1400" dirty="0" err="1"/>
              <a:t>txns</a:t>
            </a:r>
            <a:r>
              <a:rPr lang="en-US" altLang="zh-CN" sz="1400" dirty="0"/>
              <a:t> with status </a:t>
            </a:r>
            <a:r>
              <a:rPr lang="en-US" altLang="zh-CN" sz="1400" b="1" dirty="0">
                <a:solidFill>
                  <a:srgbClr val="0000FF"/>
                </a:solidFill>
              </a:rPr>
              <a:t>C</a:t>
            </a:r>
            <a:r>
              <a:rPr lang="en-US" altLang="zh-CN" sz="1400" dirty="0"/>
              <a:t> and remove from the ATT.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917D180-C74C-48FF-9A52-99F359085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1" name="图形 20" descr="闪电">
            <a:extLst>
              <a:ext uri="{FF2B5EF4-FFF2-40B4-BE49-F238E27FC236}">
                <a16:creationId xmlns:a16="http://schemas.microsoft.com/office/drawing/2014/main" id="{1EDFC729-D710-4039-AF26-4FD64EAF8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15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Undo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C71A0-AAD3-4992-8130-AB73EA150177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5034288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399911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898526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343A196-C84B-4BD2-814B-FC087A99D106}"/>
              </a:ext>
            </a:extLst>
          </p:cNvPr>
          <p:cNvSpPr/>
          <p:nvPr/>
        </p:nvSpPr>
        <p:spPr>
          <a:xfrm>
            <a:off x="602180" y="5272596"/>
            <a:ext cx="5143084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600" b="1" dirty="0"/>
              <a:t>CLR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undonextLSN</a:t>
            </a:r>
            <a:r>
              <a:rPr lang="en-US" altLang="zh-CN" sz="1600" b="1" dirty="0"/>
              <a:t>==NULL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TXN-End 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/>
              <a:t>CLR</a:t>
            </a:r>
            <a:r>
              <a:rPr lang="en-US" altLang="zh-CN" sz="1600" dirty="0">
                <a:latin typeface="等线" panose="02010600030101010101" pitchFamily="2" charset="-122"/>
              </a:rPr>
              <a:t> ∧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undonextLSN</a:t>
            </a:r>
            <a:r>
              <a:rPr lang="en-US" altLang="zh-CN" sz="1600" b="1" dirty="0"/>
              <a:t> != NULL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Add </a:t>
            </a:r>
            <a:r>
              <a:rPr lang="en-US" altLang="zh-CN" sz="1600" dirty="0" err="1"/>
              <a:t>undonextLSN</a:t>
            </a:r>
            <a:r>
              <a:rPr lang="en-US" altLang="zh-CN" sz="1600" dirty="0"/>
              <a:t>  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/>
              <a:t>Update</a:t>
            </a:r>
            <a:r>
              <a:rPr lang="en-US" altLang="zh-CN" sz="1600" dirty="0"/>
              <a:t>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Undo, CLR, add </a:t>
            </a:r>
            <a:r>
              <a:rPr lang="en-US" altLang="zh-CN" sz="1600" dirty="0" err="1"/>
              <a:t>prevLSN</a:t>
            </a:r>
            <a:r>
              <a:rPr lang="en-US" altLang="zh-CN" sz="1600" dirty="0"/>
              <a:t>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E9F08-E714-44BB-909D-319E612922D7}"/>
              </a:ext>
            </a:extLst>
          </p:cNvPr>
          <p:cNvSpPr txBox="1"/>
          <p:nvPr/>
        </p:nvSpPr>
        <p:spPr>
          <a:xfrm>
            <a:off x="747438" y="4102429"/>
            <a:ext cx="2123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ToUndo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= {70, 80}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CC8E0008-2CA1-4E64-A2BC-E6199A7A2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521530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22" name="图形 21" descr="闪电">
            <a:extLst>
              <a:ext uri="{FF2B5EF4-FFF2-40B4-BE49-F238E27FC236}">
                <a16:creationId xmlns:a16="http://schemas.microsoft.com/office/drawing/2014/main" id="{C2AC8159-C75A-473F-80FC-CE808521A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747722" y="5192496"/>
            <a:ext cx="536911" cy="5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87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Undo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05C2-532B-4A6C-9A70-769000D2FC0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4777639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659708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934826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343A196-C84B-4BD2-814B-FC087A99D106}"/>
              </a:ext>
            </a:extLst>
          </p:cNvPr>
          <p:cNvSpPr/>
          <p:nvPr/>
        </p:nvSpPr>
        <p:spPr>
          <a:xfrm>
            <a:off x="602180" y="5272596"/>
            <a:ext cx="5143084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600" b="1" dirty="0"/>
              <a:t>CLR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undonextLSN</a:t>
            </a:r>
            <a:r>
              <a:rPr lang="en-US" altLang="zh-CN" sz="1600" b="1" dirty="0"/>
              <a:t>==NULL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TXN-End 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/>
              <a:t>CLR</a:t>
            </a:r>
            <a:r>
              <a:rPr lang="en-US" altLang="zh-CN" sz="1600" dirty="0">
                <a:latin typeface="等线" panose="02010600030101010101" pitchFamily="2" charset="-122"/>
              </a:rPr>
              <a:t> ∧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undonextLSN</a:t>
            </a:r>
            <a:r>
              <a:rPr lang="en-US" altLang="zh-CN" sz="1600" b="1" dirty="0"/>
              <a:t> != NULL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Add </a:t>
            </a:r>
            <a:r>
              <a:rPr lang="en-US" altLang="zh-CN" sz="1600" dirty="0" err="1"/>
              <a:t>undonextLSN</a:t>
            </a:r>
            <a:r>
              <a:rPr lang="en-US" altLang="zh-CN" sz="1600" dirty="0"/>
              <a:t>  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/>
              <a:t>Update</a:t>
            </a:r>
            <a:r>
              <a:rPr lang="en-US" altLang="zh-CN" sz="1600" dirty="0"/>
              <a:t>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Undo, CLR, add </a:t>
            </a:r>
            <a:r>
              <a:rPr lang="en-US" altLang="zh-CN" sz="1600" dirty="0" err="1"/>
              <a:t>prevLSN</a:t>
            </a:r>
            <a:r>
              <a:rPr lang="en-US" altLang="zh-CN" sz="1600" dirty="0"/>
              <a:t>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E9F08-E714-44BB-909D-319E612922D7}"/>
              </a:ext>
            </a:extLst>
          </p:cNvPr>
          <p:cNvSpPr txBox="1"/>
          <p:nvPr/>
        </p:nvSpPr>
        <p:spPr>
          <a:xfrm>
            <a:off x="747438" y="4102429"/>
            <a:ext cx="218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ToUndo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= {40, 70}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62D46C80-B62F-4AA5-879F-20C59CA3C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368975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CLR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Undo 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UndoNext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369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Undo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B550D-5532-492D-9789-F8E359F7D9F5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FE0FF0A0-5EB8-4769-833B-34C50E37D0C0}"/>
              </a:ext>
            </a:extLst>
          </p:cNvPr>
          <p:cNvSpPr/>
          <p:nvPr/>
        </p:nvSpPr>
        <p:spPr>
          <a:xfrm>
            <a:off x="5745264" y="3687802"/>
            <a:ext cx="316500" cy="28108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/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21415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1343A196-C84B-4BD2-814B-FC087A99D106}"/>
              </a:ext>
            </a:extLst>
          </p:cNvPr>
          <p:cNvSpPr/>
          <p:nvPr/>
        </p:nvSpPr>
        <p:spPr>
          <a:xfrm>
            <a:off x="602180" y="5272596"/>
            <a:ext cx="5143084" cy="10156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600" b="1" dirty="0"/>
              <a:t>CLR</a:t>
            </a:r>
            <a:r>
              <a:rPr lang="en-US" altLang="zh-CN" sz="1600" dirty="0"/>
              <a:t> 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undonextLSN</a:t>
            </a:r>
            <a:r>
              <a:rPr lang="en-US" altLang="zh-CN" sz="1600" b="1" dirty="0"/>
              <a:t>==NULL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TXN-End 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/>
              <a:t>CLR</a:t>
            </a:r>
            <a:r>
              <a:rPr lang="en-US" altLang="zh-CN" sz="1600" dirty="0">
                <a:latin typeface="等线" panose="02010600030101010101" pitchFamily="2" charset="-122"/>
              </a:rPr>
              <a:t> ∧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undonextLSN</a:t>
            </a:r>
            <a:r>
              <a:rPr lang="en-US" altLang="zh-CN" sz="1600" b="1" dirty="0"/>
              <a:t> != NULL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Add </a:t>
            </a:r>
            <a:r>
              <a:rPr lang="en-US" altLang="zh-CN" sz="1600" dirty="0" err="1"/>
              <a:t>undonextLSN</a:t>
            </a:r>
            <a:r>
              <a:rPr lang="en-US" altLang="zh-CN" sz="1600" dirty="0"/>
              <a:t>  </a:t>
            </a:r>
          </a:p>
          <a:p>
            <a:pPr>
              <a:spcBef>
                <a:spcPts val="600"/>
              </a:spcBef>
            </a:pPr>
            <a:r>
              <a:rPr lang="en-US" altLang="zh-CN" sz="1600" b="1" dirty="0"/>
              <a:t>Update</a:t>
            </a:r>
            <a:r>
              <a:rPr lang="en-US" altLang="zh-CN" sz="1600" dirty="0"/>
              <a:t>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r>
              <a:rPr lang="en-US" altLang="zh-CN" sz="1600" dirty="0"/>
              <a:t> Undo, CLR, add </a:t>
            </a:r>
            <a:r>
              <a:rPr lang="en-US" altLang="zh-CN" sz="1600" dirty="0" err="1"/>
              <a:t>prevLSN</a:t>
            </a:r>
            <a:r>
              <a:rPr lang="en-US" altLang="zh-CN" sz="1600" dirty="0"/>
              <a:t>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E9F08-E714-44BB-909D-319E612922D7}"/>
              </a:ext>
            </a:extLst>
          </p:cNvPr>
          <p:cNvSpPr txBox="1"/>
          <p:nvPr/>
        </p:nvSpPr>
        <p:spPr>
          <a:xfrm>
            <a:off x="747438" y="4102429"/>
            <a:ext cx="173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ToUndo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= {40}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62D46C80-B62F-4AA5-879F-20C59CA3C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72098"/>
              </p:ext>
            </p:extLst>
          </p:nvPr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CLR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Undo 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UndoNext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de-DE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CLR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Undo T</a:t>
                      </a:r>
                      <a:r>
                        <a:rPr lang="de-DE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</a:t>
                      </a:r>
                      <a:r>
                        <a:rPr lang="de-DE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70, </a:t>
                      </a:r>
                      <a:r>
                        <a:rPr lang="de-DE" altLang="zh-CN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UndoNext</a:t>
                      </a:r>
                      <a:r>
                        <a:rPr lang="de-DE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NULL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144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3A6BA-E7A8-4199-A9F7-13D20F4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- Undo Phase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82B485-330C-4F7C-AD75-86FB6EFA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2964-46F7-4100-B929-3B56BCB7BD01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98CB-94F3-4CE3-9880-9F79A418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061EF-E67D-4B6D-B836-FE67DC6C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354B5A9-A1FB-4104-AAE5-DEFB44C4E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17019"/>
              </p:ext>
            </p:extLst>
          </p:nvPr>
        </p:nvGraphicFramePr>
        <p:xfrm>
          <a:off x="1507517" y="1763575"/>
          <a:ext cx="2341978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70989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1170989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9243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C3D4339-121B-4A95-830C-3973BCDED0D5}"/>
              </a:ext>
            </a:extLst>
          </p:cNvPr>
          <p:cNvSpPr txBox="1"/>
          <p:nvPr/>
        </p:nvSpPr>
        <p:spPr>
          <a:xfrm>
            <a:off x="826950" y="16811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DPT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4B90EEC-ECC6-46D9-8B76-B46E530985A1}"/>
              </a:ext>
            </a:extLst>
          </p:cNvPr>
          <p:cNvSpPr txBox="1"/>
          <p:nvPr/>
        </p:nvSpPr>
        <p:spPr>
          <a:xfrm>
            <a:off x="826951" y="2931083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362F947-B838-46F1-BA7E-3498B8001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702552"/>
              </p:ext>
            </p:extLst>
          </p:nvPr>
        </p:nvGraphicFramePr>
        <p:xfrm>
          <a:off x="1507517" y="3005149"/>
          <a:ext cx="2891181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727">
                  <a:extLst>
                    <a:ext uri="{9D8B030D-6E8A-4147-A177-3AD203B41FA5}">
                      <a16:colId xmlns:a16="http://schemas.microsoft.com/office/drawing/2014/main" val="21928907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304486684"/>
                    </a:ext>
                  </a:extLst>
                </a:gridCol>
                <a:gridCol w="963727">
                  <a:extLst>
                    <a:ext uri="{9D8B030D-6E8A-4147-A177-3AD203B41FA5}">
                      <a16:colId xmlns:a16="http://schemas.microsoft.com/office/drawing/2014/main" val="1360025081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-id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lastLSN</a:t>
                      </a:r>
                      <a:endParaRPr lang="zh-CN" altLang="en-US" sz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zh-CN" altLang="en-US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833419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44971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baseline="-2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6611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63218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62D46C80-B62F-4AA5-879F-20C59CA3C900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763575"/>
          <a:ext cx="5223564" cy="466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3826">
                  <a:extLst>
                    <a:ext uri="{9D8B030D-6E8A-4147-A177-3AD203B41FA5}">
                      <a16:colId xmlns:a16="http://schemas.microsoft.com/office/drawing/2014/main" val="581772233"/>
                    </a:ext>
                  </a:extLst>
                </a:gridCol>
                <a:gridCol w="888574">
                  <a:extLst>
                    <a:ext uri="{9D8B030D-6E8A-4147-A177-3AD203B41FA5}">
                      <a16:colId xmlns:a16="http://schemas.microsoft.com/office/drawing/2014/main" val="234948230"/>
                    </a:ext>
                  </a:extLst>
                </a:gridCol>
                <a:gridCol w="3781164">
                  <a:extLst>
                    <a:ext uri="{9D8B030D-6E8A-4147-A177-3AD203B41FA5}">
                      <a16:colId xmlns:a16="http://schemas.microsoft.com/office/drawing/2014/main" val="2408628968"/>
                    </a:ext>
                  </a:extLst>
                </a:gridCol>
              </a:tblGrid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prevLSN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204717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488981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7696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BEGIN&gt;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70710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CHECKPOINT-BEGIN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140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668794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1, 2&gt;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845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B, 2, 3&gt;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025693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ABORT&gt;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17768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&lt;CLR: Undo T</a:t>
                      </a:r>
                      <a:r>
                        <a:rPr lang="de-DE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10&gt;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82145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TXN-END&gt;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02468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C, 4, 5&gt;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220966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</a:t>
                      </a:r>
                      <a:r>
                        <a:rPr lang="en-US" altLang="zh-CN" sz="1200" kern="1200" baseline="-250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D, 6, 7&gt;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82749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CLR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Undo 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UndoNext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213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de-DE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CLR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Undo T</a:t>
                      </a:r>
                      <a:r>
                        <a:rPr lang="de-DE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LSN </a:t>
                      </a:r>
                      <a:r>
                        <a:rPr lang="de-DE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70, </a:t>
                      </a:r>
                      <a:r>
                        <a:rPr lang="de-DE" altLang="zh-CN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UndoNext</a:t>
                      </a:r>
                      <a:r>
                        <a:rPr lang="de-DE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NULL</a:t>
                      </a:r>
                      <a:r>
                        <a:rPr lang="de-DE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95015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</a:t>
                      </a:r>
                      <a:r>
                        <a:rPr lang="en-US" altLang="zh-CN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TXN-END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888772"/>
                  </a:ext>
                </a:extLst>
              </a:tr>
              <a:tr h="207363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000666"/>
                  </a:ext>
                </a:extLst>
              </a:tr>
            </a:tbl>
          </a:graphicData>
        </a:graphic>
      </p:graphicFrame>
      <p:pic>
        <p:nvPicPr>
          <p:cNvPr id="18" name="图形 17" descr="闪电">
            <a:extLst>
              <a:ext uri="{FF2B5EF4-FFF2-40B4-BE49-F238E27FC236}">
                <a16:creationId xmlns:a16="http://schemas.microsoft.com/office/drawing/2014/main" id="{44BB1EBF-08D0-44D2-B3DB-43BCD9831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59317">
            <a:off x="8439326" y="6158560"/>
            <a:ext cx="536911" cy="53691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9446E0F-987D-4A47-9C04-7FE96F3691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55605" y="4458085"/>
            <a:ext cx="2154395" cy="208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60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Summary of ARIES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Recovery Manager guarantees </a:t>
            </a:r>
            <a:r>
              <a:rPr lang="en-US" b="1" dirty="0">
                <a:solidFill>
                  <a:srgbClr val="0066FF"/>
                </a:solidFill>
              </a:rPr>
              <a:t>Atomicity</a:t>
            </a:r>
            <a:r>
              <a:rPr lang="en-US" dirty="0"/>
              <a:t> &amp; </a:t>
            </a:r>
            <a:r>
              <a:rPr lang="en-US" b="1" dirty="0">
                <a:solidFill>
                  <a:srgbClr val="0066FF"/>
                </a:solidFill>
              </a:rPr>
              <a:t>Durability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/>
              <a:t>Use WAL to allow </a:t>
            </a:r>
            <a:r>
              <a:rPr lang="en-US" sz="2400" b="1" dirty="0"/>
              <a:t>STEAL</a:t>
            </a:r>
            <a:r>
              <a:rPr lang="en-US" sz="2400" dirty="0"/>
              <a:t>/</a:t>
            </a:r>
            <a:r>
              <a:rPr lang="en-US" sz="2400" b="1" dirty="0"/>
              <a:t>NO-FORCE</a:t>
            </a:r>
            <a:r>
              <a:rPr lang="en-US" sz="2400" dirty="0"/>
              <a:t> </a:t>
            </a:r>
            <a:r>
              <a:rPr lang="en-US" dirty="0"/>
              <a:t>w/o sacrificing correctness.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dirty="0" err="1"/>
              <a:t>LSNs</a:t>
            </a:r>
            <a:r>
              <a:rPr lang="en-US" dirty="0"/>
              <a:t> identify log records; </a:t>
            </a:r>
            <a:r>
              <a:rPr lang="en-US" b="1" dirty="0">
                <a:solidFill>
                  <a:srgbClr val="FF0000"/>
                </a:solidFill>
              </a:rPr>
              <a:t>linked</a:t>
            </a:r>
            <a:r>
              <a:rPr lang="en-US" dirty="0"/>
              <a:t> into backwards chains per transaction (via </a:t>
            </a:r>
            <a:r>
              <a:rPr lang="en-US" dirty="0" err="1"/>
              <a:t>prevLSN</a:t>
            </a:r>
            <a:r>
              <a:rPr lang="en-US" dirty="0"/>
              <a:t>).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b="1" dirty="0" err="1"/>
              <a:t>pageLSN</a:t>
            </a:r>
            <a:r>
              <a:rPr lang="en-US" dirty="0"/>
              <a:t> allows comparison of data page and log records.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768440-5CF3-4A37-8837-CD4B9A200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BBC5-4EA7-4585-9F1B-73CB2C4ED149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A58BD1-791F-4D7B-B39B-E9779E38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AE3AD9-83E2-4733-8F23-2EA62258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Summary, Cont.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 err="1"/>
              <a:t>Checkpointing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/>
              <a:t> A quick way to limit the amount of log to scan on recovery.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Recovery works in 3 phases: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b="1" dirty="0"/>
              <a:t>Analysis</a:t>
            </a:r>
            <a:r>
              <a:rPr lang="en-US" dirty="0"/>
              <a:t>: Forward from checkpoint.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b="1" dirty="0"/>
              <a:t>Redo</a:t>
            </a:r>
            <a:r>
              <a:rPr lang="en-US" dirty="0"/>
              <a:t>: Forward from oldest </a:t>
            </a:r>
            <a:r>
              <a:rPr lang="en-US" dirty="0" err="1"/>
              <a:t>recLSN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b="1" dirty="0"/>
              <a:t>Undo</a:t>
            </a:r>
            <a:r>
              <a:rPr lang="en-US" dirty="0"/>
              <a:t>: Backward from end to first LSN of oldest </a:t>
            </a:r>
            <a:r>
              <a:rPr lang="en-US" dirty="0" err="1"/>
              <a:t>Xact</a:t>
            </a:r>
            <a:r>
              <a:rPr lang="en-US" dirty="0"/>
              <a:t> alive at crash.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Upon Undo, write </a:t>
            </a:r>
            <a:r>
              <a:rPr lang="en-US" dirty="0" err="1"/>
              <a:t>CLRs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dirty="0"/>
              <a:t>Redo “repeats history”: Simplifies the logic!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5423E5-B178-487A-87F5-0EF31288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E255C-B087-4934-A5D2-8C7698B543D2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BE6538-A568-430B-993C-C1CF6F3B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863278-CF35-494F-B9FC-AA7C9BEE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75728-F4A0-493D-A681-F251751E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Recovery with </a:t>
            </a:r>
            <a:br>
              <a:rPr lang="en-US" altLang="zh-CN" sz="4800" dirty="0"/>
            </a:br>
            <a:r>
              <a:rPr lang="en-US" altLang="zh-CN" sz="4800" dirty="0">
                <a:solidFill>
                  <a:srgbClr val="0066FF"/>
                </a:solidFill>
              </a:rPr>
              <a:t>Early</a:t>
            </a:r>
            <a:r>
              <a:rPr lang="en-US" altLang="zh-CN" sz="4800" dirty="0"/>
              <a:t> Lock Release </a:t>
            </a:r>
            <a:br>
              <a:rPr lang="en-US" altLang="zh-CN" sz="4800" dirty="0"/>
            </a:br>
            <a:r>
              <a:rPr lang="en-US" altLang="zh-CN" sz="4800" dirty="0"/>
              <a:t>and Logical Undo Operations</a:t>
            </a:r>
            <a:endParaRPr lang="zh-CN" altLang="en-US" sz="48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F5EA43-6878-4EDF-8218-5E1C0DEF3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F6BBC-5C4E-4366-9131-0AF8B35D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F0C34-EE22-4462-A5D4-0B399CF6A53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939ACA-EAD4-49B9-8FCE-68130C9E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AC014-7039-4F30-960A-6AA38B6E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947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51C1AB2F-CEDA-4688-A961-CCC7479C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Logical Undo Logging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345A7DD-5626-444D-9D39-613371FA0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0953"/>
            <a:ext cx="10515600" cy="46304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Operations like B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-tree insertions and deletions release locks early.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They </a:t>
            </a:r>
            <a:r>
              <a:rPr lang="en-US" altLang="zh-CN" sz="2000" b="1" dirty="0">
                <a:solidFill>
                  <a:srgbClr val="FF0000"/>
                </a:solidFill>
              </a:rPr>
              <a:t>cannot</a:t>
            </a:r>
            <a:r>
              <a:rPr lang="en-US" altLang="zh-CN" sz="2000" dirty="0"/>
              <a:t> be undone by restoring old values (</a:t>
            </a:r>
            <a:r>
              <a:rPr lang="en-US" altLang="zh-CN" sz="2000" b="1" dirty="0">
                <a:solidFill>
                  <a:srgbClr val="0070C0"/>
                </a:solidFill>
              </a:rPr>
              <a:t>physical undo</a:t>
            </a:r>
            <a:r>
              <a:rPr lang="en-US" altLang="zh-CN" sz="2000" dirty="0"/>
              <a:t>).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Instead, insertions (deletions) are undone  by executing a deletion (insertion) operation (</a:t>
            </a:r>
            <a:r>
              <a:rPr lang="en-US" altLang="zh-CN" sz="2000" b="1" dirty="0">
                <a:solidFill>
                  <a:srgbClr val="0070C0"/>
                </a:solidFill>
              </a:rPr>
              <a:t>logical undo</a:t>
            </a:r>
            <a:r>
              <a:rPr lang="en-US" altLang="zh-CN" sz="2000" dirty="0"/>
              <a:t>). 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For such operations, undo log records should contain the undo operation to be executed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Such logging is called </a:t>
            </a:r>
            <a:r>
              <a:rPr lang="en-US" altLang="zh-CN" sz="2000" b="1" dirty="0">
                <a:solidFill>
                  <a:srgbClr val="00B050"/>
                </a:solidFill>
              </a:rPr>
              <a:t>logical undo logging</a:t>
            </a:r>
            <a:endParaRPr lang="en-US" altLang="zh-CN" sz="2000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Other examples: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/>
              <a:t>delete of tuple, to undo insert of tuple 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/>
              <a:t>subtract amount deposited, to undo deposit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0D7806-7AA9-4BC0-A5CB-015E6510C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8712E-E98D-45FF-A64B-53C4DD9F14B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B18C1-033E-4BC1-A455-5A3293484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ECF276-8547-4B45-9E26-88EB6C8BA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4383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74467-DF94-4BB8-BC8D-B1E76F4A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Physical Redo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B59D5-F03A-46A9-892D-6A0015CE8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Redo information is logged </a:t>
            </a:r>
            <a:r>
              <a:rPr lang="en-US" altLang="zh-CN" b="1" dirty="0">
                <a:solidFill>
                  <a:srgbClr val="00B050"/>
                </a:solidFill>
              </a:rPr>
              <a:t>physically</a:t>
            </a:r>
            <a:r>
              <a:rPr lang="en-US" altLang="zh-CN" dirty="0"/>
              <a:t> (that is, new value for each write) even for operations with logical undo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Logical redo is very </a:t>
            </a:r>
            <a:r>
              <a:rPr lang="en-US" altLang="zh-CN" b="1" dirty="0">
                <a:solidFill>
                  <a:srgbClr val="FF0000"/>
                </a:solidFill>
              </a:rPr>
              <a:t>complicated</a:t>
            </a:r>
            <a:r>
              <a:rPr lang="en-US" altLang="zh-CN" dirty="0"/>
              <a:t> since database state on disk may not be “operation consistent” when recovery starts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r>
              <a:rPr lang="en-US" altLang="zh-CN" dirty="0"/>
              <a:t>Physical redo logging </a:t>
            </a:r>
            <a:r>
              <a:rPr lang="en-US" altLang="zh-CN" b="1" u="sng" dirty="0"/>
              <a:t>does not conflict </a:t>
            </a:r>
            <a:r>
              <a:rPr lang="en-US" altLang="zh-CN" dirty="0"/>
              <a:t>with early lock release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897B4-7E0C-4B44-91ED-CACC8757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51D1-C4DC-4C6A-ADE3-5DDBE5CA8084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D0EC6-7F1F-400D-80E2-8826330B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59BD74-61EC-4986-B6EA-55AF9093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54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D6576-7895-452D-9FFC-8CF47824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 Logging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9C4121-DDB1-4E73-9CD2-35D1FC34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05" y="1695692"/>
            <a:ext cx="10515600" cy="303345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Operation logging is done as follows:</a:t>
            </a:r>
          </a:p>
          <a:p>
            <a:pPr marL="874713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When operation starts, log </a:t>
            </a:r>
            <a:r>
              <a:rPr lang="en-US" altLang="zh-CN" sz="2000" i="1" dirty="0"/>
              <a:t>&lt;</a:t>
            </a:r>
            <a:r>
              <a:rPr lang="en-US" altLang="zh-CN" sz="2000" i="1" dirty="0" err="1"/>
              <a:t>T</a:t>
            </a:r>
            <a:r>
              <a:rPr lang="en-US" altLang="zh-CN" sz="2000" i="1" baseline="-25000" dirty="0" err="1"/>
              <a:t>i</a:t>
            </a:r>
            <a:r>
              <a:rPr lang="en-US" altLang="zh-CN" sz="2000" i="1" dirty="0"/>
              <a:t>, </a:t>
            </a:r>
            <a:r>
              <a:rPr lang="en-US" altLang="zh-CN" sz="2000" i="1" dirty="0" err="1"/>
              <a:t>O</a:t>
            </a:r>
            <a:r>
              <a:rPr lang="en-US" altLang="zh-CN" sz="2000" i="1" baseline="-25000" dirty="0" err="1"/>
              <a:t>j</a:t>
            </a:r>
            <a:r>
              <a:rPr lang="en-US" altLang="zh-CN" sz="2000" i="1" dirty="0"/>
              <a:t>,  </a:t>
            </a:r>
            <a:r>
              <a:rPr lang="en-US" altLang="zh-CN" sz="2000" b="1" i="1" dirty="0"/>
              <a:t>operation-begin</a:t>
            </a:r>
            <a:r>
              <a:rPr lang="en-US" altLang="zh-CN" sz="2000" i="1" dirty="0"/>
              <a:t>&gt; </a:t>
            </a:r>
            <a:r>
              <a:rPr lang="en-US" altLang="zh-CN" sz="2000" dirty="0"/>
              <a:t>. </a:t>
            </a:r>
          </a:p>
          <a:p>
            <a:pPr marL="874713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Normal log records with physical redo and physical undo information are logged. </a:t>
            </a:r>
          </a:p>
          <a:p>
            <a:pPr marL="874713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When operation completes, </a:t>
            </a:r>
            <a:r>
              <a:rPr lang="en-US" altLang="zh-CN" sz="2000" i="1" dirty="0"/>
              <a:t>&lt;</a:t>
            </a:r>
            <a:r>
              <a:rPr lang="en-US" altLang="zh-CN" sz="2000" i="1" dirty="0" err="1"/>
              <a:t>T</a:t>
            </a:r>
            <a:r>
              <a:rPr lang="en-US" altLang="zh-CN" sz="2000" i="1" baseline="-25000" dirty="0" err="1"/>
              <a:t>i</a:t>
            </a:r>
            <a:r>
              <a:rPr lang="en-US" altLang="zh-CN" sz="2000" i="1" dirty="0"/>
              <a:t>, </a:t>
            </a:r>
            <a:r>
              <a:rPr lang="en-US" altLang="zh-CN" sz="2000" i="1" dirty="0" err="1"/>
              <a:t>O</a:t>
            </a:r>
            <a:r>
              <a:rPr lang="en-US" altLang="zh-CN" sz="2000" i="1" baseline="-25000" dirty="0" err="1"/>
              <a:t>j</a:t>
            </a:r>
            <a:r>
              <a:rPr lang="en-US" altLang="zh-CN" sz="2000" i="1" dirty="0"/>
              <a:t>,  </a:t>
            </a:r>
            <a:r>
              <a:rPr lang="en-US" altLang="zh-CN" sz="2000" b="1" i="1" dirty="0"/>
              <a:t>operation-end</a:t>
            </a:r>
            <a:r>
              <a:rPr lang="en-US" altLang="zh-CN" sz="2000" i="1" dirty="0"/>
              <a:t>, </a:t>
            </a:r>
            <a:r>
              <a:rPr lang="en-US" altLang="zh-CN" sz="2000" b="1" i="1" dirty="0">
                <a:solidFill>
                  <a:srgbClr val="FF0000"/>
                </a:solidFill>
              </a:rPr>
              <a:t>U</a:t>
            </a:r>
            <a:r>
              <a:rPr lang="en-US" altLang="zh-CN" sz="2000" i="1" dirty="0"/>
              <a:t>&gt; </a:t>
            </a:r>
            <a:r>
              <a:rPr lang="en-US" altLang="zh-CN" sz="2000" dirty="0"/>
              <a:t>is logged</a:t>
            </a:r>
          </a:p>
          <a:p>
            <a:pPr marL="1320800" lvl="2" indent="-51435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600" b="1" i="1" dirty="0">
                <a:solidFill>
                  <a:srgbClr val="FF0000"/>
                </a:solidFill>
              </a:rPr>
              <a:t>U</a:t>
            </a:r>
            <a:r>
              <a:rPr lang="en-US" altLang="zh-CN" sz="1600" dirty="0"/>
              <a:t> : logical undo information.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Example: insert of (key, record-id) pair (K5, RID7) into index I9 (Key at location X, record-id at location X+8) with old values Old1 and Old2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9DDF6-6EF5-477F-83C5-1A1B7D16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29B8-B41C-4440-B235-6FEBC36B788C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4CE2C4-E812-4047-9156-713DC362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21AFE-49EB-4777-AF7F-43744E78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A28FFB2-A76A-4A77-B4DA-9176EF132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759" y="4834619"/>
            <a:ext cx="5285690" cy="16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79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57094-1BA4-404B-95D5-D408BAA1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 Logging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8DD4F3-EA7A-4F6C-8838-6A60D86F4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If crash/rollback occurs before operation completes: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the </a:t>
            </a:r>
            <a:r>
              <a:rPr lang="en-US" altLang="zh-CN" b="1" dirty="0"/>
              <a:t>operation-end</a:t>
            </a:r>
            <a:r>
              <a:rPr lang="en-US" altLang="zh-CN" dirty="0"/>
              <a:t> log record is not found, and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the physical undo information is used to undo operation.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If crash/rollback occurs after the operation completes: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the </a:t>
            </a:r>
            <a:r>
              <a:rPr lang="en-US" altLang="zh-CN" b="1" dirty="0"/>
              <a:t>operation-end</a:t>
            </a:r>
            <a:r>
              <a:rPr lang="en-US" altLang="zh-CN" dirty="0"/>
              <a:t> log record is found, and in this case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b="1" dirty="0">
                <a:solidFill>
                  <a:srgbClr val="00B050"/>
                </a:solidFill>
              </a:rPr>
              <a:t>logical undo </a:t>
            </a:r>
            <a:r>
              <a:rPr lang="en-US" altLang="zh-CN" dirty="0"/>
              <a:t>is performed using U;  the </a:t>
            </a:r>
            <a:r>
              <a:rPr lang="en-US" altLang="zh-CN" b="1" dirty="0">
                <a:solidFill>
                  <a:srgbClr val="FF0000"/>
                </a:solidFill>
              </a:rPr>
              <a:t>physical undo </a:t>
            </a:r>
            <a:r>
              <a:rPr lang="en-US" altLang="zh-CN" dirty="0"/>
              <a:t>information for the operation is </a:t>
            </a:r>
            <a:r>
              <a:rPr lang="en-US" altLang="zh-CN" b="1" dirty="0">
                <a:solidFill>
                  <a:srgbClr val="FF0000"/>
                </a:solidFill>
              </a:rPr>
              <a:t>ignored</a:t>
            </a:r>
            <a:r>
              <a:rPr lang="en-US" altLang="zh-CN" dirty="0"/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/>
              <a:t>Redo of operation (after crash) still uses physical redo information.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6AAAC-53F1-4836-A192-6D0F5583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03D1-7FB5-464D-A7BD-659B7CB6C5BD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729807-347E-482F-B968-AB169103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411B17-788A-469C-9BC2-3EA1CB59F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0061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BF33C-5B2E-4A52-8731-0FE17109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Transaction Rollback with Logical Undo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84F024-EFD7-42C8-90E8-D3BEF15D1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9056"/>
            <a:ext cx="10515600" cy="442790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400" dirty="0"/>
              <a:t>Rollback of transaction </a:t>
            </a:r>
            <a:r>
              <a:rPr lang="en-US" altLang="zh-CN" sz="2400" dirty="0" err="1"/>
              <a:t>T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 is done as follows: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400" dirty="0"/>
              <a:t>Scan the log backwards </a:t>
            </a:r>
          </a:p>
          <a:p>
            <a:pPr marL="914400" lvl="1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If a log record </a:t>
            </a:r>
            <a:r>
              <a:rPr lang="en-US" altLang="zh-CN" sz="2000" b="1" i="1" dirty="0">
                <a:solidFill>
                  <a:srgbClr val="0066FF"/>
                </a:solidFill>
              </a:rPr>
              <a:t>&lt;</a:t>
            </a:r>
            <a:r>
              <a:rPr lang="en-US" altLang="zh-CN" sz="2000" b="1" i="1" dirty="0" err="1">
                <a:solidFill>
                  <a:srgbClr val="0066FF"/>
                </a:solidFill>
              </a:rPr>
              <a:t>T</a:t>
            </a:r>
            <a:r>
              <a:rPr lang="en-US" altLang="zh-CN" sz="2000" b="1" i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sz="2000" b="1" i="1" dirty="0">
                <a:solidFill>
                  <a:srgbClr val="0066FF"/>
                </a:solidFill>
              </a:rPr>
              <a:t>, X, V</a:t>
            </a:r>
            <a:r>
              <a:rPr lang="en-US" altLang="zh-CN" sz="2000" b="1" i="1" baseline="-25000" dirty="0">
                <a:solidFill>
                  <a:srgbClr val="0066FF"/>
                </a:solidFill>
              </a:rPr>
              <a:t>1</a:t>
            </a:r>
            <a:r>
              <a:rPr lang="en-US" altLang="zh-CN" sz="2000" b="1" i="1" dirty="0">
                <a:solidFill>
                  <a:srgbClr val="0066FF"/>
                </a:solidFill>
              </a:rPr>
              <a:t>, V</a:t>
            </a:r>
            <a:r>
              <a:rPr lang="en-US" altLang="zh-CN" sz="2000" b="1" i="1" baseline="-25000" dirty="0">
                <a:solidFill>
                  <a:srgbClr val="0066FF"/>
                </a:solidFill>
              </a:rPr>
              <a:t>2</a:t>
            </a:r>
            <a:r>
              <a:rPr lang="en-US" altLang="zh-CN" sz="2000" b="1" i="1" dirty="0">
                <a:solidFill>
                  <a:srgbClr val="0066FF"/>
                </a:solidFill>
              </a:rPr>
              <a:t>&gt; </a:t>
            </a:r>
            <a:r>
              <a:rPr lang="en-US" altLang="zh-CN" sz="2000" dirty="0"/>
              <a:t>is found, perform the undo and log </a:t>
            </a:r>
            <a:r>
              <a:rPr lang="en-US" altLang="zh-CN" sz="2000" b="1" i="1" dirty="0">
                <a:solidFill>
                  <a:srgbClr val="0066FF"/>
                </a:solidFill>
              </a:rPr>
              <a:t>&lt;</a:t>
            </a:r>
            <a:r>
              <a:rPr lang="en-US" altLang="zh-CN" sz="2000" b="1" i="1" dirty="0" err="1">
                <a:solidFill>
                  <a:srgbClr val="0066FF"/>
                </a:solidFill>
              </a:rPr>
              <a:t>T</a:t>
            </a:r>
            <a:r>
              <a:rPr lang="en-US" altLang="zh-CN" sz="2000" b="1" i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sz="2000" b="1" i="1" dirty="0">
                <a:solidFill>
                  <a:srgbClr val="0066FF"/>
                </a:solidFill>
              </a:rPr>
              <a:t>, X, V</a:t>
            </a:r>
            <a:r>
              <a:rPr lang="en-US" altLang="zh-CN" sz="2000" b="1" i="1" baseline="-25000" dirty="0">
                <a:solidFill>
                  <a:srgbClr val="0066FF"/>
                </a:solidFill>
              </a:rPr>
              <a:t>1</a:t>
            </a:r>
            <a:r>
              <a:rPr lang="en-US" altLang="zh-CN" sz="2000" b="1" i="1" dirty="0">
                <a:solidFill>
                  <a:srgbClr val="0066FF"/>
                </a:solidFill>
              </a:rPr>
              <a:t>&gt;</a:t>
            </a:r>
            <a:r>
              <a:rPr lang="en-US" altLang="zh-CN" sz="2000" i="1" dirty="0"/>
              <a:t>.</a:t>
            </a:r>
          </a:p>
          <a:p>
            <a:pPr marL="914400" lvl="1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CN" sz="2000" dirty="0"/>
              <a:t>If </a:t>
            </a:r>
            <a:r>
              <a:rPr lang="en-US" altLang="zh-CN" sz="2000" i="1" dirty="0"/>
              <a:t>a </a:t>
            </a:r>
            <a:r>
              <a:rPr lang="en-US" altLang="zh-CN" sz="2000" b="1" i="1" dirty="0">
                <a:solidFill>
                  <a:srgbClr val="0066FF"/>
                </a:solidFill>
              </a:rPr>
              <a:t>&lt;</a:t>
            </a:r>
            <a:r>
              <a:rPr lang="en-US" altLang="zh-CN" sz="2000" b="1" i="1" dirty="0" err="1">
                <a:solidFill>
                  <a:srgbClr val="0066FF"/>
                </a:solidFill>
              </a:rPr>
              <a:t>T</a:t>
            </a:r>
            <a:r>
              <a:rPr lang="en-US" altLang="zh-CN" sz="2000" b="1" i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sz="2000" b="1" i="1" dirty="0">
                <a:solidFill>
                  <a:srgbClr val="0066FF"/>
                </a:solidFill>
              </a:rPr>
              <a:t>, </a:t>
            </a:r>
            <a:r>
              <a:rPr lang="en-US" altLang="zh-CN" sz="2000" b="1" i="1" dirty="0" err="1">
                <a:solidFill>
                  <a:srgbClr val="0066FF"/>
                </a:solidFill>
              </a:rPr>
              <a:t>O</a:t>
            </a:r>
            <a:r>
              <a:rPr lang="en-US" altLang="zh-CN" sz="2000" b="1" i="1" baseline="-25000" dirty="0" err="1">
                <a:solidFill>
                  <a:srgbClr val="0066FF"/>
                </a:solidFill>
              </a:rPr>
              <a:t>j</a:t>
            </a:r>
            <a:r>
              <a:rPr lang="en-US" altLang="zh-CN" sz="2000" b="1" i="1" dirty="0">
                <a:solidFill>
                  <a:srgbClr val="0066FF"/>
                </a:solidFill>
              </a:rPr>
              <a:t>,  operation-end, U&gt; </a:t>
            </a:r>
            <a:r>
              <a:rPr lang="en-US" altLang="zh-CN" sz="2000" dirty="0"/>
              <a:t>record is found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/>
              <a:t>Rollback the operation </a:t>
            </a:r>
            <a:r>
              <a:rPr lang="en-US" altLang="zh-CN" sz="1800" b="1" dirty="0">
                <a:solidFill>
                  <a:srgbClr val="00B050"/>
                </a:solidFill>
              </a:rPr>
              <a:t>logically</a:t>
            </a:r>
            <a:r>
              <a:rPr lang="en-US" altLang="zh-CN" sz="1800" dirty="0"/>
              <a:t> using  the undo information </a:t>
            </a:r>
            <a:r>
              <a:rPr lang="en-US" altLang="zh-CN" sz="1800" b="1" dirty="0">
                <a:solidFill>
                  <a:srgbClr val="00B050"/>
                </a:solidFill>
              </a:rPr>
              <a:t>U</a:t>
            </a:r>
            <a:r>
              <a:rPr lang="en-US" altLang="zh-CN" sz="1800" dirty="0"/>
              <a:t>. 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/>
              <a:t>Updates performed during roll back are logged just like during normal operation execution.  </a:t>
            </a:r>
          </a:p>
          <a:p>
            <a:pPr lvl="3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/>
              <a:t>At the end of the operation rollback, generate a record </a:t>
            </a:r>
            <a:r>
              <a:rPr lang="en-US" altLang="zh-CN" sz="1600" b="1" dirty="0">
                <a:solidFill>
                  <a:srgbClr val="0066FF"/>
                </a:solidFill>
              </a:rPr>
              <a:t>&lt;</a:t>
            </a:r>
            <a:r>
              <a:rPr lang="en-US" altLang="zh-CN" sz="1600" b="1" dirty="0" err="1">
                <a:solidFill>
                  <a:srgbClr val="0066FF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sz="1600" b="1" dirty="0">
                <a:solidFill>
                  <a:srgbClr val="0066FF"/>
                </a:solidFill>
              </a:rPr>
              <a:t>, </a:t>
            </a:r>
            <a:r>
              <a:rPr lang="en-US" altLang="zh-CN" sz="1600" b="1" dirty="0" err="1">
                <a:solidFill>
                  <a:srgbClr val="0066FF"/>
                </a:solidFill>
              </a:rPr>
              <a:t>O</a:t>
            </a:r>
            <a:r>
              <a:rPr lang="en-US" altLang="zh-CN" sz="1600" b="1" baseline="-25000" dirty="0" err="1">
                <a:solidFill>
                  <a:srgbClr val="0066FF"/>
                </a:solidFill>
              </a:rPr>
              <a:t>j</a:t>
            </a:r>
            <a:r>
              <a:rPr lang="en-US" altLang="zh-CN" sz="1600" b="1" dirty="0">
                <a:solidFill>
                  <a:srgbClr val="0066FF"/>
                </a:solidFill>
              </a:rPr>
              <a:t>, operation-abort&gt;</a:t>
            </a:r>
            <a:r>
              <a:rPr lang="en-US" altLang="zh-CN" sz="1600" dirty="0"/>
              <a:t>.</a:t>
            </a:r>
          </a:p>
          <a:p>
            <a:pPr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/>
              <a:t>Skip all preceding log records for </a:t>
            </a:r>
            <a:r>
              <a:rPr lang="en-US" altLang="zh-CN" sz="1800" dirty="0" err="1"/>
              <a:t>T</a:t>
            </a:r>
            <a:r>
              <a:rPr lang="en-US" altLang="zh-CN" sz="1800" baseline="-25000" dirty="0" err="1"/>
              <a:t>i</a:t>
            </a:r>
            <a:r>
              <a:rPr lang="en-US" altLang="zh-CN" sz="1800" dirty="0"/>
              <a:t>  until the record </a:t>
            </a:r>
            <a:r>
              <a:rPr lang="en-US" altLang="zh-CN" sz="1800" b="1" dirty="0">
                <a:solidFill>
                  <a:srgbClr val="0066FF"/>
                </a:solidFill>
              </a:rPr>
              <a:t>&lt;</a:t>
            </a:r>
            <a:r>
              <a:rPr lang="en-US" altLang="zh-CN" sz="1800" b="1" dirty="0" err="1">
                <a:solidFill>
                  <a:srgbClr val="0066FF"/>
                </a:solidFill>
              </a:rPr>
              <a:t>T</a:t>
            </a:r>
            <a:r>
              <a:rPr lang="en-US" altLang="zh-CN" sz="1800" b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sz="1800" b="1" dirty="0">
                <a:solidFill>
                  <a:srgbClr val="0066FF"/>
                </a:solidFill>
              </a:rPr>
              <a:t>, </a:t>
            </a:r>
            <a:r>
              <a:rPr lang="en-US" altLang="zh-CN" sz="1800" b="1" dirty="0" err="1">
                <a:solidFill>
                  <a:srgbClr val="0066FF"/>
                </a:solidFill>
              </a:rPr>
              <a:t>O</a:t>
            </a:r>
            <a:r>
              <a:rPr lang="en-US" altLang="zh-CN" sz="1800" b="1" baseline="-25000" dirty="0" err="1">
                <a:solidFill>
                  <a:srgbClr val="0066FF"/>
                </a:solidFill>
              </a:rPr>
              <a:t>j</a:t>
            </a:r>
            <a:r>
              <a:rPr lang="en-US" altLang="zh-CN" sz="1800" b="1" dirty="0">
                <a:solidFill>
                  <a:srgbClr val="0066FF"/>
                </a:solidFill>
              </a:rPr>
              <a:t> operation-begin&gt;  </a:t>
            </a:r>
            <a:r>
              <a:rPr lang="en-US" altLang="zh-CN" sz="1800" dirty="0"/>
              <a:t>is found</a:t>
            </a:r>
          </a:p>
          <a:p>
            <a:pPr marL="914400" lvl="1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 startAt="3"/>
            </a:pPr>
            <a:r>
              <a:rPr lang="en-US" altLang="zh-CN" sz="2000" dirty="0"/>
              <a:t>If a redo-only record is found ignore it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AF789-4631-45D7-A5A9-CDEFE227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BDEAC-CC10-40A8-8F93-4325A2C543F3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F8A27-9871-4F5B-B400-B85D0187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16AFB6-F250-4F2F-B60A-FE66111C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3613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DB1B8-7F23-45E0-A8B9-00C37A2D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Transaction Rollback with Logical Undo (Cont.)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203EF-0833-420A-A469-5261D72A0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Transaction rollback, scanning the log backwards (cont.):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buFont typeface="+mj-lt"/>
              <a:buAutoNum type="arabicPeriod" startAt="4"/>
            </a:pPr>
            <a:r>
              <a:rPr lang="en-US" altLang="zh-CN" dirty="0"/>
              <a:t>If a </a:t>
            </a:r>
            <a:r>
              <a:rPr lang="en-US" altLang="zh-CN" b="1" i="1" dirty="0">
                <a:solidFill>
                  <a:srgbClr val="0066FF"/>
                </a:solidFill>
              </a:rPr>
              <a:t>&lt;</a:t>
            </a:r>
            <a:r>
              <a:rPr lang="en-US" altLang="zh-CN" b="1" i="1" dirty="0" err="1">
                <a:solidFill>
                  <a:srgbClr val="0066FF"/>
                </a:solidFill>
              </a:rPr>
              <a:t>T</a:t>
            </a:r>
            <a:r>
              <a:rPr lang="en-US" altLang="zh-CN" b="1" i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b="1" i="1" dirty="0">
                <a:solidFill>
                  <a:srgbClr val="0066FF"/>
                </a:solidFill>
              </a:rPr>
              <a:t>, </a:t>
            </a:r>
            <a:r>
              <a:rPr lang="en-US" altLang="zh-CN" b="1" i="1" dirty="0" err="1">
                <a:solidFill>
                  <a:srgbClr val="0066FF"/>
                </a:solidFill>
              </a:rPr>
              <a:t>O</a:t>
            </a:r>
            <a:r>
              <a:rPr lang="en-US" altLang="zh-CN" b="1" i="1" baseline="-25000" dirty="0" err="1">
                <a:solidFill>
                  <a:srgbClr val="0066FF"/>
                </a:solidFill>
              </a:rPr>
              <a:t>j</a:t>
            </a:r>
            <a:r>
              <a:rPr lang="en-US" altLang="zh-CN" b="1" i="1" dirty="0">
                <a:solidFill>
                  <a:srgbClr val="0066FF"/>
                </a:solidFill>
              </a:rPr>
              <a:t>, operation-abort&gt; </a:t>
            </a:r>
            <a:r>
              <a:rPr lang="en-US" altLang="zh-CN" dirty="0"/>
              <a:t>record is found:</a:t>
            </a:r>
          </a:p>
          <a:p>
            <a:pPr lvl="2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skip all preceding log records for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dirty="0"/>
              <a:t>  until the record  </a:t>
            </a:r>
            <a:r>
              <a:rPr lang="en-US" altLang="zh-CN" i="1" dirty="0"/>
              <a:t>&lt;</a:t>
            </a:r>
            <a:r>
              <a:rPr lang="en-US" altLang="zh-CN" i="1" dirty="0" err="1"/>
              <a:t>T</a:t>
            </a:r>
            <a:r>
              <a:rPr lang="en-US" altLang="zh-CN" i="1" baseline="-25000" dirty="0" err="1"/>
              <a:t>i</a:t>
            </a:r>
            <a:r>
              <a:rPr lang="en-US" altLang="zh-CN" i="1" dirty="0"/>
              <a:t>, </a:t>
            </a:r>
            <a:r>
              <a:rPr lang="en-US" altLang="zh-CN" i="1" dirty="0" err="1"/>
              <a:t>O</a:t>
            </a:r>
            <a:r>
              <a:rPr lang="en-US" altLang="zh-CN" i="1" baseline="-25000" dirty="0" err="1"/>
              <a:t>j</a:t>
            </a:r>
            <a:r>
              <a:rPr lang="en-US" altLang="zh-CN" i="1" dirty="0"/>
              <a:t>, </a:t>
            </a:r>
            <a:r>
              <a:rPr lang="en-US" altLang="zh-CN" b="1" i="1" dirty="0"/>
              <a:t>operation-begin</a:t>
            </a:r>
            <a:r>
              <a:rPr lang="en-US" altLang="zh-CN" i="1" dirty="0"/>
              <a:t>&gt; </a:t>
            </a:r>
            <a:r>
              <a:rPr lang="en-US" altLang="zh-CN" dirty="0"/>
              <a:t>is found.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buFont typeface="+mj-lt"/>
              <a:buAutoNum type="arabicPeriod" startAt="5"/>
            </a:pPr>
            <a:r>
              <a:rPr lang="en-US" altLang="zh-CN" dirty="0"/>
              <a:t>Stop the scan when the record </a:t>
            </a:r>
            <a:r>
              <a:rPr lang="en-US" altLang="zh-CN" b="1" i="1" dirty="0">
                <a:solidFill>
                  <a:srgbClr val="0066FF"/>
                </a:solidFill>
              </a:rPr>
              <a:t>&lt;</a:t>
            </a:r>
            <a:r>
              <a:rPr lang="en-US" altLang="zh-CN" b="1" i="1" dirty="0" err="1">
                <a:solidFill>
                  <a:srgbClr val="0066FF"/>
                </a:solidFill>
              </a:rPr>
              <a:t>T</a:t>
            </a:r>
            <a:r>
              <a:rPr lang="en-US" altLang="zh-CN" b="1" i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b="1" i="1" dirty="0">
                <a:solidFill>
                  <a:srgbClr val="0066FF"/>
                </a:solidFill>
              </a:rPr>
              <a:t>, start&gt; </a:t>
            </a:r>
            <a:r>
              <a:rPr lang="en-US" altLang="zh-CN" dirty="0"/>
              <a:t>is found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buFont typeface="+mj-lt"/>
              <a:buAutoNum type="arabicPeriod" startAt="5"/>
            </a:pPr>
            <a:r>
              <a:rPr lang="en-US" altLang="zh-CN" dirty="0"/>
              <a:t>Add a </a:t>
            </a:r>
            <a:r>
              <a:rPr lang="en-US" altLang="zh-CN" b="1" i="1" dirty="0">
                <a:solidFill>
                  <a:srgbClr val="0066FF"/>
                </a:solidFill>
              </a:rPr>
              <a:t>&lt;</a:t>
            </a:r>
            <a:r>
              <a:rPr lang="en-US" altLang="zh-CN" b="1" i="1" dirty="0" err="1">
                <a:solidFill>
                  <a:srgbClr val="0066FF"/>
                </a:solidFill>
              </a:rPr>
              <a:t>T</a:t>
            </a:r>
            <a:r>
              <a:rPr lang="en-US" altLang="zh-CN" b="1" i="1" baseline="-25000" dirty="0" err="1">
                <a:solidFill>
                  <a:srgbClr val="0066FF"/>
                </a:solidFill>
              </a:rPr>
              <a:t>i</a:t>
            </a:r>
            <a:r>
              <a:rPr lang="en-US" altLang="zh-CN" b="1" i="1" dirty="0">
                <a:solidFill>
                  <a:srgbClr val="0066FF"/>
                </a:solidFill>
              </a:rPr>
              <a:t>,  abort&gt; </a:t>
            </a:r>
            <a:r>
              <a:rPr lang="en-US" altLang="zh-CN" dirty="0"/>
              <a:t>record to the log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dirty="0"/>
              <a:t>Some points to note: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Cases 3 and 4 above can occur only if the database crashes while a  transaction is being rolled back.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Skipping of log records as in case 4 is important to prevent </a:t>
            </a:r>
            <a:r>
              <a:rPr lang="en-US" altLang="zh-CN" b="1" dirty="0">
                <a:solidFill>
                  <a:srgbClr val="FF0000"/>
                </a:solidFill>
              </a:rPr>
              <a:t>multiple rollback </a:t>
            </a:r>
            <a:r>
              <a:rPr lang="en-US" altLang="zh-CN" dirty="0"/>
              <a:t>of the same operation.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32F56A-3B3B-47BE-8B52-0AAD8F02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83E3-9144-44A6-AA64-F6FCF3247C8E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6A25F-F61E-4BCE-BB6A-82BD3B86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935DF8-7661-46A0-9B5B-2A14C87B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8285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FE204-56D9-4D8B-8A3E-6538E3BF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/>
              <a:t>Transaction Rollback during Normal Operation</a:t>
            </a:r>
            <a:endParaRPr lang="zh-CN" altLang="en-US" sz="32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109A3-6202-4679-B57A-27C67CDF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D516-59A4-452A-B183-43ED44F77C1A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0C4331-E39D-4BE4-8585-0F0F5D4D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4B942-1340-4DB2-84A5-0C24CA62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19B1C6-1D0D-482F-AC2D-BF7DC87F86AE}"/>
              </a:ext>
            </a:extLst>
          </p:cNvPr>
          <p:cNvSpPr txBox="1"/>
          <p:nvPr/>
        </p:nvSpPr>
        <p:spPr>
          <a:xfrm>
            <a:off x="2154865" y="1690688"/>
            <a:ext cx="3941135" cy="460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Beginning of log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start&gt;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B, 2000, 2050&gt;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operation-begin&gt;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700, 600&gt;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operation-end, (C, +100)&gt;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start&gt;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operation-begin&gt;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600, 400&gt;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operation-end, (C, +200)&gt;</a:t>
            </a:r>
          </a:p>
          <a:p>
            <a:pPr>
              <a:spcBef>
                <a:spcPts val="300"/>
              </a:spcBef>
            </a:pP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400, 500&gt;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operation-abort&gt;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B, 2000&gt;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abort&gt;</a:t>
            </a:r>
          </a:p>
          <a:p>
            <a:pPr>
              <a:spcBef>
                <a:spcPts val="3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commit&gt;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B2BA1652-FF8F-4FD7-B6E8-E9C890E58130}"/>
              </a:ext>
            </a:extLst>
          </p:cNvPr>
          <p:cNvSpPr/>
          <p:nvPr/>
        </p:nvSpPr>
        <p:spPr>
          <a:xfrm>
            <a:off x="297711" y="3627399"/>
            <a:ext cx="1663995" cy="632638"/>
          </a:xfrm>
          <a:prstGeom prst="wedgeRoundRectCallout">
            <a:avLst>
              <a:gd name="adj1" fmla="val 78595"/>
              <a:gd name="adj2" fmla="val 12077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decides to abort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！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A355762D-419B-4ADD-BEA2-A73087778EFB}"/>
              </a:ext>
            </a:extLst>
          </p:cNvPr>
          <p:cNvSpPr/>
          <p:nvPr/>
        </p:nvSpPr>
        <p:spPr>
          <a:xfrm>
            <a:off x="6898757" y="1929458"/>
            <a:ext cx="4268972" cy="632638"/>
          </a:xfrm>
          <a:prstGeom prst="wedgeRoundRectCallout">
            <a:avLst>
              <a:gd name="adj1" fmla="val -102217"/>
              <a:gd name="adj2" fmla="val 9892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If 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aborts before operation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ends, </a:t>
            </a:r>
          </a:p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undo of update to C will be physical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6F582422-2C59-4591-9450-ECA998BE0691}"/>
              </a:ext>
            </a:extLst>
          </p:cNvPr>
          <p:cNvSpPr/>
          <p:nvPr/>
        </p:nvSpPr>
        <p:spPr>
          <a:xfrm>
            <a:off x="6920022" y="2674895"/>
            <a:ext cx="4268972" cy="1015410"/>
          </a:xfrm>
          <a:prstGeom prst="wedgeRoundRectCallout">
            <a:avLst>
              <a:gd name="adj1" fmla="val -85530"/>
              <a:gd name="adj2" fmla="val 747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has completed operation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on C, </a:t>
            </a:r>
          </a:p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release lower-level lock;</a:t>
            </a:r>
          </a:p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Physical undo cannot be done anymore, </a:t>
            </a:r>
          </a:p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logical undo will add 100 to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25156F42-46CD-41B9-90A6-278FC272EF5A}"/>
              </a:ext>
            </a:extLst>
          </p:cNvPr>
          <p:cNvSpPr/>
          <p:nvPr/>
        </p:nvSpPr>
        <p:spPr>
          <a:xfrm>
            <a:off x="6920022" y="3806299"/>
            <a:ext cx="4268972" cy="580435"/>
          </a:xfrm>
          <a:prstGeom prst="wedgeRoundRectCallout">
            <a:avLst>
              <a:gd name="adj1" fmla="val -107447"/>
              <a:gd name="adj2" fmla="val 760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can update C since 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has released lower-level lock on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0C307E3D-2555-405A-8F22-646A2982BE6B}"/>
              </a:ext>
            </a:extLst>
          </p:cNvPr>
          <p:cNvSpPr/>
          <p:nvPr/>
        </p:nvSpPr>
        <p:spPr>
          <a:xfrm>
            <a:off x="6920022" y="4498227"/>
            <a:ext cx="4268972" cy="365829"/>
          </a:xfrm>
          <a:prstGeom prst="wedgeRoundRectCallout">
            <a:avLst>
              <a:gd name="adj1" fmla="val -84533"/>
              <a:gd name="adj2" fmla="val -6017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releases lower-level lock on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614D5D94-C7BB-4B92-969D-11927565F385}"/>
              </a:ext>
            </a:extLst>
          </p:cNvPr>
          <p:cNvSpPr/>
          <p:nvPr/>
        </p:nvSpPr>
        <p:spPr>
          <a:xfrm>
            <a:off x="6920022" y="4975549"/>
            <a:ext cx="4268972" cy="365125"/>
          </a:xfrm>
          <a:prstGeom prst="wedgeRoundRectCallout">
            <a:avLst>
              <a:gd name="adj1" fmla="val -114545"/>
              <a:gd name="adj2" fmla="val -5249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Logical undo of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adds 100 on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71A42DDF-F793-4C80-BA56-19D24B117C6C}"/>
              </a:ext>
            </a:extLst>
          </p:cNvPr>
          <p:cNvSpPr/>
          <p:nvPr/>
        </p:nvSpPr>
        <p:spPr>
          <a:xfrm>
            <a:off x="6920022" y="5452167"/>
            <a:ext cx="4268972" cy="365125"/>
          </a:xfrm>
          <a:prstGeom prst="wedgeRoundRectCallout">
            <a:avLst>
              <a:gd name="adj1" fmla="val -104881"/>
              <a:gd name="adj2" fmla="val -10113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undo complete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4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2C449-BBCE-4EC3-B5C2-B5B00901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Failure Recovery with Logical Undo</a:t>
            </a:r>
            <a:endParaRPr lang="zh-CN" altLang="en-US" sz="36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0C9D-B552-44BC-871D-73CD123C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61F8-CE2D-4617-93E2-C4127A463DCA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464C51-22B9-42C5-A359-1D0DF6B3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82910-9171-4497-931D-17E81F76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39C9-66E3-4CBF-BCBF-7D180402FE83}"/>
              </a:ext>
            </a:extLst>
          </p:cNvPr>
          <p:cNvSpPr txBox="1"/>
          <p:nvPr/>
        </p:nvSpPr>
        <p:spPr>
          <a:xfrm>
            <a:off x="2614886" y="1625798"/>
            <a:ext cx="394113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Beginning of log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start&gt;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B, 2000, 2050&gt;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commit&gt;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start&gt;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B, 2050, 2100&gt;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operation-begin&gt;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&lt;checkpoint {T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700, 400&gt;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operation-end (C,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+300)&gt;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start&gt;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operation-begin&gt;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400, 300&gt;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400&gt;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abort&gt;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C, 400, 700&gt;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operation-abort&gt;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B, 2050&gt;</a:t>
            </a:r>
          </a:p>
          <a:p>
            <a:pPr>
              <a:spcBef>
                <a:spcPts val="2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abort&gt;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369E2E39-2EA0-4A30-B0B2-309BD279E6C1}"/>
              </a:ext>
            </a:extLst>
          </p:cNvPr>
          <p:cNvSpPr/>
          <p:nvPr/>
        </p:nvSpPr>
        <p:spPr>
          <a:xfrm>
            <a:off x="369789" y="3719388"/>
            <a:ext cx="1663995" cy="632638"/>
          </a:xfrm>
          <a:prstGeom prst="wedgeRoundRectCallout">
            <a:avLst>
              <a:gd name="adj1" fmla="val 89383"/>
              <a:gd name="adj2" fmla="val 16232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End of log at crash 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！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93B8EEF-E199-496F-9233-7796B86EBA42}"/>
              </a:ext>
            </a:extLst>
          </p:cNvPr>
          <p:cNvGrpSpPr/>
          <p:nvPr/>
        </p:nvGrpSpPr>
        <p:grpSpPr>
          <a:xfrm>
            <a:off x="6207381" y="3533192"/>
            <a:ext cx="1859483" cy="1477328"/>
            <a:chOff x="6207381" y="3533192"/>
            <a:chExt cx="1859483" cy="147732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B5BE87C-8A60-417F-B819-611D05EAD28E}"/>
                </a:ext>
              </a:extLst>
            </p:cNvPr>
            <p:cNvSpPr txBox="1"/>
            <p:nvPr/>
          </p:nvSpPr>
          <p:spPr>
            <a:xfrm>
              <a:off x="6207381" y="3533192"/>
              <a:ext cx="1859483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Redo Pass</a:t>
              </a:r>
            </a:p>
            <a:p>
              <a:pPr algn="ctr"/>
              <a:endParaRPr lang="en-US" altLang="zh-CN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Undo List: T</a:t>
              </a:r>
              <a:r>
                <a:rPr lang="en-US" altLang="zh-CN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, T</a:t>
              </a:r>
              <a:r>
                <a:rPr lang="en-US" altLang="zh-CN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D9DA934-8BAD-4665-BC60-9495D2E2D596}"/>
                </a:ext>
              </a:extLst>
            </p:cNvPr>
            <p:cNvCxnSpPr/>
            <p:nvPr/>
          </p:nvCxnSpPr>
          <p:spPr>
            <a:xfrm>
              <a:off x="7137123" y="3918857"/>
              <a:ext cx="0" cy="746449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EAA24B6-5D04-41EF-AA97-C140ED3498E2}"/>
              </a:ext>
            </a:extLst>
          </p:cNvPr>
          <p:cNvGrpSpPr/>
          <p:nvPr/>
        </p:nvGrpSpPr>
        <p:grpSpPr>
          <a:xfrm>
            <a:off x="8771216" y="2985961"/>
            <a:ext cx="1377300" cy="2233343"/>
            <a:chOff x="8771216" y="2985961"/>
            <a:chExt cx="1377300" cy="223334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6F15074-65C3-48B2-82A3-F490A1584E83}"/>
                </a:ext>
              </a:extLst>
            </p:cNvPr>
            <p:cNvSpPr txBox="1"/>
            <p:nvPr/>
          </p:nvSpPr>
          <p:spPr>
            <a:xfrm>
              <a:off x="8771216" y="4665306"/>
              <a:ext cx="137730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Undo Pass</a:t>
              </a:r>
            </a:p>
            <a:p>
              <a:pPr algn="ctr"/>
              <a:endParaRPr lang="zh-CN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8810799B-E05B-4AAE-B1DA-A041F6F185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9866" y="2985961"/>
              <a:ext cx="0" cy="1709774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对话气泡: 圆角矩形 17">
            <a:extLst>
              <a:ext uri="{FF2B5EF4-FFF2-40B4-BE49-F238E27FC236}">
                <a16:creationId xmlns:a16="http://schemas.microsoft.com/office/drawing/2014/main" id="{AC150E22-6CFE-41D3-9479-3F12FB7736A4}"/>
              </a:ext>
            </a:extLst>
          </p:cNvPr>
          <p:cNvSpPr/>
          <p:nvPr/>
        </p:nvSpPr>
        <p:spPr>
          <a:xfrm>
            <a:off x="6207392" y="5081400"/>
            <a:ext cx="5146408" cy="632638"/>
          </a:xfrm>
          <a:prstGeom prst="wedgeRoundRectCallout">
            <a:avLst>
              <a:gd name="adj1" fmla="val -94974"/>
              <a:gd name="adj2" fmla="val -1513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Update of C was part of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undone physically during recovery since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did not complete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D350507F-DF99-4B9A-B17B-48C2C9038337}"/>
              </a:ext>
            </a:extLst>
          </p:cNvPr>
          <p:cNvSpPr/>
          <p:nvPr/>
        </p:nvSpPr>
        <p:spPr>
          <a:xfrm>
            <a:off x="6207392" y="5813813"/>
            <a:ext cx="5146408" cy="457380"/>
          </a:xfrm>
          <a:prstGeom prst="wedgeRoundRectCallout">
            <a:avLst>
              <a:gd name="adj1" fmla="val -85909"/>
              <a:gd name="adj2" fmla="val -5049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Logical undo of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adds 300 on C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36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8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7C283-1F51-4F5F-9A7D-3307C309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Transaction Rollback: Another Example</a:t>
            </a:r>
            <a:endParaRPr lang="zh-CN" altLang="en-US" sz="36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76552-B9BA-4CA4-B18F-F23E3AB5D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CCDF-457B-468E-9C3F-E0554C03504B}" type="datetime1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14786A-9971-49E7-9245-9D1BD2820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Database Recovery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CC94D0-0B5B-4CDC-8186-2C23A1BF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5A79-C12E-4282-8451-1BC984B858F9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8C903F-B434-4E87-B250-04806A12AEC3}"/>
              </a:ext>
            </a:extLst>
          </p:cNvPr>
          <p:cNvSpPr/>
          <p:nvPr/>
        </p:nvSpPr>
        <p:spPr>
          <a:xfrm>
            <a:off x="2396412" y="1690688"/>
            <a:ext cx="524224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start&gt;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operation-begin&gt;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…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X, 10, K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Y, 45, RID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operation-end, (delete I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K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RID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)&gt;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operation-begin&gt; 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Z, 45, 70&gt;   </a:t>
            </a:r>
            <a:endParaRPr lang="en-US" alt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Z, 45&gt;     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Y, .., ..&gt;</a:t>
            </a:r>
            <a:endParaRPr lang="en-US" alt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   …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operation-abort&gt;  </a:t>
            </a:r>
          </a:p>
          <a:p>
            <a:pPr>
              <a:spcBef>
                <a:spcPts val="60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&lt;T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abort&gt;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F18119ED-D027-4AC1-B3F4-7612C22C86FC}"/>
              </a:ext>
            </a:extLst>
          </p:cNvPr>
          <p:cNvSpPr/>
          <p:nvPr/>
        </p:nvSpPr>
        <p:spPr>
          <a:xfrm>
            <a:off x="384797" y="3359211"/>
            <a:ext cx="1663995" cy="632638"/>
          </a:xfrm>
          <a:prstGeom prst="wedgeRoundRectCallout">
            <a:avLst>
              <a:gd name="adj1" fmla="val 78595"/>
              <a:gd name="adj2" fmla="val 12077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decides to abort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！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30BAB52C-8D92-42A1-8378-B0251823D550}"/>
              </a:ext>
            </a:extLst>
          </p:cNvPr>
          <p:cNvSpPr/>
          <p:nvPr/>
        </p:nvSpPr>
        <p:spPr>
          <a:xfrm>
            <a:off x="5425751" y="3899523"/>
            <a:ext cx="5928049" cy="632638"/>
          </a:xfrm>
          <a:prstGeom prst="wedgeRoundRectCallout">
            <a:avLst>
              <a:gd name="adj1" fmla="val -79339"/>
              <a:gd name="adj2" fmla="val 7139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redo-only log record during physical undo (of incomplete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A3777133-0943-4DDC-8153-4BEEDB42155C}"/>
              </a:ext>
            </a:extLst>
          </p:cNvPr>
          <p:cNvSpPr/>
          <p:nvPr/>
        </p:nvSpPr>
        <p:spPr>
          <a:xfrm>
            <a:off x="5777713" y="4698845"/>
            <a:ext cx="5576087" cy="632638"/>
          </a:xfrm>
          <a:prstGeom prst="wedgeRoundRectCallout">
            <a:avLst>
              <a:gd name="adj1" fmla="val -80168"/>
              <a:gd name="adj2" fmla="val 3685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Normal redo records for logical undo of O</a:t>
            </a:r>
            <a:r>
              <a:rPr lang="en-US" altLang="zh-CN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B609FA9A-0090-4DEC-BC99-8FECD44A4EBB}"/>
              </a:ext>
            </a:extLst>
          </p:cNvPr>
          <p:cNvSpPr/>
          <p:nvPr/>
        </p:nvSpPr>
        <p:spPr>
          <a:xfrm>
            <a:off x="3900196" y="4966358"/>
            <a:ext cx="138404" cy="557364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2592B22A-D05D-4932-B99A-71701B737F0A}"/>
              </a:ext>
            </a:extLst>
          </p:cNvPr>
          <p:cNvSpPr/>
          <p:nvPr/>
        </p:nvSpPr>
        <p:spPr>
          <a:xfrm>
            <a:off x="6376524" y="5498167"/>
            <a:ext cx="4977276" cy="632638"/>
          </a:xfrm>
          <a:prstGeom prst="wedgeRoundRectCallout">
            <a:avLst>
              <a:gd name="adj1" fmla="val -75941"/>
              <a:gd name="adj2" fmla="val -1430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What if crash occurred immediately after this?</a:t>
            </a:r>
          </a:p>
        </p:txBody>
      </p:sp>
    </p:spTree>
    <p:extLst>
      <p:ext uri="{BB962C8B-B14F-4D97-AF65-F5344CB8AC3E}">
        <p14:creationId xmlns:p14="http://schemas.microsoft.com/office/powerpoint/2010/main" val="139959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16145</TotalTime>
  <Words>5415</Words>
  <Application>Microsoft Macintosh PowerPoint</Application>
  <PresentationFormat>Widescreen</PresentationFormat>
  <Paragraphs>1362</Paragraphs>
  <Slides>47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等线</vt:lpstr>
      <vt:lpstr>Arial</vt:lpstr>
      <vt:lpstr>Book Antiqua</vt:lpstr>
      <vt:lpstr>Monotype Sorts</vt:lpstr>
      <vt:lpstr>Symbol</vt:lpstr>
      <vt:lpstr>Wingdings</vt:lpstr>
      <vt:lpstr>Office 主题​​</vt:lpstr>
      <vt:lpstr>Database Recovery</vt:lpstr>
      <vt:lpstr>ARIES Algorithm</vt:lpstr>
      <vt:lpstr>Disk-oriented Logging &amp; Recovery</vt:lpstr>
      <vt:lpstr>Example Execution History</vt:lpstr>
      <vt:lpstr>Recovering From a Crash: Aries</vt:lpstr>
      <vt:lpstr>Basic Idea: Logging</vt:lpstr>
      <vt:lpstr>Data Structures of ARIES</vt:lpstr>
      <vt:lpstr>WAL &amp; The Log</vt:lpstr>
      <vt:lpstr>Log Records</vt:lpstr>
      <vt:lpstr>Normal Execution</vt:lpstr>
      <vt:lpstr>Transaction Commit</vt:lpstr>
      <vt:lpstr>Simple Transaction Abort</vt:lpstr>
      <vt:lpstr>Abort, cont.</vt:lpstr>
      <vt:lpstr>Non-Fuzzy Checkpointing</vt:lpstr>
      <vt:lpstr>Fuzzy Checkpointing</vt:lpstr>
      <vt:lpstr>Crash Recovery: Big Picture</vt:lpstr>
      <vt:lpstr>Analysis Phase</vt:lpstr>
      <vt:lpstr>Analysis Phase</vt:lpstr>
      <vt:lpstr>REDO Phase</vt:lpstr>
      <vt:lpstr>The REDO Phase</vt:lpstr>
      <vt:lpstr>UNDO Phase</vt:lpstr>
      <vt:lpstr>UNDO Phase</vt:lpstr>
      <vt:lpstr>Example - Analysis Phase</vt:lpstr>
      <vt:lpstr>Example - Analysis Phase</vt:lpstr>
      <vt:lpstr>Example - Analysis Phase</vt:lpstr>
      <vt:lpstr>Example - Analysis Phase</vt:lpstr>
      <vt:lpstr>Example - Analysis Phase</vt:lpstr>
      <vt:lpstr>Example - Analysis Phase</vt:lpstr>
      <vt:lpstr>Example - Analysis Phase</vt:lpstr>
      <vt:lpstr>Example - Analysis Phase</vt:lpstr>
      <vt:lpstr>Example - Redo Phase</vt:lpstr>
      <vt:lpstr>Example - Undo Phase</vt:lpstr>
      <vt:lpstr>Example - Undo Phase</vt:lpstr>
      <vt:lpstr>Example - Undo Phase</vt:lpstr>
      <vt:lpstr>Example - Undo Phase</vt:lpstr>
      <vt:lpstr>Summary of ARIES</vt:lpstr>
      <vt:lpstr>Summary, Cont.</vt:lpstr>
      <vt:lpstr>Recovery with  Early Lock Release  and Logical Undo Operations</vt:lpstr>
      <vt:lpstr>Logical Undo Logging</vt:lpstr>
      <vt:lpstr>Physical Redo</vt:lpstr>
      <vt:lpstr>Operation Logging</vt:lpstr>
      <vt:lpstr>Operation Logging (Cont.)</vt:lpstr>
      <vt:lpstr>Transaction Rollback with Logical Undo</vt:lpstr>
      <vt:lpstr>Transaction Rollback with Logical Undo (Cont.)</vt:lpstr>
      <vt:lpstr>Transaction Rollback during Normal Operation</vt:lpstr>
      <vt:lpstr>Failure Recovery with Logical Undo</vt:lpstr>
      <vt:lpstr>Transaction Rollback: Another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Xueqing Gong</dc:creator>
  <cp:lastModifiedBy>Junjie Yao</cp:lastModifiedBy>
  <cp:revision>457</cp:revision>
  <dcterms:created xsi:type="dcterms:W3CDTF">2019-10-29T09:57:08Z</dcterms:created>
  <dcterms:modified xsi:type="dcterms:W3CDTF">2024-06-12T14:18:36Z</dcterms:modified>
</cp:coreProperties>
</file>